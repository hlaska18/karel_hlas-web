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Cíl hodiny: Student vysvětlí, co určuje rozlišení a barevná hloubka, a odhadne, jaké nastavení stačí pro daný účel.</a:t>
            </a:r>
          </a:p>
          <a:p>
            <a:r>
              <a:t>Soubory: Laboratoř – barevná hloubka.html, Obrázky/hloubka_*.png</a:t>
            </a:r>
          </a:p>
          <a:p>
            <a:r>
              <a:t>Výstup: Tabulka čtyř barevných hloubek s pozorováním a tři návrhy nastavení se zdůvodněním.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Čas: 0–5 minut.</a:t>
            </a:r>
          </a:p>
          <a:p>
            <a:r>
              <a:t>Otázka pro studenty: Fotku 6 000 × 4 000 px máš poslat e‑mailem. Co s ní uděláš, aby prošla a přitom byla použitelná?</a:t>
            </a:r>
          </a:p>
          <a:p>
            <a:r>
              <a:t>Postup: nech studenty rozhodnout a zapsat důvod dřív, než ukážeš řešení. Neprozrazuj správnou odpověď.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Čas: 5–12 minut.</a:t>
            </a:r>
          </a:p>
          <a:p>
            <a:r>
              <a:t>Klíčové pojmy: Rozlišení · Barevná hloubka · DPI a velikost</a:t>
            </a:r>
          </a:p>
          <a:p>
            <a:r>
              <a:t>Více pixelů neznamená automaticky lepší obrázek — znamená větší soubor.</a:t>
            </a:r>
          </a:p>
          <a:p>
            <a:r>
              <a:t>Postup: vysvětli stručně, ověř porozuměním otázkou, nepřednášej déle než 7 minut.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Čas: 12–40 minut.</a:t>
            </a:r>
          </a:p>
          <a:p>
            <a:r>
              <a:t>Soubory: Laboratoř – barevná hloubka.html, Obrázky/hloubka_*.png</a:t>
            </a:r>
          </a:p>
          <a:p>
            <a:r>
              <a:t>12–22 min – modul 04, pozor na to, že pásy jsou nejlépe vidět na obloze a na slunci.</a:t>
            </a:r>
          </a:p>
          <a:p>
            <a:r>
              <a:t>22–32 min – tři návrhy nastavení.</a:t>
            </a:r>
          </a:p>
          <a:p>
            <a:r>
              <a:t>32–40 min – porovnání; upozorni, že 8 bitů u fotografie s přechody nestačí, u plošné grafiky ano.</a:t>
            </a:r>
          </a:p>
          <a:p>
            <a:r>
              <a:t>Výstup: Tabulka čtyř barevných hloubek s pozorováním a tři návrhy nastavení se zdůvodněním.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Průběžná kontrola. Projdi body nahlas, studenti si odškrtávají v sešitu.</a:t>
            </a:r>
          </a:p>
          <a:p>
            <a:r>
              <a:t>• Umíš říct rozdíl mezi rozlišením a barevnou hloubkou.</a:t>
            </a:r>
          </a:p>
          <a:p>
            <a:r>
              <a:t>• Máš zapsáno, u které hloubky se objevily pásy v obloze.</a:t>
            </a:r>
          </a:p>
          <a:p>
            <a:r>
              <a:t>• U tří návrhů máš uvedený účel, ne jen čísla.</a:t>
            </a:r>
          </a:p>
          <a:p>
            <a:r>
              <a:t>• Víš, kdy má smysl mluvit o DPI a kdy 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Společný rozbor – očekávané závěry:</a:t>
            </a:r>
          </a:p>
          <a:p>
            <a:r>
              <a:t>Rozlišení: Počet pixelů. Zmenšit lze vždy, zvětšit bez ztráty ne.</a:t>
            </a:r>
          </a:p>
          <a:p>
            <a:r>
              <a:t>Barevná hloubka: Určuje počet dostupných barev. Málo barev se projeví pásy v plynulých přechodech.</a:t>
            </a:r>
          </a:p>
          <a:p>
            <a:r>
              <a:t>Podle obsahu: Plošná grafika snese málo barev. Fotografie s oblohou potřebuje plnou hloubku.</a:t>
            </a:r>
          </a:p>
          <a:p>
            <a:r>
              <a:t>DPI: Údaj pro tisk. Pro obrazovku je rozhodující rozměr v pixelech.</a:t>
            </a:r>
          </a:p>
          <a:p>
            <a:r>
              <a:t>Hodnoť postup a zdůvodnění, ne shodu s jednou formulací.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Exit ticket: Proč se u fotografie oblohy objeví pásy dřív než u obrázku loga?</a:t>
            </a:r>
          </a:p>
          <a:p>
            <a:r>
              <a:t>Sbírej individuálně. Slouží jako doklad o učení každého studenta.</a:t>
            </a:r>
          </a:p>
          <a:p>
            <a:r>
              <a:t>Očekávaná odpověď: Obloha obsahuje plynulý přechod mnoha odstínů; při málo barvách se přechod zaokrouhlí do viditelných pásů.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21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0312" cy="6858000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2064" y="45720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7FD6CF"/>
                </a:solidFill>
                <a:latin typeface="Calibri"/>
              </a:rPr>
              <a:t>HODINA 2 /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0" y="457200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200" b="1">
                <a:solidFill>
                  <a:srgbClr val="9AA8A4"/>
                </a:solidFill>
                <a:latin typeface="Calibri"/>
              </a:rPr>
              <a:t>POČÍTAČOVÁ GRAFIKA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064" y="2240280"/>
            <a:ext cx="1033272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FFFFFF"/>
                </a:solidFill>
                <a:latin typeface="Calibri"/>
              </a:rPr>
              <a:t>Rozlišení, barvy a barevná hloubka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4709160"/>
            <a:ext cx="813816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B9C4C0"/>
                </a:solidFill>
                <a:latin typeface="Calibri"/>
              </a:rPr>
              <a:t>Student vysvětlí, co určuje rozlišení a barevná hloubka, a odhadne, jaké nastavení stačí pro daný účel.</a:t>
            </a:r>
          </a:p>
        </p:txBody>
      </p:sp>
      <p:sp>
        <p:nvSpPr>
          <p:cNvPr id="8" name="Rectangle 7"/>
          <p:cNvSpPr/>
          <p:nvPr/>
        </p:nvSpPr>
        <p:spPr>
          <a:xfrm>
            <a:off x="10140696" y="4764024"/>
            <a:ext cx="1179576" cy="1179576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40696" y="4983480"/>
            <a:ext cx="1179576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0696" y="5596128"/>
            <a:ext cx="1179576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CFEAE8"/>
                </a:solidFill>
                <a:latin typeface="Calibri"/>
              </a:rPr>
              <a:t>45 MIN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0–5 MIN · ÚVOD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Začni vlastním rozhodnutím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 PRÁCE S 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2  / 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1691640"/>
            <a:ext cx="113385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300" b="1">
                <a:solidFill>
                  <a:srgbClr val="0C8A83"/>
                </a:solidFill>
                <a:latin typeface="Calibri"/>
              </a:rPr>
              <a:t>Fotku 6 000 × 4 000 px máš poslat e‑mailem. Co s ní uděláš, aby prošla a přitom byla použitelná?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" y="3017520"/>
            <a:ext cx="32918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7211E"/>
                </a:solidFill>
                <a:latin typeface="Calibri"/>
              </a:rPr>
              <a:t>ODHADNI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" y="3429000"/>
            <a:ext cx="329184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Napiš, kolik pixelů podle tebe stačí na přílohu e‑mailu.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15968" y="3017520"/>
            <a:ext cx="32918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7211E"/>
                </a:solidFill>
                <a:latin typeface="Calibri"/>
              </a:rPr>
              <a:t>ZDŮVODNI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15968" y="3429000"/>
            <a:ext cx="329184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Podle čeho jsi to určil?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38744" y="3017520"/>
            <a:ext cx="32918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7211E"/>
                </a:solidFill>
                <a:latin typeface="Calibri"/>
              </a:rPr>
              <a:t>POROVNEJ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38744" y="3429000"/>
            <a:ext cx="329184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Kdo ve dvojici uvedl menší číslo a proč?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" y="5394960"/>
            <a:ext cx="113385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>
                <a:solidFill>
                  <a:srgbClr val="5C6965"/>
                </a:solidFill>
                <a:latin typeface="Calibri"/>
              </a:rPr>
              <a:t>Nejdřív se rozhodni sám. Teprve pak porovnávej.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5–12 MIN · MINIMUM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Tři opěrné body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 PRÁCE S 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2  /  3</a:t>
            </a:r>
          </a:p>
        </p:txBody>
      </p:sp>
      <p:sp>
        <p:nvSpPr>
          <p:cNvPr id="8" name="Rectangle 7"/>
          <p:cNvSpPr/>
          <p:nvPr/>
        </p:nvSpPr>
        <p:spPr>
          <a:xfrm>
            <a:off x="393192" y="1664208"/>
            <a:ext cx="667512" cy="594360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6072" y="1764792"/>
            <a:ext cx="66751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" y="2523744"/>
            <a:ext cx="3282696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17211E"/>
                </a:solidFill>
                <a:latin typeface="Calibri"/>
              </a:rPr>
              <a:t>Rozlišení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" y="3337560"/>
            <a:ext cx="3282696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Počet pixelů na šířku a výšku. Určuje, kolik detailu je v obrázku uloženo.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15968" y="1664208"/>
            <a:ext cx="667512" cy="594360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98848" y="1764792"/>
            <a:ext cx="66751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5968" y="2523744"/>
            <a:ext cx="3282696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17211E"/>
                </a:solidFill>
                <a:latin typeface="Calibri"/>
              </a:rPr>
              <a:t>Barevná hloubka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5968" y="3337560"/>
            <a:ext cx="3282696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Kolik bitů připadá na pixel. 24 bitů dá přes 16 milionů barev, 8 bitů jen 256.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38744" y="1664208"/>
            <a:ext cx="667512" cy="594360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21624" y="1764792"/>
            <a:ext cx="66751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38744" y="2523744"/>
            <a:ext cx="3282696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17211E"/>
                </a:solidFill>
                <a:latin typeface="Calibri"/>
              </a:rPr>
              <a:t>DPI a velikost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3337560"/>
            <a:ext cx="3282696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DPI má smysl až při tisku. Na obrazovce rozhoduje počet pixelů, ne údaj DPI.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3192" y="5468112"/>
            <a:ext cx="11411712" cy="27432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93192" y="5669280"/>
            <a:ext cx="113385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Více pixelů neznamená automaticky lepší obrázek — znamená větší soubor.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12–40 MIN · PRÁCE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Hlavní počítačová aktivita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 PRÁCE S 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2  / 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1645920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C45A3E"/>
                </a:solidFill>
                <a:latin typeface="Calibri"/>
              </a:rPr>
              <a:t>OTEVŘI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1627632"/>
            <a:ext cx="99669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1">
                <a:solidFill>
                  <a:srgbClr val="17211E"/>
                </a:solidFill>
                <a:latin typeface="Calibri"/>
              </a:rPr>
              <a:t>Laboratoř – barevná hloubka.html, Obrázky/hloubka_*.png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" y="23774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0C8A83"/>
                </a:solidFill>
                <a:latin typeface="Calibr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" y="2697480"/>
            <a:ext cx="32918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1">
                <a:solidFill>
                  <a:srgbClr val="17211E"/>
                </a:solidFill>
                <a:latin typeface="Calibri"/>
              </a:rPr>
              <a:t>Projdi modul 04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" y="3200400"/>
            <a:ext cx="329184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5C6965"/>
                </a:solidFill>
                <a:latin typeface="Calibri"/>
              </a:rPr>
              <a:t>Přepínej 24, 8, 4 a 1 bit. Najdi, kde se poprvé objeví pásy v obloze.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15968" y="23774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0C8A83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5968" y="2697480"/>
            <a:ext cx="32918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1">
                <a:solidFill>
                  <a:srgbClr val="17211E"/>
                </a:solidFill>
                <a:latin typeface="Calibri"/>
              </a:rPr>
              <a:t>Zapiš pozorování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5968" y="3200400"/>
            <a:ext cx="329184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5C6965"/>
                </a:solidFill>
                <a:latin typeface="Calibri"/>
              </a:rPr>
              <a:t>U každé hloubky napiš počet barev, velikost a co se pokazilo.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38744" y="23774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0C8A83"/>
                </a:solidFill>
                <a:latin typeface="Calibr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38744" y="2697480"/>
            <a:ext cx="32918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1">
                <a:solidFill>
                  <a:srgbClr val="17211E"/>
                </a:solidFill>
                <a:latin typeface="Calibri"/>
              </a:rPr>
              <a:t>Navrhni nastavení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38744" y="3200400"/>
            <a:ext cx="329184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5C6965"/>
                </a:solidFill>
                <a:latin typeface="Calibri"/>
              </a:rPr>
              <a:t>Urči rozlišení a hloubku pro web, tisk A4 a ikonu.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93192" y="5257800"/>
            <a:ext cx="11411712" cy="27432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3192" y="5440680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C45A3E"/>
                </a:solidFill>
                <a:latin typeface="Calibri"/>
              </a:rPr>
              <a:t>ODEVZDEJ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83080" y="5422392"/>
            <a:ext cx="97840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>
                <a:solidFill>
                  <a:srgbClr val="17211E"/>
                </a:solidFill>
                <a:latin typeface="Calibri"/>
              </a:rPr>
              <a:t>Tabulka čtyř barevných hloubek s pozorováním a tři návrhy nastavení se zdůvodněním.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PRŮBĚŽNÁ KONTROLA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Než práci odevzdáš, ověř čtyři věci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 PRÁCE S 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2  / 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178308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0C8A83"/>
                </a:solidFill>
                <a:latin typeface="Calibri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1783080"/>
            <a:ext cx="51206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17211E"/>
                </a:solidFill>
                <a:latin typeface="Calibri"/>
              </a:rPr>
              <a:t>Umíš říct rozdíl mezi rozlišením a barevnou hloubkou.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53912" y="178308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0C8A83"/>
                </a:solidFill>
                <a:latin typeface="Calibri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11112" y="1783080"/>
            <a:ext cx="51206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17211E"/>
                </a:solidFill>
                <a:latin typeface="Calibri"/>
              </a:rPr>
              <a:t>Máš zapsáno, u které hloubky se objevily pásy v obloze.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" y="315468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0C8A83"/>
                </a:solidFill>
                <a:latin typeface="Calibri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" y="3154680"/>
            <a:ext cx="51206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17211E"/>
                </a:solidFill>
                <a:latin typeface="Calibri"/>
              </a:rPr>
              <a:t>U tří návrhů máš uvedený účel, ne jen čísla.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53912" y="315468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0C8A83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11112" y="3154680"/>
            <a:ext cx="51206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17211E"/>
                </a:solidFill>
                <a:latin typeface="Calibri"/>
              </a:rPr>
              <a:t>Víš, kdy má smysl mluvit o DPI a kdy ne.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SPOLEČNÝ ROZBOR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Co si z hodiny odnést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 PRÁCE S 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2  / 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1691640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Rozlišení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11880" y="1691640"/>
            <a:ext cx="81381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7211E"/>
                </a:solidFill>
                <a:latin typeface="Calibri"/>
              </a:rPr>
              <a:t>Počet pixelů. Zmenšit lze vždy, zvětšit bez ztráty ne.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3192" y="2651760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3192" y="2834640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Barevná hloubka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80" y="2834640"/>
            <a:ext cx="81381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7211E"/>
                </a:solidFill>
                <a:latin typeface="Calibri"/>
              </a:rPr>
              <a:t>Určuje počet dostupných barev. Málo barev se projeví pásy v plynulých přechodech.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3192" y="3794760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3192" y="3977639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Podle obsahu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80" y="3977639"/>
            <a:ext cx="81381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7211E"/>
                </a:solidFill>
                <a:latin typeface="Calibri"/>
              </a:rPr>
              <a:t>Plošná grafika snese málo barev. Fotografie s oblohou potřebuje plnou hloubku.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3192" y="4937759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3192" y="5120640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DPI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11880" y="5120640"/>
            <a:ext cx="81381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7211E"/>
                </a:solidFill>
                <a:latin typeface="Calibri"/>
              </a:rPr>
              <a:t>Údaj pro tisk. Pro obrazovku je rozhodující rozměr v pixelech.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21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 PRÁCE S MULTIMÉDII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2  / 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7FD6CF"/>
                </a:solidFill>
                <a:latin typeface="Calibri"/>
              </a:rPr>
              <a:t>EXIT TICKET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" y="1371600"/>
            <a:ext cx="10789920" cy="2194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FFFFFF"/>
                </a:solidFill>
                <a:latin typeface="Calibri"/>
              </a:rPr>
              <a:t>Proč se u fotografie oblohy objeví pásy dřív než u obrázku loga?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4206240"/>
            <a:ext cx="10789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0">
                <a:solidFill>
                  <a:srgbClr val="B9C4C0"/>
                </a:solidFill>
                <a:latin typeface="Calibri"/>
              </a:rPr>
              <a:t>Odpověz jednou nebo dvěma větami vlastními slovy.</a:t>
            </a:r>
          </a:p>
        </p:txBody>
      </p:sp>
      <p:sp>
        <p:nvSpPr>
          <p:cNvPr id="9" name="Rectangle 8"/>
          <p:cNvSpPr/>
          <p:nvPr/>
        </p:nvSpPr>
        <p:spPr>
          <a:xfrm>
            <a:off x="393192" y="5029200"/>
            <a:ext cx="2011680" cy="36576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3192" y="5257800"/>
            <a:ext cx="1078992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>
                <a:solidFill>
                  <a:srgbClr val="9AA8A4"/>
                </a:solidFill>
                <a:latin typeface="Calibri"/>
              </a:rPr>
              <a:t>Obloha obsahuje plynulý přechod mnoha odstínů; při málo barvách se přechod zaokrouhlí do viditelných pásů.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