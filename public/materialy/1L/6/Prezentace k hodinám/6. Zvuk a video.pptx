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NEŽ ZAZVONÍ</a:t>
            </a:r>
          </a:p>
          <a:p>
            <a:r>
              <a:t>SEŽEŇ SLUCHÁTKA. Bez nich se tahle hodina odučit nedá — rozdíl mezi vzorkovacími frekvencemi ve třídě nikdo neuslyší a devět počítačů hrajících naráz to nespraví.</a:t>
            </a:r>
          </a:p>
          <a:p>
            <a:r>
              <a:t>Otevři Laboratoř – vzorkování zvuku.html na projektoru, rozbal Média.zip a rozdej Parametry médií.csv a Zvuk a video.txt.</a:t>
            </a:r>
          </a:p>
          <a:p>
            <a:r>
              <a:t>Ověř, že se .wav a .mp4 na stanicích přehrají. Vše běží offline, nic se nestahuje.</a:t>
            </a:r>
          </a:p>
          <a:p/>
          <a:p>
            <a:r>
              <a:t>CÍL HODINY</a:t>
            </a:r>
          </a:p>
          <a:p>
            <a:r>
              <a:t>Student vysvětlí vzorkování zvuku, vliv rozlišení a snímkové frekvence u videa a rozliší kontejner od kodeku.</a:t>
            </a:r>
          </a:p>
          <a:p/>
          <a:p>
            <a:r>
              <a:t>VÝSTUP, KTERÝ VYBÍRÁŠ</a:t>
            </a:r>
          </a:p>
          <a:p>
            <a:r>
              <a:t>Vyplněné Parametry médií.csv a odpovědi na části A, B a C pracovního listu.</a:t>
            </a:r>
          </a:p>
          <a:p/>
          <a:p>
            <a:r>
              <a:t>ROZVRŽENÍ</a:t>
            </a:r>
          </a:p>
          <a:p>
            <a:r>
              <a:t>5 min návrh · 7 min výklad · 28 min práce · 5 min rozbor a exit ticket.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Čas: 0–5 minut.</a:t>
            </a:r>
          </a:p>
          <a:p/>
          <a:p>
            <a:r>
              <a:t>CO ŘEKNEŠ</a:t>
            </a:r>
          </a:p>
          <a:p>
            <a:r>
              <a:t>„Zvuk je vlna. Plynulá, spojitá, bez skoků. Počítač umí jen čísla. Navrhněte, jak z té vlny udělat čísla — jednou větou, vlastní postup, ne co jste někde slyšeli.“</a:t>
            </a:r>
          </a:p>
          <a:p/>
          <a:p>
            <a:r>
              <a:t>CO DĚLÁŠ</a:t>
            </a:r>
          </a:p>
          <a:p>
            <a:r>
              <a:t>Nakresli na tabuli jednu vlnu a nech ji tam. Za deset minut do ní budeš kreslit svislé čárky a bude to celý výklad vzorkování.</a:t>
            </a:r>
          </a:p>
          <a:p>
            <a:r>
              <a:t>Ptej se konkrétně: „Kdo napsal, že se to měří v pravidelných intervalech?“ Ten student právě vymyslel vzorkování a řekni mu to.</a:t>
            </a:r>
          </a:p>
          <a:p/>
          <a:p>
            <a:r>
              <a:t>POZOR</a:t>
            </a:r>
          </a:p>
          <a:p>
            <a:r>
              <a:t>Neopravuj nápady, které nevedou nikam. Odpověď „uloží se to jako obrázek té vlny“ je zajímavá a stojí za dvacet vteřin: obrázek vlny by šel, jen by byl obrovský a nešel by přehrát.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Čas: 5–12 minut. Kresli přitom do vlny na tabuli.</a:t>
            </a:r>
          </a:p>
          <a:p/>
          <a:p>
            <a:r>
              <a:t>CO ŘEKNEŠ</a:t>
            </a:r>
          </a:p>
          <a:p>
            <a:r>
              <a:t>K bodu 01: „Vzorkování je měření hlasitosti mnohokrát za sekundu.“ Dělej přitom svislé čárky do vlny na tabuli. „CD měří čtyřicet čtyři tisíc jednou stovkou za sekundu. Když těch čárek uděláte míň, mezi nimi se vlna dopočítá a to, co se do mezery nevešlo, je pryč — a jsou to vysoké tóny.“</a:t>
            </a:r>
          </a:p>
          <a:p>
            <a:r>
              <a:t>„Druhý údaj je, jak přesně tu výšku změříte. Šestnáct bitů dá pětašedesát tisíc úrovní, osm bitů jen dvě stě padesát šest. Málo úrovní slyšíte jako šum.“</a:t>
            </a:r>
          </a:p>
          <a:p>
            <a:r>
              <a:t>K bodu 02: „U videa je to podobné, jen se místo hlasitosti měří celý obraz. Snímková frekvence je počet obrázků za sekundu a rozhoduje hlavně o plynulosti pohybu.“</a:t>
            </a:r>
          </a:p>
          <a:p>
            <a:r>
              <a:t>K bodu 03: „A poslední dvojice, kterou si lidi pletou celý život. MP4 je krabice. H.264 je způsob, jakým jsou věci uvnitř složené. Když soubor nejde přehrát, skoro nikdy za to nemůže krabice — chybí návod, jak rozbalit obsah.“</a:t>
            </a:r>
          </a:p>
          <a:p>
            <a:r>
              <a:t>Závěr: „Digitální záznam je vždycky jen dostatečně hustý vzorek skutečnosti. Nikdy ta skutečnost sama.“</a:t>
            </a:r>
          </a:p>
          <a:p/>
          <a:p>
            <a:r>
              <a:t>CO DĚLÁŠ</a:t>
            </a:r>
          </a:p>
          <a:p>
            <a:r>
              <a:t>Ověř porozumění: „Ke stažení je stejný film jako .mp4 a jako .mkv. Jde poznat, který půjde přehrát?“ Správně ne, rozhoduje kodek uvnitř.</a:t>
            </a:r>
          </a:p>
          <a:p/>
          <a:p>
            <a:r>
              <a:t>POZOR</a:t>
            </a:r>
          </a:p>
          <a:p>
            <a:r>
              <a:t>Nezacházej do Nyquistova teorému. Stačí, že málo vzorků ubere vysoké tóny.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Čas: 12–40 minut. Nasazená sluchátka po celou první polovinu.</a:t>
            </a:r>
          </a:p>
          <a:p/>
          <a:p>
            <a:r>
              <a:t>CO ŘEKNEŠ</a:t>
            </a:r>
          </a:p>
          <a:p>
            <a:r>
              <a:t>„Nasaďte si sluchátka. Nejdřív laboratoř, modul 05, pak složka Média, tabulku doplňujete průběžně.“</a:t>
            </a:r>
          </a:p>
          <a:p/>
          <a:p>
            <a:r>
              <a:t>12–22 MIN · MODUL 05 A POSLECH</a:t>
            </a:r>
          </a:p>
          <a:p>
            <a:r>
              <a:t>V laboratoři mění hustotu vzorků a počet úrovní a sledují, jak se tvar vlny vzdaluje originálu.</a:t>
            </a:r>
          </a:p>
          <a:p>
            <a:r>
              <a:t>Pak čtyři zvuky ze složky Média. Pořadí, ve kterém je pustit: 44100/16 bit, 22050/16, 8000/16, 44100/8.</a:t>
            </a:r>
          </a:p>
          <a:p>
            <a:r>
              <a:t>8 000 Hz je slyšet okamžitě, zní jako telefon. Zajímavější je dvojice 22050/16 a 44100/8: oba soubory mají shodně 129 kB, tedy přesně polovinu plné kvality, ale zní úplně jinak. První je tlumený, druhý šumí. Ptej se proč — je to celá pointa hodiny.</a:t>
            </a:r>
          </a:p>
          <a:p/>
          <a:p>
            <a:r>
              <a:t>22–32 MIN · VIDEA</a:t>
            </a:r>
          </a:p>
          <a:p>
            <a:r>
              <a:t>Čtyři soubory a jedno překvapení: video s 10 snímky za sekundu má 273 kB, tedy VÍC než totéž s 30 snímky (257 kB). Nech je to najít samotné a pak vysvětlit.</a:t>
            </a:r>
          </a:p>
          <a:p>
            <a:r>
              <a:t>Vysvětlení: kodek dostal zadanou kvalitu, ne velikost. Když je snímků míň, každý dostane víc dat — a mezi vzdálenějšími snímky se toho navíc změní víc, takže se hůř komprimují.</a:t>
            </a:r>
          </a:p>
          <a:p>
            <a:r>
              <a:t>Poloviční rozměry naopak zaberou: 640×360 má 49 kB proti 257 kB. To je pětina, i když pixelů je čtvrtina — ať si všimnou, že to nevyšlo přesně, a zkusí říct proč.</a:t>
            </a:r>
          </a:p>
          <a:p/>
          <a:p>
            <a:r>
              <a:t>32–40 MIN · KONTEJNER A KODEK</a:t>
            </a:r>
          </a:p>
          <a:p>
            <a:r>
              <a:t>Přirovnání ke krabici a způsobu skládání. Ať si ho každý napíše vlastními slovy, přesně to po nich bude chtít exit ticket.</a:t>
            </a:r>
          </a:p>
          <a:p/>
          <a:p>
            <a:r>
              <a:t>VÝSTUP</a:t>
            </a:r>
          </a:p>
          <a:p>
            <a:r>
              <a:t>Vyplněné Parametry médií.csv a odpovědi na části A, B a C pracovního listu.</a:t>
            </a:r>
          </a:p>
          <a:p/>
          <a:p>
            <a:r>
              <a:t>KDYŽ NENÍ ČAS</a:t>
            </a:r>
          </a:p>
          <a:p>
            <a:r>
              <a:t>Vynech animovaný GIF. Zvuk a videa jsou jádro, GIF je jen doplněk.</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Průběžná kontrola, zhruba 38. minuta.</a:t>
            </a:r>
          </a:p>
          <a:p/>
          <a:p>
            <a:r>
              <a:t>CO ŘEKNEŠ</a:t>
            </a:r>
          </a:p>
          <a:p>
            <a:r>
              <a:t>„Než odevzdáte, projedeme čtyři věci. Odškrtávejte si je.“ Čti body nahlas a mezi nimi nech pauzu.</a:t>
            </a:r>
          </a:p>
          <a:p/>
          <a:p>
            <a:r>
              <a:t>CO DĚLÁŠ</a:t>
            </a:r>
          </a:p>
          <a:p>
            <a:r>
              <a:t>Třetí bod chce konkrétní místo, ne „bylo to rozmazané“. U silně komprimovaného videa se poškození pozná nejlíp na hranách a při rychlém pohybu — obraz se rozpadne do čtverců.</a:t>
            </a:r>
          </a:p>
          <a:p/>
          <a:p>
            <a:r>
              <a:t>POZOR</a:t>
            </a:r>
          </a:p>
          <a:p>
            <a:r>
              <a:t>Není to známkování, je to poslední šance práci dodělat.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Společný rozbor, 40–43 minut.</a:t>
            </a:r>
          </a:p>
          <a:p/>
          <a:p>
            <a:r>
              <a:t>CO ŘEKNEŠ</a:t>
            </a:r>
          </a:p>
          <a:p>
            <a:r>
              <a:t>Začni tou dvojicí souborů se stejnou velikostí: „22 kHz šestnáct bitů a 44 kHz osm bitů. Oba mají 129 kilobajtů. Proč zní každý jinak?“</a:t>
            </a:r>
          </a:p>
          <a:p>
            <a:r>
              <a:t>Odpověď: první ubral, jak často se měří, a přišel o vysoké tóny. Druhý ubral, jak přesně se měří, a přidal šum. Stejný počet bajtů, jiná ztráta.</a:t>
            </a:r>
          </a:p>
          <a:p>
            <a:r>
              <a:t>Pak nech studenty vyslovit čtyři závěry ze snímku a doplň jen to, co nezazní.</a:t>
            </a:r>
          </a:p>
          <a:p/>
          <a:p>
            <a:r>
              <a:t>OČEKÁVANÉ ZÁVĚRY</a:t>
            </a:r>
          </a:p>
          <a:p>
            <a:r>
              <a:t>Vzorkování: málo vzorků ztratí vysoké tóny, málo úrovní přidá šum a zkreslení.</a:t>
            </a:r>
          </a:p>
          <a:p>
            <a:r>
              <a:t>Rozlišení videa: poloviční rozměry znamenají čtvrtinu pixelů a výrazně menší soubor.</a:t>
            </a:r>
          </a:p>
          <a:p>
            <a:r>
              <a:t>Snímková frekvence: ovlivňuje hlavně plynulost, vliv na velikost závisí na nastavení kvality.</a:t>
            </a:r>
          </a:p>
          <a:p>
            <a:r>
              <a:t>Kontejner a kodek: MP4 nebo MKV je obal, H.264 nebo AV1 je způsob komprese uvnitř.</a:t>
            </a:r>
          </a:p>
          <a:p/>
          <a:p>
            <a:r>
              <a:t>POZOR</a:t>
            </a:r>
          </a:p>
          <a:p>
            <a:r>
              <a:t>Hodnoť postup a zdůvodnění, ne shodu s jednou formulací.</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Exit ticket, poslední dvě minuty.</a:t>
            </a:r>
          </a:p>
          <a:p/>
          <a:p>
            <a:r>
              <a:t>CO ŘEKNEŠ</a:t>
            </a:r>
          </a:p>
          <a:p>
            <a:r>
              <a:t>„Každý sám a s vlastním přirovnáním. Jaký je rozdíl mezi kontejnerem a kodekem?“</a:t>
            </a:r>
          </a:p>
          <a:p/>
          <a:p>
            <a:r>
              <a:t>CO DĚLÁŠ</a:t>
            </a:r>
          </a:p>
          <a:p>
            <a:r>
              <a:t>Sbírej u dveří. Přirovnání musí být vlastní — když se ve třídě objeví patnáctkrát krabice a způsob zabalení, příště zadej „jiné přirovnání než krabice“.</a:t>
            </a:r>
          </a:p>
          <a:p/>
          <a:p>
            <a:r>
              <a:t>OČEKÁVANÁ ODPOVĚĎ</a:t>
            </a:r>
          </a:p>
          <a:p>
            <a:r>
              <a:t>Kontejner drží stopy pohromadě (obraz, zvuk, titulky), kodek určuje, jak jsou data zakódovaná. Krabice versus způsob, jakým je věc uvnitř složená.</a:t>
            </a:r>
          </a:p>
          <a:p>
            <a:r>
              <a:t>Dobrá jsou i přirovnání typu obálka a jazyk dopisu nebo talíř a recept. Špatná je odpověď, kde kodek i kontejner dělají totéž.</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72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10312" cy="6858000"/>
          </a:xfrm>
          <a:prstGeom prst="rect">
            <a:avLst/>
          </a:prstGeom>
          <a:solidFill>
            <a:srgbClr val="0C8A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12064" y="457200"/>
            <a:ext cx="4572000" cy="274320"/>
          </a:xfrm>
          <a:prstGeom prst="rect">
            <a:avLst/>
          </a:prstGeom>
          <a:noFill/>
        </p:spPr>
        <p:txBody>
          <a:bodyPr wrap="square" lIns="0" tIns="0" rIns="0" bIns="0">
            <a:spAutoFit/>
          </a:bodyPr>
          <a:lstStyle/>
          <a:p>
            <a:pPr algn="l"/>
            <a:r>
              <a:rPr sz="1200" b="1">
                <a:solidFill>
                  <a:srgbClr val="7FD6CF"/>
                </a:solidFill>
                <a:latin typeface="Calibri"/>
              </a:rPr>
              <a:t>HODINA 6 / 8</a:t>
            </a:r>
          </a:p>
        </p:txBody>
      </p:sp>
      <p:sp>
        <p:nvSpPr>
          <p:cNvPr id="5" name="TextBox 4"/>
          <p:cNvSpPr txBox="1"/>
          <p:nvPr/>
        </p:nvSpPr>
        <p:spPr>
          <a:xfrm>
            <a:off x="7863840" y="457200"/>
            <a:ext cx="3474720" cy="274320"/>
          </a:xfrm>
          <a:prstGeom prst="rect">
            <a:avLst/>
          </a:prstGeom>
          <a:noFill/>
        </p:spPr>
        <p:txBody>
          <a:bodyPr wrap="square" lIns="0" tIns="0" rIns="0" bIns="0">
            <a:spAutoFit/>
          </a:bodyPr>
          <a:lstStyle/>
          <a:p>
            <a:pPr algn="r"/>
            <a:r>
              <a:rPr sz="1200" b="1">
                <a:solidFill>
                  <a:srgbClr val="9AA8A4"/>
                </a:solidFill>
                <a:latin typeface="Calibri"/>
              </a:rPr>
              <a:t>POČÍTAČOVÁ GRAFIKA</a:t>
            </a:r>
          </a:p>
        </p:txBody>
      </p:sp>
      <p:sp>
        <p:nvSpPr>
          <p:cNvPr id="6" name="TextBox 5"/>
          <p:cNvSpPr txBox="1"/>
          <p:nvPr/>
        </p:nvSpPr>
        <p:spPr>
          <a:xfrm>
            <a:off x="512064" y="2240280"/>
            <a:ext cx="10332720" cy="2011680"/>
          </a:xfrm>
          <a:prstGeom prst="rect">
            <a:avLst/>
          </a:prstGeom>
          <a:noFill/>
        </p:spPr>
        <p:txBody>
          <a:bodyPr wrap="square" lIns="0" tIns="0" rIns="0" bIns="0">
            <a:spAutoFit/>
          </a:bodyPr>
          <a:lstStyle/>
          <a:p>
            <a:pPr algn="l">
              <a:lnSpc>
                <a:spcPct val="115000"/>
              </a:lnSpc>
            </a:pPr>
            <a:r>
              <a:rPr sz="4000" b="1">
                <a:solidFill>
                  <a:srgbClr val="FFFFFF"/>
                </a:solidFill>
                <a:latin typeface="Calibri"/>
              </a:rPr>
              <a:t>Základy práce se zvukem a videem</a:t>
            </a:r>
          </a:p>
        </p:txBody>
      </p:sp>
      <p:sp>
        <p:nvSpPr>
          <p:cNvPr id="7" name="TextBox 6"/>
          <p:cNvSpPr txBox="1"/>
          <p:nvPr/>
        </p:nvSpPr>
        <p:spPr>
          <a:xfrm>
            <a:off x="530352" y="4709160"/>
            <a:ext cx="8138160" cy="914400"/>
          </a:xfrm>
          <a:prstGeom prst="rect">
            <a:avLst/>
          </a:prstGeom>
          <a:noFill/>
        </p:spPr>
        <p:txBody>
          <a:bodyPr wrap="square" lIns="0" tIns="0" rIns="0" bIns="0">
            <a:spAutoFit/>
          </a:bodyPr>
          <a:lstStyle/>
          <a:p>
            <a:pPr algn="l">
              <a:lnSpc>
                <a:spcPct val="125000"/>
              </a:lnSpc>
            </a:pPr>
            <a:r>
              <a:rPr sz="1700" b="0">
                <a:solidFill>
                  <a:srgbClr val="B9C4C0"/>
                </a:solidFill>
                <a:latin typeface="Calibri"/>
              </a:rPr>
              <a:t>Student vysvětlí vzorkování zvuku, vliv rozlišení a snímkové frekvence u videa a rozliší kontejner od kodeku.</a:t>
            </a:r>
          </a:p>
        </p:txBody>
      </p:sp>
      <p:sp>
        <p:nvSpPr>
          <p:cNvPr id="8" name="Rectangle 7"/>
          <p:cNvSpPr/>
          <p:nvPr/>
        </p:nvSpPr>
        <p:spPr>
          <a:xfrm>
            <a:off x="10140696" y="4764024"/>
            <a:ext cx="1179576" cy="1179576"/>
          </a:xfrm>
          <a:prstGeom prst="rect">
            <a:avLst/>
          </a:prstGeom>
          <a:solidFill>
            <a:srgbClr val="0C8A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140696" y="4983480"/>
            <a:ext cx="1179576" cy="640080"/>
          </a:xfrm>
          <a:prstGeom prst="rect">
            <a:avLst/>
          </a:prstGeom>
          <a:noFill/>
        </p:spPr>
        <p:txBody>
          <a:bodyPr wrap="square" lIns="0" tIns="0" rIns="0" bIns="0">
            <a:spAutoFit/>
          </a:bodyPr>
          <a:lstStyle/>
          <a:p>
            <a:pPr algn="ctr"/>
            <a:r>
              <a:rPr sz="3000" b="1">
                <a:solidFill>
                  <a:srgbClr val="FFFFFF"/>
                </a:solidFill>
                <a:latin typeface="Calibri"/>
              </a:rPr>
              <a:t>06</a:t>
            </a:r>
          </a:p>
        </p:txBody>
      </p:sp>
      <p:sp>
        <p:nvSpPr>
          <p:cNvPr id="10" name="TextBox 9"/>
          <p:cNvSpPr txBox="1"/>
          <p:nvPr/>
        </p:nvSpPr>
        <p:spPr>
          <a:xfrm>
            <a:off x="10140696" y="5596128"/>
            <a:ext cx="1179576" cy="228600"/>
          </a:xfrm>
          <a:prstGeom prst="rect">
            <a:avLst/>
          </a:prstGeom>
          <a:noFill/>
        </p:spPr>
        <p:txBody>
          <a:bodyPr wrap="square" lIns="0" tIns="0" rIns="0" bIns="0">
            <a:spAutoFit/>
          </a:bodyPr>
          <a:lstStyle/>
          <a:p>
            <a:pPr algn="ctr"/>
            <a:r>
              <a:rPr sz="1000" b="1">
                <a:solidFill>
                  <a:srgbClr val="CFEAE8"/>
                </a:solidFill>
                <a:latin typeface="Calibri"/>
              </a:rPr>
              <a:t>45 MIN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93192" y="320040"/>
            <a:ext cx="6400800" cy="274320"/>
          </a:xfrm>
          <a:prstGeom prst="rect">
            <a:avLst/>
          </a:prstGeom>
          <a:noFill/>
        </p:spPr>
        <p:txBody>
          <a:bodyPr wrap="square" lIns="0" tIns="0" rIns="0" bIns="0">
            <a:spAutoFit/>
          </a:bodyPr>
          <a:lstStyle/>
          <a:p>
            <a:pPr algn="l"/>
            <a:r>
              <a:rPr sz="1200" b="1">
                <a:solidFill>
                  <a:srgbClr val="0C8A83"/>
                </a:solidFill>
                <a:latin typeface="Calibri"/>
              </a:rPr>
              <a:t>0–5 MIN · ÚVOD</a:t>
            </a:r>
          </a:p>
        </p:txBody>
      </p:sp>
      <p:sp>
        <p:nvSpPr>
          <p:cNvPr id="4" name="TextBox 3"/>
          <p:cNvSpPr txBox="1"/>
          <p:nvPr/>
        </p:nvSpPr>
        <p:spPr>
          <a:xfrm>
            <a:off x="393192" y="658368"/>
            <a:ext cx="11338560" cy="731520"/>
          </a:xfrm>
          <a:prstGeom prst="rect">
            <a:avLst/>
          </a:prstGeom>
          <a:noFill/>
        </p:spPr>
        <p:txBody>
          <a:bodyPr wrap="square" lIns="0" tIns="0" rIns="0" bIns="0">
            <a:spAutoFit/>
          </a:bodyPr>
          <a:lstStyle/>
          <a:p>
            <a:pPr algn="l"/>
            <a:r>
              <a:rPr sz="3000" b="1">
                <a:solidFill>
                  <a:srgbClr val="17211E"/>
                </a:solidFill>
                <a:latin typeface="Calibri"/>
              </a:rPr>
              <a:t>Začni vlastním rozhodnutím</a:t>
            </a:r>
          </a:p>
        </p:txBody>
      </p:sp>
      <p:sp>
        <p:nvSpPr>
          <p:cNvPr id="5" name="Rectangle 4"/>
          <p:cNvSpPr/>
          <p:nvPr/>
        </p:nvSpPr>
        <p:spPr>
          <a:xfrm>
            <a:off x="393192" y="6272784"/>
            <a:ext cx="11411712" cy="18288"/>
          </a:xfrm>
          <a:prstGeom prst="rect">
            <a:avLst/>
          </a:prstGeom>
          <a:solidFill>
            <a:srgbClr val="DCD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93192" y="6382512"/>
            <a:ext cx="6400800" cy="228600"/>
          </a:xfrm>
          <a:prstGeom prst="rect">
            <a:avLst/>
          </a:prstGeom>
          <a:noFill/>
        </p:spPr>
        <p:txBody>
          <a:bodyPr wrap="square" lIns="0" tIns="0" rIns="0" bIns="0">
            <a:spAutoFit/>
          </a:bodyPr>
          <a:lstStyle/>
          <a:p>
            <a:pPr algn="l"/>
            <a:r>
              <a:rPr sz="1100" b="1">
                <a:solidFill>
                  <a:srgbClr val="5C6965"/>
                </a:solidFill>
                <a:latin typeface="Calibri"/>
              </a:rPr>
              <a:t>POČÍTAČOVÁ GRAFIKA A PRÁCE S MULTIMÉDII</a:t>
            </a:r>
          </a:p>
        </p:txBody>
      </p:sp>
      <p:sp>
        <p:nvSpPr>
          <p:cNvPr id="7" name="TextBox 6"/>
          <p:cNvSpPr txBox="1"/>
          <p:nvPr/>
        </p:nvSpPr>
        <p:spPr>
          <a:xfrm>
            <a:off x="9966960" y="6382512"/>
            <a:ext cx="1828800" cy="228600"/>
          </a:xfrm>
          <a:prstGeom prst="rect">
            <a:avLst/>
          </a:prstGeom>
          <a:noFill/>
        </p:spPr>
        <p:txBody>
          <a:bodyPr wrap="square" lIns="0" tIns="0" rIns="0" bIns="0">
            <a:spAutoFit/>
          </a:bodyPr>
          <a:lstStyle/>
          <a:p>
            <a:pPr algn="r"/>
            <a:r>
              <a:rPr sz="1100" b="1">
                <a:solidFill>
                  <a:srgbClr val="5C6965"/>
                </a:solidFill>
                <a:latin typeface="Calibri"/>
              </a:rPr>
              <a:t>HODINA 6  /  2</a:t>
            </a:r>
          </a:p>
        </p:txBody>
      </p:sp>
      <p:sp>
        <p:nvSpPr>
          <p:cNvPr id="8" name="TextBox 7"/>
          <p:cNvSpPr txBox="1"/>
          <p:nvPr/>
        </p:nvSpPr>
        <p:spPr>
          <a:xfrm>
            <a:off x="393192" y="1691640"/>
            <a:ext cx="11338560" cy="822960"/>
          </a:xfrm>
          <a:prstGeom prst="rect">
            <a:avLst/>
          </a:prstGeom>
          <a:noFill/>
        </p:spPr>
        <p:txBody>
          <a:bodyPr wrap="square" lIns="0" tIns="0" rIns="0" bIns="0">
            <a:spAutoFit/>
          </a:bodyPr>
          <a:lstStyle/>
          <a:p>
            <a:pPr algn="l">
              <a:lnSpc>
                <a:spcPct val="120000"/>
              </a:lnSpc>
            </a:pPr>
            <a:r>
              <a:rPr sz="2300" b="1">
                <a:solidFill>
                  <a:srgbClr val="0C8A83"/>
                </a:solidFill>
                <a:latin typeface="Calibri"/>
              </a:rPr>
              <a:t>Zvuk je plynulá vlna. Jak ho počítač uloží, když umí pracovat jen s čísly?</a:t>
            </a:r>
          </a:p>
        </p:txBody>
      </p:sp>
      <p:sp>
        <p:nvSpPr>
          <p:cNvPr id="9" name="TextBox 8"/>
          <p:cNvSpPr txBox="1"/>
          <p:nvPr/>
        </p:nvSpPr>
        <p:spPr>
          <a:xfrm>
            <a:off x="393192" y="3017520"/>
            <a:ext cx="3291840" cy="320040"/>
          </a:xfrm>
          <a:prstGeom prst="rect">
            <a:avLst/>
          </a:prstGeom>
          <a:noFill/>
        </p:spPr>
        <p:txBody>
          <a:bodyPr wrap="square" lIns="0" tIns="0" rIns="0" bIns="0">
            <a:spAutoFit/>
          </a:bodyPr>
          <a:lstStyle/>
          <a:p>
            <a:pPr algn="l"/>
            <a:r>
              <a:rPr sz="1300" b="1">
                <a:solidFill>
                  <a:srgbClr val="17211E"/>
                </a:solidFill>
                <a:latin typeface="Calibri"/>
              </a:rPr>
              <a:t>NAVRHNI POSTUP</a:t>
            </a:r>
          </a:p>
        </p:txBody>
      </p:sp>
      <p:sp>
        <p:nvSpPr>
          <p:cNvPr id="10" name="TextBox 9"/>
          <p:cNvSpPr txBox="1"/>
          <p:nvPr/>
        </p:nvSpPr>
        <p:spPr>
          <a:xfrm>
            <a:off x="393192" y="3429000"/>
            <a:ext cx="3291840" cy="1463040"/>
          </a:xfrm>
          <a:prstGeom prst="rect">
            <a:avLst/>
          </a:prstGeom>
          <a:noFill/>
        </p:spPr>
        <p:txBody>
          <a:bodyPr wrap="square" lIns="0" tIns="0" rIns="0" bIns="0">
            <a:spAutoFit/>
          </a:bodyPr>
          <a:lstStyle/>
          <a:p>
            <a:pPr algn="l">
              <a:lnSpc>
                <a:spcPct val="130000"/>
              </a:lnSpc>
            </a:pPr>
            <a:r>
              <a:rPr sz="1500" b="0">
                <a:solidFill>
                  <a:srgbClr val="5C6965"/>
                </a:solidFill>
                <a:latin typeface="Calibri"/>
              </a:rPr>
              <a:t>Jak bys vlnu převedl na čísla?</a:t>
            </a:r>
          </a:p>
        </p:txBody>
      </p:sp>
      <p:sp>
        <p:nvSpPr>
          <p:cNvPr id="11" name="TextBox 10"/>
          <p:cNvSpPr txBox="1"/>
          <p:nvPr/>
        </p:nvSpPr>
        <p:spPr>
          <a:xfrm>
            <a:off x="4315968" y="3017520"/>
            <a:ext cx="3291840" cy="320040"/>
          </a:xfrm>
          <a:prstGeom prst="rect">
            <a:avLst/>
          </a:prstGeom>
          <a:noFill/>
        </p:spPr>
        <p:txBody>
          <a:bodyPr wrap="square" lIns="0" tIns="0" rIns="0" bIns="0">
            <a:spAutoFit/>
          </a:bodyPr>
          <a:lstStyle/>
          <a:p>
            <a:pPr algn="l"/>
            <a:r>
              <a:rPr sz="1300" b="1">
                <a:solidFill>
                  <a:srgbClr val="17211E"/>
                </a:solidFill>
                <a:latin typeface="Calibri"/>
              </a:rPr>
              <a:t>ZAPIŠ</a:t>
            </a:r>
          </a:p>
        </p:txBody>
      </p:sp>
      <p:sp>
        <p:nvSpPr>
          <p:cNvPr id="12" name="TextBox 11"/>
          <p:cNvSpPr txBox="1"/>
          <p:nvPr/>
        </p:nvSpPr>
        <p:spPr>
          <a:xfrm>
            <a:off x="4315968" y="3429000"/>
            <a:ext cx="3291840" cy="1463040"/>
          </a:xfrm>
          <a:prstGeom prst="rect">
            <a:avLst/>
          </a:prstGeom>
          <a:noFill/>
        </p:spPr>
        <p:txBody>
          <a:bodyPr wrap="square" lIns="0" tIns="0" rIns="0" bIns="0">
            <a:spAutoFit/>
          </a:bodyPr>
          <a:lstStyle/>
          <a:p>
            <a:pPr algn="l">
              <a:lnSpc>
                <a:spcPct val="130000"/>
              </a:lnSpc>
            </a:pPr>
            <a:r>
              <a:rPr sz="1500" b="0">
                <a:solidFill>
                  <a:srgbClr val="5C6965"/>
                </a:solidFill>
                <a:latin typeface="Calibri"/>
              </a:rPr>
              <a:t>Jednou větou svůj nápad.</a:t>
            </a:r>
          </a:p>
        </p:txBody>
      </p:sp>
      <p:sp>
        <p:nvSpPr>
          <p:cNvPr id="13" name="TextBox 12"/>
          <p:cNvSpPr txBox="1"/>
          <p:nvPr/>
        </p:nvSpPr>
        <p:spPr>
          <a:xfrm>
            <a:off x="8238744" y="3017520"/>
            <a:ext cx="3291840" cy="320040"/>
          </a:xfrm>
          <a:prstGeom prst="rect">
            <a:avLst/>
          </a:prstGeom>
          <a:noFill/>
        </p:spPr>
        <p:txBody>
          <a:bodyPr wrap="square" lIns="0" tIns="0" rIns="0" bIns="0">
            <a:spAutoFit/>
          </a:bodyPr>
          <a:lstStyle/>
          <a:p>
            <a:pPr algn="l"/>
            <a:r>
              <a:rPr sz="1300" b="1">
                <a:solidFill>
                  <a:srgbClr val="17211E"/>
                </a:solidFill>
                <a:latin typeface="Calibri"/>
              </a:rPr>
              <a:t>POROVNEJ</a:t>
            </a:r>
          </a:p>
        </p:txBody>
      </p:sp>
      <p:sp>
        <p:nvSpPr>
          <p:cNvPr id="14" name="TextBox 13"/>
          <p:cNvSpPr txBox="1"/>
          <p:nvPr/>
        </p:nvSpPr>
        <p:spPr>
          <a:xfrm>
            <a:off x="8238744" y="3429000"/>
            <a:ext cx="3291840" cy="1463040"/>
          </a:xfrm>
          <a:prstGeom prst="rect">
            <a:avLst/>
          </a:prstGeom>
          <a:noFill/>
        </p:spPr>
        <p:txBody>
          <a:bodyPr wrap="square" lIns="0" tIns="0" rIns="0" bIns="0">
            <a:spAutoFit/>
          </a:bodyPr>
          <a:lstStyle/>
          <a:p>
            <a:pPr algn="l">
              <a:lnSpc>
                <a:spcPct val="130000"/>
              </a:lnSpc>
            </a:pPr>
            <a:r>
              <a:rPr sz="1500" b="0">
                <a:solidFill>
                  <a:srgbClr val="5C6965"/>
                </a:solidFill>
                <a:latin typeface="Calibri"/>
              </a:rPr>
              <a:t>Kdo navrhl měřit v pravidelných intervalech?</a:t>
            </a:r>
          </a:p>
        </p:txBody>
      </p:sp>
      <p:sp>
        <p:nvSpPr>
          <p:cNvPr id="15" name="TextBox 14"/>
          <p:cNvSpPr txBox="1"/>
          <p:nvPr/>
        </p:nvSpPr>
        <p:spPr>
          <a:xfrm>
            <a:off x="393192" y="5394960"/>
            <a:ext cx="11338560" cy="457200"/>
          </a:xfrm>
          <a:prstGeom prst="rect">
            <a:avLst/>
          </a:prstGeom>
          <a:noFill/>
        </p:spPr>
        <p:txBody>
          <a:bodyPr wrap="square" lIns="0" tIns="0" rIns="0" bIns="0">
            <a:spAutoFit/>
          </a:bodyPr>
          <a:lstStyle/>
          <a:p>
            <a:pPr algn="l"/>
            <a:r>
              <a:rPr sz="1500" b="0">
                <a:solidFill>
                  <a:srgbClr val="5C6965"/>
                </a:solidFill>
                <a:latin typeface="Calibri"/>
              </a:rPr>
              <a:t>Nejdřív se rozhodni sám. Teprve pak porovnávej.</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93192" y="320040"/>
            <a:ext cx="6400800" cy="274320"/>
          </a:xfrm>
          <a:prstGeom prst="rect">
            <a:avLst/>
          </a:prstGeom>
          <a:noFill/>
        </p:spPr>
        <p:txBody>
          <a:bodyPr wrap="square" lIns="0" tIns="0" rIns="0" bIns="0">
            <a:spAutoFit/>
          </a:bodyPr>
          <a:lstStyle/>
          <a:p>
            <a:pPr algn="l"/>
            <a:r>
              <a:rPr sz="1200" b="1">
                <a:solidFill>
                  <a:srgbClr val="0C8A83"/>
                </a:solidFill>
                <a:latin typeface="Calibri"/>
              </a:rPr>
              <a:t>5–12 MIN · MINIMUM</a:t>
            </a:r>
          </a:p>
        </p:txBody>
      </p:sp>
      <p:sp>
        <p:nvSpPr>
          <p:cNvPr id="4" name="TextBox 3"/>
          <p:cNvSpPr txBox="1"/>
          <p:nvPr/>
        </p:nvSpPr>
        <p:spPr>
          <a:xfrm>
            <a:off x="393192" y="658368"/>
            <a:ext cx="11338560" cy="731520"/>
          </a:xfrm>
          <a:prstGeom prst="rect">
            <a:avLst/>
          </a:prstGeom>
          <a:noFill/>
        </p:spPr>
        <p:txBody>
          <a:bodyPr wrap="square" lIns="0" tIns="0" rIns="0" bIns="0">
            <a:spAutoFit/>
          </a:bodyPr>
          <a:lstStyle/>
          <a:p>
            <a:pPr algn="l"/>
            <a:r>
              <a:rPr sz="3000" b="1">
                <a:solidFill>
                  <a:srgbClr val="17211E"/>
                </a:solidFill>
                <a:latin typeface="Calibri"/>
              </a:rPr>
              <a:t>Tři opěrné body</a:t>
            </a:r>
          </a:p>
        </p:txBody>
      </p:sp>
      <p:sp>
        <p:nvSpPr>
          <p:cNvPr id="5" name="Rectangle 4"/>
          <p:cNvSpPr/>
          <p:nvPr/>
        </p:nvSpPr>
        <p:spPr>
          <a:xfrm>
            <a:off x="393192" y="6272784"/>
            <a:ext cx="11411712" cy="18288"/>
          </a:xfrm>
          <a:prstGeom prst="rect">
            <a:avLst/>
          </a:prstGeom>
          <a:solidFill>
            <a:srgbClr val="DCD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93192" y="6382512"/>
            <a:ext cx="6400800" cy="228600"/>
          </a:xfrm>
          <a:prstGeom prst="rect">
            <a:avLst/>
          </a:prstGeom>
          <a:noFill/>
        </p:spPr>
        <p:txBody>
          <a:bodyPr wrap="square" lIns="0" tIns="0" rIns="0" bIns="0">
            <a:spAutoFit/>
          </a:bodyPr>
          <a:lstStyle/>
          <a:p>
            <a:pPr algn="l"/>
            <a:r>
              <a:rPr sz="1100" b="1">
                <a:solidFill>
                  <a:srgbClr val="5C6965"/>
                </a:solidFill>
                <a:latin typeface="Calibri"/>
              </a:rPr>
              <a:t>POČÍTAČOVÁ GRAFIKA A PRÁCE S MULTIMÉDII</a:t>
            </a:r>
          </a:p>
        </p:txBody>
      </p:sp>
      <p:sp>
        <p:nvSpPr>
          <p:cNvPr id="7" name="TextBox 6"/>
          <p:cNvSpPr txBox="1"/>
          <p:nvPr/>
        </p:nvSpPr>
        <p:spPr>
          <a:xfrm>
            <a:off x="9966960" y="6382512"/>
            <a:ext cx="1828800" cy="228600"/>
          </a:xfrm>
          <a:prstGeom prst="rect">
            <a:avLst/>
          </a:prstGeom>
          <a:noFill/>
        </p:spPr>
        <p:txBody>
          <a:bodyPr wrap="square" lIns="0" tIns="0" rIns="0" bIns="0">
            <a:spAutoFit/>
          </a:bodyPr>
          <a:lstStyle/>
          <a:p>
            <a:pPr algn="r"/>
            <a:r>
              <a:rPr sz="1100" b="1">
                <a:solidFill>
                  <a:srgbClr val="5C6965"/>
                </a:solidFill>
                <a:latin typeface="Calibri"/>
              </a:rPr>
              <a:t>HODINA 6  /  3</a:t>
            </a:r>
          </a:p>
        </p:txBody>
      </p:sp>
      <p:sp>
        <p:nvSpPr>
          <p:cNvPr id="8" name="Rectangle 7"/>
          <p:cNvSpPr/>
          <p:nvPr/>
        </p:nvSpPr>
        <p:spPr>
          <a:xfrm>
            <a:off x="393192" y="1664208"/>
            <a:ext cx="667512" cy="594360"/>
          </a:xfrm>
          <a:prstGeom prst="rect">
            <a:avLst/>
          </a:prstGeom>
          <a:solidFill>
            <a:srgbClr val="0C8A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76072" y="1764792"/>
            <a:ext cx="667512" cy="365760"/>
          </a:xfrm>
          <a:prstGeom prst="rect">
            <a:avLst/>
          </a:prstGeom>
          <a:noFill/>
        </p:spPr>
        <p:txBody>
          <a:bodyPr wrap="square" lIns="0" tIns="0" rIns="0" bIns="0">
            <a:spAutoFit/>
          </a:bodyPr>
          <a:lstStyle/>
          <a:p>
            <a:pPr algn="l"/>
            <a:r>
              <a:rPr sz="1600" b="1">
                <a:solidFill>
                  <a:srgbClr val="FFFFFF"/>
                </a:solidFill>
                <a:latin typeface="Calibri"/>
              </a:rPr>
              <a:t>01</a:t>
            </a:r>
          </a:p>
        </p:txBody>
      </p:sp>
      <p:sp>
        <p:nvSpPr>
          <p:cNvPr id="10" name="TextBox 9"/>
          <p:cNvSpPr txBox="1"/>
          <p:nvPr/>
        </p:nvSpPr>
        <p:spPr>
          <a:xfrm>
            <a:off x="393192" y="2523744"/>
            <a:ext cx="3282696" cy="548640"/>
          </a:xfrm>
          <a:prstGeom prst="rect">
            <a:avLst/>
          </a:prstGeom>
          <a:noFill/>
        </p:spPr>
        <p:txBody>
          <a:bodyPr wrap="square" lIns="0" tIns="0" rIns="0" bIns="0">
            <a:spAutoFit/>
          </a:bodyPr>
          <a:lstStyle/>
          <a:p>
            <a:pPr algn="l"/>
            <a:r>
              <a:rPr sz="2000" b="1">
                <a:solidFill>
                  <a:srgbClr val="17211E"/>
                </a:solidFill>
                <a:latin typeface="Calibri"/>
              </a:rPr>
              <a:t>Vzorkování</a:t>
            </a:r>
          </a:p>
        </p:txBody>
      </p:sp>
      <p:sp>
        <p:nvSpPr>
          <p:cNvPr id="11" name="TextBox 10"/>
          <p:cNvSpPr txBox="1"/>
          <p:nvPr/>
        </p:nvSpPr>
        <p:spPr>
          <a:xfrm>
            <a:off x="393192" y="3337560"/>
            <a:ext cx="3282696" cy="1737360"/>
          </a:xfrm>
          <a:prstGeom prst="rect">
            <a:avLst/>
          </a:prstGeom>
          <a:noFill/>
        </p:spPr>
        <p:txBody>
          <a:bodyPr wrap="square" lIns="0" tIns="0" rIns="0" bIns="0">
            <a:spAutoFit/>
          </a:bodyPr>
          <a:lstStyle/>
          <a:p>
            <a:pPr algn="l">
              <a:lnSpc>
                <a:spcPct val="135000"/>
              </a:lnSpc>
            </a:pPr>
            <a:r>
              <a:rPr sz="1500" b="0">
                <a:solidFill>
                  <a:srgbClr val="5C6965"/>
                </a:solidFill>
                <a:latin typeface="Calibri"/>
              </a:rPr>
              <a:t>Měření hlasitosti mnohokrát za sekundu. CD používá 44 100 vzorků za sekundu.</a:t>
            </a:r>
          </a:p>
        </p:txBody>
      </p:sp>
      <p:sp>
        <p:nvSpPr>
          <p:cNvPr id="12" name="Rectangle 11"/>
          <p:cNvSpPr/>
          <p:nvPr/>
        </p:nvSpPr>
        <p:spPr>
          <a:xfrm>
            <a:off x="4315968" y="1664208"/>
            <a:ext cx="667512" cy="594360"/>
          </a:xfrm>
          <a:prstGeom prst="rect">
            <a:avLst/>
          </a:prstGeom>
          <a:solidFill>
            <a:srgbClr val="0C8A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98848" y="1764792"/>
            <a:ext cx="667512" cy="365760"/>
          </a:xfrm>
          <a:prstGeom prst="rect">
            <a:avLst/>
          </a:prstGeom>
          <a:noFill/>
        </p:spPr>
        <p:txBody>
          <a:bodyPr wrap="square" lIns="0" tIns="0" rIns="0" bIns="0">
            <a:spAutoFit/>
          </a:bodyPr>
          <a:lstStyle/>
          <a:p>
            <a:pPr algn="l"/>
            <a:r>
              <a:rPr sz="1600" b="1">
                <a:solidFill>
                  <a:srgbClr val="FFFFFF"/>
                </a:solidFill>
                <a:latin typeface="Calibri"/>
              </a:rPr>
              <a:t>02</a:t>
            </a:r>
          </a:p>
        </p:txBody>
      </p:sp>
      <p:sp>
        <p:nvSpPr>
          <p:cNvPr id="14" name="TextBox 13"/>
          <p:cNvSpPr txBox="1"/>
          <p:nvPr/>
        </p:nvSpPr>
        <p:spPr>
          <a:xfrm>
            <a:off x="4315968" y="2523744"/>
            <a:ext cx="3282696" cy="548640"/>
          </a:xfrm>
          <a:prstGeom prst="rect">
            <a:avLst/>
          </a:prstGeom>
          <a:noFill/>
        </p:spPr>
        <p:txBody>
          <a:bodyPr wrap="square" lIns="0" tIns="0" rIns="0" bIns="0">
            <a:spAutoFit/>
          </a:bodyPr>
          <a:lstStyle/>
          <a:p>
            <a:pPr algn="l"/>
            <a:r>
              <a:rPr sz="2000" b="1">
                <a:solidFill>
                  <a:srgbClr val="17211E"/>
                </a:solidFill>
                <a:latin typeface="Calibri"/>
              </a:rPr>
              <a:t>Snímková frekvence</a:t>
            </a:r>
          </a:p>
        </p:txBody>
      </p:sp>
      <p:sp>
        <p:nvSpPr>
          <p:cNvPr id="15" name="TextBox 14"/>
          <p:cNvSpPr txBox="1"/>
          <p:nvPr/>
        </p:nvSpPr>
        <p:spPr>
          <a:xfrm>
            <a:off x="4315968" y="3337560"/>
            <a:ext cx="3282696" cy="1737360"/>
          </a:xfrm>
          <a:prstGeom prst="rect">
            <a:avLst/>
          </a:prstGeom>
          <a:noFill/>
        </p:spPr>
        <p:txBody>
          <a:bodyPr wrap="square" lIns="0" tIns="0" rIns="0" bIns="0">
            <a:spAutoFit/>
          </a:bodyPr>
          <a:lstStyle/>
          <a:p>
            <a:pPr algn="l">
              <a:lnSpc>
                <a:spcPct val="135000"/>
              </a:lnSpc>
            </a:pPr>
            <a:r>
              <a:rPr sz="1500" b="0">
                <a:solidFill>
                  <a:srgbClr val="5C6965"/>
                </a:solidFill>
                <a:latin typeface="Calibri"/>
              </a:rPr>
              <a:t>Počet obrázků za sekundu u videa. Určuje plynulost pohybu.</a:t>
            </a:r>
          </a:p>
        </p:txBody>
      </p:sp>
      <p:sp>
        <p:nvSpPr>
          <p:cNvPr id="16" name="Rectangle 15"/>
          <p:cNvSpPr/>
          <p:nvPr/>
        </p:nvSpPr>
        <p:spPr>
          <a:xfrm>
            <a:off x="8238744" y="1664208"/>
            <a:ext cx="667512" cy="594360"/>
          </a:xfrm>
          <a:prstGeom prst="rect">
            <a:avLst/>
          </a:prstGeom>
          <a:solidFill>
            <a:srgbClr val="0C8A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421624" y="1764792"/>
            <a:ext cx="667512" cy="365760"/>
          </a:xfrm>
          <a:prstGeom prst="rect">
            <a:avLst/>
          </a:prstGeom>
          <a:noFill/>
        </p:spPr>
        <p:txBody>
          <a:bodyPr wrap="square" lIns="0" tIns="0" rIns="0" bIns="0">
            <a:spAutoFit/>
          </a:bodyPr>
          <a:lstStyle/>
          <a:p>
            <a:pPr algn="l"/>
            <a:r>
              <a:rPr sz="1600" b="1">
                <a:solidFill>
                  <a:srgbClr val="FFFFFF"/>
                </a:solidFill>
                <a:latin typeface="Calibri"/>
              </a:rPr>
              <a:t>03</a:t>
            </a:r>
          </a:p>
        </p:txBody>
      </p:sp>
      <p:sp>
        <p:nvSpPr>
          <p:cNvPr id="18" name="TextBox 17"/>
          <p:cNvSpPr txBox="1"/>
          <p:nvPr/>
        </p:nvSpPr>
        <p:spPr>
          <a:xfrm>
            <a:off x="8238744" y="2523744"/>
            <a:ext cx="3282696" cy="548640"/>
          </a:xfrm>
          <a:prstGeom prst="rect">
            <a:avLst/>
          </a:prstGeom>
          <a:noFill/>
        </p:spPr>
        <p:txBody>
          <a:bodyPr wrap="square" lIns="0" tIns="0" rIns="0" bIns="0">
            <a:spAutoFit/>
          </a:bodyPr>
          <a:lstStyle/>
          <a:p>
            <a:pPr algn="l"/>
            <a:r>
              <a:rPr sz="2000" b="1">
                <a:solidFill>
                  <a:srgbClr val="17211E"/>
                </a:solidFill>
                <a:latin typeface="Calibri"/>
              </a:rPr>
              <a:t>Kontejner a kodek</a:t>
            </a:r>
          </a:p>
        </p:txBody>
      </p:sp>
      <p:sp>
        <p:nvSpPr>
          <p:cNvPr id="19" name="TextBox 18"/>
          <p:cNvSpPr txBox="1"/>
          <p:nvPr/>
        </p:nvSpPr>
        <p:spPr>
          <a:xfrm>
            <a:off x="8238744" y="3337560"/>
            <a:ext cx="3282696" cy="1737360"/>
          </a:xfrm>
          <a:prstGeom prst="rect">
            <a:avLst/>
          </a:prstGeom>
          <a:noFill/>
        </p:spPr>
        <p:txBody>
          <a:bodyPr wrap="square" lIns="0" tIns="0" rIns="0" bIns="0">
            <a:spAutoFit/>
          </a:bodyPr>
          <a:lstStyle/>
          <a:p>
            <a:pPr algn="l">
              <a:lnSpc>
                <a:spcPct val="135000"/>
              </a:lnSpc>
            </a:pPr>
            <a:r>
              <a:rPr sz="1500" b="0">
                <a:solidFill>
                  <a:srgbClr val="5C6965"/>
                </a:solidFill>
                <a:latin typeface="Calibri"/>
              </a:rPr>
              <a:t>MP4 je obal, H.264 je způsob komprese uvnitř. Přípona sama nezaručí přehratelnost.</a:t>
            </a:r>
          </a:p>
        </p:txBody>
      </p:sp>
      <p:sp>
        <p:nvSpPr>
          <p:cNvPr id="20" name="Rectangle 19"/>
          <p:cNvSpPr/>
          <p:nvPr/>
        </p:nvSpPr>
        <p:spPr>
          <a:xfrm>
            <a:off x="393192" y="5468112"/>
            <a:ext cx="11411712" cy="27432"/>
          </a:xfrm>
          <a:prstGeom prst="rect">
            <a:avLst/>
          </a:prstGeom>
          <a:solidFill>
            <a:srgbClr val="DCD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93192" y="5669280"/>
            <a:ext cx="11338560" cy="457200"/>
          </a:xfrm>
          <a:prstGeom prst="rect">
            <a:avLst/>
          </a:prstGeom>
          <a:noFill/>
        </p:spPr>
        <p:txBody>
          <a:bodyPr wrap="square" lIns="0" tIns="0" rIns="0" bIns="0">
            <a:spAutoFit/>
          </a:bodyPr>
          <a:lstStyle/>
          <a:p>
            <a:pPr algn="l"/>
            <a:r>
              <a:rPr sz="1600" b="1">
                <a:solidFill>
                  <a:srgbClr val="0C8A83"/>
                </a:solidFill>
                <a:latin typeface="Calibri"/>
              </a:rPr>
              <a:t>Digitální záznam je vždy jen dostatečně hustý vzorek skutečnosti.</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93192" y="320040"/>
            <a:ext cx="6400800" cy="274320"/>
          </a:xfrm>
          <a:prstGeom prst="rect">
            <a:avLst/>
          </a:prstGeom>
          <a:noFill/>
        </p:spPr>
        <p:txBody>
          <a:bodyPr wrap="square" lIns="0" tIns="0" rIns="0" bIns="0">
            <a:spAutoFit/>
          </a:bodyPr>
          <a:lstStyle/>
          <a:p>
            <a:pPr algn="l"/>
            <a:r>
              <a:rPr sz="1200" b="1">
                <a:solidFill>
                  <a:srgbClr val="0C8A83"/>
                </a:solidFill>
                <a:latin typeface="Calibri"/>
              </a:rPr>
              <a:t>12–40 MIN · PRÁCE</a:t>
            </a:r>
          </a:p>
        </p:txBody>
      </p:sp>
      <p:sp>
        <p:nvSpPr>
          <p:cNvPr id="4" name="TextBox 3"/>
          <p:cNvSpPr txBox="1"/>
          <p:nvPr/>
        </p:nvSpPr>
        <p:spPr>
          <a:xfrm>
            <a:off x="393192" y="658368"/>
            <a:ext cx="11338560" cy="731520"/>
          </a:xfrm>
          <a:prstGeom prst="rect">
            <a:avLst/>
          </a:prstGeom>
          <a:noFill/>
        </p:spPr>
        <p:txBody>
          <a:bodyPr wrap="square" lIns="0" tIns="0" rIns="0" bIns="0">
            <a:spAutoFit/>
          </a:bodyPr>
          <a:lstStyle/>
          <a:p>
            <a:pPr algn="l"/>
            <a:r>
              <a:rPr sz="3000" b="1">
                <a:solidFill>
                  <a:srgbClr val="17211E"/>
                </a:solidFill>
                <a:latin typeface="Calibri"/>
              </a:rPr>
              <a:t>Hlavní počítačová aktivita</a:t>
            </a:r>
          </a:p>
        </p:txBody>
      </p:sp>
      <p:sp>
        <p:nvSpPr>
          <p:cNvPr id="5" name="Rectangle 4"/>
          <p:cNvSpPr/>
          <p:nvPr/>
        </p:nvSpPr>
        <p:spPr>
          <a:xfrm>
            <a:off x="393192" y="6272784"/>
            <a:ext cx="11411712" cy="18288"/>
          </a:xfrm>
          <a:prstGeom prst="rect">
            <a:avLst/>
          </a:prstGeom>
          <a:solidFill>
            <a:srgbClr val="DCD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93192" y="6382512"/>
            <a:ext cx="6400800" cy="228600"/>
          </a:xfrm>
          <a:prstGeom prst="rect">
            <a:avLst/>
          </a:prstGeom>
          <a:noFill/>
        </p:spPr>
        <p:txBody>
          <a:bodyPr wrap="square" lIns="0" tIns="0" rIns="0" bIns="0">
            <a:spAutoFit/>
          </a:bodyPr>
          <a:lstStyle/>
          <a:p>
            <a:pPr algn="l"/>
            <a:r>
              <a:rPr sz="1100" b="1">
                <a:solidFill>
                  <a:srgbClr val="5C6965"/>
                </a:solidFill>
                <a:latin typeface="Calibri"/>
              </a:rPr>
              <a:t>POČÍTAČOVÁ GRAFIKA A PRÁCE S MULTIMÉDII</a:t>
            </a:r>
          </a:p>
        </p:txBody>
      </p:sp>
      <p:sp>
        <p:nvSpPr>
          <p:cNvPr id="7" name="TextBox 6"/>
          <p:cNvSpPr txBox="1"/>
          <p:nvPr/>
        </p:nvSpPr>
        <p:spPr>
          <a:xfrm>
            <a:off x="9966960" y="6382512"/>
            <a:ext cx="1828800" cy="228600"/>
          </a:xfrm>
          <a:prstGeom prst="rect">
            <a:avLst/>
          </a:prstGeom>
          <a:noFill/>
        </p:spPr>
        <p:txBody>
          <a:bodyPr wrap="square" lIns="0" tIns="0" rIns="0" bIns="0">
            <a:spAutoFit/>
          </a:bodyPr>
          <a:lstStyle/>
          <a:p>
            <a:pPr algn="r"/>
            <a:r>
              <a:rPr sz="1100" b="1">
                <a:solidFill>
                  <a:srgbClr val="5C6965"/>
                </a:solidFill>
                <a:latin typeface="Calibri"/>
              </a:rPr>
              <a:t>HODINA 6  /  4</a:t>
            </a:r>
          </a:p>
        </p:txBody>
      </p:sp>
      <p:sp>
        <p:nvSpPr>
          <p:cNvPr id="8" name="TextBox 7"/>
          <p:cNvSpPr txBox="1"/>
          <p:nvPr/>
        </p:nvSpPr>
        <p:spPr>
          <a:xfrm>
            <a:off x="393192" y="1645920"/>
            <a:ext cx="1371600" cy="274320"/>
          </a:xfrm>
          <a:prstGeom prst="rect">
            <a:avLst/>
          </a:prstGeom>
          <a:noFill/>
        </p:spPr>
        <p:txBody>
          <a:bodyPr wrap="square" lIns="0" tIns="0" rIns="0" bIns="0">
            <a:spAutoFit/>
          </a:bodyPr>
          <a:lstStyle/>
          <a:p>
            <a:pPr algn="l"/>
            <a:r>
              <a:rPr sz="1200" b="1">
                <a:solidFill>
                  <a:srgbClr val="C45A3E"/>
                </a:solidFill>
                <a:latin typeface="Calibri"/>
              </a:rPr>
              <a:t>OTEVŘI</a:t>
            </a:r>
          </a:p>
        </p:txBody>
      </p:sp>
      <p:sp>
        <p:nvSpPr>
          <p:cNvPr id="9" name="TextBox 8"/>
          <p:cNvSpPr txBox="1"/>
          <p:nvPr/>
        </p:nvSpPr>
        <p:spPr>
          <a:xfrm>
            <a:off x="1600200" y="1627632"/>
            <a:ext cx="9966960" cy="365760"/>
          </a:xfrm>
          <a:prstGeom prst="rect">
            <a:avLst/>
          </a:prstGeom>
          <a:noFill/>
        </p:spPr>
        <p:txBody>
          <a:bodyPr wrap="square" lIns="0" tIns="0" rIns="0" bIns="0">
            <a:spAutoFit/>
          </a:bodyPr>
          <a:lstStyle/>
          <a:p>
            <a:pPr algn="l"/>
            <a:r>
              <a:rPr sz="1500" b="1">
                <a:solidFill>
                  <a:srgbClr val="17211E"/>
                </a:solidFill>
                <a:latin typeface="Calibri"/>
              </a:rPr>
              <a:t>Laboratoř – vzorkování zvuku.html, Média/, Parametry médií.csv, Zvuk a video.txt</a:t>
            </a:r>
          </a:p>
        </p:txBody>
      </p:sp>
      <p:sp>
        <p:nvSpPr>
          <p:cNvPr id="10" name="TextBox 9"/>
          <p:cNvSpPr txBox="1"/>
          <p:nvPr/>
        </p:nvSpPr>
        <p:spPr>
          <a:xfrm>
            <a:off x="393192" y="2377440"/>
            <a:ext cx="548640" cy="274320"/>
          </a:xfrm>
          <a:prstGeom prst="rect">
            <a:avLst/>
          </a:prstGeom>
          <a:noFill/>
        </p:spPr>
        <p:txBody>
          <a:bodyPr wrap="square" lIns="0" tIns="0" rIns="0" bIns="0">
            <a:spAutoFit/>
          </a:bodyPr>
          <a:lstStyle/>
          <a:p>
            <a:pPr algn="l"/>
            <a:r>
              <a:rPr sz="1300" b="1">
                <a:solidFill>
                  <a:srgbClr val="0C8A83"/>
                </a:solidFill>
                <a:latin typeface="Calibri"/>
              </a:rPr>
              <a:t>01</a:t>
            </a:r>
          </a:p>
        </p:txBody>
      </p:sp>
      <p:sp>
        <p:nvSpPr>
          <p:cNvPr id="11" name="TextBox 10"/>
          <p:cNvSpPr txBox="1"/>
          <p:nvPr/>
        </p:nvSpPr>
        <p:spPr>
          <a:xfrm>
            <a:off x="393192" y="2697480"/>
            <a:ext cx="3291840" cy="457200"/>
          </a:xfrm>
          <a:prstGeom prst="rect">
            <a:avLst/>
          </a:prstGeom>
          <a:noFill/>
        </p:spPr>
        <p:txBody>
          <a:bodyPr wrap="square" lIns="0" tIns="0" rIns="0" bIns="0">
            <a:spAutoFit/>
          </a:bodyPr>
          <a:lstStyle/>
          <a:p>
            <a:pPr algn="l"/>
            <a:r>
              <a:rPr sz="1700" b="1">
                <a:solidFill>
                  <a:srgbClr val="17211E"/>
                </a:solidFill>
                <a:latin typeface="Calibri"/>
              </a:rPr>
              <a:t>Modul 05</a:t>
            </a:r>
          </a:p>
        </p:txBody>
      </p:sp>
      <p:sp>
        <p:nvSpPr>
          <p:cNvPr id="12" name="TextBox 11"/>
          <p:cNvSpPr txBox="1"/>
          <p:nvPr/>
        </p:nvSpPr>
        <p:spPr>
          <a:xfrm>
            <a:off x="393192" y="3200400"/>
            <a:ext cx="3291840" cy="1828800"/>
          </a:xfrm>
          <a:prstGeom prst="rect">
            <a:avLst/>
          </a:prstGeom>
          <a:noFill/>
        </p:spPr>
        <p:txBody>
          <a:bodyPr wrap="square" lIns="0" tIns="0" rIns="0" bIns="0">
            <a:spAutoFit/>
          </a:bodyPr>
          <a:lstStyle/>
          <a:p>
            <a:pPr algn="l">
              <a:lnSpc>
                <a:spcPct val="135000"/>
              </a:lnSpc>
            </a:pPr>
            <a:r>
              <a:rPr sz="1400" b="0">
                <a:solidFill>
                  <a:srgbClr val="5C6965"/>
                </a:solidFill>
                <a:latin typeface="Calibri"/>
              </a:rPr>
              <a:t>Měň hustotu vzorků a počet úrovní. Sleduj, jak se tvar vlny vzdaluje originálu.</a:t>
            </a:r>
          </a:p>
        </p:txBody>
      </p:sp>
      <p:sp>
        <p:nvSpPr>
          <p:cNvPr id="13" name="TextBox 12"/>
          <p:cNvSpPr txBox="1"/>
          <p:nvPr/>
        </p:nvSpPr>
        <p:spPr>
          <a:xfrm>
            <a:off x="4315968" y="2377440"/>
            <a:ext cx="548640" cy="274320"/>
          </a:xfrm>
          <a:prstGeom prst="rect">
            <a:avLst/>
          </a:prstGeom>
          <a:noFill/>
        </p:spPr>
        <p:txBody>
          <a:bodyPr wrap="square" lIns="0" tIns="0" rIns="0" bIns="0">
            <a:spAutoFit/>
          </a:bodyPr>
          <a:lstStyle/>
          <a:p>
            <a:pPr algn="l"/>
            <a:r>
              <a:rPr sz="1300" b="1">
                <a:solidFill>
                  <a:srgbClr val="0C8A83"/>
                </a:solidFill>
                <a:latin typeface="Calibri"/>
              </a:rPr>
              <a:t>02</a:t>
            </a:r>
          </a:p>
        </p:txBody>
      </p:sp>
      <p:sp>
        <p:nvSpPr>
          <p:cNvPr id="14" name="TextBox 13"/>
          <p:cNvSpPr txBox="1"/>
          <p:nvPr/>
        </p:nvSpPr>
        <p:spPr>
          <a:xfrm>
            <a:off x="4315968" y="2697480"/>
            <a:ext cx="3291840" cy="457200"/>
          </a:xfrm>
          <a:prstGeom prst="rect">
            <a:avLst/>
          </a:prstGeom>
          <a:noFill/>
        </p:spPr>
        <p:txBody>
          <a:bodyPr wrap="square" lIns="0" tIns="0" rIns="0" bIns="0">
            <a:spAutoFit/>
          </a:bodyPr>
          <a:lstStyle/>
          <a:p>
            <a:pPr algn="l"/>
            <a:r>
              <a:rPr sz="1700" b="1">
                <a:solidFill>
                  <a:srgbClr val="17211E"/>
                </a:solidFill>
                <a:latin typeface="Calibri"/>
              </a:rPr>
              <a:t>Poslech a přehrání</a:t>
            </a:r>
          </a:p>
        </p:txBody>
      </p:sp>
      <p:sp>
        <p:nvSpPr>
          <p:cNvPr id="15" name="TextBox 14"/>
          <p:cNvSpPr txBox="1"/>
          <p:nvPr/>
        </p:nvSpPr>
        <p:spPr>
          <a:xfrm>
            <a:off x="4315968" y="3200400"/>
            <a:ext cx="3291840" cy="1828800"/>
          </a:xfrm>
          <a:prstGeom prst="rect">
            <a:avLst/>
          </a:prstGeom>
          <a:noFill/>
        </p:spPr>
        <p:txBody>
          <a:bodyPr wrap="square" lIns="0" tIns="0" rIns="0" bIns="0">
            <a:spAutoFit/>
          </a:bodyPr>
          <a:lstStyle/>
          <a:p>
            <a:pPr algn="l">
              <a:lnSpc>
                <a:spcPct val="135000"/>
              </a:lnSpc>
            </a:pPr>
            <a:r>
              <a:rPr sz="1400" b="0">
                <a:solidFill>
                  <a:srgbClr val="5C6965"/>
                </a:solidFill>
                <a:latin typeface="Calibri"/>
              </a:rPr>
              <a:t>Porovnej čtyři zvuky a čtyři videa ve složce Média.</a:t>
            </a:r>
          </a:p>
        </p:txBody>
      </p:sp>
      <p:sp>
        <p:nvSpPr>
          <p:cNvPr id="16" name="TextBox 15"/>
          <p:cNvSpPr txBox="1"/>
          <p:nvPr/>
        </p:nvSpPr>
        <p:spPr>
          <a:xfrm>
            <a:off x="8238744" y="2377440"/>
            <a:ext cx="548640" cy="274320"/>
          </a:xfrm>
          <a:prstGeom prst="rect">
            <a:avLst/>
          </a:prstGeom>
          <a:noFill/>
        </p:spPr>
        <p:txBody>
          <a:bodyPr wrap="square" lIns="0" tIns="0" rIns="0" bIns="0">
            <a:spAutoFit/>
          </a:bodyPr>
          <a:lstStyle/>
          <a:p>
            <a:pPr algn="l"/>
            <a:r>
              <a:rPr sz="1300" b="1">
                <a:solidFill>
                  <a:srgbClr val="0C8A83"/>
                </a:solidFill>
                <a:latin typeface="Calibri"/>
              </a:rPr>
              <a:t>03</a:t>
            </a:r>
          </a:p>
        </p:txBody>
      </p:sp>
      <p:sp>
        <p:nvSpPr>
          <p:cNvPr id="17" name="TextBox 16"/>
          <p:cNvSpPr txBox="1"/>
          <p:nvPr/>
        </p:nvSpPr>
        <p:spPr>
          <a:xfrm>
            <a:off x="8238744" y="2697480"/>
            <a:ext cx="3291840" cy="457200"/>
          </a:xfrm>
          <a:prstGeom prst="rect">
            <a:avLst/>
          </a:prstGeom>
          <a:noFill/>
        </p:spPr>
        <p:txBody>
          <a:bodyPr wrap="square" lIns="0" tIns="0" rIns="0" bIns="0">
            <a:spAutoFit/>
          </a:bodyPr>
          <a:lstStyle/>
          <a:p>
            <a:pPr algn="l"/>
            <a:r>
              <a:rPr sz="1700" b="1">
                <a:solidFill>
                  <a:srgbClr val="17211E"/>
                </a:solidFill>
                <a:latin typeface="Calibri"/>
              </a:rPr>
              <a:t>Doplň CSV</a:t>
            </a:r>
          </a:p>
        </p:txBody>
      </p:sp>
      <p:sp>
        <p:nvSpPr>
          <p:cNvPr id="18" name="TextBox 17"/>
          <p:cNvSpPr txBox="1"/>
          <p:nvPr/>
        </p:nvSpPr>
        <p:spPr>
          <a:xfrm>
            <a:off x="8238744" y="3200400"/>
            <a:ext cx="3291840" cy="1828800"/>
          </a:xfrm>
          <a:prstGeom prst="rect">
            <a:avLst/>
          </a:prstGeom>
          <a:noFill/>
        </p:spPr>
        <p:txBody>
          <a:bodyPr wrap="square" lIns="0" tIns="0" rIns="0" bIns="0">
            <a:spAutoFit/>
          </a:bodyPr>
          <a:lstStyle/>
          <a:p>
            <a:pPr algn="l">
              <a:lnSpc>
                <a:spcPct val="135000"/>
              </a:lnSpc>
            </a:pPr>
            <a:r>
              <a:rPr sz="1400" b="0">
                <a:solidFill>
                  <a:srgbClr val="5C6965"/>
                </a:solidFill>
                <a:latin typeface="Calibri"/>
              </a:rPr>
              <a:t>Zapiš velikosti a svá pozorování do Parametry médií.csv.</a:t>
            </a:r>
          </a:p>
        </p:txBody>
      </p:sp>
      <p:sp>
        <p:nvSpPr>
          <p:cNvPr id="19" name="Rectangle 18"/>
          <p:cNvSpPr/>
          <p:nvPr/>
        </p:nvSpPr>
        <p:spPr>
          <a:xfrm>
            <a:off x="393192" y="5257800"/>
            <a:ext cx="11411712" cy="27432"/>
          </a:xfrm>
          <a:prstGeom prst="rect">
            <a:avLst/>
          </a:prstGeom>
          <a:solidFill>
            <a:srgbClr val="DCD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93192" y="5440680"/>
            <a:ext cx="1554480" cy="274320"/>
          </a:xfrm>
          <a:prstGeom prst="rect">
            <a:avLst/>
          </a:prstGeom>
          <a:noFill/>
        </p:spPr>
        <p:txBody>
          <a:bodyPr wrap="square" lIns="0" tIns="0" rIns="0" bIns="0">
            <a:spAutoFit/>
          </a:bodyPr>
          <a:lstStyle/>
          <a:p>
            <a:pPr algn="l"/>
            <a:r>
              <a:rPr sz="1200" b="1">
                <a:solidFill>
                  <a:srgbClr val="C45A3E"/>
                </a:solidFill>
                <a:latin typeface="Calibri"/>
              </a:rPr>
              <a:t>ODEVZDEJ</a:t>
            </a:r>
          </a:p>
        </p:txBody>
      </p:sp>
      <p:sp>
        <p:nvSpPr>
          <p:cNvPr id="21" name="TextBox 20"/>
          <p:cNvSpPr txBox="1"/>
          <p:nvPr/>
        </p:nvSpPr>
        <p:spPr>
          <a:xfrm>
            <a:off x="1783080" y="5422392"/>
            <a:ext cx="9784080" cy="457200"/>
          </a:xfrm>
          <a:prstGeom prst="rect">
            <a:avLst/>
          </a:prstGeom>
          <a:noFill/>
        </p:spPr>
        <p:txBody>
          <a:bodyPr wrap="square" lIns="0" tIns="0" rIns="0" bIns="0">
            <a:spAutoFit/>
          </a:bodyPr>
          <a:lstStyle/>
          <a:p>
            <a:pPr algn="l"/>
            <a:r>
              <a:rPr sz="1500" b="0">
                <a:solidFill>
                  <a:srgbClr val="17211E"/>
                </a:solidFill>
                <a:latin typeface="Calibri"/>
              </a:rPr>
              <a:t>Vyplněné Parametry médií.csv a odpovědi na části A, B a C pracovního listu.</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93192" y="320040"/>
            <a:ext cx="6400800" cy="274320"/>
          </a:xfrm>
          <a:prstGeom prst="rect">
            <a:avLst/>
          </a:prstGeom>
          <a:noFill/>
        </p:spPr>
        <p:txBody>
          <a:bodyPr wrap="square" lIns="0" tIns="0" rIns="0" bIns="0">
            <a:spAutoFit/>
          </a:bodyPr>
          <a:lstStyle/>
          <a:p>
            <a:pPr algn="l"/>
            <a:r>
              <a:rPr sz="1200" b="1">
                <a:solidFill>
                  <a:srgbClr val="0C8A83"/>
                </a:solidFill>
                <a:latin typeface="Calibri"/>
              </a:rPr>
              <a:t>PRŮBĚŽNÁ KONTROLA</a:t>
            </a:r>
          </a:p>
        </p:txBody>
      </p:sp>
      <p:sp>
        <p:nvSpPr>
          <p:cNvPr id="4" name="TextBox 3"/>
          <p:cNvSpPr txBox="1"/>
          <p:nvPr/>
        </p:nvSpPr>
        <p:spPr>
          <a:xfrm>
            <a:off x="393192" y="658368"/>
            <a:ext cx="11338560" cy="731520"/>
          </a:xfrm>
          <a:prstGeom prst="rect">
            <a:avLst/>
          </a:prstGeom>
          <a:noFill/>
        </p:spPr>
        <p:txBody>
          <a:bodyPr wrap="square" lIns="0" tIns="0" rIns="0" bIns="0">
            <a:spAutoFit/>
          </a:bodyPr>
          <a:lstStyle/>
          <a:p>
            <a:pPr algn="l"/>
            <a:r>
              <a:rPr sz="3000" b="1">
                <a:solidFill>
                  <a:srgbClr val="17211E"/>
                </a:solidFill>
                <a:latin typeface="Calibri"/>
              </a:rPr>
              <a:t>Než práci odevzdáš, ověř čtyři věci</a:t>
            </a:r>
          </a:p>
        </p:txBody>
      </p:sp>
      <p:sp>
        <p:nvSpPr>
          <p:cNvPr id="5" name="Rectangle 4"/>
          <p:cNvSpPr/>
          <p:nvPr/>
        </p:nvSpPr>
        <p:spPr>
          <a:xfrm>
            <a:off x="393192" y="6272784"/>
            <a:ext cx="11411712" cy="18288"/>
          </a:xfrm>
          <a:prstGeom prst="rect">
            <a:avLst/>
          </a:prstGeom>
          <a:solidFill>
            <a:srgbClr val="DCD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93192" y="6382512"/>
            <a:ext cx="6400800" cy="228600"/>
          </a:xfrm>
          <a:prstGeom prst="rect">
            <a:avLst/>
          </a:prstGeom>
          <a:noFill/>
        </p:spPr>
        <p:txBody>
          <a:bodyPr wrap="square" lIns="0" tIns="0" rIns="0" bIns="0">
            <a:spAutoFit/>
          </a:bodyPr>
          <a:lstStyle/>
          <a:p>
            <a:pPr algn="l"/>
            <a:r>
              <a:rPr sz="1100" b="1">
                <a:solidFill>
                  <a:srgbClr val="5C6965"/>
                </a:solidFill>
                <a:latin typeface="Calibri"/>
              </a:rPr>
              <a:t>POČÍTAČOVÁ GRAFIKA A PRÁCE S MULTIMÉDII</a:t>
            </a:r>
          </a:p>
        </p:txBody>
      </p:sp>
      <p:sp>
        <p:nvSpPr>
          <p:cNvPr id="7" name="TextBox 6"/>
          <p:cNvSpPr txBox="1"/>
          <p:nvPr/>
        </p:nvSpPr>
        <p:spPr>
          <a:xfrm>
            <a:off x="9966960" y="6382512"/>
            <a:ext cx="1828800" cy="228600"/>
          </a:xfrm>
          <a:prstGeom prst="rect">
            <a:avLst/>
          </a:prstGeom>
          <a:noFill/>
        </p:spPr>
        <p:txBody>
          <a:bodyPr wrap="square" lIns="0" tIns="0" rIns="0" bIns="0">
            <a:spAutoFit/>
          </a:bodyPr>
          <a:lstStyle/>
          <a:p>
            <a:pPr algn="r"/>
            <a:r>
              <a:rPr sz="1100" b="1">
                <a:solidFill>
                  <a:srgbClr val="5C6965"/>
                </a:solidFill>
                <a:latin typeface="Calibri"/>
              </a:rPr>
              <a:t>HODINA 6  /  5</a:t>
            </a:r>
          </a:p>
        </p:txBody>
      </p:sp>
      <p:sp>
        <p:nvSpPr>
          <p:cNvPr id="8" name="TextBox 7"/>
          <p:cNvSpPr txBox="1"/>
          <p:nvPr/>
        </p:nvSpPr>
        <p:spPr>
          <a:xfrm>
            <a:off x="393192" y="1783080"/>
            <a:ext cx="365760" cy="365760"/>
          </a:xfrm>
          <a:prstGeom prst="rect">
            <a:avLst/>
          </a:prstGeom>
          <a:noFill/>
        </p:spPr>
        <p:txBody>
          <a:bodyPr wrap="square" lIns="0" tIns="0" rIns="0" bIns="0">
            <a:spAutoFit/>
          </a:bodyPr>
          <a:lstStyle/>
          <a:p>
            <a:pPr algn="l"/>
            <a:r>
              <a:rPr sz="2000" b="1">
                <a:solidFill>
                  <a:srgbClr val="0C8A83"/>
                </a:solidFill>
                <a:latin typeface="Calibri"/>
              </a:rPr>
              <a:t>✓</a:t>
            </a:r>
          </a:p>
        </p:txBody>
      </p:sp>
      <p:sp>
        <p:nvSpPr>
          <p:cNvPr id="9" name="TextBox 8"/>
          <p:cNvSpPr txBox="1"/>
          <p:nvPr/>
        </p:nvSpPr>
        <p:spPr>
          <a:xfrm>
            <a:off x="850392" y="1783080"/>
            <a:ext cx="5120640" cy="1097280"/>
          </a:xfrm>
          <a:prstGeom prst="rect">
            <a:avLst/>
          </a:prstGeom>
          <a:noFill/>
        </p:spPr>
        <p:txBody>
          <a:bodyPr wrap="square" lIns="0" tIns="0" rIns="0" bIns="0">
            <a:spAutoFit/>
          </a:bodyPr>
          <a:lstStyle/>
          <a:p>
            <a:pPr algn="l">
              <a:lnSpc>
                <a:spcPct val="130000"/>
              </a:lnSpc>
            </a:pPr>
            <a:r>
              <a:rPr sz="1600" b="0">
                <a:solidFill>
                  <a:srgbClr val="17211E"/>
                </a:solidFill>
                <a:latin typeface="Calibri"/>
              </a:rPr>
              <a:t>Umíš vysvětlit, co je vzorkovací frekvence.</a:t>
            </a:r>
          </a:p>
        </p:txBody>
      </p:sp>
      <p:sp>
        <p:nvSpPr>
          <p:cNvPr id="10" name="TextBox 9"/>
          <p:cNvSpPr txBox="1"/>
          <p:nvPr/>
        </p:nvSpPr>
        <p:spPr>
          <a:xfrm>
            <a:off x="6153912" y="1783080"/>
            <a:ext cx="365760" cy="365760"/>
          </a:xfrm>
          <a:prstGeom prst="rect">
            <a:avLst/>
          </a:prstGeom>
          <a:noFill/>
        </p:spPr>
        <p:txBody>
          <a:bodyPr wrap="square" lIns="0" tIns="0" rIns="0" bIns="0">
            <a:spAutoFit/>
          </a:bodyPr>
          <a:lstStyle/>
          <a:p>
            <a:pPr algn="l"/>
            <a:r>
              <a:rPr sz="2000" b="1">
                <a:solidFill>
                  <a:srgbClr val="0C8A83"/>
                </a:solidFill>
                <a:latin typeface="Calibri"/>
              </a:rPr>
              <a:t>✓</a:t>
            </a:r>
          </a:p>
        </p:txBody>
      </p:sp>
      <p:sp>
        <p:nvSpPr>
          <p:cNvPr id="11" name="TextBox 10"/>
          <p:cNvSpPr txBox="1"/>
          <p:nvPr/>
        </p:nvSpPr>
        <p:spPr>
          <a:xfrm>
            <a:off x="6611112" y="1783080"/>
            <a:ext cx="5120640" cy="1097280"/>
          </a:xfrm>
          <a:prstGeom prst="rect">
            <a:avLst/>
          </a:prstGeom>
          <a:noFill/>
        </p:spPr>
        <p:txBody>
          <a:bodyPr wrap="square" lIns="0" tIns="0" rIns="0" bIns="0">
            <a:spAutoFit/>
          </a:bodyPr>
          <a:lstStyle/>
          <a:p>
            <a:pPr algn="l">
              <a:lnSpc>
                <a:spcPct val="130000"/>
              </a:lnSpc>
            </a:pPr>
            <a:r>
              <a:rPr sz="1600" b="0">
                <a:solidFill>
                  <a:srgbClr val="17211E"/>
                </a:solidFill>
                <a:latin typeface="Calibri"/>
              </a:rPr>
              <a:t>Máš doplněné velikosti u všech souborů v CSV.</a:t>
            </a:r>
          </a:p>
        </p:txBody>
      </p:sp>
      <p:sp>
        <p:nvSpPr>
          <p:cNvPr id="12" name="TextBox 11"/>
          <p:cNvSpPr txBox="1"/>
          <p:nvPr/>
        </p:nvSpPr>
        <p:spPr>
          <a:xfrm>
            <a:off x="393192" y="3154680"/>
            <a:ext cx="365760" cy="365760"/>
          </a:xfrm>
          <a:prstGeom prst="rect">
            <a:avLst/>
          </a:prstGeom>
          <a:noFill/>
        </p:spPr>
        <p:txBody>
          <a:bodyPr wrap="square" lIns="0" tIns="0" rIns="0" bIns="0">
            <a:spAutoFit/>
          </a:bodyPr>
          <a:lstStyle/>
          <a:p>
            <a:pPr algn="l"/>
            <a:r>
              <a:rPr sz="2000" b="1">
                <a:solidFill>
                  <a:srgbClr val="0C8A83"/>
                </a:solidFill>
                <a:latin typeface="Calibri"/>
              </a:rPr>
              <a:t>✓</a:t>
            </a:r>
          </a:p>
        </p:txBody>
      </p:sp>
      <p:sp>
        <p:nvSpPr>
          <p:cNvPr id="13" name="TextBox 12"/>
          <p:cNvSpPr txBox="1"/>
          <p:nvPr/>
        </p:nvSpPr>
        <p:spPr>
          <a:xfrm>
            <a:off x="850392" y="3154680"/>
            <a:ext cx="5120640" cy="1097280"/>
          </a:xfrm>
          <a:prstGeom prst="rect">
            <a:avLst/>
          </a:prstGeom>
          <a:noFill/>
        </p:spPr>
        <p:txBody>
          <a:bodyPr wrap="square" lIns="0" tIns="0" rIns="0" bIns="0">
            <a:spAutoFit/>
          </a:bodyPr>
          <a:lstStyle/>
          <a:p>
            <a:pPr algn="l">
              <a:lnSpc>
                <a:spcPct val="130000"/>
              </a:lnSpc>
            </a:pPr>
            <a:r>
              <a:rPr sz="1600" b="0">
                <a:solidFill>
                  <a:srgbClr val="17211E"/>
                </a:solidFill>
                <a:latin typeface="Calibri"/>
              </a:rPr>
              <a:t>Popsal jsi konkrétní místo, kde je u silně komprimovaného videa vidět poškození.</a:t>
            </a:r>
          </a:p>
        </p:txBody>
      </p:sp>
      <p:sp>
        <p:nvSpPr>
          <p:cNvPr id="14" name="TextBox 13"/>
          <p:cNvSpPr txBox="1"/>
          <p:nvPr/>
        </p:nvSpPr>
        <p:spPr>
          <a:xfrm>
            <a:off x="6153912" y="3154680"/>
            <a:ext cx="365760" cy="365760"/>
          </a:xfrm>
          <a:prstGeom prst="rect">
            <a:avLst/>
          </a:prstGeom>
          <a:noFill/>
        </p:spPr>
        <p:txBody>
          <a:bodyPr wrap="square" lIns="0" tIns="0" rIns="0" bIns="0">
            <a:spAutoFit/>
          </a:bodyPr>
          <a:lstStyle/>
          <a:p>
            <a:pPr algn="l"/>
            <a:r>
              <a:rPr sz="2000" b="1">
                <a:solidFill>
                  <a:srgbClr val="0C8A83"/>
                </a:solidFill>
                <a:latin typeface="Calibri"/>
              </a:rPr>
              <a:t>✓</a:t>
            </a:r>
          </a:p>
        </p:txBody>
      </p:sp>
      <p:sp>
        <p:nvSpPr>
          <p:cNvPr id="15" name="TextBox 14"/>
          <p:cNvSpPr txBox="1"/>
          <p:nvPr/>
        </p:nvSpPr>
        <p:spPr>
          <a:xfrm>
            <a:off x="6611112" y="3154680"/>
            <a:ext cx="5120640" cy="1097280"/>
          </a:xfrm>
          <a:prstGeom prst="rect">
            <a:avLst/>
          </a:prstGeom>
          <a:noFill/>
        </p:spPr>
        <p:txBody>
          <a:bodyPr wrap="square" lIns="0" tIns="0" rIns="0" bIns="0">
            <a:spAutoFit/>
          </a:bodyPr>
          <a:lstStyle/>
          <a:p>
            <a:pPr algn="l">
              <a:lnSpc>
                <a:spcPct val="130000"/>
              </a:lnSpc>
            </a:pPr>
            <a:r>
              <a:rPr sz="1600" b="0">
                <a:solidFill>
                  <a:srgbClr val="17211E"/>
                </a:solidFill>
                <a:latin typeface="Calibri"/>
              </a:rPr>
              <a:t>Umíš rozlišit kontejner a kodek a uvést příklad obojího.</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93192" y="320040"/>
            <a:ext cx="6400800" cy="274320"/>
          </a:xfrm>
          <a:prstGeom prst="rect">
            <a:avLst/>
          </a:prstGeom>
          <a:noFill/>
        </p:spPr>
        <p:txBody>
          <a:bodyPr wrap="square" lIns="0" tIns="0" rIns="0" bIns="0">
            <a:spAutoFit/>
          </a:bodyPr>
          <a:lstStyle/>
          <a:p>
            <a:pPr algn="l"/>
            <a:r>
              <a:rPr sz="1200" b="1">
                <a:solidFill>
                  <a:srgbClr val="0C8A83"/>
                </a:solidFill>
                <a:latin typeface="Calibri"/>
              </a:rPr>
              <a:t>SPOLEČNÝ ROZBOR</a:t>
            </a:r>
          </a:p>
        </p:txBody>
      </p:sp>
      <p:sp>
        <p:nvSpPr>
          <p:cNvPr id="4" name="TextBox 3"/>
          <p:cNvSpPr txBox="1"/>
          <p:nvPr/>
        </p:nvSpPr>
        <p:spPr>
          <a:xfrm>
            <a:off x="393192" y="658368"/>
            <a:ext cx="11338560" cy="731520"/>
          </a:xfrm>
          <a:prstGeom prst="rect">
            <a:avLst/>
          </a:prstGeom>
          <a:noFill/>
        </p:spPr>
        <p:txBody>
          <a:bodyPr wrap="square" lIns="0" tIns="0" rIns="0" bIns="0">
            <a:spAutoFit/>
          </a:bodyPr>
          <a:lstStyle/>
          <a:p>
            <a:pPr algn="l"/>
            <a:r>
              <a:rPr sz="3000" b="1">
                <a:solidFill>
                  <a:srgbClr val="17211E"/>
                </a:solidFill>
                <a:latin typeface="Calibri"/>
              </a:rPr>
              <a:t>Co si z hodiny odnést</a:t>
            </a:r>
          </a:p>
        </p:txBody>
      </p:sp>
      <p:sp>
        <p:nvSpPr>
          <p:cNvPr id="5" name="Rectangle 4"/>
          <p:cNvSpPr/>
          <p:nvPr/>
        </p:nvSpPr>
        <p:spPr>
          <a:xfrm>
            <a:off x="393192" y="6272784"/>
            <a:ext cx="11411712" cy="18288"/>
          </a:xfrm>
          <a:prstGeom prst="rect">
            <a:avLst/>
          </a:prstGeom>
          <a:solidFill>
            <a:srgbClr val="DCD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93192" y="6382512"/>
            <a:ext cx="6400800" cy="228600"/>
          </a:xfrm>
          <a:prstGeom prst="rect">
            <a:avLst/>
          </a:prstGeom>
          <a:noFill/>
        </p:spPr>
        <p:txBody>
          <a:bodyPr wrap="square" lIns="0" tIns="0" rIns="0" bIns="0">
            <a:spAutoFit/>
          </a:bodyPr>
          <a:lstStyle/>
          <a:p>
            <a:pPr algn="l"/>
            <a:r>
              <a:rPr sz="1100" b="1">
                <a:solidFill>
                  <a:srgbClr val="5C6965"/>
                </a:solidFill>
                <a:latin typeface="Calibri"/>
              </a:rPr>
              <a:t>POČÍTAČOVÁ GRAFIKA A PRÁCE S MULTIMÉDII</a:t>
            </a:r>
          </a:p>
        </p:txBody>
      </p:sp>
      <p:sp>
        <p:nvSpPr>
          <p:cNvPr id="7" name="TextBox 6"/>
          <p:cNvSpPr txBox="1"/>
          <p:nvPr/>
        </p:nvSpPr>
        <p:spPr>
          <a:xfrm>
            <a:off x="9966960" y="6382512"/>
            <a:ext cx="1828800" cy="228600"/>
          </a:xfrm>
          <a:prstGeom prst="rect">
            <a:avLst/>
          </a:prstGeom>
          <a:noFill/>
        </p:spPr>
        <p:txBody>
          <a:bodyPr wrap="square" lIns="0" tIns="0" rIns="0" bIns="0">
            <a:spAutoFit/>
          </a:bodyPr>
          <a:lstStyle/>
          <a:p>
            <a:pPr algn="r"/>
            <a:r>
              <a:rPr sz="1100" b="1">
                <a:solidFill>
                  <a:srgbClr val="5C6965"/>
                </a:solidFill>
                <a:latin typeface="Calibri"/>
              </a:rPr>
              <a:t>HODINA 6  /  6</a:t>
            </a:r>
          </a:p>
        </p:txBody>
      </p:sp>
      <p:sp>
        <p:nvSpPr>
          <p:cNvPr id="8" name="TextBox 7"/>
          <p:cNvSpPr txBox="1"/>
          <p:nvPr/>
        </p:nvSpPr>
        <p:spPr>
          <a:xfrm>
            <a:off x="393192" y="1691640"/>
            <a:ext cx="3108960" cy="457200"/>
          </a:xfrm>
          <a:prstGeom prst="rect">
            <a:avLst/>
          </a:prstGeom>
          <a:noFill/>
        </p:spPr>
        <p:txBody>
          <a:bodyPr wrap="square" lIns="0" tIns="0" rIns="0" bIns="0">
            <a:spAutoFit/>
          </a:bodyPr>
          <a:lstStyle/>
          <a:p>
            <a:pPr algn="l"/>
            <a:r>
              <a:rPr sz="1600" b="1">
                <a:solidFill>
                  <a:srgbClr val="0C8A83"/>
                </a:solidFill>
                <a:latin typeface="Calibri"/>
              </a:rPr>
              <a:t>Vzorkování</a:t>
            </a:r>
          </a:p>
        </p:txBody>
      </p:sp>
      <p:sp>
        <p:nvSpPr>
          <p:cNvPr id="9" name="TextBox 8"/>
          <p:cNvSpPr txBox="1"/>
          <p:nvPr/>
        </p:nvSpPr>
        <p:spPr>
          <a:xfrm>
            <a:off x="3611880" y="1691640"/>
            <a:ext cx="8138160" cy="1005840"/>
          </a:xfrm>
          <a:prstGeom prst="rect">
            <a:avLst/>
          </a:prstGeom>
          <a:noFill/>
        </p:spPr>
        <p:txBody>
          <a:bodyPr wrap="square" lIns="0" tIns="0" rIns="0" bIns="0">
            <a:spAutoFit/>
          </a:bodyPr>
          <a:lstStyle/>
          <a:p>
            <a:pPr algn="l">
              <a:lnSpc>
                <a:spcPct val="130000"/>
              </a:lnSpc>
            </a:pPr>
            <a:r>
              <a:rPr sz="1500" b="0">
                <a:solidFill>
                  <a:srgbClr val="17211E"/>
                </a:solidFill>
                <a:latin typeface="Calibri"/>
              </a:rPr>
              <a:t>Málo vzorků ztratí vysoké tóny. Málo úrovní přidá šum a zkreslení.</a:t>
            </a:r>
          </a:p>
        </p:txBody>
      </p:sp>
      <p:sp>
        <p:nvSpPr>
          <p:cNvPr id="10" name="Rectangle 9"/>
          <p:cNvSpPr/>
          <p:nvPr/>
        </p:nvSpPr>
        <p:spPr>
          <a:xfrm>
            <a:off x="393192" y="2651760"/>
            <a:ext cx="11411712" cy="18288"/>
          </a:xfrm>
          <a:prstGeom prst="rect">
            <a:avLst/>
          </a:prstGeom>
          <a:solidFill>
            <a:srgbClr val="DCD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93192" y="2834640"/>
            <a:ext cx="3108960" cy="457200"/>
          </a:xfrm>
          <a:prstGeom prst="rect">
            <a:avLst/>
          </a:prstGeom>
          <a:noFill/>
        </p:spPr>
        <p:txBody>
          <a:bodyPr wrap="square" lIns="0" tIns="0" rIns="0" bIns="0">
            <a:spAutoFit/>
          </a:bodyPr>
          <a:lstStyle/>
          <a:p>
            <a:pPr algn="l"/>
            <a:r>
              <a:rPr sz="1600" b="1">
                <a:solidFill>
                  <a:srgbClr val="0C8A83"/>
                </a:solidFill>
                <a:latin typeface="Calibri"/>
              </a:rPr>
              <a:t>Rozlišení videa</a:t>
            </a:r>
          </a:p>
        </p:txBody>
      </p:sp>
      <p:sp>
        <p:nvSpPr>
          <p:cNvPr id="12" name="TextBox 11"/>
          <p:cNvSpPr txBox="1"/>
          <p:nvPr/>
        </p:nvSpPr>
        <p:spPr>
          <a:xfrm>
            <a:off x="3611880" y="2834640"/>
            <a:ext cx="8138160" cy="1005840"/>
          </a:xfrm>
          <a:prstGeom prst="rect">
            <a:avLst/>
          </a:prstGeom>
          <a:noFill/>
        </p:spPr>
        <p:txBody>
          <a:bodyPr wrap="square" lIns="0" tIns="0" rIns="0" bIns="0">
            <a:spAutoFit/>
          </a:bodyPr>
          <a:lstStyle/>
          <a:p>
            <a:pPr algn="l">
              <a:lnSpc>
                <a:spcPct val="130000"/>
              </a:lnSpc>
            </a:pPr>
            <a:r>
              <a:rPr sz="1500" b="0">
                <a:solidFill>
                  <a:srgbClr val="17211E"/>
                </a:solidFill>
                <a:latin typeface="Calibri"/>
              </a:rPr>
              <a:t>Poloviční rozměry znamenají čtvrtinu pixelů a výrazně menší soubor.</a:t>
            </a:r>
          </a:p>
        </p:txBody>
      </p:sp>
      <p:sp>
        <p:nvSpPr>
          <p:cNvPr id="13" name="Rectangle 12"/>
          <p:cNvSpPr/>
          <p:nvPr/>
        </p:nvSpPr>
        <p:spPr>
          <a:xfrm>
            <a:off x="393192" y="3794760"/>
            <a:ext cx="11411712" cy="18288"/>
          </a:xfrm>
          <a:prstGeom prst="rect">
            <a:avLst/>
          </a:prstGeom>
          <a:solidFill>
            <a:srgbClr val="DCD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93192" y="3977639"/>
            <a:ext cx="3108960" cy="457200"/>
          </a:xfrm>
          <a:prstGeom prst="rect">
            <a:avLst/>
          </a:prstGeom>
          <a:noFill/>
        </p:spPr>
        <p:txBody>
          <a:bodyPr wrap="square" lIns="0" tIns="0" rIns="0" bIns="0">
            <a:spAutoFit/>
          </a:bodyPr>
          <a:lstStyle/>
          <a:p>
            <a:pPr algn="l"/>
            <a:r>
              <a:rPr sz="1600" b="1">
                <a:solidFill>
                  <a:srgbClr val="0C8A83"/>
                </a:solidFill>
                <a:latin typeface="Calibri"/>
              </a:rPr>
              <a:t>Snímková frekvence</a:t>
            </a:r>
          </a:p>
        </p:txBody>
      </p:sp>
      <p:sp>
        <p:nvSpPr>
          <p:cNvPr id="15" name="TextBox 14"/>
          <p:cNvSpPr txBox="1"/>
          <p:nvPr/>
        </p:nvSpPr>
        <p:spPr>
          <a:xfrm>
            <a:off x="3611880" y="3977639"/>
            <a:ext cx="8138160" cy="1005840"/>
          </a:xfrm>
          <a:prstGeom prst="rect">
            <a:avLst/>
          </a:prstGeom>
          <a:noFill/>
        </p:spPr>
        <p:txBody>
          <a:bodyPr wrap="square" lIns="0" tIns="0" rIns="0" bIns="0">
            <a:spAutoFit/>
          </a:bodyPr>
          <a:lstStyle/>
          <a:p>
            <a:pPr algn="l">
              <a:lnSpc>
                <a:spcPct val="130000"/>
              </a:lnSpc>
            </a:pPr>
            <a:r>
              <a:rPr sz="1500" b="0">
                <a:solidFill>
                  <a:srgbClr val="17211E"/>
                </a:solidFill>
                <a:latin typeface="Calibri"/>
              </a:rPr>
              <a:t>Ovlivňuje hlavně plynulost. Vliv na velikost závisí na nastavení kvality.</a:t>
            </a:r>
          </a:p>
        </p:txBody>
      </p:sp>
      <p:sp>
        <p:nvSpPr>
          <p:cNvPr id="16" name="Rectangle 15"/>
          <p:cNvSpPr/>
          <p:nvPr/>
        </p:nvSpPr>
        <p:spPr>
          <a:xfrm>
            <a:off x="393192" y="4937759"/>
            <a:ext cx="11411712" cy="18288"/>
          </a:xfrm>
          <a:prstGeom prst="rect">
            <a:avLst/>
          </a:prstGeom>
          <a:solidFill>
            <a:srgbClr val="DCD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93192" y="5120640"/>
            <a:ext cx="3108960" cy="457200"/>
          </a:xfrm>
          <a:prstGeom prst="rect">
            <a:avLst/>
          </a:prstGeom>
          <a:noFill/>
        </p:spPr>
        <p:txBody>
          <a:bodyPr wrap="square" lIns="0" tIns="0" rIns="0" bIns="0">
            <a:spAutoFit/>
          </a:bodyPr>
          <a:lstStyle/>
          <a:p>
            <a:pPr algn="l"/>
            <a:r>
              <a:rPr sz="1600" b="1">
                <a:solidFill>
                  <a:srgbClr val="0C8A83"/>
                </a:solidFill>
                <a:latin typeface="Calibri"/>
              </a:rPr>
              <a:t>Kontejner a kodek</a:t>
            </a:r>
          </a:p>
        </p:txBody>
      </p:sp>
      <p:sp>
        <p:nvSpPr>
          <p:cNvPr id="18" name="TextBox 17"/>
          <p:cNvSpPr txBox="1"/>
          <p:nvPr/>
        </p:nvSpPr>
        <p:spPr>
          <a:xfrm>
            <a:off x="3611880" y="5120640"/>
            <a:ext cx="8138160" cy="1005840"/>
          </a:xfrm>
          <a:prstGeom prst="rect">
            <a:avLst/>
          </a:prstGeom>
          <a:noFill/>
        </p:spPr>
        <p:txBody>
          <a:bodyPr wrap="square" lIns="0" tIns="0" rIns="0" bIns="0">
            <a:spAutoFit/>
          </a:bodyPr>
          <a:lstStyle/>
          <a:p>
            <a:pPr algn="l">
              <a:lnSpc>
                <a:spcPct val="130000"/>
              </a:lnSpc>
            </a:pPr>
            <a:r>
              <a:rPr sz="1500" b="0">
                <a:solidFill>
                  <a:srgbClr val="17211E"/>
                </a:solidFill>
                <a:latin typeface="Calibri"/>
              </a:rPr>
              <a:t>MP4 nebo MKV je obal. H.264 nebo AV1 je způsob komprese obrazu uvnitř.</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721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93192" y="6272784"/>
            <a:ext cx="11411712" cy="18288"/>
          </a:xfrm>
          <a:prstGeom prst="rect">
            <a:avLst/>
          </a:prstGeom>
          <a:solidFill>
            <a:srgbClr val="DCD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93192" y="6382512"/>
            <a:ext cx="6400800" cy="228600"/>
          </a:xfrm>
          <a:prstGeom prst="rect">
            <a:avLst/>
          </a:prstGeom>
          <a:noFill/>
        </p:spPr>
        <p:txBody>
          <a:bodyPr wrap="square" lIns="0" tIns="0" rIns="0" bIns="0">
            <a:spAutoFit/>
          </a:bodyPr>
          <a:lstStyle/>
          <a:p>
            <a:pPr algn="l"/>
            <a:r>
              <a:rPr sz="1100" b="1">
                <a:solidFill>
                  <a:srgbClr val="5C6965"/>
                </a:solidFill>
                <a:latin typeface="Calibri"/>
              </a:rPr>
              <a:t>POČÍTAČOVÁ GRAFIKA A PRÁCE S MULTIMÉDII</a:t>
            </a:r>
          </a:p>
        </p:txBody>
      </p:sp>
      <p:sp>
        <p:nvSpPr>
          <p:cNvPr id="5" name="TextBox 4"/>
          <p:cNvSpPr txBox="1"/>
          <p:nvPr/>
        </p:nvSpPr>
        <p:spPr>
          <a:xfrm>
            <a:off x="9966960" y="6382512"/>
            <a:ext cx="1828800" cy="228600"/>
          </a:xfrm>
          <a:prstGeom prst="rect">
            <a:avLst/>
          </a:prstGeom>
          <a:noFill/>
        </p:spPr>
        <p:txBody>
          <a:bodyPr wrap="square" lIns="0" tIns="0" rIns="0" bIns="0">
            <a:spAutoFit/>
          </a:bodyPr>
          <a:lstStyle/>
          <a:p>
            <a:pPr algn="r"/>
            <a:r>
              <a:rPr sz="1100" b="1">
                <a:solidFill>
                  <a:srgbClr val="5C6965"/>
                </a:solidFill>
                <a:latin typeface="Calibri"/>
              </a:rPr>
              <a:t>HODINA 6  /  7</a:t>
            </a:r>
          </a:p>
        </p:txBody>
      </p:sp>
      <p:sp>
        <p:nvSpPr>
          <p:cNvPr id="6" name="TextBox 5"/>
          <p:cNvSpPr txBox="1"/>
          <p:nvPr/>
        </p:nvSpPr>
        <p:spPr>
          <a:xfrm>
            <a:off x="393192" y="320040"/>
            <a:ext cx="6400800" cy="274320"/>
          </a:xfrm>
          <a:prstGeom prst="rect">
            <a:avLst/>
          </a:prstGeom>
          <a:noFill/>
        </p:spPr>
        <p:txBody>
          <a:bodyPr wrap="square" lIns="0" tIns="0" rIns="0" bIns="0">
            <a:spAutoFit/>
          </a:bodyPr>
          <a:lstStyle/>
          <a:p>
            <a:pPr algn="l"/>
            <a:r>
              <a:rPr sz="1200" b="1">
                <a:solidFill>
                  <a:srgbClr val="7FD6CF"/>
                </a:solidFill>
                <a:latin typeface="Calibri"/>
              </a:rPr>
              <a:t>EXIT TICKET</a:t>
            </a:r>
          </a:p>
        </p:txBody>
      </p:sp>
      <p:sp>
        <p:nvSpPr>
          <p:cNvPr id="7" name="TextBox 6"/>
          <p:cNvSpPr txBox="1"/>
          <p:nvPr/>
        </p:nvSpPr>
        <p:spPr>
          <a:xfrm>
            <a:off x="393192" y="1371600"/>
            <a:ext cx="10789920" cy="2194560"/>
          </a:xfrm>
          <a:prstGeom prst="rect">
            <a:avLst/>
          </a:prstGeom>
          <a:noFill/>
        </p:spPr>
        <p:txBody>
          <a:bodyPr wrap="square" lIns="0" tIns="0" rIns="0" bIns="0">
            <a:spAutoFit/>
          </a:bodyPr>
          <a:lstStyle/>
          <a:p>
            <a:pPr algn="l">
              <a:lnSpc>
                <a:spcPct val="120000"/>
              </a:lnSpc>
            </a:pPr>
            <a:r>
              <a:rPr sz="3000" b="1">
                <a:solidFill>
                  <a:srgbClr val="FFFFFF"/>
                </a:solidFill>
                <a:latin typeface="Calibri"/>
              </a:rPr>
              <a:t>Vysvětli vlastními slovy rozdíl mezi kontejnerem a kodekem. Použij přirovnání.</a:t>
            </a:r>
          </a:p>
        </p:txBody>
      </p:sp>
      <p:sp>
        <p:nvSpPr>
          <p:cNvPr id="8" name="TextBox 7"/>
          <p:cNvSpPr txBox="1"/>
          <p:nvPr/>
        </p:nvSpPr>
        <p:spPr>
          <a:xfrm>
            <a:off x="393192" y="4206240"/>
            <a:ext cx="10789920" cy="548640"/>
          </a:xfrm>
          <a:prstGeom prst="rect">
            <a:avLst/>
          </a:prstGeom>
          <a:noFill/>
        </p:spPr>
        <p:txBody>
          <a:bodyPr wrap="square" lIns="0" tIns="0" rIns="0" bIns="0">
            <a:spAutoFit/>
          </a:bodyPr>
          <a:lstStyle/>
          <a:p>
            <a:pPr algn="l"/>
            <a:r>
              <a:rPr sz="1700" b="0">
                <a:solidFill>
                  <a:srgbClr val="B9C4C0"/>
                </a:solidFill>
                <a:latin typeface="Calibri"/>
              </a:rPr>
              <a:t>Odpověz jednou nebo dvěma větami vlastními slovy.</a:t>
            </a:r>
          </a:p>
        </p:txBody>
      </p:sp>
      <p:sp>
        <p:nvSpPr>
          <p:cNvPr id="9" name="Rectangle 8"/>
          <p:cNvSpPr/>
          <p:nvPr/>
        </p:nvSpPr>
        <p:spPr>
          <a:xfrm>
            <a:off x="393192" y="5029200"/>
            <a:ext cx="2011680" cy="36576"/>
          </a:xfrm>
          <a:prstGeom prst="rect">
            <a:avLst/>
          </a:prstGeom>
          <a:solidFill>
            <a:srgbClr val="0C8A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93192" y="5257800"/>
            <a:ext cx="10789920" cy="457200"/>
          </a:xfrm>
          <a:prstGeom prst="rect">
            <a:avLst/>
          </a:prstGeom>
          <a:noFill/>
        </p:spPr>
        <p:txBody>
          <a:bodyPr wrap="square" lIns="0" tIns="0" rIns="0" bIns="0">
            <a:spAutoFit/>
          </a:bodyPr>
          <a:lstStyle/>
          <a:p>
            <a:pPr algn="l"/>
            <a:r>
              <a:rPr sz="1500" b="0">
                <a:solidFill>
                  <a:srgbClr val="9AA8A4"/>
                </a:solidFill>
                <a:latin typeface="Calibri"/>
              </a:rPr>
              <a:t>Očekává se přirovnání typu krabice a způsob zabalení; kontejner drží stopy pohromadě, kodek určuje, jak jsou data zakódovaná.</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xsi="http://www.w3.org/2001/XMLSchema-instance">
  <dc:title/>
  <dc:subject/>
  <dc:creator>Karel Hlas</dc:creator>
  <cp:keywords/>
  <dc:description/>
  <cp:lastModifiedBy>Karel Hlas</cp:lastModifiedBy>
  <cp:revision>1</cp:revision>
  <dcterms:created xsi:type="dcterms:W3CDTF">2026-07-24T00:00:00Z</dcterms:created>
  <dcterms:modified xsi:type="dcterms:W3CDTF">2026-07-24T00:00:00Z</dcterms:modified>
  <cp:category/>
</cp:coreProperties>
</file>