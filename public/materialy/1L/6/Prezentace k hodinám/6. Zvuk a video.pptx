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Cíl hodiny: Student vysvětlí vzorkování zvuku, vliv rozlišení a snímkové frekvence u videa a rozliší kontejner od kodeku.</a:t>
            </a:r>
          </a:p>
          <a:p>
            <a:r>
              <a:t>Soubory: 01. Laboratoř grafiky.html (modul 05), Média/, 04. Parametry médií.csv, 07. Zvuk a video.txt</a:t>
            </a:r>
          </a:p>
          <a:p>
            <a:r>
              <a:t>Výstup: Vyplněné 04. Parametry médií.csv a odpovědi na části A, B a C souboru 06.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Čas: 0–5 minut.</a:t>
            </a:r>
          </a:p>
          <a:p>
            <a:r>
              <a:t>Otázka pro studenty: Zvuk je plynulá vlna. Jak ho počítač uloží, když umí pracovat jen s čísly?</a:t>
            </a:r>
          </a:p>
          <a:p>
            <a:r>
              <a:t>Postup: nech studenty rozhodnout a zapsat důvod dřív, než ukážeš řešení. Neprozrazuj správnou odpověď.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Čas: 5–12 minut.</a:t>
            </a:r>
          </a:p>
          <a:p>
            <a:r>
              <a:t>Klíčové pojmy: Vzorkování · Snímková frekvence · Kontejner a kodek</a:t>
            </a:r>
          </a:p>
          <a:p>
            <a:r>
              <a:t>Digitální záznam je vždy jen dostatečně hustý vzorek skutečnosti.</a:t>
            </a:r>
          </a:p>
          <a:p>
            <a:r>
              <a:t>Postup: vysvětli stručně, ověř porozuměním otázkou, nepřednášej déle než 7 minut.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Čas: 12–40 minut.</a:t>
            </a:r>
          </a:p>
          <a:p>
            <a:r>
              <a:t>Soubory: 01. Laboratoř grafiky.html (modul 05), Média/, 04. Parametry médií.csv, 07. Zvuk a video.txt</a:t>
            </a:r>
          </a:p>
          <a:p>
            <a:r>
              <a:t>12–22 min – modul 05 a poslech zvuků; 8 000 Hz je slyšet okamžitě.</a:t>
            </a:r>
          </a:p>
          <a:p>
            <a:r>
              <a:t>22–32 min – videa; upozorni, že při stejné kvalitě nemusí být 10fps soubor menší, protože každý snímek dostane více dat.</a:t>
            </a:r>
          </a:p>
          <a:p>
            <a:r>
              <a:t>32–40 min – kontejner vs. kodek, přirovnání ke krabici a způsobu skládání.</a:t>
            </a:r>
          </a:p>
          <a:p>
            <a:r>
              <a:t>Výstup: Vyplněné 04. Parametry médií.csv a odpovědi na části A, B a C souboru 06.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Průběžná kontrola. Projdi body nahlas, studenti si odškrtávají v sešitu.</a:t>
            </a:r>
          </a:p>
          <a:p>
            <a:r>
              <a:t>• Umíš vysvětlit, co je vzorkovací frekvence.</a:t>
            </a:r>
          </a:p>
          <a:p>
            <a:r>
              <a:t>• Máš doplněné velikosti u všech souborů v CSV.</a:t>
            </a:r>
          </a:p>
          <a:p>
            <a:r>
              <a:t>• Popsal jsi konkrétní místo, kde je u silně komprimovaného videa vidět poškození.</a:t>
            </a:r>
          </a:p>
          <a:p>
            <a:r>
              <a:t>• Umíš rozlišit kontejner a kodek a uvést příklad obojího.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Společný rozbor – očekávané závěry:</a:t>
            </a:r>
          </a:p>
          <a:p>
            <a:r>
              <a:t>Vzorkování: Málo vzorků ztratí vysoké tóny. Málo úrovní přidá šum a zkreslení.</a:t>
            </a:r>
          </a:p>
          <a:p>
            <a:r>
              <a:t>Rozlišení videa: Poloviční rozměry znamenají čtvrtinu pixelů a výrazně menší soubor.</a:t>
            </a:r>
          </a:p>
          <a:p>
            <a:r>
              <a:t>Snímková frekvence: Ovlivňuje hlavně plynulost. Vliv na velikost závisí na nastavení kvality.</a:t>
            </a:r>
          </a:p>
          <a:p>
            <a:r>
              <a:t>Kontejner a kodek: MP4 nebo MKV je obal. H.264 nebo AV1 je způsob komprese obrazu uvnitř.</a:t>
            </a:r>
          </a:p>
          <a:p>
            <a:r>
              <a:t>Hodnoť postup a zdůvodnění, ne shodu s jednou formulací.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Exit ticket: Vysvětli vlastními slovy rozdíl mezi kontejnerem a kodekem. Použij přirovnání.</a:t>
            </a:r>
          </a:p>
          <a:p>
            <a:r>
              <a:t>Sbírej individuálně. Slouží jako doklad o učení každého studenta.</a:t>
            </a:r>
          </a:p>
          <a:p>
            <a:r>
              <a:t>Očekávaná odpověď: Očekává se přirovnání typu krabice a způsob zabalení; kontejner drží stopy pohromadě, kodek určuje, jak jsou data zakódovaná.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21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0312" cy="6858000"/>
          </a:xfrm>
          <a:prstGeom prst="rect">
            <a:avLst/>
          </a:prstGeom>
          <a:solidFill>
            <a:srgbClr val="0C8A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12064" y="45720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7FD6CF"/>
                </a:solidFill>
                <a:latin typeface="Calibri"/>
              </a:rPr>
              <a:t>HODINA 6 /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0" y="457200"/>
            <a:ext cx="34747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1">
                <a:solidFill>
                  <a:srgbClr val="9AA8A4"/>
                </a:solidFill>
                <a:latin typeface="Calibri"/>
              </a:rPr>
              <a:t>POČÍTAČOVÁ GRAFIKA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064" y="2240280"/>
            <a:ext cx="10332720" cy="2011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FFFFFF"/>
                </a:solidFill>
                <a:latin typeface="Calibri"/>
              </a:rPr>
              <a:t>Základy práce se zvukem a videem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4709160"/>
            <a:ext cx="813816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>
                <a:solidFill>
                  <a:srgbClr val="B9C4C0"/>
                </a:solidFill>
                <a:latin typeface="Calibri"/>
              </a:rPr>
              <a:t>Student vysvětlí vzorkování zvuku, vliv rozlišení a snímkové frekvence u videa a rozliší kontejner od kodeku.</a:t>
            </a:r>
          </a:p>
        </p:txBody>
      </p:sp>
      <p:sp>
        <p:nvSpPr>
          <p:cNvPr id="8" name="Rectangle 7"/>
          <p:cNvSpPr/>
          <p:nvPr/>
        </p:nvSpPr>
        <p:spPr>
          <a:xfrm>
            <a:off x="10140696" y="4764024"/>
            <a:ext cx="1179576" cy="1179576"/>
          </a:xfrm>
          <a:prstGeom prst="rect">
            <a:avLst/>
          </a:prstGeom>
          <a:solidFill>
            <a:srgbClr val="0C8A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140696" y="4983480"/>
            <a:ext cx="1179576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Calibri"/>
              </a:rPr>
              <a:t>06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40696" y="5596128"/>
            <a:ext cx="1179576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00" b="1">
                <a:solidFill>
                  <a:srgbClr val="CFEAE8"/>
                </a:solidFill>
                <a:latin typeface="Calibri"/>
              </a:rPr>
              <a:t>45 MIN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93192" y="32004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0C8A83"/>
                </a:solidFill>
                <a:latin typeface="Calibri"/>
              </a:rPr>
              <a:t>0–5 MIN · ÚVOD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3192" y="658368"/>
            <a:ext cx="1133856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>
                <a:solidFill>
                  <a:srgbClr val="17211E"/>
                </a:solidFill>
                <a:latin typeface="Calibri"/>
              </a:rPr>
              <a:t>Začni vlastním rozhodnutím</a:t>
            </a:r>
          </a:p>
        </p:txBody>
      </p:sp>
      <p:sp>
        <p:nvSpPr>
          <p:cNvPr id="5" name="Rectangle 4"/>
          <p:cNvSpPr/>
          <p:nvPr/>
        </p:nvSpPr>
        <p:spPr>
          <a:xfrm>
            <a:off x="393192" y="6272784"/>
            <a:ext cx="11411712" cy="18288"/>
          </a:xfrm>
          <a:prstGeom prst="rect">
            <a:avLst/>
          </a:prstGeom>
          <a:solidFill>
            <a:srgbClr val="DCD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93192" y="6382512"/>
            <a:ext cx="64008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5C6965"/>
                </a:solidFill>
                <a:latin typeface="Calibri"/>
              </a:rPr>
              <a:t>POČÍTAČOVÁ GRAFIKA A PRÁCE S MULTIMÉDII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66960" y="6382512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1">
                <a:solidFill>
                  <a:srgbClr val="5C6965"/>
                </a:solidFill>
                <a:latin typeface="Calibri"/>
              </a:rPr>
              <a:t>HODINA 6  / 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3192" y="1691640"/>
            <a:ext cx="1133856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300" b="1">
                <a:solidFill>
                  <a:srgbClr val="0C8A83"/>
                </a:solidFill>
                <a:latin typeface="Calibri"/>
              </a:rPr>
              <a:t>Zvuk je plynulá vlna. Jak ho počítač uloží, když umí pracovat jen s čísly?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3192" y="3017520"/>
            <a:ext cx="32918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>
                <a:solidFill>
                  <a:srgbClr val="17211E"/>
                </a:solidFill>
                <a:latin typeface="Calibri"/>
              </a:rPr>
              <a:t>NAVRHNI POSTUP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" y="3429000"/>
            <a:ext cx="3291840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5C6965"/>
                </a:solidFill>
                <a:latin typeface="Calibri"/>
              </a:rPr>
              <a:t>Jak bys vlnu převedl na čísla?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15968" y="3017520"/>
            <a:ext cx="32918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>
                <a:solidFill>
                  <a:srgbClr val="17211E"/>
                </a:solidFill>
                <a:latin typeface="Calibri"/>
              </a:rPr>
              <a:t>ZAPIŠ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15968" y="3429000"/>
            <a:ext cx="3291840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5C6965"/>
                </a:solidFill>
                <a:latin typeface="Calibri"/>
              </a:rPr>
              <a:t>Jednou větou svůj nápad.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38744" y="3017520"/>
            <a:ext cx="32918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>
                <a:solidFill>
                  <a:srgbClr val="17211E"/>
                </a:solidFill>
                <a:latin typeface="Calibri"/>
              </a:rPr>
              <a:t>POROVNEJ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38744" y="3429000"/>
            <a:ext cx="3291840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5C6965"/>
                </a:solidFill>
                <a:latin typeface="Calibri"/>
              </a:rPr>
              <a:t>Kdo navrhl měřit v pravidelných intervalech?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3192" y="5394960"/>
            <a:ext cx="1133856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0">
                <a:solidFill>
                  <a:srgbClr val="5C6965"/>
                </a:solidFill>
                <a:latin typeface="Calibri"/>
              </a:rPr>
              <a:t>Nejdřív se rozhodni sám. Teprve pak porovnávej.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93192" y="32004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0C8A83"/>
                </a:solidFill>
                <a:latin typeface="Calibri"/>
              </a:rPr>
              <a:t>5–12 MIN · MINIMUM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3192" y="658368"/>
            <a:ext cx="1133856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>
                <a:solidFill>
                  <a:srgbClr val="17211E"/>
                </a:solidFill>
                <a:latin typeface="Calibri"/>
              </a:rPr>
              <a:t>Tři opěrné body</a:t>
            </a:r>
          </a:p>
        </p:txBody>
      </p:sp>
      <p:sp>
        <p:nvSpPr>
          <p:cNvPr id="5" name="Rectangle 4"/>
          <p:cNvSpPr/>
          <p:nvPr/>
        </p:nvSpPr>
        <p:spPr>
          <a:xfrm>
            <a:off x="393192" y="6272784"/>
            <a:ext cx="11411712" cy="18288"/>
          </a:xfrm>
          <a:prstGeom prst="rect">
            <a:avLst/>
          </a:prstGeom>
          <a:solidFill>
            <a:srgbClr val="DCD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93192" y="6382512"/>
            <a:ext cx="64008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5C6965"/>
                </a:solidFill>
                <a:latin typeface="Calibri"/>
              </a:rPr>
              <a:t>POČÍTAČOVÁ GRAFIKA A PRÁCE S MULTIMÉDII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66960" y="6382512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1">
                <a:solidFill>
                  <a:srgbClr val="5C6965"/>
                </a:solidFill>
                <a:latin typeface="Calibri"/>
              </a:rPr>
              <a:t>HODINA 6  /  3</a:t>
            </a:r>
          </a:p>
        </p:txBody>
      </p:sp>
      <p:sp>
        <p:nvSpPr>
          <p:cNvPr id="8" name="Rectangle 7"/>
          <p:cNvSpPr/>
          <p:nvPr/>
        </p:nvSpPr>
        <p:spPr>
          <a:xfrm>
            <a:off x="393192" y="1664208"/>
            <a:ext cx="667512" cy="594360"/>
          </a:xfrm>
          <a:prstGeom prst="rect">
            <a:avLst/>
          </a:prstGeom>
          <a:solidFill>
            <a:srgbClr val="0C8A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76072" y="1764792"/>
            <a:ext cx="66751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" y="2523744"/>
            <a:ext cx="3282696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000" b="1">
                <a:solidFill>
                  <a:srgbClr val="17211E"/>
                </a:solidFill>
                <a:latin typeface="Calibri"/>
              </a:rPr>
              <a:t>Vzorkování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3192" y="3337560"/>
            <a:ext cx="3282696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>
                <a:solidFill>
                  <a:srgbClr val="5C6965"/>
                </a:solidFill>
                <a:latin typeface="Calibri"/>
              </a:rPr>
              <a:t>Měření hlasitosti mnohokrát za sekundu. CD používá 44 100 vzorků za sekundu.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15968" y="1664208"/>
            <a:ext cx="667512" cy="594360"/>
          </a:xfrm>
          <a:prstGeom prst="rect">
            <a:avLst/>
          </a:prstGeom>
          <a:solidFill>
            <a:srgbClr val="0C8A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98848" y="1764792"/>
            <a:ext cx="66751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15968" y="2523744"/>
            <a:ext cx="3282696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000" b="1">
                <a:solidFill>
                  <a:srgbClr val="17211E"/>
                </a:solidFill>
                <a:latin typeface="Calibri"/>
              </a:rPr>
              <a:t>Snímková frekvence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15968" y="3337560"/>
            <a:ext cx="3282696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>
                <a:solidFill>
                  <a:srgbClr val="5C6965"/>
                </a:solidFill>
                <a:latin typeface="Calibri"/>
              </a:rPr>
              <a:t>Počet obrázků za sekundu u videa. Určuje plynulost pohybu.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38744" y="1664208"/>
            <a:ext cx="667512" cy="594360"/>
          </a:xfrm>
          <a:prstGeom prst="rect">
            <a:avLst/>
          </a:prstGeom>
          <a:solidFill>
            <a:srgbClr val="0C8A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21624" y="1764792"/>
            <a:ext cx="66751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38744" y="2523744"/>
            <a:ext cx="3282696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000" b="1">
                <a:solidFill>
                  <a:srgbClr val="17211E"/>
                </a:solidFill>
                <a:latin typeface="Calibri"/>
              </a:rPr>
              <a:t>Kontejner a kodek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38744" y="3337560"/>
            <a:ext cx="3282696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>
                <a:solidFill>
                  <a:srgbClr val="5C6965"/>
                </a:solidFill>
                <a:latin typeface="Calibri"/>
              </a:rPr>
              <a:t>MP4 je obal, H.264 je způsob komprese uvnitř. Přípona sama nezaručí přehratelnost.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93192" y="5468112"/>
            <a:ext cx="11411712" cy="27432"/>
          </a:xfrm>
          <a:prstGeom prst="rect">
            <a:avLst/>
          </a:prstGeom>
          <a:solidFill>
            <a:srgbClr val="DCD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93192" y="5669280"/>
            <a:ext cx="1133856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>
                <a:solidFill>
                  <a:srgbClr val="0C8A83"/>
                </a:solidFill>
                <a:latin typeface="Calibri"/>
              </a:rPr>
              <a:t>Digitální záznam je vždy jen dostatečně hustý vzorek skutečnosti.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93192" y="32004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0C8A83"/>
                </a:solidFill>
                <a:latin typeface="Calibri"/>
              </a:rPr>
              <a:t>12–40 MIN · PRÁCE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3192" y="658368"/>
            <a:ext cx="1133856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>
                <a:solidFill>
                  <a:srgbClr val="17211E"/>
                </a:solidFill>
                <a:latin typeface="Calibri"/>
              </a:rPr>
              <a:t>Hlavní počítačová aktivita</a:t>
            </a:r>
          </a:p>
        </p:txBody>
      </p:sp>
      <p:sp>
        <p:nvSpPr>
          <p:cNvPr id="5" name="Rectangle 4"/>
          <p:cNvSpPr/>
          <p:nvPr/>
        </p:nvSpPr>
        <p:spPr>
          <a:xfrm>
            <a:off x="393192" y="6272784"/>
            <a:ext cx="11411712" cy="18288"/>
          </a:xfrm>
          <a:prstGeom prst="rect">
            <a:avLst/>
          </a:prstGeom>
          <a:solidFill>
            <a:srgbClr val="DCD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93192" y="6382512"/>
            <a:ext cx="64008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5C6965"/>
                </a:solidFill>
                <a:latin typeface="Calibri"/>
              </a:rPr>
              <a:t>POČÍTAČOVÁ GRAFIKA A PRÁCE S MULTIMÉDII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66960" y="6382512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1">
                <a:solidFill>
                  <a:srgbClr val="5C6965"/>
                </a:solidFill>
                <a:latin typeface="Calibri"/>
              </a:rPr>
              <a:t>HODINA 6  / 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3192" y="164592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C45A3E"/>
                </a:solidFill>
                <a:latin typeface="Calibri"/>
              </a:rPr>
              <a:t>OTEVŘI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1627632"/>
            <a:ext cx="99669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>
                <a:solidFill>
                  <a:srgbClr val="17211E"/>
                </a:solidFill>
                <a:latin typeface="Calibri"/>
              </a:rPr>
              <a:t>01. Laboratoř grafiky.html (modul 05), Média/, 04. Parametry médií.csv, 07. Zvuk a video.txt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" y="237744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>
                <a:solidFill>
                  <a:srgbClr val="0C8A83"/>
                </a:solidFill>
                <a:latin typeface="Calibri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3192" y="2697480"/>
            <a:ext cx="32918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00" b="1">
                <a:solidFill>
                  <a:srgbClr val="17211E"/>
                </a:solidFill>
                <a:latin typeface="Calibri"/>
              </a:rPr>
              <a:t>Modul 05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3192" y="3200400"/>
            <a:ext cx="329184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>
                <a:solidFill>
                  <a:srgbClr val="5C6965"/>
                </a:solidFill>
                <a:latin typeface="Calibri"/>
              </a:rPr>
              <a:t>Měň hustotu vzorků a počet úrovní. Sleduj, jak se tvar vlny vzdaluje originálu.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15968" y="237744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>
                <a:solidFill>
                  <a:srgbClr val="0C8A83"/>
                </a:solidFill>
                <a:latin typeface="Calibr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15968" y="2697480"/>
            <a:ext cx="32918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00" b="1">
                <a:solidFill>
                  <a:srgbClr val="17211E"/>
                </a:solidFill>
                <a:latin typeface="Calibri"/>
              </a:rPr>
              <a:t>Poslech a přehrání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15968" y="3200400"/>
            <a:ext cx="329184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>
                <a:solidFill>
                  <a:srgbClr val="5C6965"/>
                </a:solidFill>
                <a:latin typeface="Calibri"/>
              </a:rPr>
              <a:t>Porovnej čtyři zvuky a čtyři videa ve složce Média.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38744" y="237744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>
                <a:solidFill>
                  <a:srgbClr val="0C8A83"/>
                </a:solidFill>
                <a:latin typeface="Calibr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38744" y="2697480"/>
            <a:ext cx="32918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00" b="1">
                <a:solidFill>
                  <a:srgbClr val="17211E"/>
                </a:solidFill>
                <a:latin typeface="Calibri"/>
              </a:rPr>
              <a:t>Doplň CSV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38744" y="3200400"/>
            <a:ext cx="329184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>
                <a:solidFill>
                  <a:srgbClr val="5C6965"/>
                </a:solidFill>
                <a:latin typeface="Calibri"/>
              </a:rPr>
              <a:t>Zapiš velikosti a svá pozorování do 04. Parametry médií.csv.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93192" y="5257800"/>
            <a:ext cx="11411712" cy="27432"/>
          </a:xfrm>
          <a:prstGeom prst="rect">
            <a:avLst/>
          </a:prstGeom>
          <a:solidFill>
            <a:srgbClr val="DCD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93192" y="5440680"/>
            <a:ext cx="1554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C45A3E"/>
                </a:solidFill>
                <a:latin typeface="Calibri"/>
              </a:rPr>
              <a:t>ODEVZDEJ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83080" y="5422392"/>
            <a:ext cx="97840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0">
                <a:solidFill>
                  <a:srgbClr val="17211E"/>
                </a:solidFill>
                <a:latin typeface="Calibri"/>
              </a:rPr>
              <a:t>Vyplněné 04. Parametry médií.csv a odpovědi na části A, B a C souboru 06.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93192" y="32004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0C8A83"/>
                </a:solidFill>
                <a:latin typeface="Calibri"/>
              </a:rPr>
              <a:t>PRŮBĚŽNÁ KONTROLA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3192" y="658368"/>
            <a:ext cx="1133856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>
                <a:solidFill>
                  <a:srgbClr val="17211E"/>
                </a:solidFill>
                <a:latin typeface="Calibri"/>
              </a:rPr>
              <a:t>Než práci odevzdáš, ověř čtyři věci</a:t>
            </a:r>
          </a:p>
        </p:txBody>
      </p:sp>
      <p:sp>
        <p:nvSpPr>
          <p:cNvPr id="5" name="Rectangle 4"/>
          <p:cNvSpPr/>
          <p:nvPr/>
        </p:nvSpPr>
        <p:spPr>
          <a:xfrm>
            <a:off x="393192" y="6272784"/>
            <a:ext cx="11411712" cy="18288"/>
          </a:xfrm>
          <a:prstGeom prst="rect">
            <a:avLst/>
          </a:prstGeom>
          <a:solidFill>
            <a:srgbClr val="DCD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93192" y="6382512"/>
            <a:ext cx="64008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5C6965"/>
                </a:solidFill>
                <a:latin typeface="Calibri"/>
              </a:rPr>
              <a:t>POČÍTAČOVÁ GRAFIKA A PRÁCE S MULTIMÉDII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66960" y="6382512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1">
                <a:solidFill>
                  <a:srgbClr val="5C6965"/>
                </a:solidFill>
                <a:latin typeface="Calibri"/>
              </a:rPr>
              <a:t>HODINA 6  /  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3192" y="178308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000" b="1">
                <a:solidFill>
                  <a:srgbClr val="0C8A83"/>
                </a:solidFill>
                <a:latin typeface="Calibri"/>
              </a:rP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1783080"/>
            <a:ext cx="512064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>
                <a:solidFill>
                  <a:srgbClr val="17211E"/>
                </a:solidFill>
                <a:latin typeface="Calibri"/>
              </a:rPr>
              <a:t>Umíš vysvětlit, co je vzorkovací frekvence.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53912" y="178308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000" b="1">
                <a:solidFill>
                  <a:srgbClr val="0C8A83"/>
                </a:solidFill>
                <a:latin typeface="Calibri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11112" y="1783080"/>
            <a:ext cx="512064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>
                <a:solidFill>
                  <a:srgbClr val="17211E"/>
                </a:solidFill>
                <a:latin typeface="Calibri"/>
              </a:rPr>
              <a:t>Máš doplněné velikosti u všech souborů v CSV.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3192" y="315468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000" b="1">
                <a:solidFill>
                  <a:srgbClr val="0C8A83"/>
                </a:solidFill>
                <a:latin typeface="Calibri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" y="3154680"/>
            <a:ext cx="512064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>
                <a:solidFill>
                  <a:srgbClr val="17211E"/>
                </a:solidFill>
                <a:latin typeface="Calibri"/>
              </a:rPr>
              <a:t>Popsal jsi konkrétní místo, kde je u silně komprimovaného videa vidět poškození.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53912" y="315468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000" b="1">
                <a:solidFill>
                  <a:srgbClr val="0C8A83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11112" y="3154680"/>
            <a:ext cx="512064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>
                <a:solidFill>
                  <a:srgbClr val="17211E"/>
                </a:solidFill>
                <a:latin typeface="Calibri"/>
              </a:rPr>
              <a:t>Umíš rozlišit kontejner a kodek a uvést příklad obojího.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93192" y="32004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0C8A83"/>
                </a:solidFill>
                <a:latin typeface="Calibri"/>
              </a:rPr>
              <a:t>SPOLEČNÝ ROZBOR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3192" y="658368"/>
            <a:ext cx="1133856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>
                <a:solidFill>
                  <a:srgbClr val="17211E"/>
                </a:solidFill>
                <a:latin typeface="Calibri"/>
              </a:rPr>
              <a:t>Co si z hodiny odnést</a:t>
            </a:r>
          </a:p>
        </p:txBody>
      </p:sp>
      <p:sp>
        <p:nvSpPr>
          <p:cNvPr id="5" name="Rectangle 4"/>
          <p:cNvSpPr/>
          <p:nvPr/>
        </p:nvSpPr>
        <p:spPr>
          <a:xfrm>
            <a:off x="393192" y="6272784"/>
            <a:ext cx="11411712" cy="18288"/>
          </a:xfrm>
          <a:prstGeom prst="rect">
            <a:avLst/>
          </a:prstGeom>
          <a:solidFill>
            <a:srgbClr val="DCD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93192" y="6382512"/>
            <a:ext cx="64008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5C6965"/>
                </a:solidFill>
                <a:latin typeface="Calibri"/>
              </a:rPr>
              <a:t>POČÍTAČOVÁ GRAFIKA A PRÁCE S MULTIMÉDII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66960" y="6382512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1">
                <a:solidFill>
                  <a:srgbClr val="5C6965"/>
                </a:solidFill>
                <a:latin typeface="Calibri"/>
              </a:rPr>
              <a:t>HODINA 6  /  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3192" y="1691640"/>
            <a:ext cx="310896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>
                <a:solidFill>
                  <a:srgbClr val="0C8A83"/>
                </a:solidFill>
                <a:latin typeface="Calibri"/>
              </a:rPr>
              <a:t>Vzorkování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11880" y="1691640"/>
            <a:ext cx="813816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17211E"/>
                </a:solidFill>
                <a:latin typeface="Calibri"/>
              </a:rPr>
              <a:t>Málo vzorků ztratí vysoké tóny. Málo úrovní přidá šum a zkreslení.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3192" y="2651760"/>
            <a:ext cx="11411712" cy="18288"/>
          </a:xfrm>
          <a:prstGeom prst="rect">
            <a:avLst/>
          </a:prstGeom>
          <a:solidFill>
            <a:srgbClr val="DCD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93192" y="2834640"/>
            <a:ext cx="310896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>
                <a:solidFill>
                  <a:srgbClr val="0C8A83"/>
                </a:solidFill>
                <a:latin typeface="Calibri"/>
              </a:rPr>
              <a:t>Rozlišení videa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11880" y="2834640"/>
            <a:ext cx="813816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17211E"/>
                </a:solidFill>
                <a:latin typeface="Calibri"/>
              </a:rPr>
              <a:t>Poloviční rozměry znamenají čtvrtinu pixelů a výrazně menší soubor.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93192" y="3794760"/>
            <a:ext cx="11411712" cy="18288"/>
          </a:xfrm>
          <a:prstGeom prst="rect">
            <a:avLst/>
          </a:prstGeom>
          <a:solidFill>
            <a:srgbClr val="DCD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93192" y="3977639"/>
            <a:ext cx="310896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>
                <a:solidFill>
                  <a:srgbClr val="0C8A83"/>
                </a:solidFill>
                <a:latin typeface="Calibri"/>
              </a:rPr>
              <a:t>Snímková frekvence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11880" y="3977639"/>
            <a:ext cx="813816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17211E"/>
                </a:solidFill>
                <a:latin typeface="Calibri"/>
              </a:rPr>
              <a:t>Ovlivňuje hlavně plynulost. Vliv na velikost závisí na nastavení kvality.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93192" y="4937759"/>
            <a:ext cx="11411712" cy="18288"/>
          </a:xfrm>
          <a:prstGeom prst="rect">
            <a:avLst/>
          </a:prstGeom>
          <a:solidFill>
            <a:srgbClr val="DCD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93192" y="5120640"/>
            <a:ext cx="310896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>
                <a:solidFill>
                  <a:srgbClr val="0C8A83"/>
                </a:solidFill>
                <a:latin typeface="Calibri"/>
              </a:rPr>
              <a:t>Kontejner a kodek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11880" y="5120640"/>
            <a:ext cx="813816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17211E"/>
                </a:solidFill>
                <a:latin typeface="Calibri"/>
              </a:rPr>
              <a:t>MP4 nebo MKV je obal. H.264 nebo AV1 je způsob komprese obrazu uvnitř.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21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93192" y="6272784"/>
            <a:ext cx="11411712" cy="18288"/>
          </a:xfrm>
          <a:prstGeom prst="rect">
            <a:avLst/>
          </a:prstGeom>
          <a:solidFill>
            <a:srgbClr val="DCD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93192" y="6382512"/>
            <a:ext cx="64008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5C6965"/>
                </a:solidFill>
                <a:latin typeface="Calibri"/>
              </a:rPr>
              <a:t>POČÍTAČOVÁ GRAFIKA A PRÁCE S MULTIMÉDII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66960" y="6382512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1">
                <a:solidFill>
                  <a:srgbClr val="5C6965"/>
                </a:solidFill>
                <a:latin typeface="Calibri"/>
              </a:rPr>
              <a:t>HODINA 6  /  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93192" y="32004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7FD6CF"/>
                </a:solidFill>
                <a:latin typeface="Calibri"/>
              </a:rPr>
              <a:t>EXIT TICKET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3192" y="1371600"/>
            <a:ext cx="10789920" cy="2194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3000" b="1">
                <a:solidFill>
                  <a:srgbClr val="FFFFFF"/>
                </a:solidFill>
                <a:latin typeface="Calibri"/>
              </a:rPr>
              <a:t>Vysvětli vlastními slovy rozdíl mezi kontejnerem a kodekem. Použij přirovnání.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3192" y="4206240"/>
            <a:ext cx="1078992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00" b="0">
                <a:solidFill>
                  <a:srgbClr val="B9C4C0"/>
                </a:solidFill>
                <a:latin typeface="Calibri"/>
              </a:rPr>
              <a:t>Odpověz jednou nebo dvěma větami vlastními slovy.</a:t>
            </a:r>
          </a:p>
        </p:txBody>
      </p:sp>
      <p:sp>
        <p:nvSpPr>
          <p:cNvPr id="9" name="Rectangle 8"/>
          <p:cNvSpPr/>
          <p:nvPr/>
        </p:nvSpPr>
        <p:spPr>
          <a:xfrm>
            <a:off x="393192" y="5029200"/>
            <a:ext cx="2011680" cy="36576"/>
          </a:xfrm>
          <a:prstGeom prst="rect">
            <a:avLst/>
          </a:prstGeom>
          <a:solidFill>
            <a:srgbClr val="0C8A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93192" y="5257800"/>
            <a:ext cx="1078992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0">
                <a:solidFill>
                  <a:srgbClr val="9AA8A4"/>
                </a:solidFill>
                <a:latin typeface="Calibri"/>
              </a:rPr>
              <a:t>Očekává se přirovnání typu krabice a způsob zabalení; kontejner drží stopy pohromadě, kodek určuje, jak jsou data zakódovaná.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