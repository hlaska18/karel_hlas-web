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NEŽ ZAZVONÍ</a:t>
            </a:r>
          </a:p>
          <a:p>
            <a:r>
              <a:t>Ověř, že se studenti přihlásí školním účtem do Office 365 a mají Excel a PowerPoint. Canva je jen volitelná, hodina na ní nestojí.</a:t>
            </a:r>
          </a:p>
          <a:p>
            <a:r>
              <a:t>Rozbal Výstupy k posouzení.zip a rozdej Infografika v Canvě.txt. Studenti potřebují mít infografiku A i B otevřenou vedle sebe.</a:t>
            </a:r>
          </a:p>
          <a:p>
            <a:r>
              <a:t>Měj ukázku B připravenou na projekci přes celou obrazovku. Hodina začíná testem pěti sekund.</a:t>
            </a:r>
          </a:p>
          <a:p/>
          <a:p>
            <a:r>
              <a:t>KDYŽ POČÍTAČE NEJDOU</a:t>
            </a:r>
          </a:p>
          <a:p>
            <a:r>
              <a:t>Infografika se navrhne na papír podle stejných kritérií a test pěti sekund funguje s papírem stejně. Hodnotí se rozvržení, srozumitelnost a poctivost zobrazení, ne ovládání nástroje. Rozbor ukázek A a B proběhne beze změny — je to jen prohlížení obrázků.</a:t>
            </a:r>
          </a:p>
          <a:p/>
          <a:p>
            <a:r>
              <a:t>CÍL HODINY</a:t>
            </a:r>
          </a:p>
          <a:p>
            <a:r>
              <a:t>Student vytvoří infografiku, která data zobrazuje poctivě a je srozumitelná na první pohled, a rozpozná zavádějící zobrazení.</a:t>
            </a:r>
          </a:p>
          <a:p/>
          <a:p>
            <a:r>
              <a:t>VÝSTUP, KTERÝ VYBÍRÁŠ</a:t>
            </a:r>
          </a:p>
          <a:p>
            <a:r>
              <a:t>Pět chyb v ukázce B, infografika v PDF a PNG, zápis z testu pěti sekund a co student opravil.</a:t>
            </a:r>
          </a:p>
          <a:p/>
          <a:p>
            <a:r>
              <a:t>ROZVRŽENÍ</a:t>
            </a:r>
          </a:p>
          <a:p>
            <a:r>
              <a:t>5 min test pěti sekund a porovnání · 7 min výklad · 28 min práce · 5 min rozbor a exit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0–5 minut.</a:t>
            </a:r>
          </a:p>
          <a:p/>
          <a:p>
            <a:r>
              <a:t>CO ŘEKNEŠ</a:t>
            </a:r>
          </a:p>
          <a:p>
            <a:r>
              <a:t>„Teď uvidíte jednu infografiku. Jen pět sekund, pak ji schovám. Napište na lísteček jednou větou, co je na ní hlavní.“ Promítni B přes celou obrazovku, odpočítej pět sekund a projekci vypni.</a:t>
            </a:r>
          </a:p>
          <a:p>
            <a:r>
              <a:t>Pak: „Otevřete si obě infografiky ze složky Výstupy k posouzení vedle sebe. Ukazují stejná čísla. Působí opačně. Nejdřív najděte čísla, která jsou v obou stejná — a pak pojmenujte, čím to je.“</a:t>
            </a:r>
          </a:p>
          <a:p/>
          <a:p>
            <a:r>
              <a:t>CO DĚLÁŠ</a:t>
            </a:r>
          </a:p>
          <a:p>
            <a:r>
              <a:t>Lístečky vyber a po hodině spočítej, kolik studentů napsalo titulek B jako fakt („žáci jsou závislí na mobilech“) a kolik si všimlo, že něco nesedí. Číslo si zapiš. Na konci hodiny 8 test zopakuješ a uvidíš, jestli se něco změnilo.</a:t>
            </a:r>
          </a:p>
          <a:p>
            <a:r>
              <a:t>Nech je pracovat mlčky a nekomentuj. Většina třídy nejdřív řekne „B je barevnější“. To je pozorování, ne odpověď — pošli je zpátky k číslům.</a:t>
            </a:r>
          </a:p>
          <a:p>
            <a:r>
              <a:t>Kdo najde useknutou osu do pěti minut, dostane úkol navíc: ať najde ještě dvě další chyby, než se to začne probírat.</a:t>
            </a:r>
          </a:p>
          <a:p/>
          <a:p>
            <a:r>
              <a:t>POZOR</a:t>
            </a:r>
          </a:p>
          <a:p>
            <a:r>
              <a:t>Tady se nesmí prozradit seznam chyb. Celá hodina stojí na tom, že si je studenti najdou sami.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5–12 minut. Nejdřív otázka, pojem až potom: snímek s pojmy ukaž, až to třída popíše vlastními slovy.</a:t>
            </a:r>
          </a:p>
          <a:p/>
          <a:p>
            <a:r>
              <a:t>CO ŘEKNEŠ</a:t>
            </a:r>
          </a:p>
          <a:p>
            <a:r>
              <a:t>K bodu 01: Promítni ukázku A. „Kam jste se podívali nejdřív?“ Nech odpovědět. „Na nadpis. Je největší, je nahoře a říká zjištění, ne jen téma. Tomu se říká hierarchie: co je nejdůležitější, je nejvíc vidět.“</a:t>
            </a:r>
          </a:p>
          <a:p>
            <a:r>
              <a:t>K bodu 02: „Jak poznáte, který popisek patří ke kterému grafu? A co na ukázce B křičí nejvíc?“ Pak: „Co je u sebe, čte se jako celek — to je blízkost. A kontrast funguje jen na jedné věci. Když zvýrazníte všechno jako B, nevynikne nic.“</a:t>
            </a:r>
          </a:p>
          <a:p>
            <a:r>
              <a:t>K bodu 03: „Sloupcový graf porovnává výšky. Když osa nezačíná na nule, výšky přestanou odpovídat číslům a malý rozdíl vypadá obrovský. Koláč jen na podíly z jednoho celku a nikdy ve 3D, protože nakloněním se přední výseč opticky zvětší. A k číslům patří, odkud jsou, kolika lidí se ptali a kdy.“</a:t>
            </a:r>
          </a:p>
          <a:p>
            <a:r>
              <a:t>Závěr: „Poctivá infografika říká i to, co z dat nevíme.“</a:t>
            </a:r>
          </a:p>
          <a:p/>
          <a:p>
            <a:r>
              <a:t>CO DĚLÁŠ</a:t>
            </a:r>
          </a:p>
          <a:p>
            <a:r>
              <a:t>Ukaž useknutou osu přímo na promítnuté ukázce B a zakryj rukou spodek grafu — rozdíl je vidět okamžitě.</a:t>
            </a:r>
          </a:p>
          <a:p/>
          <a:p>
            <a:r>
              <a:t>POZOR</a:t>
            </a:r>
          </a:p>
          <a:p>
            <a:r>
              <a:t>Neříkej ostatní chyby z ukázky B. Osa stačí jako příklad, zbytek si mají najít.</a:t>
            </a:r>
          </a:p>
          <a:p>
            <a:r>
              <a:t>Barvy neprodávej jako psychologická pravidla („červená znamená nebezpečí“). Jak barva působí, záleží na kultuře a souvislostech. Drž se kontrastu a čitelnosti.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12–40 minut.</a:t>
            </a:r>
          </a:p>
          <a:p/>
          <a:p>
            <a:r>
              <a:t>CO ŘEKNEŠ</a:t>
            </a:r>
          </a:p>
          <a:p>
            <a:r>
              <a:t>„Nejdřív najdete v ukázce B aspoň pět konkrétních chyb a zapíšete je. Konkrétní znamená, že u každé napíšete, kde je a jak by se opravila. Pak teprve tvoříte vlastní.“</a:t>
            </a:r>
          </a:p>
          <a:p/>
          <a:p>
            <a:r>
              <a:t>12–20 MIN · ROZBOR UKÁZEK</a:t>
            </a:r>
          </a:p>
          <a:p>
            <a:r>
              <a:t>Pět chyb, které v ukázce B jsou: osa začíná na 25 místo na nule · koláčový graf ve 3D · součet procent dává 104 % · zdroj uvedený jako „internet“ · emoční titulky, které v datech nemají oporu.</a:t>
            </a:r>
          </a:p>
          <a:p>
            <a:r>
              <a:t>Kdo najde všech pět, dostane šestou otázku: chybí velikost vzorku a datum sběru. Uznej i další chyby, které vážně obhájí.</a:t>
            </a:r>
          </a:p>
          <a:p/>
          <a:p>
            <a:r>
              <a:t>20–34 MIN · VLASTNÍ TVORBA</a:t>
            </a:r>
          </a:p>
          <a:p>
            <a:r>
              <a:t>Každý si vybere jednu sadu dat, udělá z ní jeden graf v Excelu a vloží ho na snímek v PowerPointu s nadpisem, zdrojem a omezením. Nejdřív ale dvě věty ze zadání: „Určeno pro…“ a „Čtenář má pochopit…“. Bez nich nikoho nepouštěj do Excelu — test pěti sekund by neměl s čím porovnat.</a:t>
            </a:r>
          </a:p>
          <a:p>
            <a:r>
              <a:t>Nejčastější prohřešek je právě ten, který před chvílí kritizovali: Excel nabízí 3D grafy a barevné styly a vypadá to líp. Obcházej a kontroluj osy i 3D.</a:t>
            </a:r>
          </a:p>
          <a:p>
            <a:r>
              <a:t>Druhý prohřešek je pět písem a osm barev. Strop jsou dvě písma a čtyři barvy a je to v kontrole.</a:t>
            </a:r>
          </a:p>
          <a:p/>
          <a:p>
            <a:r>
              <a:t>34–40 MIN · TEST PĚTI SEKUND A OPRAVA</a:t>
            </a:r>
          </a:p>
          <a:p>
            <a:r>
              <a:t>Dvojice si vymění obrazovky. Pět sekund dívání, pak autor obrazovku zakryje. Spolužák řekne jen tři věty ze zadání: „Nejdřív jsem se podíval na…“, „Hlavní je podle mě…“, „Nejasné mi bylo…“.</a:t>
            </a:r>
          </a:p>
          <a:p>
            <a:r>
              <a:t>Pevné věty nejsou formalita. Bez nich se žáci shazují nebo chválí naprázdno. Kdo řekne „je to hnusný“ nebo „dobrý“, vrať ho k větám.</a:t>
            </a:r>
          </a:p>
          <a:p>
            <a:r>
              <a:t>Autor porovná, co slyšel, se svou větou „Čtenář má pochopit“, opraví jednu věc a zapíše obojí. Pak export do PDF a PNG.</a:t>
            </a:r>
          </a:p>
          <a:p/>
          <a:p>
            <a:r>
              <a:t>VÝSTUP</a:t>
            </a:r>
          </a:p>
          <a:p>
            <a:r>
              <a:t>Pět chyb v ukázce B, infografika v PDF a PNG, zápis z testu pěti sekund a co student opravil.</a:t>
            </a:r>
          </a:p>
          <a:p/>
          <a:p>
            <a:r>
              <a:t>KDYŽ NENÍ ČAS</a:t>
            </a:r>
          </a:p>
          <a:p>
            <a:r>
              <a:t>Export ať dodělají doma. Rozbor ukázek ani test pěti sekund nekrať: rozbor nese poctivost, test srozumitelnost.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Průběžná kontrola, zhruba 38. minuta.</a:t>
            </a:r>
          </a:p>
          <a:p/>
          <a:p>
            <a:r>
              <a:t>CO ŘEKNEŠ</a:t>
            </a:r>
          </a:p>
          <a:p>
            <a:r>
              <a:t>„Než odevzdáte, projedeme čtyři věci. Odškrtávejte si je.“ Čti body nahlas a mezi nimi nech pauzu.</a:t>
            </a:r>
          </a:p>
          <a:p/>
          <a:p>
            <a:r>
              <a:t>CO DĚLÁŠ</a:t>
            </a:r>
          </a:p>
          <a:p>
            <a:r>
              <a:t>Ve druhém bodě skoro nikdo nemá omezení dat. Řekni k němu příklad: „Ptali jsme se jen naší školy, takže to neplatí o všech středoškolácích.“ Jedna taková věta stačí.</a:t>
            </a:r>
          </a:p>
          <a:p/>
          <a:p>
            <a:r>
              <a:t>POZOR</a:t>
            </a:r>
          </a:p>
          <a:p>
            <a:r>
              <a:t>Není to známkování, je to poslední šance práci dodělat.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Společný rozbor, 40–43 minut.</a:t>
            </a:r>
          </a:p>
          <a:p/>
          <a:p>
            <a:r>
              <a:t>CO ŘEKNEŠ</a:t>
            </a:r>
          </a:p>
          <a:p>
            <a:r>
              <a:t>Otevři otázku, která hodinu přesahuje: „Myslíte, že ten, kdo dělal ukázku B, lhal?“</a:t>
            </a:r>
          </a:p>
          <a:p>
            <a:r>
              <a:t>Nech to chvíli běžet. Dobrý závěr je, že čísla ve sloupcovém grafu B jsou pravdivá a graf přesto klame — useknutá osa a 3D z nich udělají něco jiného, a to se dá udělat i bez úmyslu, protože nástroj to sám nabídne. Jediné vymyšlené číslo je v řádku pod koláčem: „jiné 9 %“ (správně 5 ze 120, tedy asi 4 %), proto součet 104 %.</a:t>
            </a:r>
          </a:p>
          <a:p>
            <a:r>
              <a:t>Pak nech studenty vyslovit čtyři závěry ze snímku a doplň jen to, co nezazní.</a:t>
            </a:r>
          </a:p>
          <a:p/>
          <a:p>
            <a:r>
              <a:t>OČEKÁVANÉ ZÁVĚRY</a:t>
            </a:r>
          </a:p>
          <a:p>
            <a:r>
              <a:t>Useknutá osa: nejčastější způsob, jak z malého rozdílu udělat dramatický.</a:t>
            </a:r>
          </a:p>
          <a:p>
            <a:r>
              <a:t>3D efekt: zkresluje plochy výsečí, u koláčového grafu se nepoužívá.</a:t>
            </a:r>
          </a:p>
          <a:p>
            <a:r>
              <a:t>Na první pohled: co má čtenář pochopit, musí být vidět do pěti sekund. Ověří to test u spolužáka.</a:t>
            </a:r>
          </a:p>
          <a:p>
            <a:r>
              <a:t>Poctivost: uvedení zdroje a omezení není slabina, ale známka kvality.</a:t>
            </a:r>
          </a:p>
          <a:p/>
          <a:p>
            <a:r>
              <a:t>POZOR</a:t>
            </a:r>
          </a:p>
          <a:p>
            <a:r>
              <a:t>Hodnoť postup a zdůvodnění, ne grafickou zdatnost. Střízlivá infografika s poctivými osami je lepší výsledek než efektní s useknutou.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ticket, poslední dvě minuty.</a:t>
            </a:r>
          </a:p>
          <a:p/>
          <a:p>
            <a:r>
              <a:t>CO ŘEKNEŠ</a:t>
            </a:r>
          </a:p>
          <a:p>
            <a:r>
              <a:t>„Každý sám. Jedna konkrétní chyba z ukázky B a jak bys ji opravil.“</a:t>
            </a:r>
          </a:p>
          <a:p/>
          <a:p>
            <a:r>
              <a:t>CO DĚLÁŠ</a:t>
            </a:r>
          </a:p>
          <a:p>
            <a:r>
              <a:t>Sbírej u dveří. Bez opravy se lístek nepočítá — najít chybu umí každý, opravit ji je ta dovednost.</a:t>
            </a:r>
          </a:p>
          <a:p/>
          <a:p>
            <a:r>
              <a:t>OČEKÁVANÁ ODPOVĚĎ</a:t>
            </a:r>
          </a:p>
          <a:p>
            <a:r>
              <a:t>Konkrétní chyba (osa od 25) a konkrétní oprava (osa od nuly). Stejně dobré je 3D koláč → plochý koláč nebo dva sloupce, nebo zdroj „internet“ → název průzkumu, počet dotázaných a datum.</a:t>
            </a:r>
          </a:p>
          <a:p>
            <a:r>
              <a:t>Odpověď „bylo to zavádějící, udělal bych to líp“ vrať. To není oprava.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HODINA 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457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9AA8A4"/>
                </a:solidFill>
                <a:latin typeface="Calibri"/>
              </a:rPr>
              <a:t>POČÍTAČOVÁ GRAFIKA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24028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Infografika a prezentace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4709160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B9C4C0"/>
                </a:solidFill>
                <a:latin typeface="Calibri"/>
              </a:rPr>
              <a:t>Student vytvoří infografiku, která data zobrazuje poctivě a je srozumitelná na první pohled, a rozpozná zavádějící zobrazení.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0696" y="4764024"/>
            <a:ext cx="1179576" cy="1179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0696" y="4983480"/>
            <a:ext cx="117957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0696" y="5596128"/>
            <a:ext cx="11795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CFEAE8"/>
                </a:solidFill>
                <a:latin typeface="Calibri"/>
              </a:rPr>
              <a:t>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0–5 MIN · ÚVOD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Začni vlastním rozhodnutím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7  /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C8A83"/>
                </a:solidFill>
                <a:latin typeface="Calibri"/>
              </a:rPr>
              <a:t>Dva grafy ukazují stejná čísla, ale působí opačně. Čím to je?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PĚT SEKUND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Učitel ukáže B na pět sekund. Napiš, co je na ní hlavní.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NAJDI ROZDÍL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Otevři A i B. Která čísla jsou v obou stejná?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POJMENUJ TRIK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Co v B mění dojem?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539496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5C6965"/>
                </a:solidFill>
                <a:latin typeface="Calibri"/>
              </a:rPr>
              <a:t>Nejdřív se rozhodni sám. Teprve pak porovnávej.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5–12 MIN ·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Tři opěrné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7  /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Hierarchie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Kam se podíváš nejdřív? Tam patří hlavní zjištění: největší a nahoře.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Blízkost a kontrast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Co je u sebe, čte se jako celek. Zvýrazni jednu věc, ne všechno.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Poctivý graf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Osa od nuly, koláč bez 3D. Zdroj, vzorek a datum patří k výsledku.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5468112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5669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Poctivá infografika říká i to, co z dat nevíme.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12–40 MIN · PRÁCE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Hlavní počítačová aktivita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7  /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45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OTEVŘI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27632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211E"/>
                </a:solidFill>
                <a:latin typeface="Calibri"/>
              </a:rPr>
              <a:t>Excel, PowerPoint, Infografika v Canvě.txt, Výstupy k posouzení/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Rozbor ukázky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Najdi v infografice B alespoň pět konkrétních chyb a zapiš je.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Vlastní infografika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Vyber jednu sadu dat, napiš, pro koho to je, a udělej graf v Excelu.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Test pěti sekund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Spolužák řekne, co je hlavní. Oprav, co nepochopil, a ulož PDF a PNG.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" y="5257800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5440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ODEVZDEJ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422392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7211E"/>
                </a:solidFill>
                <a:latin typeface="Calibri"/>
              </a:rPr>
              <a:t>Pět chyb v ukázce B, infografika v PDF a PNG, zápis z testu a co jsi opravil.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PRŮBĚŽNÁ KONTROLA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Než práci odevzdáš, ověř čtyři věci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7  /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Osa tvého grafu začíná na nule a graf není ve 3D.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Uvedl jsi zdroj, velikost vzorku, datum i omezení dat.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Použil jsi nejvýše dvě písma a čtyři barvy.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Po testu pěti sekund jsi opravil, co spolužák nepochopil.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SPOLEČNÝ ROZBOR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Co si z hodiny odnést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7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Useknutá 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Nejčastější způsob, jak z malého rozdílu udělat dramatický.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651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3D efekt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Zkresluje plochy výsečí. U koláčového grafu se nepoužívá.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3794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977639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Na první pohled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977639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Co má čtenář pochopit, musí být vidět do pěti sekund.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937759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5120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Poctivost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120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Uvedení zdroje a omezení není slabina, ale známka kvality.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7  /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71600"/>
            <a:ext cx="107899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Uveď jednu konkrétní chybu z ukázky B a napiš, jak bys ji opravil.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4206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B9C4C0"/>
                </a:solidFill>
                <a:latin typeface="Calibri"/>
              </a:rPr>
              <a:t>Odpověz jednou nebo dvěma větami vlastními slovy.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5029200"/>
            <a:ext cx="2011680" cy="36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52578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9AA8A4"/>
                </a:solidFill>
                <a:latin typeface="Calibri"/>
              </a:rPr>
              <a:t>Očekává se konkrétní chyba (např. osa od 25) a konkrétní oprava (osa od nuly).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subject/>
  <dc:creator>Karel Hlas</dc:creator>
  <cp:keywords/>
  <dc:description/>
  <cp:lastModifiedBy>Karel Hlas</cp:lastModifiedBy>
  <cp:revision>1</cp:revision>
  <dcterms:created xsi:type="dcterms:W3CDTF">2026-07-24T00:00:00Z</dcterms:created>
  <dcterms:modified xsi:type="dcterms:W3CDTF">2026-07-24T00:00:00Z</dcterms:modified>
  <cp:category/>
</cp:coreProperties>
</file>