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NEŽ ZAZVONÍ</a:t>
            </a:r>
          </a:p>
          <a:p>
            <a:r>
              <a:t>Zpřístupni nástroje z hodin 4, 5 a 7 — student si vybere sám podle varianty a nesmí na to narazit až v hodině.</a:t>
            </a:r>
          </a:p>
          <a:p>
            <a:r>
              <a:t>Rozdej Závěrečný výstup.txt s rubrikou. Studenti ji musí mít před sebou od první minuty, protože se podle ní bude hodnotit.</a:t>
            </a:r>
          </a:p>
          <a:p>
            <a:r>
              <a:t>Připrav si na projekci ukázku B z hodiny 7. Na konci hodiny zopakuješ test pěti sekund.</a:t>
            </a:r>
          </a:p>
          <a:p/>
          <a:p>
            <a:r>
              <a:t>TOHLE JE JINÁ HODINA NEŽ PŘEDCHOZÍCH SEDM</a:t>
            </a:r>
          </a:p>
          <a:p>
            <a:r>
              <a:t>Nic nového se neučí. Ty jsi tu jako konzultant, ne jako vykladač — obcházej a ptej se na důvody, neopravuj výsledky.</a:t>
            </a:r>
          </a:p>
          <a:p>
            <a:r>
              <a:t>Počítej s tím, že 45 minut je málo. Když je to jen trochu možné, dej na závěrečný výstup dvě hodiny; obhajoby se pak vejdou v klidu.</a:t>
            </a:r>
          </a:p>
          <a:p/>
          <a:p>
            <a:r>
              <a:t>CÍL HODINY</a:t>
            </a:r>
          </a:p>
          <a:p>
            <a:r>
              <a:t>Student propojí dovednosti z celého bloku do výstupu pro konkrétního čtenáře, ověří ho testem u spolužáka a obhájí svá rozhodnutí.</a:t>
            </a:r>
          </a:p>
          <a:p/>
          <a:p>
            <a:r>
              <a:t>VÝSTUP, KTERÝ VYBÍRÁŠ</a:t>
            </a:r>
          </a:p>
          <a:p>
            <a:r>
              <a:t>Hotový výstup, technický list se zápisem testu a tři věty obhajoby.</a:t>
            </a:r>
          </a:p>
          <a:p/>
          <a:p>
            <a:r>
              <a:t>ROZVRŽENÍ</a:t>
            </a:r>
          </a:p>
          <a:p>
            <a:r>
              <a:t>5 min volba a pro koho · 7 min kritéria · 22 min tvorba a test pěti sekund · 8 min obhajoby · 3 min shrnutí bloku.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/>
          <a:p>
            <a:r>
              <a:t>CO ŘEKNEŠ</a:t>
            </a:r>
          </a:p>
          <a:p>
            <a:r>
              <a:t>„Dneska nic nového. Vyberete si jednu ze tří variant a ukážete, co umíte. A než začnete: co na vašem výstupu pozná někdo, kdo neví nic o tom, jak vznikal?“</a:t>
            </a:r>
          </a:p>
          <a:p>
            <a:r>
              <a:t>„Napište si nahoru dvě věty: Určeno pro… a Čtenář má pochopit… Pak plán: co uděláte, v jakém nástroji a v jakém formátu to uložíte. Pět řádků stačí.“</a:t>
            </a:r>
          </a:p>
          <a:p/>
          <a:p>
            <a:r>
              <a:t>CO DĚLÁŠ</a:t>
            </a:r>
          </a:p>
          <a:p>
            <a:r>
              <a:t>Trvej na tom, aby plán vznikl dřív než první klik. Kdo začne dřív, skončí u výstupu bez formátu a bez zdůvodnění.</a:t>
            </a:r>
          </a:p>
          <a:p>
            <a:r>
              <a:t>Téma si každý volí sám uvnitř varianty: svůj sport, kapelu, obor, kroužek. Vlastní téma táhne, varianta hlídá povinné prvky.</a:t>
            </a:r>
          </a:p>
          <a:p>
            <a:r>
              <a:t>Ať si každý přečte rubriku ještě před začátkem. Většina bodů se ztrácí na technickém listu, ne na vzhledu, a to je potřeba vědět předem.</a:t>
            </a:r>
          </a:p>
          <a:p/>
          <a:p>
            <a:r>
              <a:t>POZOR</a:t>
            </a:r>
          </a:p>
          <a:p>
            <a:r>
              <a:t>Nedoporučuj variantu. Volba je součástí hodnocení — ukazuje, jestli student ví, co zvládne.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 Spíš připomenutí než výklad.</a:t>
            </a:r>
          </a:p>
          <a:p/>
          <a:p>
            <a:r>
              <a:t>CO ŘEKNEŠ</a:t>
            </a:r>
          </a:p>
          <a:p>
            <a:r>
              <a:t>K bodu 01: „Rastr, vektor nebo sazba. Rozhoduje, co je uvnitř. Fotka rastrově, značka vektorově, plakát obojí dohromady — a to je normální kombinace, ne kompromis.“</a:t>
            </a:r>
          </a:p>
          <a:p>
            <a:r>
              <a:t>K bodu 02: „Formát a rozlišení podle toho, kde to skončí. Na web něco jiného než do tiskárny. Tohle jsme dělali v hodinách 3 a 4 a teď se to bude počítat.“</a:t>
            </a:r>
          </a:p>
          <a:p>
            <a:r>
              <a:t>K bodu 03: „Ke každému rozhodnutí patří důvod. A jestli výstup funguje, neurčíte vy, ale čtenář: v půlce hodiny ho na pět sekund ukážete spolužákovi a opravíte, co nepochopil.“</a:t>
            </a:r>
          </a:p>
          <a:p>
            <a:r>
              <a:t>Pravidlo pro AI řekni hned teď: „AI smíte použít, třeba na nápad nebo obrázek. Do technického listu ale napíšete, na co a v jakém nástroji. Obhajujete svoje volby, takže musíte umět říct, proč jste výsledek vzali nebo upravili.“</a:t>
            </a:r>
          </a:p>
          <a:p>
            <a:r>
              <a:t>Závěr: „Hodnotí se výsledek, postup i zdůvodnění. Všechny tři.“</a:t>
            </a:r>
          </a:p>
          <a:p/>
          <a:p>
            <a:r>
              <a:t>CO DĚLÁŠ</a:t>
            </a:r>
          </a:p>
          <a:p>
            <a:r>
              <a:t>Projdi rubriku bod po bodu a u každého řekni, jak vypadá plný počet bodů. Pět minut tady ušetří dvacet dohadování při hodnocení.</a:t>
            </a:r>
          </a:p>
          <a:p>
            <a:r>
              <a:t>Nové je kritérium Srozumitelnost: dva body dostane výstup, na kterém spolužák do pěti sekund najde to, co má čtenář pochopit, a test s opravou je zapsaný v technickém listu.</a:t>
            </a:r>
          </a:p>
          <a:p/>
          <a:p>
            <a:r>
              <a:t>POZOR</a:t>
            </a:r>
          </a:p>
          <a:p>
            <a:r>
              <a:t>Nepředváděj nástroje znovu. Kdo je neovládá, doučí se to od spolužáka rychleji než z projekce.</a:t>
            </a:r>
          </a:p>
          <a:p>
            <a:r>
              <a:t>Když pravidla školy nebo podmínky AI nástroje použití pro mladší studenty nedovolují, platí ta přísnější.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 Nejnabitější část celého bloku, hlídej hodiny.</a:t>
            </a:r>
          </a:p>
          <a:p/>
          <a:p>
            <a:r>
              <a:t>12–28 MIN · SAMOSTATNÁ PRÁCE</a:t>
            </a:r>
          </a:p>
          <a:p>
            <a:r>
              <a:t>Obcházej a ptej se na důvody, ne na postup: „Proč PNG a ne JPEG?“ „Proč tenhle rozměr?“ Odpověď „nevím, přišlo mi to“ je signál, že se student má vrátit k technickému listu.</a:t>
            </a:r>
          </a:p>
          <a:p>
            <a:r>
              <a:t>Technický list ať vyplňují průběžně, ne na konci. Rozměry a velikosti souborů se na konci hodiny nikomu dohledávat nechce a je to nejčastější ztráta bodů.</a:t>
            </a:r>
          </a:p>
          <a:p>
            <a:r>
              <a:t>Ve 26. minutě řekni nahlas: „Za dvě minuty test. Ukazuje se i rozpracovaný výstup.“</a:t>
            </a:r>
          </a:p>
          <a:p/>
          <a:p>
            <a:r>
              <a:t>28–34 MIN · TEST PĚTI SEKUND A OPRAVA</a:t>
            </a:r>
          </a:p>
          <a:p>
            <a:r>
              <a:t>Dvojice si ukážou výstup na pět sekund. Spolužák řekne jen tři věty ze zadání: „Nejdřív jsem se podíval na…“, „Hlavní je podle mě…“, „Nejasné mi bylo…“.</a:t>
            </a:r>
          </a:p>
          <a:p>
            <a:r>
              <a:t>Pevné věty nejsou formalita. Bez nich se patnáctiletí shazují nebo chválí naprázdno. Kdo řekne „je to hnusný“ nebo „dobrý“, vrať ho k větám.</a:t>
            </a:r>
          </a:p>
          <a:p>
            <a:r>
              <a:t>Autor porovná, co slyšel, se svou větou „Čtenář má pochopit“, opraví jednu věc a obojí zapíše do technického listu.</a:t>
            </a:r>
          </a:p>
          <a:p/>
          <a:p>
            <a:r>
              <a:t>34–42 MIN · OBHAJOBY</a:t>
            </a:r>
          </a:p>
          <a:p>
            <a:r>
              <a:t>Nejdřív ve dvojicích u stolu naráz, čtyři minuty: každý řekne tři věty — co jsem zvolil, proč, co bych udělal jinak. Pak dva až tři vybrané výstupy před třídou tak, aby zazněly různé varianty. Obhajoby jednoho po druhém se do osmi minut nevejdou.</a:t>
            </a:r>
          </a:p>
          <a:p>
            <a:r>
              <a:t>Neptej se po každé obhajobě třídy na názor, nezbyde čas. Řekni jednu větu ty a jdi dál.</a:t>
            </a:r>
          </a:p>
          <a:p/>
          <a:p>
            <a:r>
              <a:t>42–45 MIN · SHRNUTÍ BLOKU</a:t>
            </a:r>
          </a:p>
          <a:p>
            <a:r>
              <a:t>Nejdřív test pěti sekund na ukázce B (další snímek), pak otázka z první hodiny: „Začínali jsme otázkou, jaký soubor si vyžádáte od grafika na logo na plachtu. Kdo by to dneska zdůvodnil jinak?“</a:t>
            </a:r>
          </a:p>
          <a:p/>
          <a:p>
            <a:r>
              <a:t>VÝSTUP</a:t>
            </a:r>
          </a:p>
          <a:p>
            <a:r>
              <a:t>Hotový výstup, technický list se zápisem testu a tři věty obhajoby.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kontrola, zhruba 32. minuta — dřív než v ostatních hodinách, ať zbude čas na obhajoby.</a:t>
            </a:r>
          </a:p>
          <a:p/>
          <a:p>
            <a:r>
              <a:t>CO ŘEKNEŠ</a:t>
            </a:r>
          </a:p>
          <a:p>
            <a:r>
              <a:t>„Než odevzdáte, projedeme čtyři věci. Odškrtávejte si je.“ Čti body nahlas a mezi nimi nech pauzu.</a:t>
            </a:r>
          </a:p>
          <a:p/>
          <a:p>
            <a:r>
              <a:t>CO DĚLÁŠ</a:t>
            </a:r>
          </a:p>
          <a:p>
            <a:r>
              <a:t>Druhý a třetí bod jsou ty, kde se ztrácí nejvíc bodů. Řekni to nahlas — je fér, aby to věděli, než odevzdají.</a:t>
            </a:r>
          </a:p>
          <a:p/>
          <a:p>
            <a:r>
              <a:t>POZOR</a:t>
            </a:r>
          </a:p>
          <a:p>
            <a:r>
              <a:t>Není to známkování, je to poslední šance práci dodělat.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rozbor, 42–45 minut. Zároveň závěr celého osmihodinového bloku.</a:t>
            </a:r>
          </a:p>
          <a:p/>
          <a:p>
            <a:r>
              <a:t>TEST PĚTI SEKUND, PODRUHÉ</a:t>
            </a:r>
          </a:p>
          <a:p>
            <a:r>
              <a:t>Promítni ukázku B z hodiny 7 na pět sekund a vypni. „Jednou větou na lísteček: co je na ní hlavní?“ Lístečky po hodině spočítej stejně jako v hodině 7: kolik studentů napsalo titulek jako fakt a kolik poznalo, že graf klame. Rozdíl těch dvou čísel ukáže, jestli blok zabral.</a:t>
            </a:r>
          </a:p>
          <a:p/>
          <a:p>
            <a:r>
              <a:t>CO ŘEKNEŠ</a:t>
            </a:r>
          </a:p>
          <a:p>
            <a:r>
              <a:t>„Osm hodin zpátky jsme začali otázkou, jaký soubor si vyžádáte od grafika na logo, které jde na vizitku i na plachtu. Kdo by to dneska zdůvodnil jinak než tehdy?“</a:t>
            </a:r>
          </a:p>
          <a:p>
            <a:r>
              <a:t>Pak nech studenty vyslovit čtyři závěry ze snímku a doplň jen to, co nezazní.</a:t>
            </a:r>
          </a:p>
          <a:p/>
          <a:p>
            <a:r>
              <a:t>OČEKÁVANÉ ZÁVĚRY</a:t>
            </a:r>
          </a:p>
          <a:p>
            <a:r>
              <a:t>Formát a účel: volba formátu vychází z toho, kde bude výstup použit.</a:t>
            </a:r>
          </a:p>
          <a:p>
            <a:r>
              <a:t>Pro čtenáře: výstup funguje, když ho pochopí ten, pro koho je. Ověří to test pěti sekund.</a:t>
            </a:r>
          </a:p>
          <a:p>
            <a:r>
              <a:t>Poctivost dat: pokud výstup obsahuje čísla, patří k nim zdroj a omezení.</a:t>
            </a:r>
          </a:p>
          <a:p>
            <a:r>
              <a:t>Doložení postupu: schopnost zdůvodnit volbu je stejně důležitá jako výsledek.</a:t>
            </a:r>
          </a:p>
          <a:p/>
          <a:p>
            <a:r>
              <a:t>POZOR</a:t>
            </a:r>
          </a:p>
          <a:p>
            <a:r>
              <a:t>Hodnoť postup a zdůvodnění, ne shodu s jednou formulací. U závěrečného výstupu to platí dvojnásob — student s průměrným plakátem a přesným technickým listem umí víc než ten s efektním plakátem a prázdným listem.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ticket, poslední dvě minuty. Zároveň poslední lístek celého bloku.</a:t>
            </a:r>
          </a:p>
          <a:p/>
          <a:p>
            <a:r>
              <a:t>CO ŘEKNEŠ</a:t>
            </a:r>
          </a:p>
          <a:p>
            <a:r>
              <a:t>„Poslední úkol za osm hodin. Napište tři vlastní zásady pro práci s grafikou, které si odsud odnášíte. Vlastní znamená vaše, ne opsané ze snímku.“</a:t>
            </a:r>
          </a:p>
          <a:p/>
          <a:p>
            <a:r>
              <a:t>CO DĚLÁŠ</a:t>
            </a:r>
          </a:p>
          <a:p>
            <a:r>
              <a:t>Sbírej u dveří a přečti si je. Je to nejlepší zpětná vazba, jakou k celému bloku dostaneš: co zaznělo osmkrát, to opravdu prošlo, a co nezazní vůbec, se příště musí učit jinak.</a:t>
            </a:r>
          </a:p>
          <a:p>
            <a:r>
              <a:t>Stojí za to tři čtyři nejlepší zásady vyvěsit v učebně pro příští ročník.</a:t>
            </a:r>
          </a:p>
          <a:p/>
          <a:p>
            <a:r>
              <a:t>OČEKÁVANÁ ODPOVĚĎ</a:t>
            </a:r>
          </a:p>
          <a:p>
            <a:r>
              <a:t>Konkrétní a použitelné zásady: „originál nikdy nepřepisuj“, „osa od nuly“, „co nefunguje v 16 px, není ikona“, „formát se vybírá podle obsahu, ne podle zvyku“, „co spolužák nepochopí za pět sekund, není hotové“.</a:t>
            </a:r>
          </a:p>
          <a:p>
            <a:r>
              <a:t>Obecné fráze typu „grafika musí být hezká“ vrať s otázkou: podle čeho to poznáš?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Závěrečný výstup a obhajoba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propojí dovednosti z celého bloku do výstupu pro konkrétního čtenáře, ověří ho testem u spolužáka a obhájí svá rozhodnutí.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Co na tvém výstupu pozná někdo, kdo neví nic o tom, jak vznikal?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VYBER VARIANTU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A plakát, B značka a karta, nebo C infografika. Téma si zvol sám.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PRO KOHO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Napiš: Určeno pro… a Čtenář má pochopit…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NAPLÁNUJ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Nástroj a formát. Rubriku si přečti dřív, než začneš.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nástroje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Rastr, vektor nebo sazba — podle toho, co výstup obsahuje.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Volba formátu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Formát a rozlišení podle toho, kde bude výstup zveřejněn.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Test a doložení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Test pěti sekund u spolužáka a důvod ke každému rozhodnutí.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Hodnotí se výsledek, postup i zdůvodnění.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Závěrečný výstup.txt, nástroje z hodin 4, 5 a 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Tvorba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Zpracuj vybranou variantu podle povinných prvků v zadání.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Test pěti sekund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Spolužák řekne pevné věty ze zadání. Oprav, co nepochopil.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List a obhajoba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Technický list včetně AI a tři věty: co, proč, co jinak.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Hotový výstup, technický list se zápisem testu a tři věty obhajoby.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Výstup má všechny povinné prvky a větu „Určeno pro…“.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Technický list má rozměry, formáty, velikosti i použití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 testu pěti sekund jsi opravil, co spolužák nepochopil.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připravené tři věty obhajoby.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 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Formát a účel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Volba formátu vychází z toho, kde bude výstup použit.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Pro čtenáře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Výstup funguje, když ho pochopí ten, pro koho je. Ověří to 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Poctivost 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Pokud výstup obsahuje čísla, patří k nim zdroj a omezení.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Doložení postupu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Schopnost zdůvodnit volbu je stejně důležitá jako výsledek.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8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Napiš tři vlastní zásady pro práci s grafikou, které si z tohoto bloku odnášíš.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Očekávají se konkrétní a použitelné zásady, ne obecné fráze.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