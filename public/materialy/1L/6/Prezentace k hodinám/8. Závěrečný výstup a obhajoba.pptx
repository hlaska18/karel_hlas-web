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Cíl hodiny: Student propojí dovednosti z celého bloku do jednoho výstupu, doloží svá rozhodnutí a obhájí je.</a:t>
            </a:r>
          </a:p>
          <a:p>
            <a:r>
              <a:t>Soubory: 09. Závěrečný výstup.txt, nástroje z hodin 4, 5 a 7</a:t>
            </a:r>
          </a:p>
          <a:p>
            <a:r>
              <a:t>Výstup: Hotový výstup, vyplněný technický list a tři věty obhajoby.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0–5 minut.</a:t>
            </a:r>
          </a:p>
          <a:p>
            <a:r>
              <a:t>Otázka pro studenty: Co na tvém výstupu pozná někdo, kdo neví nic o tom, jak vznikal?</a:t>
            </a:r>
          </a:p>
          <a:p>
            <a:r>
              <a:t>Postup: nech studenty rozhodnout a zapsat důvod dřív, než ukážeš řešení. Neprozrazuj správnou odpověď.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5–12 minut.</a:t>
            </a:r>
          </a:p>
          <a:p>
            <a:r>
              <a:t>Klíčové pojmy: Volba nástroje · Volba formátu · Doložení</a:t>
            </a:r>
          </a:p>
          <a:p>
            <a:r>
              <a:t>Hodnotí se výsledek, postup i zdůvodnění.</a:t>
            </a:r>
          </a:p>
          <a:p>
            <a:r>
              <a:t>Postup: vysvětli stručně, ověř porozuměním otázkou, nepřednášej déle než 7 minut.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12–40 minut.</a:t>
            </a:r>
          </a:p>
          <a:p>
            <a:r>
              <a:t>Soubory: 09. Závěrečný výstup.txt, nástroje z hodin 4, 5 a 7</a:t>
            </a:r>
          </a:p>
          <a:p>
            <a:r>
              <a:t>12–34 min – samostatná práce; procházej a ptej se na důvody voleb.</a:t>
            </a:r>
          </a:p>
          <a:p>
            <a:r>
              <a:t>34–42 min – krátké obhajoby, 60 sekund na studenta.</a:t>
            </a:r>
          </a:p>
          <a:p>
            <a:r>
              <a:t>42–45 min – závěrečné shrnutí bloku.</a:t>
            </a:r>
          </a:p>
          <a:p>
            <a:r>
              <a:t>Výstup: Hotový výstup, vyplněný technický list a tři věty obhajoby.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Průběžná kontrola. Projdi body nahlas, studenti si odškrtávají v sešitu.</a:t>
            </a:r>
          </a:p>
          <a:p>
            <a:r>
              <a:t>• Výstup splňuje všechny povinné prvky zadání.</a:t>
            </a:r>
          </a:p>
          <a:p>
            <a:r>
              <a:t>• Technický list obsahuje rozměry, formáty i velikosti.</a:t>
            </a:r>
          </a:p>
          <a:p>
            <a:r>
              <a:t>• U volby formátu máš uvedený důvod.</a:t>
            </a:r>
          </a:p>
          <a:p>
            <a:r>
              <a:t>• Máš připravené tři věty obhajoby.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Společný rozbor – očekávané závěry:</a:t>
            </a:r>
          </a:p>
          <a:p>
            <a:r>
              <a:t>Formát a účel: Volba formátu vychází z toho, kde bude výstup použit.</a:t>
            </a:r>
          </a:p>
          <a:p>
            <a:r>
              <a:t>Rastr a vektor: Značka vektorově, fotografie rastrově; kombinace je běžná.</a:t>
            </a:r>
          </a:p>
          <a:p>
            <a:r>
              <a:t>Poctivost dat: Pokud výstup obsahuje čísla, patří k nim zdroj a omezení.</a:t>
            </a:r>
          </a:p>
          <a:p>
            <a:r>
              <a:t>Doložení postupu: Schopnost zdůvodnit volbu je stejně důležitá jako výsledek.</a:t>
            </a:r>
          </a:p>
          <a:p>
            <a:r>
              <a:t>Hodnoť postup a zdůvodnění, ne shodu s jednou formulací.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Exit ticket: Napiš tři vlastní zásady pro práci s grafikou, které si z tohoto bloku odnášíš.</a:t>
            </a:r>
          </a:p>
          <a:p>
            <a:r>
              <a:t>Sbírej individuálně. Slouží jako doklad o učení každého studenta.</a:t>
            </a:r>
          </a:p>
          <a:p>
            <a:r>
              <a:t>Očekávaná odpověď: Očekávají se konkrétní a použitelné zásady, ne obecné fráze.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0312" cy="685800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4572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HODINA 8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45720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1">
                <a:solidFill>
                  <a:srgbClr val="9AA8A4"/>
                </a:solidFill>
                <a:latin typeface="Calibri"/>
              </a:rPr>
              <a:t>POČÍTAČOVÁ GRAFIKA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" y="2240280"/>
            <a:ext cx="1033272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Calibri"/>
              </a:rPr>
              <a:t>Závěrečný výstup a obhajoba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4709160"/>
            <a:ext cx="81381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B9C4C0"/>
                </a:solidFill>
                <a:latin typeface="Calibri"/>
              </a:rPr>
              <a:t>Student propojí dovednosti z celého bloku do jednoho výstupu, doloží svá rozhodnutí a obhájí je.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40696" y="4764024"/>
            <a:ext cx="1179576" cy="1179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0696" y="4983480"/>
            <a:ext cx="1179576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0696" y="5596128"/>
            <a:ext cx="117957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CFEAE8"/>
                </a:solidFill>
                <a:latin typeface="Calibri"/>
              </a:rPr>
              <a:t>45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0–5 MIN · ÚVOD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Začni vlastním rozhodnutím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8  / 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>
                <a:solidFill>
                  <a:srgbClr val="0C8A83"/>
                </a:solidFill>
                <a:latin typeface="Calibri"/>
              </a:rPr>
              <a:t>Co na tvém výstupu pozná někdo, kdo neví nic o tom, jak vznikal?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VYBER VARIANTU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A plakát, B značka a karta, nebo C infografika.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5968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NAPLÁNUJ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Napiš, co uděláš v jakém nástroji a v jakém formátu uložíš.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38744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KRITÉRIA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8744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Přečti si rubriku dřív, než začneš.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" y="539496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5C6965"/>
                </a:solidFill>
                <a:latin typeface="Calibri"/>
              </a:rPr>
              <a:t>Nejdřív se rozhodni sám. Teprve pak porovnávej.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5–12 MIN · MINIMUM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Tři opěrné body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8  /  3</a:t>
            </a:r>
          </a:p>
        </p:txBody>
      </p:sp>
      <p:sp>
        <p:nvSpPr>
          <p:cNvPr id="8" name="Rectangle 7"/>
          <p:cNvSpPr/>
          <p:nvPr/>
        </p:nvSpPr>
        <p:spPr>
          <a:xfrm>
            <a:off x="393192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Volba nástroje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Rastr, vektor nebo sazba — podle toho, co výstup obsahuje.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8848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Volba formátu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Formát a rozlišení podle toho, kde bude výstup zveřejněn.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38744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21624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Doložení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Ke každému rozhodnutí patří důvod, ne jen výsledek.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" y="5468112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3192" y="566928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Hodnotí se výsledek, postup i zdůvodnění.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12–40 MIN · PRÁCE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Hlavní počítačová aktivita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8  /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4592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OTEVŘI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627632"/>
            <a:ext cx="99669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7211E"/>
                </a:solidFill>
                <a:latin typeface="Calibri"/>
              </a:rPr>
              <a:t>09. Závěrečný výstup.txt, nástroje z hodin 4, 5 a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Tvorba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Zpracuj vybranou variantu podle povinných prvků v zadání.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Technický list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Zapiš rozměry, formáty, velikosti souborů a použité nástroje.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8744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8744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Obhajoba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Připrav tři věty: co jsi zvolil, proč a co bys udělal jinak.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3192" y="5257800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544068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ODEVZDEJ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5422392"/>
            <a:ext cx="97840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17211E"/>
                </a:solidFill>
                <a:latin typeface="Calibri"/>
              </a:rPr>
              <a:t>Hotový výstup, vyplněný technický list a tři věty obhajoby.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PRŮBĚŽNÁ KONTROLA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Než práci odevzdáš, ověř čtyři věci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8  /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Výstup splňuje všechny povinné prvky zadání.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391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Technický list obsahuje rozměry, formáty i velikosti.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U volby formátu máš uvedený důvod.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5391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1111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Máš připravené tři věty obhajoby.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SPOLEČNÝ ROZBOR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Co si z hodiny odnést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8  / 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Formát a účel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1691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Volba formátu vychází z toho, kde bude výstup použit.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2" y="2651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2834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Rastr a vektor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834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Značka vektorově, fotografie rastrově; kombinace je běžná.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3192" y="3794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3977639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Poctivost dat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3977639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Pokud výstup obsahuje čísla, patří k nim zdroj a omezení.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" y="4937759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3192" y="5120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Doložení postupu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5120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Schopnost zdůvodnit volbu je stejně důležitá jako výsledek.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8  /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EXIT TICKET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" y="1371600"/>
            <a:ext cx="1078992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Napiš tři vlastní zásady pro práci s grafikou, které si z tohoto bloku odnášíš.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4206240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>
                <a:solidFill>
                  <a:srgbClr val="B9C4C0"/>
                </a:solidFill>
                <a:latin typeface="Calibri"/>
              </a:rPr>
              <a:t>Odpověz jednou nebo dvěma větami vlastními slovy.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" y="5029200"/>
            <a:ext cx="2011680" cy="36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" y="5257800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9AA8A4"/>
                </a:solidFill>
                <a:latin typeface="Calibri"/>
              </a:rPr>
              <a:t>Očekávají se konkrétní a použitelné zásady, ne obecné fráze.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