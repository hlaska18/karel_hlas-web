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NEŽ ZAZVONÍ</a:t>
            </a:r>
          </a:p>
          <a:p>
            <a:r>
              <a:t>Ověř, že GIMP je na všech stanicích a spustí se. První spuštění trvá dlouho, ať to nekrade čas z hodiny.</a:t>
            </a:r>
          </a:p>
          <a:p>
            <a:r>
              <a:t>Rozbal Obrázky.zip a rozdej Úprava obrázku v GIMPu.txt. Soubor foto_original.png musí mít každý ve své vlastní kopii.</a:t>
            </a:r>
          </a:p>
          <a:p/>
          <a:p>
            <a:r>
              <a:t>KDYŽ GIMP NENÍ</a:t>
            </a:r>
          </a:p>
          <a:p>
            <a:r>
              <a:t>Veď hodinu jako řízenou demonstraci na projektoru a studenti zapisují postup a rozhodnutí do sešitu — tak to má i metodika. Ukázat se musí obojí: panel vrstev a rozdíl mezi uložením .xcf a exportem .jpg.</a:t>
            </a:r>
          </a:p>
          <a:p/>
          <a:p>
            <a:r>
              <a:t>CÍL HODINY</a:t>
            </a:r>
          </a:p>
          <a:p>
            <a:r>
              <a:t>Student provede základní úpravy rastrového snímku, pracuje s vrstvami a exportuje výstup ve vhodném formátu a velikosti.</a:t>
            </a:r>
          </a:p>
          <a:p/>
          <a:p>
            <a:r>
              <a:t>VÝSTUP, KTERÝ VYBÍRÁŠ</a:t>
            </a:r>
          </a:p>
          <a:p>
            <a:r>
              <a:t>Soubor uprava.xcf, tři exporty a tabulka s rozměry, velikostmi a účelem.</a:t>
            </a:r>
          </a:p>
          <a:p/>
          <a:p>
            <a:r>
              <a:t>ROZVRŽENÍ</a:t>
            </a:r>
          </a:p>
          <a:p>
            <a:r>
              <a:t>5 min otázka · 7 min ukázka · 28 min práce · 5 min rozbor a exit ticket.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Čas: 0–5 minut.</a:t>
            </a:r>
          </a:p>
          <a:p/>
          <a:p>
            <a:r>
              <a:t>CO ŘEKNEŠ</a:t>
            </a:r>
          </a:p>
          <a:p>
            <a:r>
              <a:t>„Každý grafický program vás nutí ukládat dva soubory: pracovní a výsledný. Proč? Napište si jednu vlastnost, o kterou přijdete, když uložíte rovnou do JPEG.“</a:t>
            </a:r>
          </a:p>
          <a:p/>
          <a:p>
            <a:r>
              <a:t>CO DĚLÁŠ</a:t>
            </a:r>
          </a:p>
          <a:p>
            <a:r>
              <a:t>Nechej odpovědi zapsané a nekomentuj je. Na konci hodiny si je studenti sami zkontrolují — do té doby si na ztrátu vrstev sáhnou.</a:t>
            </a:r>
          </a:p>
          <a:p>
            <a:r>
              <a:t>Kdo napíše „kvalitu“, má pravdu jen z poloviny. Hlavní ztráta je, že se vrstvy slijí do jednoho obrazu.</a:t>
            </a:r>
          </a:p>
          <a:p/>
          <a:p>
            <a:r>
              <a:t>POZOR</a:t>
            </a:r>
          </a:p>
          <a:p>
            <a:r>
              <a:t>Neodpovídej. Tahle hodina má jedinou skutečnou pointu a ta se musí ukázat, ne říct.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Čas: 5–12 minut. Sedm minut je strop a část z nich ukazuj přímo v GIMPu na projektoru.</a:t>
            </a:r>
          </a:p>
          <a:p/>
          <a:p>
            <a:r>
              <a:t>CO ŘEKNEŠ</a:t>
            </a:r>
          </a:p>
          <a:p>
            <a:r>
              <a:t>K bodu 01: „Vrstvy si představte jako průhledné fólie položené na sebe. Text je na jedné, fotka na druhé. Dokud jsou oddělené, můžete kteroukoli z nich posunout nebo smazat, aniž byste sáhli na ostatní.“</a:t>
            </a:r>
          </a:p>
          <a:p>
            <a:r>
              <a:t>K bodu 02: „Pracovní soubor .xcf si ty fólie pamatuje. Export do JPEG je slije do jednoho obrazu — a to je jednosměrná cesta. Z JPEGu vrstvy nikdo nevytáhne.“</a:t>
            </a:r>
          </a:p>
          <a:p>
            <a:r>
              <a:t>K bodu 03: „Export není ukládání. Je to rozhodnutí, kam obrázek půjde: jaký formát, jaký rozměr, jaká kvalita.“</a:t>
            </a:r>
          </a:p>
          <a:p>
            <a:r>
              <a:t>Závěr: „A jedno pravidlo, které platí ve všech programech: původní soubor nikdy nepřepisujte. Upravujte kopii.“</a:t>
            </a:r>
          </a:p>
          <a:p/>
          <a:p>
            <a:r>
              <a:t>CO DĚLÁŠ</a:t>
            </a:r>
          </a:p>
          <a:p>
            <a:r>
              <a:t>Ukaž na projektoru dvě věci a nic víc: jak vypadá panel vrstev, a kde je rozdíl mezi Uložit jako (.xcf) a Exportovat jako (.jpg). Právě tohle studenti nejčastěji spletou.</a:t>
            </a:r>
          </a:p>
          <a:p/>
          <a:p>
            <a:r>
              <a:t>POZOR</a:t>
            </a:r>
          </a:p>
          <a:p>
            <a:r>
              <a:t>Neuč GIMP jako program. Nástroje najdou sami, hodina je o postupu — nedestruktivní práce a vědomý export.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Čas: 12–40 minut. Nejvíc dotazů přijde v prvních pěti minutách, počítej s tím.</a:t>
            </a:r>
          </a:p>
          <a:p/>
          <a:p>
            <a:r>
              <a:t>CO ŘEKNEŠ</a:t>
            </a:r>
          </a:p>
          <a:p>
            <a:r>
              <a:t>„Otevřete si svou kopii foto_original.png a pracovní list. Postup je v něm krok za krokem. Do dvaceti minut chci mít ořez a jas, pak jdeme na text.“</a:t>
            </a:r>
          </a:p>
          <a:p/>
          <a:p>
            <a:r>
              <a:t>12–20 MIN · OŘEZ A TONÁLNÍ ÚPRAVA</a:t>
            </a:r>
          </a:p>
          <a:p>
            <a:r>
              <a:t>Ořez na poměr 16:9 a úprava jasu a kontrastu. Trvej na tom, aby si zapsali použité hodnoty — bez toho se úprava nedá zopakovat ani obhájit.</a:t>
            </a:r>
          </a:p>
          <a:p>
            <a:r>
              <a:t>Obcházej a hlídej jedinou věc: jestli někdo nepřepisuje originál. Kdo to udělá, dostane novou kopii ze ZIPu a je to dobrá připomínka, ne trest.</a:t>
            </a:r>
          </a:p>
          <a:p/>
          <a:p>
            <a:r>
              <a:t>20–30 MIN · TEXTOVÁ VRSTVA A ULOŽENÍ .XCF</a:t>
            </a:r>
          </a:p>
          <a:p>
            <a:r>
              <a:t>Přidají textovou vrstvu a uloží pracovní verzi jako uprava.xcf.</a:t>
            </a:r>
          </a:p>
          <a:p>
            <a:r>
              <a:t>Tady se odehraje pointa hodiny. Až budou mít .xcf, řekni: „Teď zavřete GIMP, otevřete svůj export a zkuste ten text posunout.“ Nejde to. Otevřou .xcf a jde to. Nechej to chvíli působit.</a:t>
            </a:r>
          </a:p>
          <a:p/>
          <a:p>
            <a:r>
              <a:t>30–40 MIN · TŘI EXPORTY</a:t>
            </a:r>
          </a:p>
          <a:p>
            <a:r>
              <a:t>export_web.jpg, export_tisk.png a export_maly.jpg podle zadání. U každého zapíšou rozměry v pixelech, velikost v kB a účel.</a:t>
            </a:r>
          </a:p>
          <a:p>
            <a:r>
              <a:t>Ptej se u tabule: „Který z těch tří pošleš do časopisu a který na web školy?“ Ať zdůvodní účelem, ne velikostí.</a:t>
            </a:r>
          </a:p>
          <a:p/>
          <a:p>
            <a:r>
              <a:t>VÝSTUP</a:t>
            </a:r>
          </a:p>
          <a:p>
            <a:r>
              <a:t>Soubor uprava.xcf, tři exporty a tabulka s rozměry, velikostmi a účelem.</a:t>
            </a:r>
          </a:p>
          <a:p/>
          <a:p>
            <a:r>
              <a:t>KDYŽ NENÍ ČAS</a:t>
            </a:r>
          </a:p>
          <a:p>
            <a:r>
              <a:t>Vynech export_maly.jpg. Dvojice web a tisk stačí na to, aby byl rozdíl vidět.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Průběžná kontrola, zhruba 38. minuta.</a:t>
            </a:r>
          </a:p>
          <a:p/>
          <a:p>
            <a:r>
              <a:t>CO ŘEKNEŠ</a:t>
            </a:r>
          </a:p>
          <a:p>
            <a:r>
              <a:t>„Než odevzdáte, projedeme čtyři věci. Odškrtávejte si je.“ Čti body nahlas a mezi nimi nech pauzu.</a:t>
            </a:r>
          </a:p>
          <a:p/>
          <a:p>
            <a:r>
              <a:t>CO DĚLÁŠ</a:t>
            </a:r>
          </a:p>
          <a:p>
            <a:r>
              <a:t>První bod ověř namátkou sám: otevři dvěma studentům složku a podívej se na datum změny u foto_original.png. Přepsaný originál je nejčastější chyba téhle hodiny.</a:t>
            </a:r>
          </a:p>
          <a:p/>
          <a:p>
            <a:r>
              <a:t>POZOR</a:t>
            </a:r>
          </a:p>
          <a:p>
            <a:r>
              <a:t>Není to známkování, je to poslední šance práci dodělat.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Společný rozbor, 40–43 minut.</a:t>
            </a:r>
          </a:p>
          <a:p/>
          <a:p>
            <a:r>
              <a:t>CO ŘEKNEŠ</a:t>
            </a:r>
          </a:p>
          <a:p>
            <a:r>
              <a:t>Vrať se k úvodní otázce: „Na začátku jste psali, o co přijdete při uložení do JPEG. Kdo to má napsané správně?“</a:t>
            </a:r>
          </a:p>
          <a:p>
            <a:r>
              <a:t>Očekávaná odpověď je „o vrstvy“, ne jen „o kvalitu“. Kdo napsal kvalitu, má pravdu z poloviny.</a:t>
            </a:r>
          </a:p>
          <a:p>
            <a:r>
              <a:t>Pak nech studenty vyslovit čtyři závěry ze snímku a doplň jen to, co nezazní.</a:t>
            </a:r>
          </a:p>
          <a:p/>
          <a:p>
            <a:r>
              <a:t>OČEKÁVANÉ ZÁVĚRY</a:t>
            </a:r>
          </a:p>
          <a:p>
            <a:r>
              <a:t>Vrstvy: umožňují vracet se k rozhodnutím. Export je slije do jednoho obrazu.</a:t>
            </a:r>
          </a:p>
          <a:p>
            <a:r>
              <a:t>Formát podle cíle: web snese menší rozměr a JPEG, tisk potřebuje plnou velikost.</a:t>
            </a:r>
          </a:p>
          <a:p>
            <a:r>
              <a:t>Ztráta je trvalá: z exportovaného JPEGu vrstvy ani ztracený detail nezískáš.</a:t>
            </a:r>
          </a:p>
          <a:p>
            <a:r>
              <a:t>Pracovní kopie: vždy upravuj duplikát, originál je jediný zdroj plné kvality.</a:t>
            </a:r>
          </a:p>
          <a:p/>
          <a:p>
            <a:r>
              <a:t>POZOR</a:t>
            </a:r>
          </a:p>
          <a:p>
            <a:r>
              <a:t>Hodnoť postup a zdůvodnění, ne shodu s jednou formulací. Krásná fotka s přepsaným originálem je horší výsledek než průměrná úprava s čistým postupem.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Exit ticket, poslední dvě minuty.</a:t>
            </a:r>
          </a:p>
          <a:p/>
          <a:p>
            <a:r>
              <a:t>CO ŘEKNEŠ</a:t>
            </a:r>
          </a:p>
          <a:p>
            <a:r>
              <a:t>„Každý sám, jedna dvě věty. Který ze svých tří exportů bys poslal do školního časopisu a proč právě ten?“</a:t>
            </a:r>
          </a:p>
          <a:p/>
          <a:p>
            <a:r>
              <a:t>CO DĚLÁŠ</a:t>
            </a:r>
          </a:p>
          <a:p>
            <a:r>
              <a:t>Sbírej u dveří. Zajímá tě zdůvodnění, ne který soubor vybrali.</a:t>
            </a:r>
          </a:p>
          <a:p/>
          <a:p>
            <a:r>
              <a:t>OČEKÁVANÁ ODPOVĚĎ</a:t>
            </a:r>
          </a:p>
          <a:p>
            <a:r>
              <a:t>Export s dostatečným rozlišením a nízkou kompresí, zdůvodněný účelem — časopis se tiskne, takže rozhoduje počet pixelů, ne velikost souboru.</a:t>
            </a:r>
          </a:p>
          <a:p>
            <a:r>
              <a:t>Odpověď „ten nejmenší, ať se to snadno pošle“ je typická a chybná. Připomeň hodinu 2: zmenšit lze vždycky, zvětšit už 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4572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7FD6CF"/>
                </a:solidFill>
                <a:latin typeface="Calibri"/>
              </a:rPr>
              <a:t>HODINA 4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45720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>
                <a:solidFill>
                  <a:srgbClr val="9AA8A4"/>
                </a:solidFill>
                <a:latin typeface="Calibri"/>
              </a:rPr>
              <a:t>POČÍTAČOVÁ GRAFIKA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2240280"/>
            <a:ext cx="1033272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Úprava fotografie v GIMPu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4709160"/>
            <a:ext cx="81381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B9C4C0"/>
                </a:solidFill>
                <a:latin typeface="Calibri"/>
              </a:rPr>
              <a:t>Student provede základní úpravy rastrového snímku, pracuje s vrstvami a exportuje výstup ve vhodném formátu a velikosti.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140696" y="4764024"/>
            <a:ext cx="1179576" cy="1179576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0696" y="4983480"/>
            <a:ext cx="1179576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0696" y="5596128"/>
            <a:ext cx="1179576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CFEAE8"/>
                </a:solidFill>
                <a:latin typeface="Calibri"/>
              </a:rPr>
              <a:t>45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0–5 MIN · ÚVOD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Začni vlastním rozhodnutím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 PRÁCE S 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4  / 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691640"/>
            <a:ext cx="113385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>
                <a:solidFill>
                  <a:srgbClr val="0C8A83"/>
                </a:solidFill>
                <a:latin typeface="Calibri"/>
              </a:rPr>
              <a:t>Proč se v grafických programech ukládá pracovní soubor zvlášť od výsledného obrázku?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301752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7211E"/>
                </a:solidFill>
                <a:latin typeface="Calibri"/>
              </a:rPr>
              <a:t>ODHADNI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3429000"/>
            <a:ext cx="32918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Co všechno se ztratí, když uložíš rovnou do JPEG?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301752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7211E"/>
                </a:solidFill>
                <a:latin typeface="Calibri"/>
              </a:rPr>
              <a:t>ZAPIŠ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3429000"/>
            <a:ext cx="32918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Jednu vlastnost, o kterou přijdeš.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38744" y="301752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7211E"/>
                </a:solidFill>
                <a:latin typeface="Calibri"/>
              </a:rPr>
              <a:t>OVĚŘÍME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8744" y="3429000"/>
            <a:ext cx="32918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Na konci hodiny si odpověď zkontroluješ.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" y="5394960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5C6965"/>
                </a:solidFill>
                <a:latin typeface="Calibri"/>
              </a:rPr>
              <a:t>Nejdřív se rozhodni sám. Teprve pak porovnávej.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5–12 MIN · MINIMUM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Tři opěrné body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 PRÁCE S 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4  /  3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" y="1664208"/>
            <a:ext cx="667512" cy="594360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764792"/>
            <a:ext cx="6675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2523744"/>
            <a:ext cx="328269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7211E"/>
                </a:solidFill>
                <a:latin typeface="Calibri"/>
              </a:rPr>
              <a:t>Vrstvy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3337560"/>
            <a:ext cx="328269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Nad sebou ležící průhledné fólie. Úpravy zůstávají oddělené a lze je vzít zpět.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664208"/>
            <a:ext cx="667512" cy="594360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764792"/>
            <a:ext cx="6675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2523744"/>
            <a:ext cx="328269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7211E"/>
                </a:solidFill>
                <a:latin typeface="Calibri"/>
              </a:rPr>
              <a:t>Nedestruktivní postup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3337560"/>
            <a:ext cx="328269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Pracovní soubor .xcf zachová vrstvy. Export do JPEG je jednosměrný.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38744" y="1664208"/>
            <a:ext cx="667512" cy="594360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21624" y="1764792"/>
            <a:ext cx="6675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523744"/>
            <a:ext cx="328269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7211E"/>
                </a:solidFill>
                <a:latin typeface="Calibri"/>
              </a:rPr>
              <a:t>Export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3337560"/>
            <a:ext cx="328269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Volba formátu, rozměru a kvality podle toho, kam výstup půjde.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" y="5468112"/>
            <a:ext cx="11411712" cy="27432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" y="5669280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Původní soubor nikdy nepřepisuj. Uprav kopii.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12–40 MIN · PRÁCE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Hlavní počítačová aktivita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 PRÁCE S 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4  / 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6459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C45A3E"/>
                </a:solidFill>
                <a:latin typeface="Calibri"/>
              </a:rPr>
              <a:t>OTEVŘI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627632"/>
            <a:ext cx="9966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7211E"/>
                </a:solidFill>
                <a:latin typeface="Calibri"/>
              </a:rPr>
              <a:t>GIMP, Obrázky/foto_original.png, Úprava obrázku v GIMPu.txt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23774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C8A83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26974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7211E"/>
                </a:solidFill>
                <a:latin typeface="Calibri"/>
              </a:rPr>
              <a:t>Ořez a úprava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3200400"/>
            <a:ext cx="32918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C6965"/>
                </a:solidFill>
                <a:latin typeface="Calibri"/>
              </a:rPr>
              <a:t>Napiš, k čemu fotka bude. Ořízni na 16:9 a uprav jas a kontrast.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23774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C8A83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26974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7211E"/>
                </a:solidFill>
                <a:latin typeface="Calibri"/>
              </a:rPr>
              <a:t>Vrstva s popiskem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3200400"/>
            <a:ext cx="32918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C6965"/>
                </a:solidFill>
                <a:latin typeface="Calibri"/>
              </a:rPr>
              <a:t>Přidej textovou vrstvu a ulož pracovní verzi jako uprava.xcf.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8744" y="23774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C8A83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8744" y="26974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7211E"/>
                </a:solidFill>
                <a:latin typeface="Calibri"/>
              </a:rPr>
              <a:t>Tři exporty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3200400"/>
            <a:ext cx="32918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C6965"/>
                </a:solidFill>
                <a:latin typeface="Calibri"/>
              </a:rPr>
              <a:t>export_web.jpg, export_tisk.png a export_maly.jpg podle zadání.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192" y="5257800"/>
            <a:ext cx="11411712" cy="27432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" y="544068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C45A3E"/>
                </a:solidFill>
                <a:latin typeface="Calibri"/>
              </a:rPr>
              <a:t>ODEVZDEJ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5422392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17211E"/>
                </a:solidFill>
                <a:latin typeface="Calibri"/>
              </a:rPr>
              <a:t>Soubor uprava.xcf, tři exporty a tabulka s rozměry, velikostmi a účelem.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PRŮBĚŽNÁ KONTROLA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Než práci odevzdáš, ověř čtyři věci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 PRÁCE S 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4  / 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7830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C8A83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78308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7211E"/>
                </a:solidFill>
                <a:latin typeface="Calibri"/>
              </a:rPr>
              <a:t>Původní foto_original.png je nezměněné.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53912" y="17830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C8A83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178308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7211E"/>
                </a:solidFill>
                <a:latin typeface="Calibri"/>
              </a:rPr>
              <a:t>Máš uložený pracovní soubor .xcf s vrstvami.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31546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C8A83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15468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7211E"/>
                </a:solidFill>
                <a:latin typeface="Calibri"/>
              </a:rPr>
              <a:t>U všech tří exportů máš zapsané rozměry a velikost v kB.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3912" y="31546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C8A83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315468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7211E"/>
                </a:solidFill>
                <a:latin typeface="Calibri"/>
              </a:rPr>
              <a:t>Umíš říct, co se stalo s vrstvami při exportu do JPEG.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SPOLEČNÝ ROZBOR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Co si z hodiny odnést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 PRÁCE S 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4  / 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6916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Vrstvy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691640"/>
            <a:ext cx="8138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7211E"/>
                </a:solidFill>
                <a:latin typeface="Calibri"/>
              </a:rPr>
              <a:t>Umožňují vracet se k rozhodnutím. Export je slije do jednoho obrazu.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" y="2651760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28346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Formát podle cíle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834640"/>
            <a:ext cx="8138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7211E"/>
                </a:solidFill>
                <a:latin typeface="Calibri"/>
              </a:rPr>
              <a:t>Web snese menší rozměr a JPEG. Tisk potřebuje plnou velikost.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" y="3794760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3977639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Ztráta je trvalá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977639"/>
            <a:ext cx="8138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7211E"/>
                </a:solidFill>
                <a:latin typeface="Calibri"/>
              </a:rPr>
              <a:t>Z exportovaného JPEG už vrstvy ani ztracený detail nezískáš.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" y="4937759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" y="51206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Pracovní kopie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5120640"/>
            <a:ext cx="8138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7211E"/>
                </a:solidFill>
                <a:latin typeface="Calibri"/>
              </a:rPr>
              <a:t>Vždy uprav duplikát; originál je jediný zdroj plné kvality.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 PRÁCE S MULTIMÉDII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4  /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7FD6CF"/>
                </a:solidFill>
                <a:latin typeface="Calibri"/>
              </a:rPr>
              <a:t>EXIT TICKET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1371600"/>
            <a:ext cx="1078992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Který ze svých tří exportů bys poslal do školního časopisu a proč právě ten?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420624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>
                <a:solidFill>
                  <a:srgbClr val="B9C4C0"/>
                </a:solidFill>
                <a:latin typeface="Calibri"/>
              </a:rPr>
              <a:t>Odpověz jednou nebo dvěma větami vlastními slovy.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" y="5029200"/>
            <a:ext cx="2011680" cy="36576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525780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9AA8A4"/>
                </a:solidFill>
                <a:latin typeface="Calibri"/>
              </a:rPr>
              <a:t>Očekává se export s dostatečným rozlišením a nízkou kompresí; zdůvodnění účelem, ne velikostí souboru.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dc:subject/>
  <dc:creator>Karel Hlas</dc:creator>
  <cp:keywords/>
  <dc:description/>
  <cp:lastModifiedBy>Karel Hlas</cp:lastModifiedBy>
  <cp:revision>1</cp:revision>
  <dcterms:created xsi:type="dcterms:W3CDTF">2026-07-24T00:00:00Z</dcterms:created>
  <dcterms:modified xsi:type="dcterms:W3CDTF">2026-07-24T00:00:00Z</dcterms:modified>
  <cp:category/>
</cp:coreProperties>
</file>