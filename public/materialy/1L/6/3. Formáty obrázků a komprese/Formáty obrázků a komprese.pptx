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Cíl hodiny: Student vysvětlí rozdíl mezi ztrátovou a bezztrátovou kompresí a vybere formát podle obsahu a účelu.</a:t>
            </a:r>
          </a:p>
          <a:p>
            <a:r>
              <a:t>Soubory: Laboratoř – komprese a formáty.html, Formáty a komprese.csv</a:t>
            </a:r>
          </a:p>
          <a:p>
            <a:r>
              <a:t>Výstup: Vyplněné Formáty a komprese.csv a vlastní pravidlo pro výběr formátu.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0–5 minut.</a:t>
            </a:r>
          </a:p>
          <a:p>
            <a:r>
              <a:t>Otázka pro studenty: Který soubor bude menší: fotografie jako PNG, nebo jako JPEG? A co logo?</a:t>
            </a:r>
          </a:p>
          <a:p>
            <a:r>
              <a:t>Postup: nech studenty rozhodnout a zapsat důvod dřív, než ukážeš řešení. Neprozrazuj správnou odpověď.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5–12 minut.</a:t>
            </a:r>
          </a:p>
          <a:p>
            <a:r>
              <a:t>Klíčové pojmy: Bezztrátová · Ztrátová · Podle obsahu</a:t>
            </a:r>
          </a:p>
          <a:p>
            <a:r>
              <a:t>U loga je JPEG téměř 8× větší než PNG — a vypadá hůř.</a:t>
            </a:r>
          </a:p>
          <a:p>
            <a:r>
              <a:t>Postup: vysvětli stručně, ověř porozuměním otázkou, nepřednášej déle než 7 minut.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Čas: 12–40 minut.</a:t>
            </a:r>
          </a:p>
          <a:p>
            <a:r>
              <a:t>Soubory: Laboratoř – komprese a formáty.html, Formáty a komprese.csv</a:t>
            </a:r>
          </a:p>
          <a:p>
            <a:r>
              <a:t>12–20 min – modul 02, klíčové je, že mezi q95 a q75 klesne velikost skoro 5× bez viditelné ztráty.</a:t>
            </a:r>
          </a:p>
          <a:p>
            <a:r>
              <a:t>20–30 min – modul 03 a obrat pořadí u loga.</a:t>
            </a:r>
          </a:p>
          <a:p>
            <a:r>
              <a:t>30–40 min – formulace pravidla; sbírej na tabuli.</a:t>
            </a:r>
          </a:p>
          <a:p>
            <a:r>
              <a:t>Výstup: Vyplněné Formáty a komprese.csv a vlastní pravidlo pro výběr formátu.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Průběžná kontrola. Projdi body nahlas, studenti si odškrtávají v sešitu.</a:t>
            </a:r>
          </a:p>
          <a:p>
            <a:r>
              <a:t>• V CSV máš vyplněný sloupec ztrátová u všech řádků.</a:t>
            </a:r>
          </a:p>
          <a:p>
            <a:r>
              <a:t>• Umíš uvést jeden případ, kdy je PNG lepší volba než JPEG.</a:t>
            </a:r>
          </a:p>
          <a:p>
            <a:r>
              <a:t>• Napsal jsi vlastní pravidlo pro výběr formátu.</a:t>
            </a:r>
          </a:p>
          <a:p>
            <a:r>
              <a:t>• Víš, proč nelze ztrátovou kompresi vrátit zpět.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Společný rozbor – očekávané závěry:</a:t>
            </a:r>
          </a:p>
          <a:p>
            <a:r>
              <a:t>Ztrátová komprese: Zahodí informaci natrvalo. Opakované ukládání kvalitu dále snižuje.</a:t>
            </a:r>
          </a:p>
          <a:p>
            <a:r>
              <a:t>Fotografie: JPEG nebo WebP. Kvalita kolem 75 bývá dobrý kompromis.</a:t>
            </a:r>
          </a:p>
          <a:p>
            <a:r>
              <a:t>Plošná grafika: PNG nebo SVG. Ostré hrany ztrátová komprese poškodí a soubor zvětší.</a:t>
            </a:r>
          </a:p>
          <a:p>
            <a:r>
              <a:t>Pravidlo: Plynulé přechody → ztrátová. Ostré hrany, text, průhlednost → bezztrátová.</a:t>
            </a:r>
          </a:p>
          <a:p>
            <a:r>
              <a:t>Hodnoť postup a zdůvodnění, ne shodu s jednou formulací.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Exit ticket: Uveď jeden obrázek, který uložíš jako JPEG, a jeden, který uložíš jako PNG. U obou napiš proč.</a:t>
            </a:r>
          </a:p>
          <a:p>
            <a:r>
              <a:t>Sbírej individuálně. Slouží jako doklad o učení každého studenta.</a:t>
            </a:r>
          </a:p>
          <a:p>
            <a:r>
              <a:t>Očekávaná odpověď: JPEG pro fotografii s přechody, PNG pro snímek obrazovky, logo, text nebo obrázek s průhledností.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0312" cy="685800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12064" y="457200"/>
            <a:ext cx="45720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7FD6CF"/>
                </a:solidFill>
                <a:latin typeface="Calibri"/>
              </a:rPr>
              <a:t>HODINA 3 / 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863840" y="457200"/>
            <a:ext cx="34747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200" b="1">
                <a:solidFill>
                  <a:srgbClr val="9AA8A4"/>
                </a:solidFill>
                <a:latin typeface="Calibri"/>
              </a:rPr>
              <a:t>POČÍTAČOVÁ GRAFIKA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" y="2240280"/>
            <a:ext cx="10332720" cy="20116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Calibri"/>
              </a:rPr>
              <a:t>Formáty obrázků a komprese dat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4709160"/>
            <a:ext cx="813816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B9C4C0"/>
                </a:solidFill>
                <a:latin typeface="Calibri"/>
              </a:rPr>
              <a:t>Student vysvětlí rozdíl mezi ztrátovou a bezztrátovou kompresí a vybere formát podle obsahu a účelu.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140696" y="4764024"/>
            <a:ext cx="1179576" cy="1179576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0696" y="4983480"/>
            <a:ext cx="1179576" cy="6400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0696" y="5596128"/>
            <a:ext cx="1179576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/>
            <a:r>
              <a:rPr sz="1000" b="1">
                <a:solidFill>
                  <a:srgbClr val="CFEAE8"/>
                </a:solidFill>
                <a:latin typeface="Calibri"/>
              </a:rPr>
              <a:t>45 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0–5 MIN · ÚVOD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Začni vlastním rozhodnutím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3  / 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91640"/>
            <a:ext cx="11338560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300" b="1">
                <a:solidFill>
                  <a:srgbClr val="0C8A83"/>
                </a:solidFill>
                <a:latin typeface="Calibri"/>
              </a:rPr>
              <a:t>Který soubor bude menší: fotografie jako PNG, nebo jako JPEG? A co logo?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TIPNI 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Napiš svůj odhad pro obojí dřív, než se podíváš.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15968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OVĚŘ V LABORATOŘI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5968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Porovnej s tabulkou v modulu 03.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38744" y="3017520"/>
            <a:ext cx="3291840" cy="320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17211E"/>
                </a:solidFill>
                <a:latin typeface="Calibri"/>
              </a:rPr>
              <a:t>VYSVĚTLI ROZDÍL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38744" y="3429000"/>
            <a:ext cx="3291840" cy="14630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Proč to u loga dopadlo jinak?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" y="539496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5C6965"/>
                </a:solidFill>
                <a:latin typeface="Calibri"/>
              </a:rPr>
              <a:t>Nejdřív se rozhodni sám. Teprve pak porovnávej.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5–12 MIN · MINIMUM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Tři opěrné body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3  /  3</a:t>
            </a:r>
          </a:p>
        </p:txBody>
      </p:sp>
      <p:sp>
        <p:nvSpPr>
          <p:cNvPr id="8" name="Rectangle 7"/>
          <p:cNvSpPr/>
          <p:nvPr/>
        </p:nvSpPr>
        <p:spPr>
          <a:xfrm>
            <a:off x="393192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Bezztrátová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PNG, GIF, SVG. Po rozbalení vznikne přesně původní data. Vhodná na ostré hrany a text.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98848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Ztrátová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5968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JPEG, WebP. Část informace zahodí natrvalo. Vhodná na plynulé přechody ve fotografii.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38744" y="1664208"/>
            <a:ext cx="667512" cy="594360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21624" y="1764792"/>
            <a:ext cx="667512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2523744"/>
            <a:ext cx="3282696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17211E"/>
                </a:solidFill>
                <a:latin typeface="Calibri"/>
              </a:rPr>
              <a:t>Podle obsahu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38744" y="3337560"/>
            <a:ext cx="3282696" cy="1737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5C6965"/>
                </a:solidFill>
                <a:latin typeface="Calibri"/>
              </a:rPr>
              <a:t>Formát se nevybírá podle zvyku, ale podle toho, co je na obrázku a k čemu poslouží.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3192" y="5468112"/>
            <a:ext cx="11411712" cy="27432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3192" y="566928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U loga je JPEG téměř 8× větší než PNG — a vypadá hůř.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12–40 MIN · PRÁCE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Hlavní počítačová aktivita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3  /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45920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C45A3E"/>
                </a:solidFill>
                <a:latin typeface="Calibri"/>
              </a:rPr>
              <a:t>OTEVŘI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1627632"/>
            <a:ext cx="99669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1">
                <a:solidFill>
                  <a:srgbClr val="17211E"/>
                </a:solidFill>
                <a:latin typeface="Calibri"/>
              </a:rPr>
              <a:t>Laboratoř – komprese a formáty.html, Formáty a komprese.csv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Modul 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Přepínej kvalitu JPEG 95 → 15 a sleduj výřez i velikost souboru.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15968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15968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Modul 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5968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Porovnej stejný postup na logu. Zapiš, kde se pořadí obrátilo.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38744" y="237744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300" b="1">
                <a:solidFill>
                  <a:srgbClr val="0C8A83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38744" y="2697480"/>
            <a:ext cx="329184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1">
                <a:solidFill>
                  <a:srgbClr val="17211E"/>
                </a:solidFill>
                <a:latin typeface="Calibri"/>
              </a:rPr>
              <a:t>Doplň CSV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38744" y="3200400"/>
            <a:ext cx="3291840" cy="18288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5C6965"/>
                </a:solidFill>
                <a:latin typeface="Calibri"/>
              </a:rPr>
              <a:t>U každého souboru urči, zda je ztrátový, a napiš vhodné použití.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3192" y="5257800"/>
            <a:ext cx="11411712" cy="27432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3192" y="5440680"/>
            <a:ext cx="1554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C45A3E"/>
                </a:solidFill>
                <a:latin typeface="Calibri"/>
              </a:rPr>
              <a:t>ODEVZDEJ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5422392"/>
            <a:ext cx="978408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17211E"/>
                </a:solidFill>
                <a:latin typeface="Calibri"/>
              </a:rPr>
              <a:t>Vyplněné Formáty a komprese.csv a vlastní pravidlo pro výběr formátu.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PRŮBĚŽNÁ KONTROLA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Než práci odevzdáš, ověř čtyři věci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3  / 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7830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17830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V CSV máš vyplněný sloupec ztrátová u všech řádků.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53912" y="17830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1112" y="17830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Umíš uvést jeden případ, kdy je PNG lepší volba než JPEG.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3192" y="31546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" y="31546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Napsal jsi vlastní pravidlo pro výběr formátu.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53912" y="3154680"/>
            <a:ext cx="36576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2000" b="1">
                <a:solidFill>
                  <a:srgbClr val="0C8A83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11112" y="3154680"/>
            <a:ext cx="5120640" cy="1097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0">
                <a:solidFill>
                  <a:srgbClr val="17211E"/>
                </a:solidFill>
                <a:latin typeface="Calibri"/>
              </a:rPr>
              <a:t>Víš, proč nelze ztrátovou kompresi vrátit zpět.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9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0C8A83"/>
                </a:solidFill>
                <a:latin typeface="Calibri"/>
              </a:rPr>
              <a:t>SPOLEČNÝ ROZBOR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93192" y="658368"/>
            <a:ext cx="1133856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3000" b="1">
                <a:solidFill>
                  <a:srgbClr val="17211E"/>
                </a:solidFill>
                <a:latin typeface="Calibri"/>
              </a:rPr>
              <a:t>Co si z hodiny odnést</a:t>
            </a:r>
          </a:p>
        </p:txBody>
      </p:sp>
      <p:sp>
        <p:nvSpPr>
          <p:cNvPr id="5" name="Rectangle 4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3  / 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1691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Ztrátová komprese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1691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Zahodí informaci natrvalo. Opakované ukládání kvalitu dále snižuje.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3192" y="2651760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" y="2834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Fotografie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834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JPEG nebo WebP. Kvalita kolem 75 bývá dobrý kompromis.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3192" y="3794760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3192" y="3977639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Plošná grafika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3977639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PNG nebo SVG. Ostré hrany ztrátová komprese poškodí a soubor zvětší.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3192" y="4937759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3192" y="5120640"/>
            <a:ext cx="310896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600" b="1">
                <a:solidFill>
                  <a:srgbClr val="0C8A83"/>
                </a:solidFill>
                <a:latin typeface="Calibri"/>
              </a:rPr>
              <a:t>Pravidlo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11880" y="5120640"/>
            <a:ext cx="8138160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17211E"/>
                </a:solidFill>
                <a:latin typeface="Calibri"/>
              </a:rPr>
              <a:t>Plynulé přechody → ztrátová. Ostré hrany, text, průhlednost → bezztrátová.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1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93192" y="6272784"/>
            <a:ext cx="11411712" cy="18288"/>
          </a:xfrm>
          <a:prstGeom prst="rect">
            <a:avLst/>
          </a:prstGeom>
          <a:solidFill>
            <a:srgbClr val="DCDC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6382512"/>
            <a:ext cx="6400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100" b="1">
                <a:solidFill>
                  <a:srgbClr val="5C6965"/>
                </a:solidFill>
                <a:latin typeface="Calibri"/>
              </a:rPr>
              <a:t>POČÍTAČOVÁ GRAFIKA A PRÁCE S MULTIMÉDII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6960" y="6382512"/>
            <a:ext cx="18288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/>
            <a:r>
              <a:rPr sz="1100" b="1">
                <a:solidFill>
                  <a:srgbClr val="5C6965"/>
                </a:solidFill>
                <a:latin typeface="Calibri"/>
              </a:rPr>
              <a:t>HODINA 3  / 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93192" y="32004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200" b="1">
                <a:solidFill>
                  <a:srgbClr val="7FD6CF"/>
                </a:solidFill>
                <a:latin typeface="Calibri"/>
              </a:rPr>
              <a:t>EXIT TICKET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" y="1371600"/>
            <a:ext cx="10789920" cy="2194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1">
                <a:solidFill>
                  <a:srgbClr val="FFFFFF"/>
                </a:solidFill>
                <a:latin typeface="Calibri"/>
              </a:rPr>
              <a:t>Uveď jeden obrázek, který uložíš jako JPEG, a jeden, který uložíš jako PNG. U obou napiš proč.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" y="4206240"/>
            <a:ext cx="10789920" cy="5486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700" b="0">
                <a:solidFill>
                  <a:srgbClr val="B9C4C0"/>
                </a:solidFill>
                <a:latin typeface="Calibri"/>
              </a:rPr>
              <a:t>Odpověz jednou nebo dvěma větami vlastními slovy.</a:t>
            </a:r>
          </a:p>
        </p:txBody>
      </p:sp>
      <p:sp>
        <p:nvSpPr>
          <p:cNvPr id="9" name="Rectangle 8"/>
          <p:cNvSpPr/>
          <p:nvPr/>
        </p:nvSpPr>
        <p:spPr>
          <a:xfrm>
            <a:off x="393192" y="5029200"/>
            <a:ext cx="2011680" cy="36576"/>
          </a:xfrm>
          <a:prstGeom prst="rect">
            <a:avLst/>
          </a:prstGeom>
          <a:solidFill>
            <a:srgbClr val="0C8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93192" y="5257800"/>
            <a:ext cx="107899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/>
            <a:r>
              <a:rPr sz="1500" b="0">
                <a:solidFill>
                  <a:srgbClr val="9AA8A4"/>
                </a:solidFill>
                <a:latin typeface="Calibri"/>
              </a:rPr>
              <a:t>JPEG pro fotografii s přechody, PNG pro snímek obrazovky, logo, text nebo obrázek s průhledností.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