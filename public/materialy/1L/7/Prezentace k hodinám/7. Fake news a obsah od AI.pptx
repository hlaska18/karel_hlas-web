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2443be3fa2d4acd" /><Relationship Type="http://schemas.openxmlformats.org/officeDocument/2006/relationships/extended-properties" Target="/docProps/app.xml" Id="Rbf25764abe4c4dbf" /><Relationship Type="http://schemas.openxmlformats.org/officeDocument/2006/relationships/officeDocument" Target="/ppt/presentation.xml" Id="R2389e5012c8c430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0fd8614935b4766"/>
  </p:sldMasterIdLst>
  <p:notesMasterIdLst>
    <p:notesMasterId xmlns:r="http://schemas.openxmlformats.org/officeDocument/2006/relationships" r:id="R6501a565ded1498f"/>
  </p:notesMasterIdLst>
  <p:sldIdLst>
    <p:sldId xmlns:r="http://schemas.openxmlformats.org/officeDocument/2006/relationships" id="256" r:id="Rb149f21abd1a4b59"/>
    <p:sldId xmlns:r="http://schemas.openxmlformats.org/officeDocument/2006/relationships" id="257" r:id="R29d6005be8234253"/>
    <p:sldId xmlns:r="http://schemas.openxmlformats.org/officeDocument/2006/relationships" id="258" r:id="R0322f3434afb46c7"/>
    <p:sldId xmlns:r="http://schemas.openxmlformats.org/officeDocument/2006/relationships" id="259" r:id="R6a453871c91e4151"/>
    <p:sldId xmlns:r="http://schemas.openxmlformats.org/officeDocument/2006/relationships" id="260" r:id="R9a775698e0b54a49"/>
    <p:sldId xmlns:r="http://schemas.openxmlformats.org/officeDocument/2006/relationships" id="261" r:id="Rb51287dc0f9d47df"/>
    <p:sldId xmlns:r="http://schemas.openxmlformats.org/officeDocument/2006/relationships" id="262" r:id="R74b7038994de42f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d83d13cd3344fb" /><Relationship Type="http://schemas.openxmlformats.org/officeDocument/2006/relationships/slideMaster" Target="/ppt/slideMasters/slideMaster1.xml" Id="R90fd8614935b4766" /><Relationship Type="http://schemas.openxmlformats.org/officeDocument/2006/relationships/notesMaster" Target="/ppt/notesMasters/notesMaster1.xml" Id="R6501a565ded1498f" /><Relationship Type="http://schemas.openxmlformats.org/officeDocument/2006/relationships/presProps" Target="/ppt/presProps.xml" Id="R3129a2e44596421f" /><Relationship Type="http://schemas.openxmlformats.org/officeDocument/2006/relationships/tableStyles" Target="/ppt/tableStyles.xml" Id="R2b23f4e908bd43cc" /><Relationship Type="http://schemas.openxmlformats.org/officeDocument/2006/relationships/slide" Target="/ppt/slides/slide1.xml" Id="Rb149f21abd1a4b59" /><Relationship Type="http://schemas.openxmlformats.org/officeDocument/2006/relationships/slide" Target="/ppt/slides/slide2.xml" Id="R29d6005be8234253" /><Relationship Type="http://schemas.openxmlformats.org/officeDocument/2006/relationships/slide" Target="/ppt/slides/slide3.xml" Id="R0322f3434afb46c7" /><Relationship Type="http://schemas.openxmlformats.org/officeDocument/2006/relationships/slide" Target="/ppt/slides/slide4.xml" Id="R6a453871c91e4151" /><Relationship Type="http://schemas.openxmlformats.org/officeDocument/2006/relationships/slide" Target="/ppt/slides/slide5.xml" Id="R9a775698e0b54a49" /><Relationship Type="http://schemas.openxmlformats.org/officeDocument/2006/relationships/slide" Target="/ppt/slides/slide6.xml" Id="Rb51287dc0f9d47df" /><Relationship Type="http://schemas.openxmlformats.org/officeDocument/2006/relationships/slide" Target="/ppt/slides/slide7.xml" Id="R74b7038994de42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19503ddd97249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041941efffc46b2" /><Relationship Type="http://schemas.openxmlformats.org/officeDocument/2006/relationships/notesMaster" Target="/ppt/notesMasters/notesMaster1.xml" Id="Rfa21168491454a2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fbedfa4d45748dd" /><Relationship Type="http://schemas.openxmlformats.org/officeDocument/2006/relationships/notesMaster" Target="/ppt/notesMasters/notesMaster1.xml" Id="Raf25c6e1229544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5ddb4e51168435c" /><Relationship Type="http://schemas.openxmlformats.org/officeDocument/2006/relationships/notesMaster" Target="/ppt/notesMasters/notesMaster1.xml" Id="Rb954f5e58bce4f1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2ccdd9271e54d41" /><Relationship Type="http://schemas.openxmlformats.org/officeDocument/2006/relationships/notesMaster" Target="/ppt/notesMasters/notesMaster1.xml" Id="R0dd19493531d4d0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85c14d319594244" /><Relationship Type="http://schemas.openxmlformats.org/officeDocument/2006/relationships/notesMaster" Target="/ppt/notesMasters/notesMaster1.xml" Id="R7109002e2d9b424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6d6f383dd114a5a" /><Relationship Type="http://schemas.openxmlformats.org/officeDocument/2006/relationships/notesMaster" Target="/ppt/notesMasters/notesMaster1.xml" Id="Re85199c27f4b45f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c2fa8faac7c4fe0" /><Relationship Type="http://schemas.openxmlformats.org/officeDocument/2006/relationships/notesMaster" Target="/ppt/notesMasters/notesMaster1.xml" Id="Rfb2c94949ac44f1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oddělí tvrzení, emoci a důkaz v realistickém sociálním příspěvku a navrhne ověření fotografie bez ukvapeného závěru.</a:t>
            </a:r>
          </a:p>
          <a:p xmlns:a="http://schemas.openxmlformats.org/drawingml/2006/main">
            <a:r>
              <a:t>Soubory: 7. Neověřený příspěvek.html z balíčku V2, digitální pracovní sešit</a:t>
            </a:r>
          </a:p>
          <a:p xmlns:a="http://schemas.openxmlformats.org/drawingml/2006/main">
            <a:r>
              <a:t>Výstup: Barevná analýza příspěvku, ověřovací postup a neutrální přepis.</a:t>
            </a:r>
          </a:p>
          <a:p xmlns:a="http://schemas.openxmlformats.org/drawingml/2006/main">
            <a:r>
              <a:t>Před otevřením dalšího snímku stručně uveďte téma a nechte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Tichá první reakce.</a:t>
            </a:r>
          </a:p>
          <a:p xmlns:a="http://schemas.openxmlformats.org/drawingml/2006/main">
            <a:r>
              <a:t>Postup učitele: Studenti zapíší emoci a první rozhodnutí bez komentáře spolužáků.</a:t>
            </a:r>
          </a:p>
          <a:p xmlns:a="http://schemas.openxmlformats.org/drawingml/2006/main">
            <a:r>
              <a:t>Otázka pro studenty: Co fotografie skutečně dokazuje — a co doplnil popisek?</a:t>
            </a:r>
          </a:p>
          <a:p xmlns:a="http://schemas.openxmlformats.org/drawingml/2006/main">
            <a:r>
              <a:t>Neprozrazujte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5–12 minut.</a:t>
            </a:r>
          </a:p>
          <a:p xmlns:a="http://schemas.openxmlformats.org/drawingml/2006/main">
            <a:r>
              <a:t>Činnost: Rozklad příspěvku.</a:t>
            </a:r>
          </a:p>
          <a:p xmlns:a="http://schemas.openxmlformats.org/drawingml/2006/main">
            <a:r>
              <a:t>Postup učitele: Oddělte, co příspěvek tvrdí, čím to dokládá a k čemu vyzývá.</a:t>
            </a:r>
          </a:p>
          <a:p xmlns:a="http://schemas.openxmlformats.org/drawingml/2006/main">
            <a:r>
              <a:t>Klíčové závěry: Emoční tlak: Výrazy okamžitě, celý měsíc, média mlčí a kdo nesdílí, tomu nezáleží. | Údajný zdroj: Neurčitý kamarád kamaráda bez jména, dokumentu či možnosti ověření. | Fotografie: Ukazuje běžný výdej jídla, ale neprokazuje datum, školu, prošlost potravin ani délku problému.</a:t>
            </a:r>
          </a:p>
          <a:p xmlns:a="http://schemas.openxmlformats.org/drawingml/2006/main">
            <a:r>
              <a:t>Nechte studenty doplnit příklad ke každému bodu. Přechod k aktivitě proveďte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7. Neověřený příspěvek.html z balíčku V2, digitální pracovní sešit</a:t>
            </a:r>
          </a:p>
          <a:p xmlns:a="http://schemas.openxmlformats.org/drawingml/2006/main">
            <a:r>
              <a:t>12–25 min – Barevná analýza: Dvojice zvýrazní text a vysvětlí, proč fotografie sama tvrzení nepotvrzuje.</a:t>
            </a:r>
          </a:p>
          <a:p xmlns:a="http://schemas.openxmlformats.org/drawingml/2006/main">
            <a:r>
              <a:t>25–34 min – Plán ověření: Vyžadujte původ snímku, datum, vyjádření školy/jídelny a nezávislý zdroj.</a:t>
            </a:r>
          </a:p>
          <a:p xmlns:a="http://schemas.openxmlformats.org/drawingml/2006/main">
            <a:r>
              <a:t>34–38 min – AI a multimédia: Učte kontrolu původu a kontextu, ne seznam údajných vizuálních vad.</a:t>
            </a:r>
          </a:p>
          <a:p xmlns:a="http://schemas.openxmlformats.org/drawingml/2006/main">
            <a:r>
              <a:t>38–42 min – Neutrální přepis: Bez nátlaku na sdílení a s jasným označením nejistoty.</a:t>
            </a:r>
          </a:p>
          <a:p xmlns:a="http://schemas.openxmlformats.org/drawingml/2006/main">
            <a:r>
              <a:t>Požadovaný výstup: Barevná analýza příspěvku, ověřovací postup a neutrální přepis.</a:t>
            </a:r>
          </a:p>
          <a:p xmlns:a="http://schemas.openxmlformats.org/drawingml/2006/main">
            <a:r>
              <a:t>Během práce nepřebírejte myš za studenta. Pomáhejte otázkami z dalšího snímku a žádejte,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označí nejméně tři manipulační prvky a uvede dva nezávislé kroky ověření.</a:t>
            </a:r>
          </a:p>
          <a:p xmlns:a="http://schemas.openxmlformats.org/drawingml/2006/main">
            <a:r>
              <a:t>Vodicí otázky: Co přesně fotografie ukazuje a co už do ní vkládá popisek? | Které informace by musely být dohledatelné, aby bylo tvrzení ověřitelné? | Jak by vypadal přepis, který nešíří tvrzení jako fakt?</a:t>
            </a:r>
          </a:p>
          <a:p xmlns:a="http://schemas.openxmlformats.org/drawingml/2006/main">
            <a:r>
              <a:t>Podpora: Poskytněte tabulku se sloupci tvrzení – důkaz – co chybí – jak ověřit.</a:t>
            </a:r>
          </a:p>
          <a:p xmlns:a="http://schemas.openxmlformats.org/drawingml/2006/main">
            <a:r>
              <a:t>Rozšíření: Studenti navrhnou komunitní poznámku pod příspěvek v rozsahu nejvýše 300 znaků.</a:t>
            </a:r>
          </a:p>
          <a:p xmlns:a="http://schemas.openxmlformats.org/drawingml/2006/main">
            <a:r>
              <a:t>Pro rychlou mezikontrolu nechte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Emoční tlak: Výrazy okamžitě, celý měsíc, média mlčí a kdo nesdílí, tomu nezáleží. | Údajný zdroj: Neurčitý kamarád kamaráda bez jména, dokumentu či možnosti ověření. | Fotografie: Ukazuje běžný výdej jídla, ale neprokazuje datum, školu, prošlost potravin ani délku problému. | Ověření: Dohledat původ snímku, kontaktovat školu či jídelnu, hledat kontrolní záznam nebo více nezávislých zdrojů. | AI obsah: Posuzovat původ, datum, kontext, návaznost verzí a nezávislé potvrzení; vizuální zvláštnost není sama o sobě důkaz. | Přepis: Na sociální síti se šíří neověřené tvrzení; původ fotografie ani údajné svědectví zatím nejsou doložené a informaci je třeba ověřit.</a:t>
            </a:r>
          </a:p>
          <a:p xmlns:a="http://schemas.openxmlformats.org/drawingml/2006/main">
            <a:r>
              <a:t>Časté chyby a intervence: „Fotografie je důkaz, protože vypadá reálně.“ → Realističnost neprokazuje místo, datum ani souvislost s tvrzením. | „Je to určitě AI.“ → Bez podkladů nepřidávejte nové tvrzení; zaměřte se na dohledatelný původ a kontext. | „Dezinformace je každá nepravda.“ → Záměr bývá obtížné prokázat; používejte přesné termíny neověřené, zavádějící nebo nepravdivé tvrzení.</a:t>
            </a:r>
          </a:p>
          <a:p xmlns:a="http://schemas.openxmlformats.org/drawingml/2006/main">
            <a:r>
              <a:t>Nečtěte celý klíč. Vyberte dva studentské postupy, které vedou k odlišným závěrům, a nechte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Napiš první krok, který uděláš před sdílením silně emotivního příspěvku.</a:t>
            </a:r>
          </a:p>
          <a:p xmlns:a="http://schemas.openxmlformats.org/drawingml/2006/main">
            <a:r>
              <a:t>Podpora: Poskytněte tabulku se sloupci tvrzení – důkaz – co chybí – jak ověřit.</a:t>
            </a:r>
          </a:p>
          <a:p xmlns:a="http://schemas.openxmlformats.org/drawingml/2006/main">
            <a:r>
              <a:t>Rozšíření: Studenti navrhnou komunitní poznámku pod příspěvek v rozsahu nejvýše 300 znaků.</a:t>
            </a:r>
          </a:p>
          <a:p xmlns:a="http://schemas.openxmlformats.org/drawingml/2006/main">
            <a:r>
              <a:t>Když technika selže: Ukázka je offline; pokud nefunguje HTML, použijte text a popis fotografie v pracovním sešitu.</a:t>
            </a:r>
          </a:p>
          <a:p xmlns:a="http://schemas.openxmlformats.org/drawingml/2006/main">
            <a:r>
              <a:t>Vyberte způsob odevzdání předem. Odpověď použijte jako diagnostiku pro začátek další hodiny; nehodnoťte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6d95a65f75406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3ad04bf28d4580" /><Relationship Type="http://schemas.openxmlformats.org/officeDocument/2006/relationships/slideLayout" Target="/ppt/slideLayouts/slideLayout1.xml" Id="Rd75c4c2244dc45b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75c4c2244dc45b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ab2ef951364177" /><Relationship Type="http://schemas.openxmlformats.org/officeDocument/2006/relationships/notesSlide" Target="/ppt/notesSlides/notesSlide1.xml" Id="R3da21ffcd20d4fb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5e4a23f37f4bba" /><Relationship Type="http://schemas.openxmlformats.org/officeDocument/2006/relationships/image" Target="/ppt/media/image.png" Id="Rafdc3a140d374c57" /><Relationship Type="http://schemas.openxmlformats.org/officeDocument/2006/relationships/notesSlide" Target="/ppt/notesSlides/notesSlide2.xml" Id="R3d7854da3d0d40a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294eb8fcea41ad" /><Relationship Type="http://schemas.openxmlformats.org/officeDocument/2006/relationships/notesSlide" Target="/ppt/notesSlides/notesSlide3.xml" Id="R9706b9fc906a4e6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9de7c872054ce6" /><Relationship Type="http://schemas.openxmlformats.org/officeDocument/2006/relationships/notesSlide" Target="/ppt/notesSlides/notesSlide4.xml" Id="R0a5262abc25647c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4fa578460243c8" /><Relationship Type="http://schemas.openxmlformats.org/officeDocument/2006/relationships/notesSlide" Target="/ppt/notesSlides/notesSlide5.xml" Id="R8a0724ddb3a04a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f36aacad9c43d0" /><Relationship Type="http://schemas.openxmlformats.org/officeDocument/2006/relationships/notesSlide" Target="/ppt/notesSlides/notesSlide6.xml" Id="R1690d8783bd34c5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bc19df202a416e" /><Relationship Type="http://schemas.openxmlformats.org/officeDocument/2006/relationships/notesSlide" Target="/ppt/notesSlides/notesSlide7.xml" Id="R90cf96a7bbc24ea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3AB852EC-1B1C-4775-AC47-26F704CC1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AFDB09A2-B886-4002-8212-C28AC722C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HODINA 7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B88FD3EE-5508-43F0-BBB3-7DF3865C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4919A964-8761-43BA-AE6F-8A89B415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Fake news, manipulace a obsah vytvořený AI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4264BE6B-316B-4281-BA5C-24DBADFC0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oddělí tvrzení, emoci a důkaz v realistickém sociálním příspěvku a navrhne ověření fotografie bez ukvapeného závěru.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84B9B3BD-95E9-4FF5-9C35-561DAD302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2DE12EBB-E2B7-4E19-9DB0-70F279C40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07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404986B4-2FC8-4948-939C-8D47142F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6029585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E595CB4-6D9E-4CB9-905F-92E2ACDF8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DACDBA2-84AF-451A-BAC8-1B7D2656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0BEBD3E5-195C-48AB-AAA1-31C86A6E0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741C0F8-37D0-4747-A43B-7B171C67B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ADF88E9F-84B6-4FBE-8CB2-BAF41A96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8C868E3E-297F-4AED-8D89-23943115C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dc3a140d374c57"/>
          <a:srcRect xmlns:a="http://schemas.openxmlformats.org/drawingml/2006/main" l="4419" t="0" r="441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DDBA3B4F-CDE1-4F5C-82B9-79E1D90F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fotografie skutečně dokazuje — a co doplnil popisek?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02548B55-B06C-479B-B305-DCC84170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20751451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815FF9A-4764-4AF6-B0C2-43BB6CB5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5–12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450A8955-4485-446D-A3EA-49A0B0A9A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1160A57C-BC86-481B-8CD6-634311FD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1622F14-72C1-430E-BBA3-ED7F773E0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BA746852-328A-4558-917D-1A474E95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9EC974A6-0419-4E18-AA53-D912AD4BC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114E0699-BD70-4F38-B90D-522405C15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Tvrzení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C5EE1CFD-1CDE-47FE-ADE5-AFAB012DE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Odděl přesnou informaci od názoru a domněnky. Musí být možné říct, co by tvrzení potvrdilo.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5DA7DEF4-6C05-4286-88F8-E5CA0C8C0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2B8DFC1B-538D-40C7-8598-2E4A00A14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Emoce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CBB8AAA6-9AB7-4064-A957-2597B4F1A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Silná emoce a tlak na okamžité sdílení jsou signál k ověření, nikoli důkaz nepravdivosti.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678505EB-6C21-45D7-A6F9-6636FE72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6B00BFF1-B9A6-4947-8AE6-6ABAF165A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Důkaz a kontext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D8136216-1430-4738-AEFA-E120DCCD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Fotografie může být reálná, ale stále nemusí dokazovat místo, datum ani příběh v popisku.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2316A7D3-A582-4A27-A234-6C9D60AD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2F98E075-2025-4325-9D6A-C029CC37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7527168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568DA08-775A-49B6-B20A-F18046B8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12–42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2A4B3413-2EAF-4B9C-ACB9-361F8483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F1876348-4891-4C6D-8EEC-A64BB8B3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1DDDECD-CA3E-4C84-B14B-170A7556B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A8B7A5C1-82AF-47BD-B18A-904F7BB39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58C48E13-7B16-49A7-80F7-5C30BD1F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EFF145E4-A887-4948-AB90-2CDD15F0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7. Neověřený příspěvek.html z balíčku V2,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211B3078-63A9-4488-A5F7-69142113C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D5DE57B9-2D91-4A72-9E09-6F560277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541B2D8E-6B7F-41D7-A7EF-7EE43857A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Rozlož příspěvek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8DFB9ECC-174C-438C-AE65-38B9758A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Označ tvrzení, emoce, údajný důkaz, výzvu k akci a chybějící informace.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786699F5-89F3-4F87-8654-05C8A8823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09C3FA6A-9332-45F8-8800-B6F83E83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34A55AB8-B2BC-4565-AA38-92C44445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Navrhni ověření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BFECBA20-0792-4498-9EA1-32207DBF6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Dohledej původ snímku, datum, vyjádření instituce a nezávislý zdroj.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D8D24F80-406A-42DB-A8C6-D88EDE1EC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8D21DFA7-3732-452C-809A-5ECAD77E0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1BED583C-1E09-4199-AF84-4B35AEB04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Přepiš neutrálně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5C34E26D-DF1C-4F2A-B940-D215ED05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Označ nejistotu, odstraň nátlak na sdílení a nepřidávej nové nedoložené tvrzení.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E85B2C5B-8475-4042-B91E-F0E82725E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7E033102-669D-477D-B026-20D3E81AB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Barevná analýza příspěvku, ověřovací postup a neutrální přepis.</a:t>
            </a:r>
          </a:p>
        </p:txBody>
      </p:sp>
    </p:spTree>
    <p:extLst>
      <p:ext uri="{BB962C8B-B14F-4D97-AF65-F5344CB8AC3E}">
        <p14:creationId xmlns:p14="http://schemas.microsoft.com/office/powerpoint/2010/main" val="5381345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1585578-514E-4454-9FBC-2FD9A2B3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C8714B7-51AB-411D-B286-1DC639B7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B344FAD4-A3A8-4A2E-B28D-551CD3082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A27757A-F9DE-419E-93A4-85B20D1F7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56D37CE2-59E0-4828-A9A6-5DF7EDD91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FE28DB5C-4462-4A53-A3EB-4E2240EB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9848BAD1-0C3E-448C-A82F-E02497CAB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FBC9F063-8CC3-4175-99D3-05DC5E93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4E113DFE-7A8F-4CC6-A079-E793CC68F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označí nejméně tři manipulační prvky a uvede dva nezávislé kroky ověření.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CD953606-93A0-4804-AB54-B2E6F400E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A8C7E95D-78AA-4AC3-8F1C-E101EA24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F931DE3D-4617-4740-A09D-EE9A78A90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9C31DFD5-2BA2-448B-85C3-5225BFE65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Co přesně fotografie ukazuje a co už do ní vkládá popisek?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BABF2A83-3322-424A-9BDF-8EF43F99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F2520C83-7FF3-4291-A51C-46C267797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5F0D5E08-8799-45C1-BE5D-A99A48AD2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133BD7C4-83E5-481E-969E-F526A4B03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Které informace by musely být dohledatelné, aby bylo tvrzení ověřitelné?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1E753972-DC7B-4AAB-8C35-C6DADFAB2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ABCCD710-A5A1-4628-8C6C-57925A6AE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9E4C8CE9-84DD-4E08-A318-4D20CC7B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E918FC9B-C39A-4E0C-95B5-32A469D4C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 by vypadal přepis, který nešíří tvrzení jako fakt?</a:t>
            </a:r>
          </a:p>
        </p:txBody>
      </p:sp>
    </p:spTree>
    <p:extLst>
      <p:ext uri="{BB962C8B-B14F-4D97-AF65-F5344CB8AC3E}">
        <p14:creationId xmlns:p14="http://schemas.microsoft.com/office/powerpoint/2010/main" val="167646306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BA24BBF-960B-42E8-A5AF-4433F6CA6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38–42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346661C-7245-497A-AA69-AE2413803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44999020-9A91-4A9A-B3F4-ADD50D83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6960D0C-7E56-41A6-92CC-DF2DEF8D2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325F6D3-519D-4C72-AB5A-754EC870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C4D56367-A6B5-4C70-A468-B6C112040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81B45B42-0A43-40AA-834D-820B2BE89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Emoční tlak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C45F91D2-3EE9-40FF-870B-AE5D0037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Výrazy okamžitě, celý měsíc, média mlčí a kdo nesdílí, tomu nezáleží.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3B8F2634-F2D2-4EF9-9186-63F2218C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Údajný zdroj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818583B6-FBD8-49EA-8371-D9FEB4E7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Neurčitý kamarád kamaráda bez jména, dokumentu či možnosti ověření.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A024C1AB-C1F5-4F6E-93AF-DA4CC6B3C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Fotografie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BB8AFC6D-1488-4BDD-9AB2-EB5952F9F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Ukazuje běžný výdej jídla, ale neprokazuje datum, školu, prošlost potravin ani délku problému.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C53A9860-8B54-4032-B23A-97866826B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5E299853-312F-42B9-801B-4BB377407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2ED0C418-94F1-416F-93D3-AC33E085F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„Fotografie je důkaz, protože vypadá reálně.“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62420C04-8243-49FD-8FE4-399D334F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Realističnost neprokazuje místo, datum ani souvislost s tvrzením.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A66A5525-BE50-4853-B2F2-801149369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6938267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0A811D46-C761-4E00-A5ED-49F25071F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9324821C-9CB7-4A5F-A03A-D198F5B9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HODINA 7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28AA042F-EAE7-4F15-8EF2-A3F54B007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D3B253D4-B09E-48B0-8F83-C798546B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první krok, který uděláš před sdílením silně emotivního příspěvku.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31479A39-92A7-4067-858A-6B7D5DF98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7137FFDB-5040-4E9F-930E-CD14A5129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6508564E-C13A-485C-91A5-49EF5C21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750474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2026-07-24T13:43:37.9090000Z</dcterms:created>
  <dcterms:modified xsi:type="dcterms:W3CDTF">2026-07-24T13:43:37.9090000Z</dcterms:modified>
</coreProperties>
</file>