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443be3fa2d4acd" /><Relationship Type="http://schemas.openxmlformats.org/officeDocument/2006/relationships/extended-properties" Target="/docProps/app.xml" Id="Rbf25764abe4c4dbf" /><Relationship Type="http://schemas.openxmlformats.org/officeDocument/2006/relationships/officeDocument" Target="/ppt/presentation.xml" Id="R2389e5012c8c43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fd8614935b4766"/>
  </p:sldMasterIdLst>
  <p:notesMasterIdLst>
    <p:notesMasterId xmlns:r="http://schemas.openxmlformats.org/officeDocument/2006/relationships" r:id="R6501a565ded1498f"/>
  </p:notesMasterIdLst>
  <p:sldIdLst>
    <p:sldId xmlns:r="http://schemas.openxmlformats.org/officeDocument/2006/relationships" id="256" r:id="Rb149f21abd1a4b59"/>
    <p:sldId xmlns:r="http://schemas.openxmlformats.org/officeDocument/2006/relationships" id="257" r:id="R29d6005be8234253"/>
    <p:sldId xmlns:r="http://schemas.openxmlformats.org/officeDocument/2006/relationships" id="258" r:id="R0322f3434afb46c7"/>
    <p:sldId xmlns:r="http://schemas.openxmlformats.org/officeDocument/2006/relationships" id="259" r:id="R6a453871c91e4151"/>
    <p:sldId xmlns:r="http://schemas.openxmlformats.org/officeDocument/2006/relationships" id="260" r:id="R9a775698e0b54a49"/>
    <p:sldId xmlns:r="http://schemas.openxmlformats.org/officeDocument/2006/relationships" id="261" r:id="Rb51287dc0f9d47df"/>
    <p:sldId xmlns:r="http://schemas.openxmlformats.org/officeDocument/2006/relationships" id="262" r:id="R74b7038994de42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d83d13cd3344fb" /><Relationship Type="http://schemas.openxmlformats.org/officeDocument/2006/relationships/slideMaster" Target="/ppt/slideMasters/slideMaster1.xml" Id="R90fd8614935b4766" /><Relationship Type="http://schemas.openxmlformats.org/officeDocument/2006/relationships/notesMaster" Target="/ppt/notesMasters/notesMaster1.xml" Id="R6501a565ded1498f" /><Relationship Type="http://schemas.openxmlformats.org/officeDocument/2006/relationships/presProps" Target="/ppt/presProps.xml" Id="R3129a2e44596421f" /><Relationship Type="http://schemas.openxmlformats.org/officeDocument/2006/relationships/tableStyles" Target="/ppt/tableStyles.xml" Id="R2b23f4e908bd43cc" /><Relationship Type="http://schemas.openxmlformats.org/officeDocument/2006/relationships/slide" Target="/ppt/slides/slide1.xml" Id="Rb149f21abd1a4b59" /><Relationship Type="http://schemas.openxmlformats.org/officeDocument/2006/relationships/slide" Target="/ppt/slides/slide2.xml" Id="R29d6005be8234253" /><Relationship Type="http://schemas.openxmlformats.org/officeDocument/2006/relationships/slide" Target="/ppt/slides/slide3.xml" Id="R0322f3434afb46c7" /><Relationship Type="http://schemas.openxmlformats.org/officeDocument/2006/relationships/slide" Target="/ppt/slides/slide4.xml" Id="R6a453871c91e4151" /><Relationship Type="http://schemas.openxmlformats.org/officeDocument/2006/relationships/slide" Target="/ppt/slides/slide5.xml" Id="R9a775698e0b54a49" /><Relationship Type="http://schemas.openxmlformats.org/officeDocument/2006/relationships/slide" Target="/ppt/slides/slide6.xml" Id="Rb51287dc0f9d47df" /><Relationship Type="http://schemas.openxmlformats.org/officeDocument/2006/relationships/slide" Target="/ppt/slides/slide7.xml" Id="R74b7038994de42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9503ddd97249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41941efffc46b2" /><Relationship Type="http://schemas.openxmlformats.org/officeDocument/2006/relationships/notesMaster" Target="/ppt/notesMasters/notesMaster1.xml" Id="Rfa21168491454a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bedfa4d45748dd" /><Relationship Type="http://schemas.openxmlformats.org/officeDocument/2006/relationships/notesMaster" Target="/ppt/notesMasters/notesMaster1.xml" Id="Raf25c6e1229544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ddb4e51168435c" /><Relationship Type="http://schemas.openxmlformats.org/officeDocument/2006/relationships/notesMaster" Target="/ppt/notesMasters/notesMaster1.xml" Id="Rb954f5e58bce4f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ccdd9271e54d41" /><Relationship Type="http://schemas.openxmlformats.org/officeDocument/2006/relationships/notesMaster" Target="/ppt/notesMasters/notesMaster1.xml" Id="R0dd19493531d4d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5c14d319594244" /><Relationship Type="http://schemas.openxmlformats.org/officeDocument/2006/relationships/notesMaster" Target="/ppt/notesMasters/notesMaster1.xml" Id="R7109002e2d9b42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6f383dd114a5a" /><Relationship Type="http://schemas.openxmlformats.org/officeDocument/2006/relationships/notesMaster" Target="/ppt/notesMasters/notesMaster1.xml" Id="Re85199c27f4b45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2fa8faac7c4fe0" /><Relationship Type="http://schemas.openxmlformats.org/officeDocument/2006/relationships/notesMaster" Target="/ppt/notesMasters/notesMaster1.xml" Id="Rfb2c94949ac44f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Výukový cíl: Student oddělí tvrzení, emoci a důkaz v realistickém sociálním příspěvku a navrhne ověření fotografie bez ukvapeného závěru.</a:t>
            </a:r>
          </a:p>
          <a:p xmlns:a="http://schemas.openxmlformats.org/drawingml/2006/main">
            <a:r>
              <a:t>Soubory: 7. Neověřený příspěvek.html z balíčku V2, digitální pracovní sešit</a:t>
            </a:r>
          </a:p>
          <a:p xmlns:a="http://schemas.openxmlformats.org/drawingml/2006/main">
            <a:r>
              <a:t>Výstup: Barevná analýza příspěvku, ověřovací postup a neutrální přepis.</a:t>
            </a:r>
          </a:p>
          <a:p xmlns:a="http://schemas.openxmlformats.org/drawingml/2006/main">
            <a:r>
              <a:t>Před otevřením dalšího snímku stručně uveďte téma a nechte studenty připravit pracovní soubory.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0–5 minut.</a:t>
            </a:r>
          </a:p>
          <a:p xmlns:a="http://schemas.openxmlformats.org/drawingml/2006/main">
            <a:r>
              <a:t>Činnost: Tichá první reakce.</a:t>
            </a:r>
          </a:p>
          <a:p xmlns:a="http://schemas.openxmlformats.org/drawingml/2006/main">
            <a:r>
              <a:t>Postup učitele: Studenti zapíší emoci a první rozhodnutí bez komentáře spolužáků.</a:t>
            </a:r>
          </a:p>
          <a:p xmlns:a="http://schemas.openxmlformats.org/drawingml/2006/main">
            <a:r>
              <a:t>Otázka pro studenty: Co fotografie skutečně dokazuje — a co doplnil popisek?</a:t>
            </a:r>
          </a:p>
          <a:p xmlns:a="http://schemas.openxmlformats.org/drawingml/2006/main">
            <a:r>
              <a:t>Neprozrazujte správnou odpověď. Cílem je zachytit počáteční úsudek, ke kterému se třída vrátí při reflexi.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5–12 minut.</a:t>
            </a:r>
          </a:p>
          <a:p xmlns:a="http://schemas.openxmlformats.org/drawingml/2006/main">
            <a:r>
              <a:t>Činnost: Rozklad příspěvku.</a:t>
            </a:r>
          </a:p>
          <a:p xmlns:a="http://schemas.openxmlformats.org/drawingml/2006/main">
            <a:r>
              <a:t>Postup učitele: Oddělte, co příspěvek tvrdí, čím to dokládá a k čemu vyzývá.</a:t>
            </a:r>
          </a:p>
          <a:p xmlns:a="http://schemas.openxmlformats.org/drawingml/2006/main">
            <a:r>
              <a:t>Klíčové závěry: Emoční tlak: Výrazy okamžitě, celý měsíc, média mlčí a kdo nesdílí, tomu nezáleží. | Údajný zdroj: Neurčitý kamarád kamaráda bez jména, dokumentu či možnosti ověření. | Fotografie: Ukazuje běžný výdej jídla, ale neprokazuje datum, školu, prošlost potravin ani délku problému.</a:t>
            </a:r>
          </a:p>
          <a:p xmlns:a="http://schemas.openxmlformats.org/drawingml/2006/main">
            <a:r>
              <a:t>Nechte studenty doplnit příklad ke každému bodu. Přechod k aktivitě proveďte otázkou: Jak tyto tři body použijeme na dnešní soubor?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Hlavní aktivita využívá: 7. Neověřený příspěvek.html z balíčku V2, digitální pracovní sešit</a:t>
            </a:r>
          </a:p>
          <a:p xmlns:a="http://schemas.openxmlformats.org/drawingml/2006/main">
            <a:r>
              <a:t>12–25 min – Barevná analýza: Dvojice zvýrazní text a vysvětlí, proč fotografie sama tvrzení nepotvrzuje.</a:t>
            </a:r>
          </a:p>
          <a:p xmlns:a="http://schemas.openxmlformats.org/drawingml/2006/main">
            <a:r>
              <a:t>25–34 min – Plán ověření: Vyžadujte původ snímku, datum, vyjádření školy/jídelny a nezávislý zdroj.</a:t>
            </a:r>
          </a:p>
          <a:p xmlns:a="http://schemas.openxmlformats.org/drawingml/2006/main">
            <a:r>
              <a:t>34–38 min – AI a multimédia: Učte kontrolu původu a kontextu, ne seznam údajných vizuálních vad.</a:t>
            </a:r>
          </a:p>
          <a:p xmlns:a="http://schemas.openxmlformats.org/drawingml/2006/main">
            <a:r>
              <a:t>38–42 min – Neutrální přepis: Bez nátlaku na sdílení a s jasným označením nejistoty.</a:t>
            </a:r>
          </a:p>
          <a:p xmlns:a="http://schemas.openxmlformats.org/drawingml/2006/main">
            <a:r>
              <a:t>Požadovaný výstup: Barevná analýza příspěvku, ověřovací postup a neutrální přepis.</a:t>
            </a:r>
          </a:p>
          <a:p xmlns:a="http://schemas.openxmlformats.org/drawingml/2006/main">
            <a:r>
              <a:t>Během práce nepřebírejte myš za studenta. Pomáhejte otázkami z dalšího snímku a žádejte, aby každé rozhodnutí opřel o konkrétní znak nebo zdroj.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 úspěchu: Student označí nejméně tři manipulační prvky a uvede dva nezávislé kroky ověření.</a:t>
            </a:r>
          </a:p>
          <a:p xmlns:a="http://schemas.openxmlformats.org/drawingml/2006/main">
            <a:r>
              <a:t>Vodicí otázky: Co přesně fotografie ukazuje a co už do ní vkládá popisek? | Které informace by musely být dohledatelné, aby bylo tvrzení ověřitelné? | Jak by vypadal přepis, který nešíří tvrzení jako fakt?</a:t>
            </a:r>
          </a:p>
          <a:p xmlns:a="http://schemas.openxmlformats.org/drawingml/2006/main">
            <a:r>
              <a:t>Podpora: Poskytněte tabulku se sloupci tvrzení – důkaz – co chybí – jak ověřit.</a:t>
            </a:r>
          </a:p>
          <a:p xmlns:a="http://schemas.openxmlformats.org/drawingml/2006/main">
            <a:r>
              <a:t>Rozšíření: Studenti navrhnou komunitní poznámku pod příspěvek v rozsahu nejvýše 300 znaků.</a:t>
            </a:r>
          </a:p>
          <a:p xmlns:a="http://schemas.openxmlformats.org/drawingml/2006/main">
            <a:r>
              <a:t>Pro rychlou mezikontrolu nechte dvojice vyměnit výstup a označit jeden dobře doložený bod a jednu otázku, která ještě zůstává.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Emoční tlak: Výrazy okamžitě, celý měsíc, média mlčí a kdo nesdílí, tomu nezáleží. | Údajný zdroj: Neurčitý kamarád kamaráda bez jména, dokumentu či možnosti ověření. | Fotografie: Ukazuje běžný výdej jídla, ale neprokazuje datum, školu, prošlost potravin ani délku problému. | Ověření: Dohledat původ snímku, kontaktovat školu či jídelnu, hledat kontrolní záznam nebo více nezávislých zdrojů. | AI obsah: Posuzovat původ, datum, kontext, návaznost verzí a nezávislé potvrzení; vizuální zvláštnost není sama o sobě důkaz. | Přepis: Na sociální síti se šíří neověřené tvrzení; původ fotografie ani údajné svědectví zatím nejsou doložené a informaci je třeba ověřit.</a:t>
            </a:r>
          </a:p>
          <a:p xmlns:a="http://schemas.openxmlformats.org/drawingml/2006/main">
            <a:r>
              <a:t>Časté chyby a intervence: „Fotografie je důkaz, protože vypadá reálně.“ → Realističnost neprokazuje místo, datum ani souvislost s tvrzením. | „Je to určitě AI.“ → Bez podkladů nepřidávejte nové tvrzení; zaměřte se na dohledatelný původ a kontext. | „Dezinformace je každá nepravda.“ → Záměr bývá obtížné prokázat; používejte přesné termíny neověřené, zavádějící nebo nepravdivé tvrzení.</a:t>
            </a:r>
          </a:p>
          <a:p xmlns:a="http://schemas.openxmlformats.org/drawingml/2006/main">
            <a:r>
              <a:t>Nečtěte celý klíč. Vyberte dva studentské postupy, které vedou k odlišným závěrům, a nechte třídu určit, který je lépe podložený.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Napiš první krok, který uděláš před sdílením silně emotivního příspěvku.</a:t>
            </a:r>
          </a:p>
          <a:p xmlns:a="http://schemas.openxmlformats.org/drawingml/2006/main">
            <a:r>
              <a:t>Podpora: Poskytněte tabulku se sloupci tvrzení – důkaz – co chybí – jak ověřit.</a:t>
            </a:r>
          </a:p>
          <a:p xmlns:a="http://schemas.openxmlformats.org/drawingml/2006/main">
            <a:r>
              <a:t>Rozšíření: Studenti navrhnou komunitní poznámku pod příspěvek v rozsahu nejvýše 300 znaků.</a:t>
            </a:r>
          </a:p>
          <a:p xmlns:a="http://schemas.openxmlformats.org/drawingml/2006/main">
            <a:r>
              <a:t>Když technika selže: Ukázka je offline; pokud nefunguje HTML, použijte text a popis fotografie v pracovním sešitu.</a:t>
            </a:r>
          </a:p>
          <a:p xmlns:a="http://schemas.openxmlformats.org/drawingml/2006/main">
            <a:r>
              <a:t>Vyberte způsob odevzdání předem. Odpověď použijte jako diagnostiku pro začátek další hodiny; nehodnoťte pouze formální správnost, ale konkrétnost a zdůvodnění.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d95a65f7540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3ad04bf28d4580" /><Relationship Type="http://schemas.openxmlformats.org/officeDocument/2006/relationships/slideLayout" Target="/ppt/slideLayouts/slideLayout1.xml" Id="Rd75c4c2244dc45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5c4c2244dc45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b2ef951364177" /><Relationship Type="http://schemas.openxmlformats.org/officeDocument/2006/relationships/notesSlide" Target="/ppt/notesSlides/notesSlide1.xml" Id="R3da21ffcd20d4f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e4a23f37f4bba" /><Relationship Type="http://schemas.openxmlformats.org/officeDocument/2006/relationships/image" Target="/ppt/media/image.png" Id="Rafdc3a140d374c57" /><Relationship Type="http://schemas.openxmlformats.org/officeDocument/2006/relationships/notesSlide" Target="/ppt/notesSlides/notesSlide2.xml" Id="R3d7854da3d0d40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94eb8fcea41ad" /><Relationship Type="http://schemas.openxmlformats.org/officeDocument/2006/relationships/notesSlide" Target="/ppt/notesSlides/notesSlide3.xml" Id="R9706b9fc906a4e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de7c872054ce6" /><Relationship Type="http://schemas.openxmlformats.org/officeDocument/2006/relationships/notesSlide" Target="/ppt/notesSlides/notesSlide4.xml" Id="R0a5262abc25647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fa578460243c8" /><Relationship Type="http://schemas.openxmlformats.org/officeDocument/2006/relationships/notesSlide" Target="/ppt/notesSlides/notesSlide5.xml" Id="R8a0724ddb3a04a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36aacad9c43d0" /><Relationship Type="http://schemas.openxmlformats.org/officeDocument/2006/relationships/notesSlide" Target="/ppt/notesSlides/notesSlide6.xml" Id="R1690d8783bd34c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c19df202a416e" /><Relationship Type="http://schemas.openxmlformats.org/officeDocument/2006/relationships/notesSlide" Target="/ppt/notesSlides/notesSlide7.xml" Id="R90cf96a7bbc24e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3AB852EC-1B1C-4775-AC47-26F704CC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AFDB09A2-B886-4002-8212-C28AC72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HODINA 7 / 10</a:t>
            </a:r>
          </a:p>
        </p:txBody>
      </p:sp>
      <p:sp>
        <p:nvSpPr>
          <p:cNvPr id="3" name="text-870-48">
            <a:extLst xmlns:a="http://schemas.openxmlformats.org/drawingml/2006/main">
              <a:ext uri="{FF2B5EF4-FFF2-40B4-BE49-F238E27FC236}">
                <a16:creationId xmlns:a16="http://schemas.microsoft.com/office/drawing/2014/main" id="{B88FD3EE-5508-43F0-BBB3-7DF3865C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INTERNET, BEZPEČNOST
A PRÁCE S INFORMACEMI</a:t>
            </a:r>
          </a:p>
        </p:txBody>
      </p:sp>
      <p:sp>
        <p:nvSpPr>
          <p:cNvPr id="4" name="text-54-255">
            <a:extLst xmlns:a="http://schemas.openxmlformats.org/drawingml/2006/main">
              <a:ext uri="{FF2B5EF4-FFF2-40B4-BE49-F238E27FC236}">
                <a16:creationId xmlns:a16="http://schemas.microsoft.com/office/drawing/2014/main" id="{4919A964-8761-43BA-AE6F-8A89B415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0715625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Fake news, manipulace a obsah vytvořený AI</a:t>
            </a:r>
          </a:p>
        </p:txBody>
      </p:sp>
      <p:sp>
        <p:nvSpPr>
          <p:cNvPr id="5" name="text-56-506">
            <a:extLst xmlns:a="http://schemas.openxmlformats.org/drawingml/2006/main">
              <a:ext uri="{FF2B5EF4-FFF2-40B4-BE49-F238E27FC236}">
                <a16:creationId xmlns:a16="http://schemas.microsoft.com/office/drawing/2014/main" id="{4264BE6B-316B-4281-BA5C-24DBADFC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8191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oddělí tvrzení, emoci a důkaz v realistickém sociálním příspěvku a navrhne ověření fotografie bez ukvapeného závěru.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84B9B3BD-95E9-4FF5-9C35-561DAD30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1965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A92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24">
            <a:extLst xmlns:a="http://schemas.openxmlformats.org/drawingml/2006/main">
              <a:ext uri="{FF2B5EF4-FFF2-40B4-BE49-F238E27FC236}">
                <a16:creationId xmlns:a16="http://schemas.microsoft.com/office/drawing/2014/main" id="{2DE12EBB-E2B7-4E19-9DB0-70F279C4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91100"/>
            <a:ext cx="1181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8" name="text-1065-603">
            <a:extLst xmlns:a="http://schemas.openxmlformats.org/drawingml/2006/main">
              <a:ext uri="{FF2B5EF4-FFF2-40B4-BE49-F238E27FC236}">
                <a16:creationId xmlns:a16="http://schemas.microsoft.com/office/drawing/2014/main" id="{404986B4-2FC8-4948-939C-8D47142F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43575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1602958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BE595CB4-6D9E-4CB9-905F-92E2ACDF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0–5 MIN · ÚVOD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DDACDBA2-84AF-451A-BAC8-1B7D2656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rozhodnutím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EBD3E5-195C-48AB-AAA1-31C86A6E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C741C0F8-37D0-4747-A43B-7B171C67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ADF88E9F-84B6-4FBE-8CB2-BAF41A96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7  /  2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C868E3E-297F-4AED-8D89-23943115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33525"/>
            <a:ext cx="55626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pic>
        <p:nvPicPr>
          <p:cNvPr id="16" name="activity-previe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c3a140d374c57"/>
          <a:srcRect xmlns:a="http://schemas.openxmlformats.org/drawingml/2006/main" l="4419" t="0" r="44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533525"/>
            <a:ext cx="5562600" cy="4343400"/>
          </a:xfrm>
          <a:prstGeom xmlns:a="http://schemas.openxmlformats.org/drawingml/2006/main" prst="roundRect">
            <a:avLst/>
          </a:prstGeom>
        </p:spPr>
      </p:pic>
      <p:sp>
        <p:nvSpPr>
          <p:cNvPr id="8" name="text-41-188">
            <a:extLst xmlns:a="http://schemas.openxmlformats.org/drawingml/2006/main">
              <a:ext uri="{FF2B5EF4-FFF2-40B4-BE49-F238E27FC236}">
                <a16:creationId xmlns:a16="http://schemas.microsoft.com/office/drawing/2014/main" id="{DDBA3B4F-CDE1-4F5C-82B9-79E1D90F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52387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fotografie skutečně dokazuje — a co doplnil popisek?</a:t>
            </a:r>
          </a:p>
        </p:txBody>
      </p:sp>
      <p:sp>
        <p:nvSpPr>
          <p:cNvPr id="9" name="text-41-444">
            <a:extLst xmlns:a="http://schemas.openxmlformats.org/drawingml/2006/main">
              <a:ext uri="{FF2B5EF4-FFF2-40B4-BE49-F238E27FC236}">
                <a16:creationId xmlns:a16="http://schemas.microsoft.com/office/drawing/2014/main" id="{02548B55-B06C-479B-B305-DCC84170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29100"/>
            <a:ext cx="4953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1  Rozhodni sám
2  Zapiš konkrétní důvod
3  Porovnej ve dvojici</a:t>
            </a:r>
          </a:p>
        </p:txBody>
      </p:sp>
    </p:spTree>
    <p:extLst>
      <p:ext uri="{BB962C8B-B14F-4D97-AF65-F5344CB8AC3E}">
        <p14:creationId xmlns:p14="http://schemas.microsoft.com/office/powerpoint/2010/main" val="2075145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2815FF9A-4764-4AF6-B0C2-43BB6CB5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5–12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450A8955-4485-446D-A3EA-49A0B0A9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 pro rozhodování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1160A57C-BC86-481B-8CD6-634311FD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01622F14-72C1-430E-BBA3-ED7F773E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BA746852-328A-4558-917D-1A474E95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7  /  3</a:t>
            </a:r>
          </a:p>
        </p:txBody>
      </p:sp>
      <p:sp>
        <p:nvSpPr>
          <p:cNvPr id="6" name="text-41-179">
            <a:extLst xmlns:a="http://schemas.openxmlformats.org/drawingml/2006/main">
              <a:ext uri="{FF2B5EF4-FFF2-40B4-BE49-F238E27FC236}">
                <a16:creationId xmlns:a16="http://schemas.microsoft.com/office/drawing/2014/main" id="{9EC974A6-0419-4E18-AA53-D912AD4B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74">
            <a:extLst xmlns:a="http://schemas.openxmlformats.org/drawingml/2006/main">
              <a:ext uri="{FF2B5EF4-FFF2-40B4-BE49-F238E27FC236}">
                <a16:creationId xmlns:a16="http://schemas.microsoft.com/office/drawing/2014/main" id="{114E0699-BD70-4F38-B90D-522405C1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Tvrzení</a:t>
            </a:r>
          </a:p>
        </p:txBody>
      </p:sp>
      <p:sp>
        <p:nvSpPr>
          <p:cNvPr id="8" name="text-41-362">
            <a:extLst xmlns:a="http://schemas.openxmlformats.org/drawingml/2006/main">
              <a:ext uri="{FF2B5EF4-FFF2-40B4-BE49-F238E27FC236}">
                <a16:creationId xmlns:a16="http://schemas.microsoft.com/office/drawing/2014/main" id="{C5EE1CFD-1CDE-47FE-ADE5-AFAB012D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Odděl přesnou informaci od názoru a domněnky. Musí být možné říct, co by tvrzení potvrdilo.</a:t>
            </a:r>
          </a:p>
        </p:txBody>
      </p:sp>
      <p:sp>
        <p:nvSpPr>
          <p:cNvPr id="9" name="text-453-179">
            <a:extLst xmlns:a="http://schemas.openxmlformats.org/drawingml/2006/main">
              <a:ext uri="{FF2B5EF4-FFF2-40B4-BE49-F238E27FC236}">
                <a16:creationId xmlns:a16="http://schemas.microsoft.com/office/drawing/2014/main" id="{5DA7DEF4-6C05-4286-88F8-E5CA0C8C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74">
            <a:extLst xmlns:a="http://schemas.openxmlformats.org/drawingml/2006/main">
              <a:ext uri="{FF2B5EF4-FFF2-40B4-BE49-F238E27FC236}">
                <a16:creationId xmlns:a16="http://schemas.microsoft.com/office/drawing/2014/main" id="{2B8DFC1B-538D-40C7-8598-2E4A00A1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Emoce</a:t>
            </a:r>
          </a:p>
        </p:txBody>
      </p:sp>
      <p:sp>
        <p:nvSpPr>
          <p:cNvPr id="11" name="text-453-362">
            <a:extLst xmlns:a="http://schemas.openxmlformats.org/drawingml/2006/main">
              <a:ext uri="{FF2B5EF4-FFF2-40B4-BE49-F238E27FC236}">
                <a16:creationId xmlns:a16="http://schemas.microsoft.com/office/drawing/2014/main" id="{CBB8AAA6-9AB7-4064-A957-2597B4F1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Silná emoce a tlak na okamžité sdílení jsou signál k ověření, nikoli důkaz nepravdivosti.</a:t>
            </a:r>
          </a:p>
        </p:txBody>
      </p:sp>
      <p:sp>
        <p:nvSpPr>
          <p:cNvPr id="12" name="text-865-179">
            <a:extLst xmlns:a="http://schemas.openxmlformats.org/drawingml/2006/main">
              <a:ext uri="{FF2B5EF4-FFF2-40B4-BE49-F238E27FC236}">
                <a16:creationId xmlns:a16="http://schemas.microsoft.com/office/drawing/2014/main" id="{678505EB-6C21-45D7-A6F9-6636FE72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74">
            <a:extLst xmlns:a="http://schemas.openxmlformats.org/drawingml/2006/main">
              <a:ext uri="{FF2B5EF4-FFF2-40B4-BE49-F238E27FC236}">
                <a16:creationId xmlns:a16="http://schemas.microsoft.com/office/drawing/2014/main" id="{6B00BFF1-B9A6-4947-8AE6-6ABAF165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Důkaz a kontext</a:t>
            </a:r>
          </a:p>
        </p:txBody>
      </p:sp>
      <p:sp>
        <p:nvSpPr>
          <p:cNvPr id="14" name="text-865-362">
            <a:extLst xmlns:a="http://schemas.openxmlformats.org/drawingml/2006/main">
              <a:ext uri="{FF2B5EF4-FFF2-40B4-BE49-F238E27FC236}">
                <a16:creationId xmlns:a16="http://schemas.microsoft.com/office/drawing/2014/main" id="{D8136216-1430-4738-AEFA-E120DCCD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Fotografie může být reálná, ale stále nemusí dokazovat místo, datum ani příběh v popisku.</a:t>
            </a:r>
          </a:p>
        </p:txBody>
      </p:sp>
      <p:sp>
        <p:nvSpPr>
          <p:cNvPr id="15" name="key-line">
            <a:extLst xmlns:a="http://schemas.openxmlformats.org/drawingml/2006/main">
              <a:ext uri="{FF2B5EF4-FFF2-40B4-BE49-F238E27FC236}">
                <a16:creationId xmlns:a16="http://schemas.microsoft.com/office/drawing/2014/main" id="{2316A7D3-A582-4A27-A234-6C9D60A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14975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-600">
            <a:extLst xmlns:a="http://schemas.openxmlformats.org/drawingml/2006/main">
              <a:ext uri="{FF2B5EF4-FFF2-40B4-BE49-F238E27FC236}">
                <a16:creationId xmlns:a16="http://schemas.microsoft.com/office/drawing/2014/main" id="{2F98E075-2025-4325-9D6A-C029CC37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1141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Nejde o rychlý tip. Jde o postup, který lze vysvětlit a zopakovat.</a:t>
            </a:r>
          </a:p>
        </p:txBody>
      </p:sp>
    </p:spTree>
    <p:extLst>
      <p:ext uri="{BB962C8B-B14F-4D97-AF65-F5344CB8AC3E}">
        <p14:creationId xmlns:p14="http://schemas.microsoft.com/office/powerpoint/2010/main" val="752716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2568DA08-775A-49B6-B20A-F18046B8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12–42 MIN · PRÁCE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2A4B3413-2EAF-4B9C-ACB9-361F8483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F1876348-4891-4C6D-8EEC-A64BB8B3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E1DDDECD-CA3E-4C84-B14B-170A7556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A8B7A5C1-82AF-47BD-B18A-904F7BB3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7  /  4</a:t>
            </a:r>
          </a:p>
        </p:txBody>
      </p:sp>
      <p:sp>
        <p:nvSpPr>
          <p:cNvPr id="6" name="text-41-165">
            <a:extLst xmlns:a="http://schemas.openxmlformats.org/drawingml/2006/main">
              <a:ext uri="{FF2B5EF4-FFF2-40B4-BE49-F238E27FC236}">
                <a16:creationId xmlns:a16="http://schemas.microsoft.com/office/drawing/2014/main" id="{58C48E13-7B16-49A7-80F7-5C30BD1F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202">
            <a:extLst xmlns:a="http://schemas.openxmlformats.org/drawingml/2006/main">
              <a:ext uri="{FF2B5EF4-FFF2-40B4-BE49-F238E27FC236}">
                <a16:creationId xmlns:a16="http://schemas.microsoft.com/office/drawing/2014/main" id="{EFF145E4-A887-4948-AB90-2CDD15F0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1104900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7. Neověřený příspěvek.html ze složky Podklady k aktivitám, digitální pracovní sešit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211B3078-63A9-4488-A5F7-69142113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3-313">
            <a:extLst xmlns:a="http://schemas.openxmlformats.org/drawingml/2006/main">
              <a:ext uri="{FF2B5EF4-FFF2-40B4-BE49-F238E27FC236}">
                <a16:creationId xmlns:a16="http://schemas.microsoft.com/office/drawing/2014/main" id="{D5DE57B9-2D91-4A72-9E09-6F560277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63-372">
            <a:extLst xmlns:a="http://schemas.openxmlformats.org/drawingml/2006/main">
              <a:ext uri="{FF2B5EF4-FFF2-40B4-BE49-F238E27FC236}">
                <a16:creationId xmlns:a16="http://schemas.microsoft.com/office/drawing/2014/main" id="{541B2D8E-6B7F-41D7-A7EF-7EE43857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Rozlož příspěvek</a:t>
            </a:r>
          </a:p>
        </p:txBody>
      </p:sp>
      <p:sp>
        <p:nvSpPr>
          <p:cNvPr id="11" name="text-63-449">
            <a:extLst xmlns:a="http://schemas.openxmlformats.org/drawingml/2006/main">
              <a:ext uri="{FF2B5EF4-FFF2-40B4-BE49-F238E27FC236}">
                <a16:creationId xmlns:a16="http://schemas.microsoft.com/office/drawing/2014/main" id="{8DFB9ECC-174C-438C-AE65-38B9758A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Označ tvrzení, emoce, údajný důkaz, výzvu k akci a chybějící informace.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786699F5-89F3-4F87-8654-05C8A882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5-313">
            <a:extLst xmlns:a="http://schemas.openxmlformats.org/drawingml/2006/main">
              <a:ext uri="{FF2B5EF4-FFF2-40B4-BE49-F238E27FC236}">
                <a16:creationId xmlns:a16="http://schemas.microsoft.com/office/drawing/2014/main" id="{09C3FA6A-9332-45F8-8800-B6F83E83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text-475-372">
            <a:extLst xmlns:a="http://schemas.openxmlformats.org/drawingml/2006/main">
              <a:ext uri="{FF2B5EF4-FFF2-40B4-BE49-F238E27FC236}">
                <a16:creationId xmlns:a16="http://schemas.microsoft.com/office/drawing/2014/main" id="{34A55AB8-B2BC-4565-AA38-92C44445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Navrhni ověření</a:t>
            </a:r>
          </a:p>
        </p:txBody>
      </p:sp>
      <p:sp>
        <p:nvSpPr>
          <p:cNvPr id="15" name="text-475-449">
            <a:extLst xmlns:a="http://schemas.openxmlformats.org/drawingml/2006/main">
              <a:ext uri="{FF2B5EF4-FFF2-40B4-BE49-F238E27FC236}">
                <a16:creationId xmlns:a16="http://schemas.microsoft.com/office/drawing/2014/main" id="{BFECBA20-0792-4498-9EA1-32207DBF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Dohledej původ snímku, datum, vyjádření instituce a nezávislý zdroj.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D8D24F80-406A-42DB-A8C6-D88EDE1E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887-313">
            <a:extLst xmlns:a="http://schemas.openxmlformats.org/drawingml/2006/main">
              <a:ext uri="{FF2B5EF4-FFF2-40B4-BE49-F238E27FC236}">
                <a16:creationId xmlns:a16="http://schemas.microsoft.com/office/drawing/2014/main" id="{8D21DFA7-3732-452C-809A-5ECAD77E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text-887-372">
            <a:extLst xmlns:a="http://schemas.openxmlformats.org/drawingml/2006/main">
              <a:ext uri="{FF2B5EF4-FFF2-40B4-BE49-F238E27FC236}">
                <a16:creationId xmlns:a16="http://schemas.microsoft.com/office/drawing/2014/main" id="{1BED583C-1E09-4199-AF84-4B35AEB0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Přepiš neutrálně</a:t>
            </a:r>
          </a:p>
        </p:txBody>
      </p:sp>
      <p:sp>
        <p:nvSpPr>
          <p:cNvPr id="19" name="text-887-449">
            <a:extLst xmlns:a="http://schemas.openxmlformats.org/drawingml/2006/main">
              <a:ext uri="{FF2B5EF4-FFF2-40B4-BE49-F238E27FC236}">
                <a16:creationId xmlns:a16="http://schemas.microsoft.com/office/drawing/2014/main" id="{5C34E26D-DF1C-4F2A-B940-D215ED05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Označ nejistotu, odstraň nátlak na sdílení a nepřidávej nové nedoložené tvrzení.</a:t>
            </a:r>
          </a:p>
        </p:txBody>
      </p:sp>
      <p:sp>
        <p:nvSpPr>
          <p:cNvPr id="20" name="text-41-585">
            <a:extLst xmlns:a="http://schemas.openxmlformats.org/drawingml/2006/main">
              <a:ext uri="{FF2B5EF4-FFF2-40B4-BE49-F238E27FC236}">
                <a16:creationId xmlns:a16="http://schemas.microsoft.com/office/drawing/2014/main" id="{E85B2C5B-8475-4042-B91E-F0E82725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52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ODEVZDEJ</a:t>
            </a:r>
          </a:p>
        </p:txBody>
      </p:sp>
      <p:sp>
        <p:nvSpPr>
          <p:cNvPr id="21" name="text-201-581">
            <a:extLst xmlns:a="http://schemas.openxmlformats.org/drawingml/2006/main">
              <a:ext uri="{FF2B5EF4-FFF2-40B4-BE49-F238E27FC236}">
                <a16:creationId xmlns:a16="http://schemas.microsoft.com/office/drawing/2014/main" id="{7E033102-669D-477D-B026-20D3E81A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534025"/>
            <a:ext cx="988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Barevná analýza příspěvku, ověřovací postup a neutrální přepis.</a:t>
            </a:r>
          </a:p>
        </p:txBody>
      </p:sp>
    </p:spTree>
    <p:extLst>
      <p:ext uri="{BB962C8B-B14F-4D97-AF65-F5344CB8AC3E}">
        <p14:creationId xmlns:p14="http://schemas.microsoft.com/office/powerpoint/2010/main" val="538134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F1585578-514E-4454-9FBC-2FD9A2B3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9C8714B7-51AB-411D-B286-1DC639B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práci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B344FAD4-A3A8-4A2E-B28D-551CD308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0A27757A-F9DE-419E-93A4-85B20D1F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56D37CE2-59E0-4828-A9A6-5DF7EDD9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7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FE28DB5C-4462-4A53-A3EB-4E2240EB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5-205">
            <a:extLst xmlns:a="http://schemas.openxmlformats.org/drawingml/2006/main">
              <a:ext uri="{FF2B5EF4-FFF2-40B4-BE49-F238E27FC236}">
                <a16:creationId xmlns:a16="http://schemas.microsoft.com/office/drawing/2014/main" id="{9848BAD1-0C3E-448C-A82F-E02497CA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5-206">
            <a:extLst xmlns:a="http://schemas.openxmlformats.org/drawingml/2006/main">
              <a:ext uri="{FF2B5EF4-FFF2-40B4-BE49-F238E27FC236}">
                <a16:creationId xmlns:a16="http://schemas.microsoft.com/office/drawing/2014/main" id="{FBC9F063-8CC3-4175-99D3-05DC5E93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Výsledek</a:t>
            </a:r>
          </a:p>
        </p:txBody>
      </p:sp>
      <p:sp>
        <p:nvSpPr>
          <p:cNvPr id="9" name="text-125-255">
            <a:extLst xmlns:a="http://schemas.openxmlformats.org/drawingml/2006/main">
              <a:ext uri="{FF2B5EF4-FFF2-40B4-BE49-F238E27FC236}">
                <a16:creationId xmlns:a16="http://schemas.microsoft.com/office/drawing/2014/main" id="{4E113DFE-7A8F-4CC6-A079-E793CC68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označí nejméně tři manipulační prvky a uvede dva nezávislé kroky ověření.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CD953606-93A0-4804-AB54-B2E6F400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1-205">
            <a:extLst xmlns:a="http://schemas.openxmlformats.org/drawingml/2006/main">
              <a:ext uri="{FF2B5EF4-FFF2-40B4-BE49-F238E27FC236}">
                <a16:creationId xmlns:a16="http://schemas.microsoft.com/office/drawing/2014/main" id="{A8C7E95D-78AA-4AC3-8F1C-E101EA24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41-206">
            <a:extLst xmlns:a="http://schemas.openxmlformats.org/drawingml/2006/main">
              <a:ext uri="{FF2B5EF4-FFF2-40B4-BE49-F238E27FC236}">
                <a16:creationId xmlns:a16="http://schemas.microsoft.com/office/drawing/2014/main" id="{F931DE3D-4617-4740-A09D-EE9A78A9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41-255">
            <a:extLst xmlns:a="http://schemas.openxmlformats.org/drawingml/2006/main">
              <a:ext uri="{FF2B5EF4-FFF2-40B4-BE49-F238E27FC236}">
                <a16:creationId xmlns:a16="http://schemas.microsoft.com/office/drawing/2014/main" id="{9C31DFD5-2BA2-448B-85C3-5225BFE6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Co přesně fotografie ukazuje a co už do ní vkládá popisek?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BABF2A83-3322-424A-9BDF-8EF43F99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5-424">
            <a:extLst xmlns:a="http://schemas.openxmlformats.org/drawingml/2006/main">
              <a:ext uri="{FF2B5EF4-FFF2-40B4-BE49-F238E27FC236}">
                <a16:creationId xmlns:a16="http://schemas.microsoft.com/office/drawing/2014/main" id="{F2520C83-7FF3-4291-A51C-46C26779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5-425">
            <a:extLst xmlns:a="http://schemas.openxmlformats.org/drawingml/2006/main">
              <a:ext uri="{FF2B5EF4-FFF2-40B4-BE49-F238E27FC236}">
                <a16:creationId xmlns:a16="http://schemas.microsoft.com/office/drawing/2014/main" id="{5F0D5E08-8799-45C1-BE5D-A99A48AD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5-474">
            <a:extLst xmlns:a="http://schemas.openxmlformats.org/drawingml/2006/main">
              <a:ext uri="{FF2B5EF4-FFF2-40B4-BE49-F238E27FC236}">
                <a16:creationId xmlns:a16="http://schemas.microsoft.com/office/drawing/2014/main" id="{133BD7C4-83E5-481E-969E-F526A4B0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Které informace by musely být dohledatelné, aby bylo tvrzení ověřitelné?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1E753972-DC7B-4AAB-8C35-C6DADFAB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1-424">
            <a:extLst xmlns:a="http://schemas.openxmlformats.org/drawingml/2006/main">
              <a:ext uri="{FF2B5EF4-FFF2-40B4-BE49-F238E27FC236}">
                <a16:creationId xmlns:a16="http://schemas.microsoft.com/office/drawing/2014/main" id="{ABCCD710-A5A1-4628-8C6C-57925A6A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41-425">
            <a:extLst xmlns:a="http://schemas.openxmlformats.org/drawingml/2006/main">
              <a:ext uri="{FF2B5EF4-FFF2-40B4-BE49-F238E27FC236}">
                <a16:creationId xmlns:a16="http://schemas.microsoft.com/office/drawing/2014/main" id="{9E4C8CE9-84DD-4E08-A318-4D20CC7B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Bezpečný krok</a:t>
            </a:r>
          </a:p>
        </p:txBody>
      </p:sp>
      <p:sp>
        <p:nvSpPr>
          <p:cNvPr id="21" name="text-741-474">
            <a:extLst xmlns:a="http://schemas.openxmlformats.org/drawingml/2006/main">
              <a:ext uri="{FF2B5EF4-FFF2-40B4-BE49-F238E27FC236}">
                <a16:creationId xmlns:a16="http://schemas.microsoft.com/office/drawing/2014/main" id="{E918FC9B-C39A-4E0C-95B5-32A469D4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Jak by vypadal přepis, který nešíří tvrzení jako fakt?</a:t>
            </a:r>
          </a:p>
        </p:txBody>
      </p:sp>
    </p:spTree>
    <p:extLst>
      <p:ext uri="{BB962C8B-B14F-4D97-AF65-F5344CB8AC3E}">
        <p14:creationId xmlns:p14="http://schemas.microsoft.com/office/powerpoint/2010/main" val="1676463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FBA24BBF-960B-42E8-A5AF-4433F6CA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38–42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D346661C-7245-497A-AA69-AE241380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měla dobrá odpověď obsahovat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44999020-9A91-4A9A-B3F4-ADD50D83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B6960D0C-7E56-41A6-92CC-DF2DEF8D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0325F6D3-519D-4C72-AB5A-754EC870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7  /  6</a:t>
            </a:r>
          </a:p>
        </p:txBody>
      </p:sp>
      <p:sp>
        <p:nvSpPr>
          <p:cNvPr id="6" name="text-41-171">
            <a:extLst xmlns:a="http://schemas.openxmlformats.org/drawingml/2006/main">
              <a:ext uri="{FF2B5EF4-FFF2-40B4-BE49-F238E27FC236}">
                <a16:creationId xmlns:a16="http://schemas.microsoft.com/office/drawing/2014/main" id="{C4D56367-A6B5-4C70-A468-B6C11204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PODLOŽENÝ ZÁVĚR</a:t>
            </a:r>
          </a:p>
        </p:txBody>
      </p:sp>
      <p:sp>
        <p:nvSpPr>
          <p:cNvPr id="7" name="text-41-224">
            <a:extLst xmlns:a="http://schemas.openxmlformats.org/drawingml/2006/main">
              <a:ext uri="{FF2B5EF4-FFF2-40B4-BE49-F238E27FC236}">
                <a16:creationId xmlns:a16="http://schemas.microsoft.com/office/drawing/2014/main" id="{81B45B42-0A43-40AA-834D-820B2BE8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Emoční tlak</a:t>
            </a:r>
          </a:p>
        </p:txBody>
      </p:sp>
      <p:sp>
        <p:nvSpPr>
          <p:cNvPr id="8" name="text-264-224">
            <a:extLst xmlns:a="http://schemas.openxmlformats.org/drawingml/2006/main">
              <a:ext uri="{FF2B5EF4-FFF2-40B4-BE49-F238E27FC236}">
                <a16:creationId xmlns:a16="http://schemas.microsoft.com/office/drawing/2014/main" id="{C45F91D2-3EE9-40FF-870B-AE5D0037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336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Výrazy okamžitě, celý měsíc, média mlčí a kdo nesdílí, tomu nezáleží.</a:t>
            </a:r>
          </a:p>
        </p:txBody>
      </p:sp>
      <p:sp>
        <p:nvSpPr>
          <p:cNvPr id="9" name="text-41-336">
            <a:extLst xmlns:a="http://schemas.openxmlformats.org/drawingml/2006/main">
              <a:ext uri="{FF2B5EF4-FFF2-40B4-BE49-F238E27FC236}">
                <a16:creationId xmlns:a16="http://schemas.microsoft.com/office/drawing/2014/main" id="{3B8F2634-F2D2-4EF9-9186-63F2218C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Údajný zdroj</a:t>
            </a:r>
          </a:p>
        </p:txBody>
      </p:sp>
      <p:sp>
        <p:nvSpPr>
          <p:cNvPr id="10" name="text-264-336">
            <a:extLst xmlns:a="http://schemas.openxmlformats.org/drawingml/2006/main">
              <a:ext uri="{FF2B5EF4-FFF2-40B4-BE49-F238E27FC236}">
                <a16:creationId xmlns:a16="http://schemas.microsoft.com/office/drawing/2014/main" id="{818583B6-FBD8-49EA-8371-D9FEB4E7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Neurčitý kamarád kamaráda bez jména, dokumentu či možnosti ověření.</a:t>
            </a:r>
          </a:p>
        </p:txBody>
      </p:sp>
      <p:sp>
        <p:nvSpPr>
          <p:cNvPr id="11" name="text-41-448">
            <a:extLst xmlns:a="http://schemas.openxmlformats.org/drawingml/2006/main">
              <a:ext uri="{FF2B5EF4-FFF2-40B4-BE49-F238E27FC236}">
                <a16:creationId xmlns:a16="http://schemas.microsoft.com/office/drawing/2014/main" id="{A024C1AB-C1F5-4F6E-93AF-DA4CC6B3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Fotografie</a:t>
            </a:r>
          </a:p>
        </p:txBody>
      </p:sp>
      <p:sp>
        <p:nvSpPr>
          <p:cNvPr id="12" name="text-264-448">
            <a:extLst xmlns:a="http://schemas.openxmlformats.org/drawingml/2006/main">
              <a:ext uri="{FF2B5EF4-FFF2-40B4-BE49-F238E27FC236}">
                <a16:creationId xmlns:a16="http://schemas.microsoft.com/office/drawing/2014/main" id="{BB8AFC6D-1488-4BDD-9AB2-EB5952F9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Ukazuje běžný výdej jídla, ale neprokazuje datum, školu, prošlost potravin ani délku problému.</a:t>
            </a:r>
          </a:p>
        </p:txBody>
      </p:sp>
      <p:sp>
        <p:nvSpPr>
          <p:cNvPr id="13" name="misconception-panel">
            <a:extLst xmlns:a="http://schemas.openxmlformats.org/drawingml/2006/main">
              <a:ext uri="{FF2B5EF4-FFF2-40B4-BE49-F238E27FC236}">
                <a16:creationId xmlns:a16="http://schemas.microsoft.com/office/drawing/2014/main" id="{C53A9860-8B54-4032-B23A-97866826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91-203">
            <a:extLst xmlns:a="http://schemas.openxmlformats.org/drawingml/2006/main">
              <a:ext uri="{FF2B5EF4-FFF2-40B4-BE49-F238E27FC236}">
                <a16:creationId xmlns:a16="http://schemas.microsoft.com/office/drawing/2014/main" id="{5E299853-312F-42B9-801B-4BB37740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335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5" name="text-691-263">
            <a:extLst xmlns:a="http://schemas.openxmlformats.org/drawingml/2006/main">
              <a:ext uri="{FF2B5EF4-FFF2-40B4-BE49-F238E27FC236}">
                <a16:creationId xmlns:a16="http://schemas.microsoft.com/office/drawing/2014/main" id="{2ED0C418-94F1-416F-93D3-AC33E085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05075"/>
            <a:ext cx="4667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„Fotografie je důkaz, protože vypadá reálně.“</a:t>
            </a:r>
          </a:p>
        </p:txBody>
      </p:sp>
      <p:sp>
        <p:nvSpPr>
          <p:cNvPr id="16" name="text-691-382">
            <a:extLst xmlns:a="http://schemas.openxmlformats.org/drawingml/2006/main">
              <a:ext uri="{FF2B5EF4-FFF2-40B4-BE49-F238E27FC236}">
                <a16:creationId xmlns:a16="http://schemas.microsoft.com/office/drawing/2014/main" id="{62420C04-8243-49FD-8FE4-399D334F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38550"/>
            <a:ext cx="4667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Realističnost neprokazuje místo, datum ani souvislost s tvrzením.</a:t>
            </a:r>
          </a:p>
        </p:txBody>
      </p:sp>
      <p:sp>
        <p:nvSpPr>
          <p:cNvPr id="17" name="text-41-576">
            <a:extLst xmlns:a="http://schemas.openxmlformats.org/drawingml/2006/main">
              <a:ext uri="{FF2B5EF4-FFF2-40B4-BE49-F238E27FC236}">
                <a16:creationId xmlns:a16="http://schemas.microsoft.com/office/drawing/2014/main" id="{A66A5525-BE50-4853-B2F2-80114936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1141095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úvodnímu rozhodnutí. Co bys teď změnil — a proč?</a:t>
            </a:r>
          </a:p>
        </p:txBody>
      </p:sp>
    </p:spTree>
    <p:extLst>
      <p:ext uri="{BB962C8B-B14F-4D97-AF65-F5344CB8AC3E}">
        <p14:creationId xmlns:p14="http://schemas.microsoft.com/office/powerpoint/2010/main" val="6938267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0A811D46-C761-4E00-A5ED-49F25071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9324821C-9CB7-4A5F-A03A-D198F5B9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HODINA 7 · POSLEDNÍ 3 MINUTY</a:t>
            </a:r>
          </a:p>
        </p:txBody>
      </p:sp>
      <p:sp>
        <p:nvSpPr>
          <p:cNvPr id="3" name="text-54-154">
            <a:extLst xmlns:a="http://schemas.openxmlformats.org/drawingml/2006/main">
              <a:ext uri="{FF2B5EF4-FFF2-40B4-BE49-F238E27FC236}">
                <a16:creationId xmlns:a16="http://schemas.microsoft.com/office/drawing/2014/main" id="{28AA042F-EAE7-4F15-8EF2-A3F54B00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81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D3B253D4-B09E-48B0-8F83-C798546B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Napiš první krok, který uděláš před sdílením silně emotivního příspěvku.</a:t>
            </a:r>
          </a:p>
        </p:txBody>
      </p:sp>
      <p:sp>
        <p:nvSpPr>
          <p:cNvPr id="5" name="exit-line">
            <a:extLst xmlns:a="http://schemas.openxmlformats.org/drawingml/2006/main">
              <a:ext uri="{FF2B5EF4-FFF2-40B4-BE49-F238E27FC236}">
                <a16:creationId xmlns:a16="http://schemas.microsoft.com/office/drawing/2014/main" id="{31479A39-92A7-4067-858A-6B7D5DF9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4">
            <a:extLst xmlns:a="http://schemas.openxmlformats.org/drawingml/2006/main">
              <a:ext uri="{FF2B5EF4-FFF2-40B4-BE49-F238E27FC236}">
                <a16:creationId xmlns:a16="http://schemas.microsoft.com/office/drawing/2014/main" id="{7137FFDB-5040-4E9F-930E-CD14A512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91440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krok nebo důvod.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6508564E-C13A-485C-91A5-49EF5C21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A92C5A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75047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Karel Hlas</dc:creator>
  <lastModifiedBy>Walnut Exporter</lastModifiedBy>
  <dc:title>Presentation</dc:title>
  <dcterms:created xsi:type="dcterms:W3CDTF">2026-07-24T13:43:37.9090000Z</dcterms:created>
  <dcterms:modified xsi:type="dcterms:W3CDTF">2026-07-24T13:43:37.9090000Z</dcterms:modified>
</coreProperties>
</file>