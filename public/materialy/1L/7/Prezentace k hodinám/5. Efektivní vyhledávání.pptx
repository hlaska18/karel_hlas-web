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323661725c4442e" Type="http://schemas.openxmlformats.org/officeDocument/2006/relationships/extended-properties" Target="docProps/app.xml"/><Relationship Id="Ra7e3991902fb458e" Type="http://schemas.openxmlformats.org/package/2006/relationships/metadata/core-properties" Target="docProps/core.xml"/><Relationship Id="Rb1b9046160ef49fc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74b0ea9cdd415a"/>
  </p:sldMasterIdLst>
  <p:notesMasterIdLst>
    <p:notesMasterId xmlns:r="http://schemas.openxmlformats.org/officeDocument/2006/relationships" r:id="R05090a602ecc4eb0"/>
  </p:notesMasterIdLst>
  <p:sldIdLst>
    <p:sldId xmlns:r="http://schemas.openxmlformats.org/officeDocument/2006/relationships" id="256" r:id="Rdc0b25eb65cf4e2f"/>
    <p:sldId xmlns:r="http://schemas.openxmlformats.org/officeDocument/2006/relationships" id="257" r:id="Rfb65ae93c7374ddc"/>
    <p:sldId xmlns:r="http://schemas.openxmlformats.org/officeDocument/2006/relationships" id="258" r:id="Rd8413343d2da473a"/>
    <p:sldId xmlns:r="http://schemas.openxmlformats.org/officeDocument/2006/relationships" id="259" r:id="Re1682313d14d4bfc"/>
    <p:sldId xmlns:r="http://schemas.openxmlformats.org/officeDocument/2006/relationships" id="260" r:id="R0fe03370c79e49a4"/>
    <p:sldId xmlns:r="http://schemas.openxmlformats.org/officeDocument/2006/relationships" id="261" r:id="R88480a80943347b5"/>
    <p:sldId xmlns:r="http://schemas.openxmlformats.org/officeDocument/2006/relationships" id="262" r:id="R33fbc7a3acd44f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090a602ecc4eb0" Type="http://schemas.openxmlformats.org/officeDocument/2006/relationships/notesMaster" Target="notesMasters/notesMaster1.xml"/><Relationship Id="R0fe03370c79e49a4" Type="http://schemas.openxmlformats.org/officeDocument/2006/relationships/slide" Target="slides/slide5.xml"/><Relationship Id="R33fbc7a3acd44f26" Type="http://schemas.openxmlformats.org/officeDocument/2006/relationships/slide" Target="slides/slide7.xml"/><Relationship Id="R60669c25e6614fdc" Type="http://schemas.openxmlformats.org/officeDocument/2006/relationships/tableStyles" Target="tableStyles.xml"/><Relationship Id="R6da459f832324004" Type="http://schemas.openxmlformats.org/officeDocument/2006/relationships/theme" Target="theme/theme1.xml"/><Relationship Id="R88480a80943347b5" Type="http://schemas.openxmlformats.org/officeDocument/2006/relationships/slide" Target="slides/slide6.xml"/><Relationship Id="Racd8b994d7da475b" Type="http://schemas.openxmlformats.org/officeDocument/2006/relationships/presProps" Target="presProps.xml"/><Relationship Id="Rc374b0ea9cdd415a" Type="http://schemas.openxmlformats.org/officeDocument/2006/relationships/slideMaster" Target="slideMasters/slideMaster1.xml"/><Relationship Id="Rd8413343d2da473a" Type="http://schemas.openxmlformats.org/officeDocument/2006/relationships/slide" Target="slides/slide3.xml"/><Relationship Id="Rdc0b25eb65cf4e2f" Type="http://schemas.openxmlformats.org/officeDocument/2006/relationships/slide" Target="slides/slide1.xml"/><Relationship Id="Re1682313d14d4bfc" Type="http://schemas.openxmlformats.org/officeDocument/2006/relationships/slide" Target="slides/slide4.xml"/><Relationship Id="Rfb65ae93c7374ddc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bc32a303d0e74f0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2d6fcbd013746b0" Type="http://schemas.openxmlformats.org/officeDocument/2006/relationships/notesMaster" Target="../notesMasters/notesMaster1.xml"/><Relationship Id="Reddc2d4f5e50473a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2fe6b2fb4df4f76" Type="http://schemas.openxmlformats.org/officeDocument/2006/relationships/notesMaster" Target="../notesMasters/notesMaster1.xml"/><Relationship Id="Rcecf481790a34bf3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96a50ef9971e48e6" Type="http://schemas.openxmlformats.org/officeDocument/2006/relationships/slide" Target="../slides/slide3.xml"/><Relationship Id="Rcd1fd99dc16e4266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43d2a94d988f4881" Type="http://schemas.openxmlformats.org/officeDocument/2006/relationships/notesMaster" Target="../notesMasters/notesMaster1.xml"/><Relationship Id="R5b4bfe0b8e68471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05ae435a535b4476" Type="http://schemas.openxmlformats.org/officeDocument/2006/relationships/slide" Target="../slides/slide5.xml"/><Relationship Id="R2a75a8a05d4b433b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50b9ea0150eb470a" Type="http://schemas.openxmlformats.org/officeDocument/2006/relationships/notesMaster" Target="../notesMasters/notesMaster1.xml"/><Relationship Id="R5dba0f2d440948de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4fa01f8e99314418" Type="http://schemas.openxmlformats.org/officeDocument/2006/relationships/slide" Target="../slides/slide7.xml"/><Relationship Id="R8b9de095578b4eba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Výukový cíl: Student převede informační potřebu na přesný dotaz, použije operátory a zaznamená cestu k vybranému zdroji.</a:t>
            </a:r>
          </a:p>
          <a:p xmlns:a="http://schemas.openxmlformats.org/drawingml/2006/main">
            <a:r>
              <a:t>Soubory: 5. Vyhledávací výzva.txt, digitální pracovní sešit, webový prohlížeč</a:t>
            </a:r>
          </a:p>
          <a:p xmlns:a="http://schemas.openxmlformats.org/drawingml/2006/main">
            <a:r>
              <a:t>Výstup: Záznam šesti dotazů, vybraných URL, původců a důvodů výběru.</a:t>
            </a:r>
          </a:p>
          <a:p xmlns:a="http://schemas.openxmlformats.org/drawingml/2006/main">
            <a:r>
              <a:t>Před otevřením dalšího snímku stručně uveďte téma a nechte studenty připravit pracovní soubory.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0–6 minut.</a:t>
            </a:r>
          </a:p>
          <a:p xmlns:a="http://schemas.openxmlformats.org/drawingml/2006/main">
            <a:r>
              <a:t>Činnost: Co přesně potřebuji zjistit.</a:t>
            </a:r>
          </a:p>
          <a:p xmlns:a="http://schemas.openxmlformats.org/drawingml/2006/main">
            <a:r>
              <a:t>Postup učitele: Nechte studenty přepsat neurčitý dotaz na otázku s účelem.</a:t>
            </a:r>
          </a:p>
          <a:p xmlns:a="http://schemas.openxmlformats.org/drawingml/2006/main">
            <a:r>
              <a:t>Otázka pro studenty: Proč první výsledek vyhledávání nemusí být nejlepší?</a:t>
            </a:r>
          </a:p>
          <a:p xmlns:a="http://schemas.openxmlformats.org/drawingml/2006/main">
            <a:r>
              <a:t>Neprozrazujte správnou odpověď. Cílem je zachytit počáteční úsudek, ke kterému se třída vrátí při reflexi.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6–13 minut.</a:t>
            </a:r>
          </a:p>
          <a:p xmlns:a="http://schemas.openxmlformats.org/drawingml/2006/main">
            <a:r>
              <a:t>Činnost: Operátory a filtry.</a:t>
            </a:r>
          </a:p>
          <a:p xmlns:a="http://schemas.openxmlformats.org/drawingml/2006/main">
            <a:r>
              <a:t>Postup učitele: Demonstrujte uvozovky, site:, filetype: a vyloučení slov.</a:t>
            </a:r>
          </a:p>
          <a:p xmlns:a="http://schemas.openxmlformats.org/drawingml/2006/main">
            <a:r>
              <a:t>Klíčové závěry: NÚKIB PDF: Např. kybernetická bezpečnost site:nukib.gov.cz filetype:pdf. | Adresa školy: Např. přesný název vaší školy a operátor site: s doménou školního webu. | ÚOOÚ školství: Např. školství osobní údaje site:uoou.gov.cz.</a:t>
            </a:r>
          </a:p>
          <a:p xmlns:a="http://schemas.openxmlformats.org/drawingml/2006/main">
            <a:r>
              <a:t>Nechte studenty doplnit příklad ke každému bodu. Přechod k aktivitě proveďte otázkou: Jak tyto tři body použijeme na dnešní soubor?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Hlavní aktivita využívá: 5. Vyhledávací výzva.txt, digitální pracovní sešit, webový prohlížeč</a:t>
            </a:r>
          </a:p>
          <a:p xmlns:a="http://schemas.openxmlformats.org/drawingml/2006/main">
            <a:r>
              <a:t>13–31 min – Vyhledávací výzva: Studenti pracují samostatně; pomáhejte otázkou, ne hotovým dotazem.</a:t>
            </a:r>
          </a:p>
          <a:p xmlns:a="http://schemas.openxmlformats.org/drawingml/2006/main">
            <a:r>
              <a:t>31–38 min – Porovnání cest: Dvojice srovnají rozdílné dotazy vedoucí k témuž zdroji.</a:t>
            </a:r>
          </a:p>
          <a:p xmlns:a="http://schemas.openxmlformats.org/drawingml/2006/main">
            <a:r>
              <a:t>38–42 min – Výběr zdroje: Oddělte relevanci, autoritu a aktuálnost.</a:t>
            </a:r>
          </a:p>
          <a:p xmlns:a="http://schemas.openxmlformats.org/drawingml/2006/main">
            <a:r>
              <a:t>Požadovaný výstup: Záznam šesti dotazů, vybraných URL, původců a důvodů výběru.</a:t>
            </a:r>
          </a:p>
          <a:p xmlns:a="http://schemas.openxmlformats.org/drawingml/2006/main">
            <a:r>
              <a:t>Během práce nepřebírejte myš za studenta. Pomáhejte otázkami z dalšího snímku a žádejte, aby každé rozhodnutí opřel o konkrétní znak nebo zdroj.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Kritérium úspěchu: Student doloží alespoň čtyři úkoly dotazem, zdrojem a vysvětlením vhodnosti.</a:t>
            </a:r>
          </a:p>
          <a:p xmlns:a="http://schemas.openxmlformats.org/drawingml/2006/main">
            <a:r>
              <a:t>Vodicí otázky: Které slovo v dotazu je příliš obecné a čím ho nahradíš? | Hledáš pravidlo instituce, odborné vysvětlení, nebo zkušenost uživatele? | Jak poznáš reklamní výsledek a proč nemusí být první výsledek nejlepší?</a:t>
            </a:r>
          </a:p>
          <a:p xmlns:a="http://schemas.openxmlformats.org/drawingml/2006/main">
            <a:r>
              <a:t>Podpora: Nabídněte stavebnici dotazu: klíčový pojem + instituce + typ dokumentu + omezení domény.</a:t>
            </a:r>
          </a:p>
          <a:p xmlns:a="http://schemas.openxmlformats.org/drawingml/2006/main">
            <a:r>
              <a:t>Rozšíření: Student porovná výsledky dvou vyhledávačů nebo český a anglický odborný termín.</a:t>
            </a:r>
          </a:p>
          <a:p xmlns:a="http://schemas.openxmlformats.org/drawingml/2006/main">
            <a:r>
              <a:t>Pro rychlou mezikontrolu nechte dvojice vyměnit výstup a označit jeden dobře doložený bod a jednu otázku, která ještě zůstává.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Očekávané závěry: NÚKIB PDF: Např. kybernetická bezpečnost site:nukib.gov.cz filetype:pdf. | Adresa školy: Např. přesný název vaší školy a operátor site: s doménou školního webu. | ÚOOÚ školství: Např. školství osobní údaje site:uoou.gov.cz. | 2FA: Odborný dotaz s termínem dvoufaktorová autentizace a identifikovanou institucí či autorem. | Dva zdroje: Nestačí dva výsledky přebírající stejnou tiskovou zprávu; hledejte nezávislý původ.</a:t>
            </a:r>
          </a:p>
          <a:p xmlns:a="http://schemas.openxmlformats.org/drawingml/2006/main">
            <a:r>
              <a:t>Časté chyby a intervence: Student zapisuje pouze odpověď. → Vraťte úkol k dohledatelné cestě: dotaz – URL – původce – důvod výběru. | „Oficiální zdroj je vždy nejlepší.“ → Je vhodný pro vlastní pravidla instituce; pro dopad či kritiku může být potřeba jiný typ zdroje. | Student mění dotaz bez záznamu. → Nechte zachovat alespoň první a poslední verzi, aby byl postup viditelný.</a:t>
            </a:r>
          </a:p>
          <a:p xmlns:a="http://schemas.openxmlformats.org/drawingml/2006/main">
            <a:r>
              <a:t>Nečtěte celý klíč. Vyberte dva studentské postupy, které vedou k odlišným závěrům, a nechte třídu určit, který je lépe podložený.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ticket: Napiš původní a vylepšený dotaz a jednou větou popiš rozdíl ve výsledcích.</a:t>
            </a:r>
          </a:p>
          <a:p xmlns:a="http://schemas.openxmlformats.org/drawingml/2006/main">
            <a:r>
              <a:t>Podpora: Nabídněte stavebnici dotazu: klíčový pojem + instituce + typ dokumentu + omezení domény.</a:t>
            </a:r>
          </a:p>
          <a:p xmlns:a="http://schemas.openxmlformats.org/drawingml/2006/main">
            <a:r>
              <a:t>Rozšíření: Student porovná výsledky dvou vyhledávačů nebo český a anglický odborný termín.</a:t>
            </a:r>
          </a:p>
          <a:p xmlns:a="http://schemas.openxmlformats.org/drawingml/2006/main">
            <a:r>
              <a:t>Když technika selže: Bez internetu studenti vytvoří a obhájí dotazy pro všech šest úkolů; výsledky doplní v další hodině.</a:t>
            </a:r>
          </a:p>
          <a:p xmlns:a="http://schemas.openxmlformats.org/drawingml/2006/main">
            <a:r>
              <a:t>Vyberte způsob odevzdání předem. Odpověď použijte jako diagnostiku pro začátek další hodiny; nehodnoťte pouze formální správnost, ale konkrétnost a zdůvodnění.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8be71ee005649e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d7a9609504e42a8" Type="http://schemas.openxmlformats.org/officeDocument/2006/relationships/theme" Target="theme/theme2.xml"/><Relationship Id="R955464a3e8c144e7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5464a3e8c144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0d91b13dc6d4d21" Type="http://schemas.openxmlformats.org/officeDocument/2006/relationships/notesSlide" Target="../notesSlides/notesSlide1.xml"/><Relationship Id="Rb6669fc4be244a5f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21a470b8ee614c93" Type="http://schemas.openxmlformats.org/officeDocument/2006/relationships/slideLayout" Target="../slideLayouts/slideLayout1.xml"/><Relationship Id="R959a452bcfaa49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5c99a2ebb9e42f7" Type="http://schemas.openxmlformats.org/officeDocument/2006/relationships/slideLayout" Target="../slideLayouts/slideLayout1.xml"/><Relationship Id="Re7e8c8ffa40f4bd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34f3850a0e7e44d7" Type="http://schemas.openxmlformats.org/officeDocument/2006/relationships/notesSlide" Target="../notesSlides/notesSlide4.xml"/><Relationship Id="R9eea6fa5d8d64133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7c0272a4f5bf4b6f" Type="http://schemas.openxmlformats.org/officeDocument/2006/relationships/notesSlide" Target="../notesSlides/notesSlide5.xml"/><Relationship Id="Rf4cf99d6dd6f4bcc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1ff5b477d96a4abc" Type="http://schemas.openxmlformats.org/officeDocument/2006/relationships/notesSlide" Target="../notesSlides/notesSlide6.xml"/><Relationship Id="Rc5d91b05d45b4be3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51529b6f4234bd2" Type="http://schemas.openxmlformats.org/officeDocument/2006/relationships/notesSlide" Target="../notesSlides/notesSlide7.xml"/><Relationship Id="R8b1060fe852f4a74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C7B0792F-0563-421D-801C-39D6F716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CD324822-002F-4E13-815D-B32B07B8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HODINA 5 / 10</a:t>
            </a:r>
          </a:p>
        </p:txBody>
      </p:sp>
      <p:sp>
        <p:nvSpPr>
          <p:cNvPr id="3" name="text-870-48">
            <a:extLst xmlns:a="http://schemas.openxmlformats.org/drawingml/2006/main">
              <a:ext uri="{FF2B5EF4-FFF2-40B4-BE49-F238E27FC236}">
                <a16:creationId xmlns:a16="http://schemas.microsoft.com/office/drawing/2014/main" id="{BDEA566D-0865-4841-A1A8-FE3B713D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"/>
            <a:ext cx="342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INTERNET, BEZPEČNOST
A PRÁCE S INFORMACEMI</a:t>
            </a:r>
          </a:p>
        </p:txBody>
      </p:sp>
      <p:sp>
        <p:nvSpPr>
          <p:cNvPr id="4" name="text-54-255">
            <a:extLst xmlns:a="http://schemas.openxmlformats.org/drawingml/2006/main">
              <a:ext uri="{FF2B5EF4-FFF2-40B4-BE49-F238E27FC236}">
                <a16:creationId xmlns:a16="http://schemas.microsoft.com/office/drawing/2014/main" id="{6C3633DB-A751-437A-B43A-A70036A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10715625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Efektivní vyhledávání informací</a:t>
            </a:r>
          </a:p>
        </p:txBody>
      </p:sp>
      <p:sp>
        <p:nvSpPr>
          <p:cNvPr id="5" name="text-56-506">
            <a:extLst xmlns:a="http://schemas.openxmlformats.org/drawingml/2006/main">
              <a:ext uri="{FF2B5EF4-FFF2-40B4-BE49-F238E27FC236}">
                <a16:creationId xmlns:a16="http://schemas.microsoft.com/office/drawing/2014/main" id="{28E506AA-5047-4A74-8542-23AB8B1C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8191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Student převede informační potřebu na přesný dotaz, použije operátory a zaznamená cestu k vybranému zdroji.</a:t>
            </a:r>
          </a:p>
        </p:txBody>
      </p:sp>
      <p:sp>
        <p:nvSpPr>
          <p:cNvPr id="6" name="lesson-number">
            <a:extLst xmlns:a="http://schemas.openxmlformats.org/drawingml/2006/main">
              <a:ext uri="{FF2B5EF4-FFF2-40B4-BE49-F238E27FC236}">
                <a16:creationId xmlns:a16="http://schemas.microsoft.com/office/drawing/2014/main" id="{8F459E90-8576-4496-90F5-CB0C278C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819650"/>
            <a:ext cx="1181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text-1065-524">
            <a:extLst xmlns:a="http://schemas.openxmlformats.org/drawingml/2006/main">
              <a:ext uri="{FF2B5EF4-FFF2-40B4-BE49-F238E27FC236}">
                <a16:creationId xmlns:a16="http://schemas.microsoft.com/office/drawing/2014/main" id="{0A4CE9AC-2FC4-476A-AA85-3E5E208D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91100"/>
            <a:ext cx="11811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8" name="text-1065-603">
            <a:extLst xmlns:a="http://schemas.openxmlformats.org/drawingml/2006/main">
              <a:ext uri="{FF2B5EF4-FFF2-40B4-BE49-F238E27FC236}">
                <a16:creationId xmlns:a16="http://schemas.microsoft.com/office/drawing/2014/main" id="{8DE488B3-5695-4A17-AC65-53CEA168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743575"/>
            <a:ext cx="118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45 MIN</a:t>
            </a:r>
          </a:p>
        </p:txBody>
      </p:sp>
    </p:spTree>
    <p:extLst>
      <p:ext uri="{BB962C8B-B14F-4D97-AF65-F5344CB8AC3E}">
        <p14:creationId xmlns:p14="http://schemas.microsoft.com/office/powerpoint/2010/main" val="375648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BDA0406E-04C9-485C-8225-E57FBDF3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0–6 MIN · ÚVOD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56B95F06-C974-4AEC-B32E-799FC1E6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Začni vlastním rozhodnutím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70FCA4E6-8F4C-450D-AD8A-BD7FEDE6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1E504BB6-0A16-43EB-B82F-C4EC0845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13D5E0B7-0D4E-4BFB-9EAF-2A134B27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5  /  2</a:t>
            </a:r>
          </a:p>
        </p:txBody>
      </p:sp>
      <p:sp>
        <p:nvSpPr>
          <p:cNvPr id="6" name="text-41-188">
            <a:extLst xmlns:a="http://schemas.openxmlformats.org/drawingml/2006/main">
              <a:ext uri="{FF2B5EF4-FFF2-40B4-BE49-F238E27FC236}">
                <a16:creationId xmlns:a16="http://schemas.microsoft.com/office/drawing/2014/main" id="{08EF14C5-2888-4438-8A49-E7B8E248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Proč první výsledek vyhledávání nemusí být nejlepší?</a:t>
            </a:r>
          </a:p>
        </p:txBody>
      </p:sp>
      <p:sp>
        <p:nvSpPr>
          <p:cNvPr id="7" name="prompt-panel">
            <a:extLst xmlns:a="http://schemas.openxmlformats.org/drawingml/2006/main">
              <a:ext uri="{FF2B5EF4-FFF2-40B4-BE49-F238E27FC236}">
                <a16:creationId xmlns:a16="http://schemas.microsoft.com/office/drawing/2014/main" id="{BE49F0B3-1C99-46E5-99BF-6F097DC2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38625"/>
            <a:ext cx="11410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text-70-476">
            <a:extLst xmlns:a="http://schemas.openxmlformats.org/drawingml/2006/main">
              <a:ext uri="{FF2B5EF4-FFF2-40B4-BE49-F238E27FC236}">
                <a16:creationId xmlns:a16="http://schemas.microsoft.com/office/drawing/2014/main" id="{80DA5D28-1410-4A01-B93E-ADD965F0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9051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ROZHODNI SÁM</a:t>
            </a:r>
          </a:p>
        </p:txBody>
      </p:sp>
      <p:sp>
        <p:nvSpPr>
          <p:cNvPr id="9" name="text-70-520">
            <a:extLst xmlns:a="http://schemas.openxmlformats.org/drawingml/2006/main">
              <a:ext uri="{FF2B5EF4-FFF2-40B4-BE49-F238E27FC236}">
                <a16:creationId xmlns:a16="http://schemas.microsoft.com/office/drawing/2014/main" id="{921DAF44-DEE5-4DC3-BA5C-CF91FB82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29051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02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Zapiš jeden konkrétní důvod.</a:t>
            </a:r>
          </a:p>
        </p:txBody>
      </p:sp>
      <p:sp>
        <p:nvSpPr>
          <p:cNvPr id="10" name="text-461-476">
            <a:extLst xmlns:a="http://schemas.openxmlformats.org/drawingml/2006/main">
              <a:ext uri="{FF2B5EF4-FFF2-40B4-BE49-F238E27FC236}">
                <a16:creationId xmlns:a16="http://schemas.microsoft.com/office/drawing/2014/main" id="{704EC686-8FD9-4E7A-97BF-D1BECE61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533900"/>
            <a:ext cx="3381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POROVNEJ VE DVOJICI</a:t>
            </a:r>
          </a:p>
        </p:txBody>
      </p:sp>
      <p:sp>
        <p:nvSpPr>
          <p:cNvPr id="11" name="text-461-520">
            <a:extLst xmlns:a="http://schemas.openxmlformats.org/drawingml/2006/main">
              <a:ext uri="{FF2B5EF4-FFF2-40B4-BE49-F238E27FC236}">
                <a16:creationId xmlns:a16="http://schemas.microsoft.com/office/drawing/2014/main" id="{CD8F22E2-3DA0-4433-B178-B8CA14D4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953000"/>
            <a:ext cx="33813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Najděte bod, ve kterém se lišíte.</a:t>
            </a:r>
          </a:p>
        </p:txBody>
      </p:sp>
      <p:sp>
        <p:nvSpPr>
          <p:cNvPr id="12" name="text-900-476">
            <a:extLst xmlns:a="http://schemas.openxmlformats.org/drawingml/2006/main">
              <a:ext uri="{FF2B5EF4-FFF2-40B4-BE49-F238E27FC236}">
                <a16:creationId xmlns:a16="http://schemas.microsoft.com/office/drawing/2014/main" id="{38B62FDD-534E-4B61-99A7-A1D5A5B9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PŘIPRAV OBHAJOBU</a:t>
            </a:r>
          </a:p>
        </p:txBody>
      </p:sp>
      <p:sp>
        <p:nvSpPr>
          <p:cNvPr id="13" name="text-900-520">
            <a:extLst xmlns:a="http://schemas.openxmlformats.org/drawingml/2006/main">
              <a:ext uri="{FF2B5EF4-FFF2-40B4-BE49-F238E27FC236}">
                <a16:creationId xmlns:a16="http://schemas.microsoft.com/office/drawing/2014/main" id="{25A8CCFD-86D0-45BB-AE29-01BBFFE1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276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519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by změnilo tvé rozhodnutí?</a:t>
            </a:r>
          </a:p>
        </p:txBody>
      </p:sp>
    </p:spTree>
    <p:extLst>
      <p:ext uri="{BB962C8B-B14F-4D97-AF65-F5344CB8AC3E}">
        <p14:creationId xmlns:p14="http://schemas.microsoft.com/office/powerpoint/2010/main" val="14407155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40B6D5E3-06F8-450B-9144-8D591E15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6–13 MIN · MINIMUM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EBFD3811-6FA4-44F0-BC72-B1755D89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Tři opěrné body pro rozhodování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F3CB3008-3D89-404C-AABA-3D541A64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A694A8E5-3A39-48A6-A86D-53796E6B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C50246CF-B40A-4EF8-B82D-311E6001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5  /  3</a:t>
            </a:r>
          </a:p>
        </p:txBody>
      </p:sp>
      <p:sp>
        <p:nvSpPr>
          <p:cNvPr id="6" name="text-41-179">
            <a:extLst xmlns:a="http://schemas.openxmlformats.org/drawingml/2006/main">
              <a:ext uri="{FF2B5EF4-FFF2-40B4-BE49-F238E27FC236}">
                <a16:creationId xmlns:a16="http://schemas.microsoft.com/office/drawing/2014/main" id="{B6ADEA7F-9A78-43E5-B219-C0BA2565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text-41-274">
            <a:extLst xmlns:a="http://schemas.openxmlformats.org/drawingml/2006/main">
              <a:ext uri="{FF2B5EF4-FFF2-40B4-BE49-F238E27FC236}">
                <a16:creationId xmlns:a16="http://schemas.microsoft.com/office/drawing/2014/main" id="{A1D8F823-9854-41D1-8D38-DE3C508C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Přesný dotaz</a:t>
            </a:r>
          </a:p>
        </p:txBody>
      </p:sp>
      <p:sp>
        <p:nvSpPr>
          <p:cNvPr id="8" name="text-41-362">
            <a:extLst xmlns:a="http://schemas.openxmlformats.org/drawingml/2006/main">
              <a:ext uri="{FF2B5EF4-FFF2-40B4-BE49-F238E27FC236}">
                <a16:creationId xmlns:a16="http://schemas.microsoft.com/office/drawing/2014/main" id="{41B64A23-C7A1-417F-9D01-EC78588C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Převeď neurčitou potřebu na otázku. Přidej klíčový pojem, instituci, typ dokumentu nebo doménu.</a:t>
            </a:r>
          </a:p>
        </p:txBody>
      </p:sp>
      <p:sp>
        <p:nvSpPr>
          <p:cNvPr id="9" name="text-453-179">
            <a:extLst xmlns:a="http://schemas.openxmlformats.org/drawingml/2006/main">
              <a:ext uri="{FF2B5EF4-FFF2-40B4-BE49-F238E27FC236}">
                <a16:creationId xmlns:a16="http://schemas.microsoft.com/office/drawing/2014/main" id="{2A6C1E67-7416-4221-8D58-E3DCACDE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text-453-274">
            <a:extLst xmlns:a="http://schemas.openxmlformats.org/drawingml/2006/main">
              <a:ext uri="{FF2B5EF4-FFF2-40B4-BE49-F238E27FC236}">
                <a16:creationId xmlns:a16="http://schemas.microsoft.com/office/drawing/2014/main" id="{0373B931-6A99-43E1-8A01-75C9621D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Vhodný typ zdroje</a:t>
            </a:r>
          </a:p>
        </p:txBody>
      </p:sp>
      <p:sp>
        <p:nvSpPr>
          <p:cNvPr id="11" name="text-453-362">
            <a:extLst xmlns:a="http://schemas.openxmlformats.org/drawingml/2006/main">
              <a:ext uri="{FF2B5EF4-FFF2-40B4-BE49-F238E27FC236}">
                <a16:creationId xmlns:a16="http://schemas.microsoft.com/office/drawing/2014/main" id="{429B96D9-40E8-4A7F-BB2B-4E8D45CE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Jiný zdroj potřebuješ pro pravidlo instituce, odborné vysvětlení a zkušenost uživatele.</a:t>
            </a:r>
          </a:p>
        </p:txBody>
      </p:sp>
      <p:sp>
        <p:nvSpPr>
          <p:cNvPr id="12" name="text-865-179">
            <a:extLst xmlns:a="http://schemas.openxmlformats.org/drawingml/2006/main">
              <a:ext uri="{FF2B5EF4-FFF2-40B4-BE49-F238E27FC236}">
                <a16:creationId xmlns:a16="http://schemas.microsoft.com/office/drawing/2014/main" id="{9D12458B-5887-4527-BC60-55AFA3D6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text-865-274">
            <a:extLst xmlns:a="http://schemas.openxmlformats.org/drawingml/2006/main">
              <a:ext uri="{FF2B5EF4-FFF2-40B4-BE49-F238E27FC236}">
                <a16:creationId xmlns:a16="http://schemas.microsoft.com/office/drawing/2014/main" id="{603D7CF8-5924-42DC-B80C-105CE02E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Dohledatelná cesta</a:t>
            </a:r>
          </a:p>
        </p:txBody>
      </p:sp>
      <p:sp>
        <p:nvSpPr>
          <p:cNvPr id="14" name="text-865-362">
            <a:extLst xmlns:a="http://schemas.openxmlformats.org/drawingml/2006/main">
              <a:ext uri="{FF2B5EF4-FFF2-40B4-BE49-F238E27FC236}">
                <a16:creationId xmlns:a16="http://schemas.microsoft.com/office/drawing/2014/main" id="{DBF9F479-5720-41F6-BE98-F3367E65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Zapiš dotaz, URL, původce a důvod výběru. Samotná odpověď nestačí.</a:t>
            </a:r>
          </a:p>
        </p:txBody>
      </p:sp>
      <p:sp>
        <p:nvSpPr>
          <p:cNvPr id="15" name="key-line">
            <a:extLst xmlns:a="http://schemas.openxmlformats.org/drawingml/2006/main">
              <a:ext uri="{FF2B5EF4-FFF2-40B4-BE49-F238E27FC236}">
                <a16:creationId xmlns:a16="http://schemas.microsoft.com/office/drawing/2014/main" id="{9DC12490-E244-4A5B-8E67-65AAC704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14975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text-41-600">
            <a:extLst xmlns:a="http://schemas.openxmlformats.org/drawingml/2006/main">
              <a:ext uri="{FF2B5EF4-FFF2-40B4-BE49-F238E27FC236}">
                <a16:creationId xmlns:a16="http://schemas.microsoft.com/office/drawing/2014/main" id="{66093F65-F74B-49BE-970D-A7A74DDE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15000"/>
            <a:ext cx="11410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Nejde o rychlý tip. Jde o postup, který lze vysvětlit a zopakovat.</a:t>
            </a:r>
          </a:p>
        </p:txBody>
      </p:sp>
    </p:spTree>
    <p:extLst>
      <p:ext uri="{BB962C8B-B14F-4D97-AF65-F5344CB8AC3E}">
        <p14:creationId xmlns:p14="http://schemas.microsoft.com/office/powerpoint/2010/main" val="14306524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E01F8269-D4BD-46E5-8873-94B35D57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13–42 MIN · PRÁCE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DF3EFF1E-50AE-4027-BC0E-63C0E88A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Hlavní počítačová aktivita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871AC8BF-3200-44E4-B2D8-FA6DD052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CAC5FEE5-96E2-4610-A101-D722972D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F0D28D49-6A8D-422C-A1B0-EA9FA904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5  /  4</a:t>
            </a:r>
          </a:p>
        </p:txBody>
      </p:sp>
      <p:sp>
        <p:nvSpPr>
          <p:cNvPr id="6" name="text-41-165">
            <a:extLst xmlns:a="http://schemas.openxmlformats.org/drawingml/2006/main">
              <a:ext uri="{FF2B5EF4-FFF2-40B4-BE49-F238E27FC236}">
                <a16:creationId xmlns:a16="http://schemas.microsoft.com/office/drawing/2014/main" id="{3015C680-45F9-470F-B544-031E2BB8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OTEVŘI</a:t>
            </a:r>
          </a:p>
        </p:txBody>
      </p:sp>
      <p:sp>
        <p:nvSpPr>
          <p:cNvPr id="7" name="text-41-202">
            <a:extLst xmlns:a="http://schemas.openxmlformats.org/drawingml/2006/main">
              <a:ext uri="{FF2B5EF4-FFF2-40B4-BE49-F238E27FC236}">
                <a16:creationId xmlns:a16="http://schemas.microsoft.com/office/drawing/2014/main" id="{6D09D7FF-C9D0-4A15-AACD-E3822BBE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24050"/>
            <a:ext cx="1104900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5. Vyhledávací výzva.txt, digitální pracovní sešit, webový prohlížeč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FD31E77B-CAE5-463C-900A-24263FC3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text-63-313">
            <a:extLst xmlns:a="http://schemas.openxmlformats.org/drawingml/2006/main">
              <a:ext uri="{FF2B5EF4-FFF2-40B4-BE49-F238E27FC236}">
                <a16:creationId xmlns:a16="http://schemas.microsoft.com/office/drawing/2014/main" id="{68FE41D2-1FE1-45F4-9147-B94C2888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text-63-372">
            <a:extLst xmlns:a="http://schemas.openxmlformats.org/drawingml/2006/main">
              <a:ext uri="{FF2B5EF4-FFF2-40B4-BE49-F238E27FC236}">
                <a16:creationId xmlns:a16="http://schemas.microsoft.com/office/drawing/2014/main" id="{ED3E2F8E-347E-444E-BE19-1B826DC5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Zpřesni dotaz</a:t>
            </a:r>
          </a:p>
        </p:txBody>
      </p:sp>
      <p:sp>
        <p:nvSpPr>
          <p:cNvPr id="11" name="text-63-449">
            <a:extLst xmlns:a="http://schemas.openxmlformats.org/drawingml/2006/main">
              <a:ext uri="{FF2B5EF4-FFF2-40B4-BE49-F238E27FC236}">
                <a16:creationId xmlns:a16="http://schemas.microsoft.com/office/drawing/2014/main" id="{FD29307B-52B5-4E42-8CCA-640D1D77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Zachovej první i vylepšenou verzi dotazu, aby byl vidět posun.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4DCE9265-B3B6-4606-91D3-781A1473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text-475-313">
            <a:extLst xmlns:a="http://schemas.openxmlformats.org/drawingml/2006/main">
              <a:ext uri="{FF2B5EF4-FFF2-40B4-BE49-F238E27FC236}">
                <a16:creationId xmlns:a16="http://schemas.microsoft.com/office/drawing/2014/main" id="{5160304C-A056-4D90-8922-C288ABC2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4" name="text-475-372">
            <a:extLst xmlns:a="http://schemas.openxmlformats.org/drawingml/2006/main">
              <a:ext uri="{FF2B5EF4-FFF2-40B4-BE49-F238E27FC236}">
                <a16:creationId xmlns:a16="http://schemas.microsoft.com/office/drawing/2014/main" id="{5B7F0606-4DB7-4D41-9313-046A5893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Splň vyhledávací výzvy</a:t>
            </a:r>
          </a:p>
        </p:txBody>
      </p:sp>
      <p:sp>
        <p:nvSpPr>
          <p:cNvPr id="15" name="text-475-449">
            <a:extLst xmlns:a="http://schemas.openxmlformats.org/drawingml/2006/main">
              <a:ext uri="{FF2B5EF4-FFF2-40B4-BE49-F238E27FC236}">
                <a16:creationId xmlns:a16="http://schemas.microsoft.com/office/drawing/2014/main" id="{8174A62E-AA01-48F2-924B-BF695889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Použij podle potřeby uvozovky, site:, filetype: nebo vyloučení slov.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4BEF5709-4C57-4C68-AEA1-824639AF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text-887-313">
            <a:extLst xmlns:a="http://schemas.openxmlformats.org/drawingml/2006/main">
              <a:ext uri="{FF2B5EF4-FFF2-40B4-BE49-F238E27FC236}">
                <a16:creationId xmlns:a16="http://schemas.microsoft.com/office/drawing/2014/main" id="{B88403CE-5289-4FE9-B143-6F9E70FF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8" name="text-887-372">
            <a:extLst xmlns:a="http://schemas.openxmlformats.org/drawingml/2006/main">
              <a:ext uri="{FF2B5EF4-FFF2-40B4-BE49-F238E27FC236}">
                <a16:creationId xmlns:a16="http://schemas.microsoft.com/office/drawing/2014/main" id="{10107C74-22DF-4FD3-9007-FBA1C7AC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Zdůvodni zdroj</a:t>
            </a:r>
          </a:p>
        </p:txBody>
      </p:sp>
      <p:sp>
        <p:nvSpPr>
          <p:cNvPr id="19" name="text-887-449">
            <a:extLst xmlns:a="http://schemas.openxmlformats.org/drawingml/2006/main">
              <a:ext uri="{FF2B5EF4-FFF2-40B4-BE49-F238E27FC236}">
                <a16:creationId xmlns:a16="http://schemas.microsoft.com/office/drawing/2014/main" id="{8A65728B-68DF-4998-8043-9735FCED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Ulož URL, původce a jednu větu, proč je zdroj pro tento úkol vhodný.</a:t>
            </a:r>
          </a:p>
        </p:txBody>
      </p:sp>
      <p:sp>
        <p:nvSpPr>
          <p:cNvPr id="20" name="text-41-585">
            <a:extLst xmlns:a="http://schemas.openxmlformats.org/drawingml/2006/main">
              <a:ext uri="{FF2B5EF4-FFF2-40B4-BE49-F238E27FC236}">
                <a16:creationId xmlns:a16="http://schemas.microsoft.com/office/drawing/2014/main" id="{F6C45BE7-1155-4C60-BBE7-90FC189D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72125"/>
            <a:ext cx="1524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ODEVZDEJ</a:t>
            </a:r>
          </a:p>
        </p:txBody>
      </p:sp>
      <p:sp>
        <p:nvSpPr>
          <p:cNvPr id="21" name="text-201-581">
            <a:extLst xmlns:a="http://schemas.openxmlformats.org/drawingml/2006/main">
              <a:ext uri="{FF2B5EF4-FFF2-40B4-BE49-F238E27FC236}">
                <a16:creationId xmlns:a16="http://schemas.microsoft.com/office/drawing/2014/main" id="{21857E12-161C-4E80-B9F1-7106EEF4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534025"/>
            <a:ext cx="9886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Záznam šesti dotazů, vybraných URL, původců a důvodů výběru.</a:t>
            </a:r>
          </a:p>
        </p:txBody>
      </p:sp>
    </p:spTree>
    <p:extLst>
      <p:ext uri="{BB962C8B-B14F-4D97-AF65-F5344CB8AC3E}">
        <p14:creationId xmlns:p14="http://schemas.microsoft.com/office/powerpoint/2010/main" val="6093499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6ED8BC15-E323-49D6-A15E-BF6423B7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PRŮBĚŽNÁ KONTROLA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946A7B1E-75B7-4777-B7AA-106B2884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Než práci odevzdáš, ověř čtyři věci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2152F606-6BFC-494B-AAD0-5277D8A8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5646F735-3D36-4AD1-B995-35BD9C3A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ECF91CED-6540-4421-8DAD-93BE497B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5  /  5</a:t>
            </a:r>
          </a:p>
        </p:txBody>
      </p:sp>
      <p:sp>
        <p:nvSpPr>
          <p:cNvPr id="6" name="check-1">
            <a:extLst xmlns:a="http://schemas.openxmlformats.org/drawingml/2006/main">
              <a:ext uri="{FF2B5EF4-FFF2-40B4-BE49-F238E27FC236}">
                <a16:creationId xmlns:a16="http://schemas.microsoft.com/office/drawing/2014/main" id="{D2BA5D29-006E-41E9-B762-514E846B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text-65-205">
            <a:extLst xmlns:a="http://schemas.openxmlformats.org/drawingml/2006/main">
              <a:ext uri="{FF2B5EF4-FFF2-40B4-BE49-F238E27FC236}">
                <a16:creationId xmlns:a16="http://schemas.microsoft.com/office/drawing/2014/main" id="{4A7A22D5-A7E4-43B8-801A-67754173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text-125-206">
            <a:extLst xmlns:a="http://schemas.openxmlformats.org/drawingml/2006/main">
              <a:ext uri="{FF2B5EF4-FFF2-40B4-BE49-F238E27FC236}">
                <a16:creationId xmlns:a16="http://schemas.microsoft.com/office/drawing/2014/main" id="{5764E645-17DF-455A-B541-5EA22605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621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Výsledek</a:t>
            </a:r>
          </a:p>
        </p:txBody>
      </p:sp>
      <p:sp>
        <p:nvSpPr>
          <p:cNvPr id="9" name="text-125-255">
            <a:extLst xmlns:a="http://schemas.openxmlformats.org/drawingml/2006/main">
              <a:ext uri="{FF2B5EF4-FFF2-40B4-BE49-F238E27FC236}">
                <a16:creationId xmlns:a16="http://schemas.microsoft.com/office/drawing/2014/main" id="{C3495F14-B908-4F68-B1B4-0B9A0EC3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Student doloží alespoň čtyři úkoly dotazem, zdrojem a vysvětlením vhodnosti.</a:t>
            </a:r>
          </a:p>
        </p:txBody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2C04D68F-2C8C-4E61-BBBC-614863D7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95450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text-681-205">
            <a:extLst xmlns:a="http://schemas.openxmlformats.org/drawingml/2006/main">
              <a:ext uri="{FF2B5EF4-FFF2-40B4-BE49-F238E27FC236}">
                <a16:creationId xmlns:a16="http://schemas.microsoft.com/office/drawing/2014/main" id="{2B1ECB27-9856-4D2F-B787-D9E01CBC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52625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text-741-206">
            <a:extLst xmlns:a="http://schemas.openxmlformats.org/drawingml/2006/main">
              <a:ext uri="{FF2B5EF4-FFF2-40B4-BE49-F238E27FC236}">
                <a16:creationId xmlns:a16="http://schemas.microsoft.com/office/drawing/2014/main" id="{705A51D6-1557-489D-9FA8-3D7E3DD8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9621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Důvod</a:t>
            </a:r>
          </a:p>
        </p:txBody>
      </p:sp>
      <p:sp>
        <p:nvSpPr>
          <p:cNvPr id="13" name="text-741-255">
            <a:extLst xmlns:a="http://schemas.openxmlformats.org/drawingml/2006/main">
              <a:ext uri="{FF2B5EF4-FFF2-40B4-BE49-F238E27FC236}">
                <a16:creationId xmlns:a16="http://schemas.microsoft.com/office/drawing/2014/main" id="{929C7BCA-A8E6-4FCD-9CF9-E4165BA5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428875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Které slovo v dotazu je příliš obecné a čím ho nahradíš?</a:t>
            </a:r>
          </a:p>
        </p:txBody>
      </p:sp>
      <p:sp>
        <p:nvSpPr>
          <p:cNvPr id="14" name="check-3">
            <a:extLst xmlns:a="http://schemas.openxmlformats.org/drawingml/2006/main">
              <a:ext uri="{FF2B5EF4-FFF2-40B4-BE49-F238E27FC236}">
                <a16:creationId xmlns:a16="http://schemas.microsoft.com/office/drawing/2014/main" id="{6E980A1B-80E2-40FB-9109-5C6E8DAB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81425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text-65-424">
            <a:extLst xmlns:a="http://schemas.openxmlformats.org/drawingml/2006/main">
              <a:ext uri="{FF2B5EF4-FFF2-40B4-BE49-F238E27FC236}">
                <a16:creationId xmlns:a16="http://schemas.microsoft.com/office/drawing/2014/main" id="{BB731A11-B3BC-49A3-A027-8C1D40B1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6" name="text-125-425">
            <a:extLst xmlns:a="http://schemas.openxmlformats.org/drawingml/2006/main">
              <a:ext uri="{FF2B5EF4-FFF2-40B4-BE49-F238E27FC236}">
                <a16:creationId xmlns:a16="http://schemas.microsoft.com/office/drawing/2014/main" id="{8E32413A-30A2-4A35-9D23-35268F39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48125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Ověření</a:t>
            </a:r>
          </a:p>
        </p:txBody>
      </p:sp>
      <p:sp>
        <p:nvSpPr>
          <p:cNvPr id="17" name="text-125-474">
            <a:extLst xmlns:a="http://schemas.openxmlformats.org/drawingml/2006/main">
              <a:ext uri="{FF2B5EF4-FFF2-40B4-BE49-F238E27FC236}">
                <a16:creationId xmlns:a16="http://schemas.microsoft.com/office/drawing/2014/main" id="{FE1C1C92-3512-427F-BC8F-C2DF5981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14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Hledáš pravidlo instituce, odborné vysvětlení, nebo zkušenost uživatele?</a:t>
            </a:r>
          </a:p>
        </p:txBody>
      </p:sp>
      <p:sp>
        <p:nvSpPr>
          <p:cNvPr id="18" name="check-4">
            <a:extLst xmlns:a="http://schemas.openxmlformats.org/drawingml/2006/main">
              <a:ext uri="{FF2B5EF4-FFF2-40B4-BE49-F238E27FC236}">
                <a16:creationId xmlns:a16="http://schemas.microsoft.com/office/drawing/2014/main" id="{18017836-E2B6-40AD-A244-75910AF6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81425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text-681-424">
            <a:extLst xmlns:a="http://schemas.openxmlformats.org/drawingml/2006/main">
              <a:ext uri="{FF2B5EF4-FFF2-40B4-BE49-F238E27FC236}">
                <a16:creationId xmlns:a16="http://schemas.microsoft.com/office/drawing/2014/main" id="{886C7132-4040-42C7-A9FD-7EA739BB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38600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0" name="text-741-425">
            <a:extLst xmlns:a="http://schemas.openxmlformats.org/drawingml/2006/main">
              <a:ext uri="{FF2B5EF4-FFF2-40B4-BE49-F238E27FC236}">
                <a16:creationId xmlns:a16="http://schemas.microsoft.com/office/drawing/2014/main" id="{7F2C196C-E873-458D-B0A7-AF553400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048125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Bezpečný krok</a:t>
            </a:r>
          </a:p>
        </p:txBody>
      </p:sp>
      <p:sp>
        <p:nvSpPr>
          <p:cNvPr id="21" name="text-741-474">
            <a:extLst xmlns:a="http://schemas.openxmlformats.org/drawingml/2006/main">
              <a:ext uri="{FF2B5EF4-FFF2-40B4-BE49-F238E27FC236}">
                <a16:creationId xmlns:a16="http://schemas.microsoft.com/office/drawing/2014/main" id="{5E9EB270-F87E-473E-B900-5E2C70CF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514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Jak poznáš reklamní výsledek a proč nemusí být první výsledek nejlepší?</a:t>
            </a:r>
          </a:p>
        </p:txBody>
      </p:sp>
    </p:spTree>
    <p:extLst>
      <p:ext uri="{BB962C8B-B14F-4D97-AF65-F5344CB8AC3E}">
        <p14:creationId xmlns:p14="http://schemas.microsoft.com/office/powerpoint/2010/main" val="7939583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F2551E25-4F9A-4F19-8F81-B5A22154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38–42 MIN · SPOLEČNĚ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844D7D27-22DE-42A3-AF87-B6E04302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by měla dobrá odpověď obsahovat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CE42B0C6-5C47-4506-8AEE-534D75A1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D7E9EAA7-8B5E-4680-80B5-940A9638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02774195-932A-4320-A7BD-4B32BC1A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5  /  6</a:t>
            </a:r>
          </a:p>
        </p:txBody>
      </p:sp>
      <p:sp>
        <p:nvSpPr>
          <p:cNvPr id="6" name="text-41-171">
            <a:extLst xmlns:a="http://schemas.openxmlformats.org/drawingml/2006/main">
              <a:ext uri="{FF2B5EF4-FFF2-40B4-BE49-F238E27FC236}">
                <a16:creationId xmlns:a16="http://schemas.microsoft.com/office/drawing/2014/main" id="{0C7DF3CA-A43E-487F-A692-6E3B9AFF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28775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PODLOŽENÝ ZÁVĚR</a:t>
            </a:r>
          </a:p>
        </p:txBody>
      </p:sp>
      <p:sp>
        <p:nvSpPr>
          <p:cNvPr id="7" name="text-41-224">
            <a:extLst xmlns:a="http://schemas.openxmlformats.org/drawingml/2006/main">
              <a:ext uri="{FF2B5EF4-FFF2-40B4-BE49-F238E27FC236}">
                <a16:creationId xmlns:a16="http://schemas.microsoft.com/office/drawing/2014/main" id="{7AB8C004-3215-42BB-B8C6-7CA4E6DD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336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NÚKIB PDF</a:t>
            </a:r>
          </a:p>
        </p:txBody>
      </p:sp>
      <p:sp>
        <p:nvSpPr>
          <p:cNvPr id="8" name="text-264-224">
            <a:extLst xmlns:a="http://schemas.openxmlformats.org/drawingml/2006/main">
              <a:ext uri="{FF2B5EF4-FFF2-40B4-BE49-F238E27FC236}">
                <a16:creationId xmlns:a16="http://schemas.microsoft.com/office/drawing/2014/main" id="{F3757D6D-9A76-4D67-867E-CF5F6C42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336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Např. kybernetická bezpečnost site:nukib.gov.cz filetype:pdf.</a:t>
            </a:r>
          </a:p>
        </p:txBody>
      </p:sp>
      <p:sp>
        <p:nvSpPr>
          <p:cNvPr id="9" name="text-41-336">
            <a:extLst xmlns:a="http://schemas.openxmlformats.org/drawingml/2006/main">
              <a:ext uri="{FF2B5EF4-FFF2-40B4-BE49-F238E27FC236}">
                <a16:creationId xmlns:a16="http://schemas.microsoft.com/office/drawing/2014/main" id="{959AEF64-363C-4EFE-A1A1-5471B921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04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Adresa školy</a:t>
            </a:r>
          </a:p>
        </p:txBody>
      </p:sp>
      <p:sp>
        <p:nvSpPr>
          <p:cNvPr id="10" name="text-264-336">
            <a:extLst xmlns:a="http://schemas.openxmlformats.org/drawingml/2006/main">
              <a:ext uri="{FF2B5EF4-FFF2-40B4-BE49-F238E27FC236}">
                <a16:creationId xmlns:a16="http://schemas.microsoft.com/office/drawing/2014/main" id="{99BE6536-CFF1-44BF-A280-F36927BE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004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Např. přesný název vaší školy a operátor site: s doménou školního webu.</a:t>
            </a:r>
          </a:p>
        </p:txBody>
      </p:sp>
      <p:sp>
        <p:nvSpPr>
          <p:cNvPr id="11" name="text-41-448">
            <a:extLst xmlns:a="http://schemas.openxmlformats.org/drawingml/2006/main">
              <a:ext uri="{FF2B5EF4-FFF2-40B4-BE49-F238E27FC236}">
                <a16:creationId xmlns:a16="http://schemas.microsoft.com/office/drawing/2014/main" id="{5F2B2ADD-CACB-47F4-9226-2184CC81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672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ÚOOÚ školství</a:t>
            </a:r>
          </a:p>
        </p:txBody>
      </p:sp>
      <p:sp>
        <p:nvSpPr>
          <p:cNvPr id="12" name="text-264-448">
            <a:extLst xmlns:a="http://schemas.openxmlformats.org/drawingml/2006/main">
              <a:ext uri="{FF2B5EF4-FFF2-40B4-BE49-F238E27FC236}">
                <a16:creationId xmlns:a16="http://schemas.microsoft.com/office/drawing/2014/main" id="{DA3E1341-AC3C-439A-AB2E-76597AFE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Např. školství osobní údaje site:uoou.gov.cz.</a:t>
            </a:r>
          </a:p>
        </p:txBody>
      </p:sp>
      <p:sp>
        <p:nvSpPr>
          <p:cNvPr id="13" name="misconception-panel">
            <a:extLst xmlns:a="http://schemas.openxmlformats.org/drawingml/2006/main">
              <a:ext uri="{FF2B5EF4-FFF2-40B4-BE49-F238E27FC236}">
                <a16:creationId xmlns:a16="http://schemas.microsoft.com/office/drawing/2014/main" id="{97C7B938-D62D-42F3-9DE9-3D21D42B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28775"/>
            <a:ext cx="55435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text-691-203">
            <a:extLst xmlns:a="http://schemas.openxmlformats.org/drawingml/2006/main">
              <a:ext uri="{FF2B5EF4-FFF2-40B4-BE49-F238E27FC236}">
                <a16:creationId xmlns:a16="http://schemas.microsoft.com/office/drawing/2014/main" id="{C514F608-AC34-472A-BEDA-DF076BDE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33575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POZOR NA ZKRATKU</a:t>
            </a:r>
          </a:p>
        </p:txBody>
      </p:sp>
      <p:sp>
        <p:nvSpPr>
          <p:cNvPr id="15" name="text-691-263">
            <a:extLst xmlns:a="http://schemas.openxmlformats.org/drawingml/2006/main">
              <a:ext uri="{FF2B5EF4-FFF2-40B4-BE49-F238E27FC236}">
                <a16:creationId xmlns:a16="http://schemas.microsoft.com/office/drawing/2014/main" id="{44CA34B9-6014-43BF-904C-207AA7B2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05075"/>
            <a:ext cx="4667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Student zapisuje pouze odpověď.</a:t>
            </a:r>
          </a:p>
        </p:txBody>
      </p:sp>
      <p:sp>
        <p:nvSpPr>
          <p:cNvPr id="16" name="text-691-382">
            <a:extLst xmlns:a="http://schemas.openxmlformats.org/drawingml/2006/main">
              <a:ext uri="{FF2B5EF4-FFF2-40B4-BE49-F238E27FC236}">
                <a16:creationId xmlns:a16="http://schemas.microsoft.com/office/drawing/2014/main" id="{62869BBA-66F0-40E6-810D-B0F65B2D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38550"/>
            <a:ext cx="4667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Vraťte úkol k dohledatelné cestě: dotaz – URL – původce – důvod výběru.</a:t>
            </a:r>
          </a:p>
        </p:txBody>
      </p:sp>
      <p:sp>
        <p:nvSpPr>
          <p:cNvPr id="17" name="text-41-576">
            <a:extLst xmlns:a="http://schemas.openxmlformats.org/drawingml/2006/main">
              <a:ext uri="{FF2B5EF4-FFF2-40B4-BE49-F238E27FC236}">
                <a16:creationId xmlns:a16="http://schemas.microsoft.com/office/drawing/2014/main" id="{C68D605A-FFA0-47A7-93A4-EB523B44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86400"/>
            <a:ext cx="1141095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Vrať se k úvodnímu rozhodnutí. Co bys teď změnil — a proč?</a:t>
            </a:r>
          </a:p>
        </p:txBody>
      </p:sp>
    </p:spTree>
    <p:extLst>
      <p:ext uri="{BB962C8B-B14F-4D97-AF65-F5344CB8AC3E}">
        <p14:creationId xmlns:p14="http://schemas.microsoft.com/office/powerpoint/2010/main" val="1863664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AD3C3C52-711F-4ECC-B492-B681359A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C2F3DA78-19D6-438D-B6C9-20447DD2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HODINA 5 · POSLEDNÍ 3 MINUTY</a:t>
            </a:r>
          </a:p>
        </p:txBody>
      </p:sp>
      <p:sp>
        <p:nvSpPr>
          <p:cNvPr id="3" name="text-54-154">
            <a:extLst xmlns:a="http://schemas.openxmlformats.org/drawingml/2006/main">
              <a:ext uri="{FF2B5EF4-FFF2-40B4-BE49-F238E27FC236}">
                <a16:creationId xmlns:a16="http://schemas.microsoft.com/office/drawing/2014/main" id="{9588251D-08C8-486B-B177-D0655D33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81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Exit ticket</a:t>
            </a:r>
          </a:p>
        </p:txBody>
      </p:sp>
      <p:sp>
        <p:nvSpPr>
          <p:cNvPr id="4" name="text-54-278">
            <a:extLst xmlns:a="http://schemas.openxmlformats.org/drawingml/2006/main">
              <a:ext uri="{FF2B5EF4-FFF2-40B4-BE49-F238E27FC236}">
                <a16:creationId xmlns:a16="http://schemas.microsoft.com/office/drawing/2014/main" id="{6D2E67C0-CA8B-47BC-B536-516D2CEC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0477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Napiš původní a vylepšený dotaz a jednou větou popiš rozdíl ve výsledcích.</a:t>
            </a:r>
          </a:p>
        </p:txBody>
      </p:sp>
      <p:sp>
        <p:nvSpPr>
          <p:cNvPr id="5" name="exit-line">
            <a:extLst xmlns:a="http://schemas.openxmlformats.org/drawingml/2006/main">
              <a:ext uri="{FF2B5EF4-FFF2-40B4-BE49-F238E27FC236}">
                <a16:creationId xmlns:a16="http://schemas.microsoft.com/office/drawing/2014/main" id="{6AC95DD5-CC78-4655-8268-6367B836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text-54-544">
            <a:extLst xmlns:a="http://schemas.openxmlformats.org/drawingml/2006/main">
              <a:ext uri="{FF2B5EF4-FFF2-40B4-BE49-F238E27FC236}">
                <a16:creationId xmlns:a16="http://schemas.microsoft.com/office/drawing/2014/main" id="{DBFF0A7D-FB13-4668-906D-58A79C80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91440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Odpověz samostatně jednou až třemi větami. Uveď konkrétní krok nebo důvod.</a:t>
            </a:r>
          </a:p>
        </p:txBody>
      </p:sp>
      <p:sp>
        <p:nvSpPr>
          <p:cNvPr id="7" name="text-1070-548">
            <a:extLst xmlns:a="http://schemas.openxmlformats.org/drawingml/2006/main">
              <a:ext uri="{FF2B5EF4-FFF2-40B4-BE49-F238E27FC236}">
                <a16:creationId xmlns:a16="http://schemas.microsoft.com/office/drawing/2014/main" id="{BED07BA3-604F-4C0E-A51F-C82CAC29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19700"/>
            <a:ext cx="895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44094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Karel Hlas</dc:creator>
  <lastModifiedBy>Walnut Exporter</lastModifiedBy>
  <dc:title>Presentation</dc:title>
  <dcterms:created xsi:type="dcterms:W3CDTF">2026-07-24T13:43:35.8300000Z</dcterms:created>
  <dcterms:modified xsi:type="dcterms:W3CDTF">2026-07-24T13:43:35.8300000Z</dcterms:modified>
</coreProperties>
</file>