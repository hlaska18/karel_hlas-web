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323661725c4442e" Type="http://schemas.openxmlformats.org/officeDocument/2006/relationships/extended-properties" Target="docProps/app.xml"/><Relationship Id="Ra7e3991902fb458e" Type="http://schemas.openxmlformats.org/package/2006/relationships/metadata/core-properties" Target="docProps/core.xml"/><Relationship Id="Rb1b9046160ef49f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4b0ea9cdd415a"/>
  </p:sldMasterIdLst>
  <p:notesMasterIdLst>
    <p:notesMasterId xmlns:r="http://schemas.openxmlformats.org/officeDocument/2006/relationships" r:id="R05090a602ecc4eb0"/>
  </p:notesMasterIdLst>
  <p:sldIdLst>
    <p:sldId xmlns:r="http://schemas.openxmlformats.org/officeDocument/2006/relationships" id="256" r:id="Rdc0b25eb65cf4e2f"/>
    <p:sldId xmlns:r="http://schemas.openxmlformats.org/officeDocument/2006/relationships" id="257" r:id="Rfb65ae93c7374ddc"/>
    <p:sldId xmlns:r="http://schemas.openxmlformats.org/officeDocument/2006/relationships" id="258" r:id="Rd8413343d2da473a"/>
    <p:sldId xmlns:r="http://schemas.openxmlformats.org/officeDocument/2006/relationships" id="259" r:id="Re1682313d14d4bfc"/>
    <p:sldId xmlns:r="http://schemas.openxmlformats.org/officeDocument/2006/relationships" id="260" r:id="R0fe03370c79e49a4"/>
    <p:sldId xmlns:r="http://schemas.openxmlformats.org/officeDocument/2006/relationships" id="261" r:id="R88480a80943347b5"/>
    <p:sldId xmlns:r="http://schemas.openxmlformats.org/officeDocument/2006/relationships" id="262" r:id="R33fbc7a3acd4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090a602ecc4eb0" Type="http://schemas.openxmlformats.org/officeDocument/2006/relationships/notesMaster" Target="notesMasters/notesMaster1.xml"/><Relationship Id="R0fe03370c79e49a4" Type="http://schemas.openxmlformats.org/officeDocument/2006/relationships/slide" Target="slides/slide5.xml"/><Relationship Id="R33fbc7a3acd44f26" Type="http://schemas.openxmlformats.org/officeDocument/2006/relationships/slide" Target="slides/slide7.xml"/><Relationship Id="R60669c25e6614fdc" Type="http://schemas.openxmlformats.org/officeDocument/2006/relationships/tableStyles" Target="tableStyles.xml"/><Relationship Id="R6da459f832324004" Type="http://schemas.openxmlformats.org/officeDocument/2006/relationships/theme" Target="theme/theme1.xml"/><Relationship Id="R88480a80943347b5" Type="http://schemas.openxmlformats.org/officeDocument/2006/relationships/slide" Target="slides/slide6.xml"/><Relationship Id="Racd8b994d7da475b" Type="http://schemas.openxmlformats.org/officeDocument/2006/relationships/presProps" Target="presProps.xml"/><Relationship Id="Rc374b0ea9cdd415a" Type="http://schemas.openxmlformats.org/officeDocument/2006/relationships/slideMaster" Target="slideMasters/slideMaster1.xml"/><Relationship Id="Rd8413343d2da473a" Type="http://schemas.openxmlformats.org/officeDocument/2006/relationships/slide" Target="slides/slide3.xml"/><Relationship Id="Rdc0b25eb65cf4e2f" Type="http://schemas.openxmlformats.org/officeDocument/2006/relationships/slide" Target="slides/slide1.xml"/><Relationship Id="Re1682313d14d4bfc" Type="http://schemas.openxmlformats.org/officeDocument/2006/relationships/slide" Target="slides/slide4.xml"/><Relationship Id="Rfb65ae93c7374ddc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bc32a303d0e74f0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d6fcbd013746b0" Type="http://schemas.openxmlformats.org/officeDocument/2006/relationships/notesMaster" Target="../notesMasters/notesMaster1.xml"/><Relationship Id="Reddc2d4f5e50473a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fe6b2fb4df4f76" Type="http://schemas.openxmlformats.org/officeDocument/2006/relationships/notesMaster" Target="../notesMasters/notesMaster1.xml"/><Relationship Id="Rcecf481790a34bf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50ef9971e48e6" Type="http://schemas.openxmlformats.org/officeDocument/2006/relationships/slide" Target="../slides/slide3.xml"/><Relationship Id="Rcd1fd99dc16e426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3d2a94d988f4881" Type="http://schemas.openxmlformats.org/officeDocument/2006/relationships/notesMaster" Target="../notesMasters/notesMaster1.xml"/><Relationship Id="R5b4bfe0b8e68471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5ae435a535b4476" Type="http://schemas.openxmlformats.org/officeDocument/2006/relationships/slide" Target="../slides/slide5.xml"/><Relationship Id="R2a75a8a05d4b43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50b9ea0150eb470a" Type="http://schemas.openxmlformats.org/officeDocument/2006/relationships/notesMaster" Target="../notesMasters/notesMaster1.xml"/><Relationship Id="R5dba0f2d440948d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fa01f8e99314418" Type="http://schemas.openxmlformats.org/officeDocument/2006/relationships/slide" Target="../slides/slide7.xml"/><Relationship Id="R8b9de095578b4eb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převede informační potřebu na přesný dotaz, použije operátory a zaznamená cestu k vybranému zdroji.</a:t>
            </a:r>
          </a:p>
          <a:p xmlns:a="http://schemas.openxmlformats.org/drawingml/2006/main">
            <a:r>
              <a:t>Soubory: 5. Vyhledávací výzva.txt, digitální pracovní sešit, webový prohlížeč</a:t>
            </a:r>
          </a:p>
          <a:p xmlns:a="http://schemas.openxmlformats.org/drawingml/2006/main">
            <a:r>
              <a:t>Výstup: Záznam šesti dotazů, vybraných URL, původců a důvodů výběru.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přesně potřebuji zjistit.</a:t>
            </a:r>
          </a:p>
          <a:p xmlns:a="http://schemas.openxmlformats.org/drawingml/2006/main">
            <a:r>
              <a:t>Postup učitele: Nech studenty přepsat neurčitý dotaz na otázku s účelem.</a:t>
            </a:r>
          </a:p>
          <a:p xmlns:a="http://schemas.openxmlformats.org/drawingml/2006/main">
            <a:r>
              <a:t>Otázka pro studenty: Proč první výsledek vyhledávání nemusí být nejlepší?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Činnost: Operátory a filtry.</a:t>
            </a:r>
          </a:p>
          <a:p xmlns:a="http://schemas.openxmlformats.org/drawingml/2006/main">
            <a:r>
              <a:t>Postup učitele: Demonstruj uvozovky, site:, filetype: a vyloučení slov.</a:t>
            </a:r>
          </a:p>
          <a:p xmlns:a="http://schemas.openxmlformats.org/drawingml/2006/main">
            <a:r>
              <a:t>Klíčové závěry: NÚKIB PDF: Např. kybernetická bezpečnost site:nukib.gov.cz filetype:pdf. | Adresa školy: Např. přesný název vaší školy a operátor site: s doménou školního webu. | ÚOOÚ školství: Např. školství osobní údaje site:uoou.gov.cz.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5. Vyhledávací výzva.txt, digitální pracovní sešit, webový prohlížeč</a:t>
            </a:r>
          </a:p>
          <a:p xmlns:a="http://schemas.openxmlformats.org/drawingml/2006/main">
            <a:r>
              <a:t>13–31 min – Vyhledávací výzva: Studenti pracují samostatně; pomáhej otázkou, ne hotovým dotazem.</a:t>
            </a:r>
          </a:p>
          <a:p xmlns:a="http://schemas.openxmlformats.org/drawingml/2006/main">
            <a:r>
              <a:t>31–38 min – Porovnání cest: Dvojice srovnají rozdílné dotazy vedoucí k témuž zdroji.</a:t>
            </a:r>
          </a:p>
          <a:p xmlns:a="http://schemas.openxmlformats.org/drawingml/2006/main">
            <a:r>
              <a:t>38–42 min – Výběr zdroje: Odděl relevanci, autoritu a aktuálnost.</a:t>
            </a:r>
          </a:p>
          <a:p xmlns:a="http://schemas.openxmlformats.org/drawingml/2006/main">
            <a:r>
              <a:t>Požadovaný výstup: Záznam šesti dotazů, vybraných URL, původců a důvodů výběru.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doloží alespoň čtyři úkoly dotazem, zdrojem a vysvětlením vhodnosti.</a:t>
            </a:r>
          </a:p>
          <a:p xmlns:a="http://schemas.openxmlformats.org/drawingml/2006/main">
            <a:r>
              <a:t>Vodicí otázky: Které slovo v dotazu je příliš obecné a čím ho nahradíš? | Hledáš pravidlo instituce, odborné vysvětlení, nebo zkušenost uživatele? | Jak poznáš reklamní výsledek a proč nemusí být první výsledek nejlepší?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 anglický odborný termín.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NÚKIB PDF: Např. kybernetická bezpečnost site:nukib.gov.cz filetype:pdf. | Adresa školy: Např. přesný název vaší školy a operátor site: s doménou školního webu. | ÚOOÚ školství: Např. školství osobní údaje site:uoou.gov.cz. | 2FA: Odborný dotaz s termínem dvoufaktorová autentizace a identifikovanou institucí či autorem. | Dva zdroje: Nestačí dva výsledky přebírající stejnou tiskovou zprávu; hledej nezávislý původ.</a:t>
            </a:r>
          </a:p>
          <a:p xmlns:a="http://schemas.openxmlformats.org/drawingml/2006/main">
            <a:r>
              <a:t>Časté chyby a intervence: Student zapisuje pouze odpověď. → Vrať úkol k dohledatelné cestě: dotaz – URL – původce – důvod výběru. | „Oficiální zdroj je vždy nejlepší.“ → Je vhodný pro vlastní pravidla instituce; pro dopad či kritiku může být potřeba jiný typ zdroje. | Student mění dotaz bez záznamu. → Nech zachovat alespoň první a poslední verzi, aby byl postup viditelný.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původní a vylepšený dotaz a jednou větou popiš rozdíl ve výsledcích.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 anglický odborný termín.</a:t>
            </a:r>
          </a:p>
          <a:p xmlns:a="http://schemas.openxmlformats.org/drawingml/2006/main">
            <a:r>
              <a:t>Když technika selže: Bez internetu studenti vytvoří a obhájí dotazy pro všech šest úkolů; výsledky doplní v další hodině.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8be71ee005649e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7a9609504e42a8" Type="http://schemas.openxmlformats.org/officeDocument/2006/relationships/theme" Target="theme/theme2.xml"/><Relationship Id="R955464a3e8c144e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64a3e8c1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d91b13dc6d4d21" Type="http://schemas.openxmlformats.org/officeDocument/2006/relationships/notesSlide" Target="../notesSlides/notesSlide1.xml"/><Relationship Id="Rb6669fc4be244a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1a470b8ee614c93" Type="http://schemas.openxmlformats.org/officeDocument/2006/relationships/slideLayout" Target="../slideLayouts/slideLayout1.xml"/><Relationship Id="R959a452bcfaa49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c99a2ebb9e42f7" Type="http://schemas.openxmlformats.org/officeDocument/2006/relationships/slideLayout" Target="../slideLayouts/slideLayout1.xml"/><Relationship Id="Re7e8c8ffa40f4bd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4f3850a0e7e44d7" Type="http://schemas.openxmlformats.org/officeDocument/2006/relationships/notesSlide" Target="../notesSlides/notesSlide4.xml"/><Relationship Id="R9eea6fa5d8d641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c0272a4f5bf4b6f" Type="http://schemas.openxmlformats.org/officeDocument/2006/relationships/notesSlide" Target="../notesSlides/notesSlide5.xml"/><Relationship Id="Rf4cf99d6dd6f4bc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f5b477d96a4abc" Type="http://schemas.openxmlformats.org/officeDocument/2006/relationships/notesSlide" Target="../notesSlides/notesSlide6.xml"/><Relationship Id="Rc5d91b05d45b4be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551529b6f4234bd2" Type="http://schemas.openxmlformats.org/officeDocument/2006/relationships/notesSlide" Target="../notesSlides/notesSlide7.xml"/><Relationship Id="R8b1060fe852f4a7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7B0792F-0563-421D-801C-39D6F716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D324822-002F-4E13-815D-B32B07B8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DEA566D-0865-4841-A1A8-FE3B713D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6C3633DB-A751-437A-B43A-A70036AD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Efektivní vyhledávání informací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28E506AA-5047-4A74-8542-23AB8B1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převede informační potřebu na přesný dotaz, použije operátory a zaznamená cestu k vybranému zdroji.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F459E90-8576-4496-90F5-CB0C278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A4CE9AC-2FC4-476A-AA85-3E5E208D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8DE488B3-5695-4A17-AC65-53CEA1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75648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A0406E-04C9-485C-8225-E57FBDF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6B95F06-C974-4AEC-B32E-799FC1E6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FCA4E6-8F4C-450D-AD8A-BD7FEDE6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E504BB6-0A16-43EB-B82F-C4EC084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3D5E0B7-0D4E-4BFB-9EAF-2A134B2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08EF14C5-2888-4438-8A49-E7B8E24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první výsledek vyhledávání nemusí být nejlepší?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BE49F0B3-1C99-46E5-99BF-6F097DC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80DA5D28-1410-4A01-B93E-ADD965F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921DAF44-DEE5-4DC3-BA5C-CF91FB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704EC686-8FD9-4E7A-97BF-D1BECE6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8F22E2-3DA0-4433-B178-B8CA14D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38B62FDD-534E-4B61-99A7-A1D5A5B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25A8CCFD-86D0-45BB-AE29-01BBFFE1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44071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0B6D5E3-06F8-450B-9144-8D591E1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FD3811-6FA4-44F0-BC72-B1755D89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3CB3008-3D89-404C-AABA-3D541A6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694A8E5-3A39-48A6-A86D-53796E6B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50246CF-B40A-4EF8-B82D-311E600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ADEA7F-9A78-43E5-B219-C0BA256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A1D8F823-9854-41D1-8D38-DE3C508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Přesný dotaz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1B64A23-C7A1-417F-9D01-EC78588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Převeď neurčitou potřebu na otázku. Přidej klíčový pojem, instituci, typ dokumentu nebo doménu.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2A6C1E67-7416-4221-8D58-E3DCACDE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0373B931-6A99-43E1-8A01-75C9621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Vhodný typ zdroje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29B96D9-40E8-4A7F-BB2B-4E8D45C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Jiný zdroj potřebuješ pro pravidlo instituce, odborné vysvětlení a zkušenost uživatele.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D12458B-5887-4527-BC60-55AFA3D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03D7CF8-5924-42DC-B80C-105CE02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Dohledatelná cesta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BF9F479-5720-41F6-BE98-F3367E65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 dotaz, URL, původce a důvod výběru. Samotná odpověď nestačí.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9DC12490-E244-4A5B-8E67-65AAC70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66093F65-F74B-49BE-970D-A7A74DD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1430652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1F8269-D4BD-46E5-8873-94B35D5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3EFF1E-50AE-4027-BC0E-63C0E88A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871AC8BF-3200-44E4-B2D8-FA6DD05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AC5FEE5-96E2-4610-A101-D72297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D28D49-6A8D-422C-A1B0-EA9FA90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015C680-45F9-470F-B544-031E2BB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6D09D7FF-C9D0-4A15-AACD-E3822BB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Vyhledávací výzva.txt, digitální pracovní sešit, webový prohlížeč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FD31E77B-CAE5-463C-900A-24263FC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68FE41D2-1FE1-45F4-9147-B94C2888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ED3E2F8E-347E-444E-BE19-1B826DC5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Zpřesni dotaz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29307B-52B5-4E42-8CCA-640D1D7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Zachovej první i vylepšenou verzi dotazu, aby byl vidět posun.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4DCE9265-B3B6-4606-91D3-781A147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160304C-A056-4D90-8922-C288ABC2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5B7F0606-4DB7-4D41-9313-046A589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Splň vyhledávací výzvy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8174A62E-AA01-48F2-924B-BF69588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podle potřeby uvozovky, site:, filetype: nebo vyloučení slov.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BEF5709-4C57-4C68-AEA1-824639AF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B88403CE-5289-4FE9-B143-6F9E70F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0107C74-22DF-4FD3-9007-FBA1C7AC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Zdůvodni zdroj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A65728B-68DF-4998-8043-9735FCE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Ulož URL, původce a jednu větu, proč je zdroj pro tento úkol vhodný.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F6C45BE7-1155-4C60-BBE7-90FC189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21857E12-161C-4E80-B9F1-7106EEF4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Záznam šesti dotazů, vybraných URL, původců a důvodů výběru.</a:t>
            </a:r>
          </a:p>
        </p:txBody>
      </p:sp>
    </p:spTree>
    <p:extLst>
      <p:ext uri="{BB962C8B-B14F-4D97-AF65-F5344CB8AC3E}">
        <p14:creationId xmlns:p14="http://schemas.microsoft.com/office/powerpoint/2010/main" val="60934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ED8BC15-E323-49D6-A15E-BF6423B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46A7B1E-75B7-4777-B7AA-106B288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152F606-6BFC-494B-AAD0-5277D8A8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646F735-3D36-4AD1-B995-35BD9C3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CF91CED-6540-4421-8DAD-93BE497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5D29-006E-41E9-B762-514E846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A7A22D5-A7E4-43B8-801A-67754173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5764E645-17DF-455A-B541-5EA2260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3495F14-B908-4F68-B1B4-0B9A0EC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doloží alespoň čtyři úkoly dotazem, zdrojem a vysvětlením vhodnosti.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2C04D68F-2C8C-4E61-BBBC-614863D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B1ECB27-9856-4D2F-B787-D9E01CB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705A51D6-1557-489D-9FA8-3D7E3DD8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29C7BCA-A8E6-4FCD-9CF9-E4165BA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slovo v dotazu je příliš obecné a čím ho nahradíš?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E980A1B-80E2-40FB-9109-5C6E8DA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BB731A11-B3BC-49A3-A027-8C1D40B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E32413A-30A2-4A35-9D23-35268F3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FE1C1C92-3512-427F-BC8F-C2DF5981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Hledáš pravidlo instituce, odborné vysvětlení, nebo zkušenost uživatele?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8017836-E2B6-40AD-A244-75910AF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6C7132-4040-42C7-A9FD-7EA739BB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7F2C196C-E873-458D-B0A7-AF55340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5E9EB270-F87E-473E-B900-5E2C70CF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poznáš reklamní výsledek a proč nemusí být první výsledek nejlepší?</a:t>
            </a:r>
          </a:p>
        </p:txBody>
      </p:sp>
    </p:spTree>
    <p:extLst>
      <p:ext uri="{BB962C8B-B14F-4D97-AF65-F5344CB8AC3E}">
        <p14:creationId xmlns:p14="http://schemas.microsoft.com/office/powerpoint/2010/main" val="7939583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2551E25-4F9A-4F19-8F81-B5A2215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44D7D27-22DE-42A3-AF87-B6E0430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E42B0C6-5C47-4506-8AEE-534D75A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E9EAA7-8B5E-4680-80B5-940A9638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2774195-932A-4320-A7BD-4B32BC1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0C7DF3CA-A43E-487F-A692-6E3B9AFF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AB8C004-3215-42BB-B8C6-7CA4E6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NÚKIB PDF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F3757D6D-9A76-4D67-867E-CF5F6C4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kybernetická bezpečnost site:nukib.gov.cz filetype:pdf.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959AEF64-363C-4EFE-A1A1-5471B92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Adresa školy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99BE6536-CFF1-44BF-A280-F36927B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přesný název vaší školy a operátor site: s doménou školního webu.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5F2B2ADD-CACB-47F4-9226-2184CC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ÚOOÚ školství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DA3E1341-AC3C-439A-AB2E-76597A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školství osobní údaje site:uoou.gov.cz.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7C7B938-D62D-42F3-9DE9-3D21D42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514F608-AC34-472A-BEDA-DF076BD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44CA34B9-6014-43BF-904C-207AA7B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zapisuje pouze odpověď.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869BBA-66F0-40E6-810D-B0F65B2D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úkol k dohledatelné cestě: dotaz – URL – původce – důvod výběru.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C68D605A-FFA0-47A7-93A4-EB523B4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86366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D3C3C52-711F-4ECC-B492-B68135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2F3DA78-19D6-438D-B6C9-20447DD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588251D-08C8-486B-B177-D0655D3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6D2E67C0-CA8B-47BC-B536-516D2CEC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původní a vylepšený dotaz a jednou větou popiš rozdíl ve výsledcích.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AC95DD5-CC78-4655-8268-6367B836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DBFF0A7D-FB13-4668-906D-58A79C80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ED07BA3-604F-4C0E-A51F-C82CAC2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09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