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0187eecc8c4fa6" /><Relationship Type="http://schemas.openxmlformats.org/officeDocument/2006/relationships/extended-properties" Target="/docProps/app.xml" Id="R65c3d0a29a854e7e" /><Relationship Type="http://schemas.openxmlformats.org/officeDocument/2006/relationships/officeDocument" Target="/ppt/presentation.xml" Id="R0ee0f64fb65849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c35296a7e9405d"/>
  </p:sldMasterIdLst>
  <p:notesMasterIdLst>
    <p:notesMasterId xmlns:r="http://schemas.openxmlformats.org/officeDocument/2006/relationships" r:id="Rdd4a0c2890ec4ff2"/>
  </p:notesMasterIdLst>
  <p:sldIdLst>
    <p:sldId xmlns:r="http://schemas.openxmlformats.org/officeDocument/2006/relationships" id="256" r:id="R011d96845d3b4c79"/>
    <p:sldId xmlns:r="http://schemas.openxmlformats.org/officeDocument/2006/relationships" id="257" r:id="Rdf03d26b53cd4296"/>
    <p:sldId xmlns:r="http://schemas.openxmlformats.org/officeDocument/2006/relationships" id="258" r:id="R9341dd15fadf4e8e"/>
    <p:sldId xmlns:r="http://schemas.openxmlformats.org/officeDocument/2006/relationships" id="259" r:id="R326d34fb00b34e14"/>
    <p:sldId xmlns:r="http://schemas.openxmlformats.org/officeDocument/2006/relationships" id="260" r:id="R1983f5d6de934de3"/>
    <p:sldId xmlns:r="http://schemas.openxmlformats.org/officeDocument/2006/relationships" id="261" r:id="Rd6732987bf47472b"/>
    <p:sldId xmlns:r="http://schemas.openxmlformats.org/officeDocument/2006/relationships" id="262" r:id="R14fdd4a5dee544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e56be81764ade" /><Relationship Type="http://schemas.openxmlformats.org/officeDocument/2006/relationships/slideMaster" Target="/ppt/slideMasters/slideMaster1.xml" Id="R63c35296a7e9405d" /><Relationship Type="http://schemas.openxmlformats.org/officeDocument/2006/relationships/notesMaster" Target="/ppt/notesMasters/notesMaster1.xml" Id="Rdd4a0c2890ec4ff2" /><Relationship Type="http://schemas.openxmlformats.org/officeDocument/2006/relationships/presProps" Target="/ppt/presProps.xml" Id="R41d3f4843d1b4f9b" /><Relationship Type="http://schemas.openxmlformats.org/officeDocument/2006/relationships/tableStyles" Target="/ppt/tableStyles.xml" Id="R08c5ad75f5cf401b" /><Relationship Type="http://schemas.openxmlformats.org/officeDocument/2006/relationships/slide" Target="/ppt/slides/slide1.xml" Id="R011d96845d3b4c79" /><Relationship Type="http://schemas.openxmlformats.org/officeDocument/2006/relationships/slide" Target="/ppt/slides/slide2.xml" Id="Rdf03d26b53cd4296" /><Relationship Type="http://schemas.openxmlformats.org/officeDocument/2006/relationships/slide" Target="/ppt/slides/slide3.xml" Id="R9341dd15fadf4e8e" /><Relationship Type="http://schemas.openxmlformats.org/officeDocument/2006/relationships/slide" Target="/ppt/slides/slide4.xml" Id="R326d34fb00b34e14" /><Relationship Type="http://schemas.openxmlformats.org/officeDocument/2006/relationships/slide" Target="/ppt/slides/slide5.xml" Id="R1983f5d6de934de3" /><Relationship Type="http://schemas.openxmlformats.org/officeDocument/2006/relationships/slide" Target="/ppt/slides/slide6.xml" Id="Rd6732987bf47472b" /><Relationship Type="http://schemas.openxmlformats.org/officeDocument/2006/relationships/slide" Target="/ppt/slides/slide7.xml" Id="R14fdd4a5dee5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afa84ea654a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bf39f86e9b4346" /><Relationship Type="http://schemas.openxmlformats.org/officeDocument/2006/relationships/notesMaster" Target="/ppt/notesMasters/notesMaster1.xml" Id="R004dfa23abf6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256929c6f64645" /><Relationship Type="http://schemas.openxmlformats.org/officeDocument/2006/relationships/notesMaster" Target="/ppt/notesMasters/notesMaster1.xml" Id="R6475318995ae48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23ac902884fd6" /><Relationship Type="http://schemas.openxmlformats.org/officeDocument/2006/relationships/notesMaster" Target="/ppt/notesMasters/notesMaster1.xml" Id="R4c04927a3f1046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e019dc234849fb" /><Relationship Type="http://schemas.openxmlformats.org/officeDocument/2006/relationships/notesMaster" Target="/ppt/notesMasters/notesMaster1.xml" Id="R92dabf409aed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af06d13654c86" /><Relationship Type="http://schemas.openxmlformats.org/officeDocument/2006/relationships/notesMaster" Target="/ppt/notesMasters/notesMaster1.xml" Id="Rf241040c415841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6935231e404dd9" /><Relationship Type="http://schemas.openxmlformats.org/officeDocument/2006/relationships/notesMaster" Target="/ppt/notesMasters/notesMaster1.xml" Id="Rf6bcb7e75820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4ad1665744fdf" /><Relationship Type="http://schemas.openxmlformats.org/officeDocument/2006/relationships/notesMaster" Target="/ppt/notesMasters/notesMaster1.xml" Id="R1b20073988b74c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propojí zdánlivě drobné údaje z veřejného profilu, určí riziko a navrhne konkrétní omezení sdílení.</a:t>
            </a:r>
          </a:p>
          <a:p xmlns:a="http://schemas.openxmlformats.org/drawingml/2006/main">
            <a:r>
              <a:t>Soubory: Profil Alex.html z balíčku V2, digitální pracovní sešit</a:t>
            </a:r>
          </a:p>
          <a:p xmlns:a="http://schemas.openxmlformats.org/drawingml/2006/main">
            <a:r>
              <a:t>Výstup: Tabulka zjištění–podklad–riziko–doporučení a soukromý osobní audit.</a:t>
            </a:r>
          </a:p>
          <a:p xmlns:a="http://schemas.openxmlformats.org/drawingml/2006/main">
            <a:r>
              <a:t>Před otevřením dalšího snímku stručně uveď téma a 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Aktivní a pasivní stopa.</a:t>
            </a:r>
          </a:p>
          <a:p xmlns:a="http://schemas.openxmlformats.org/drawingml/2006/main">
            <a:r>
              <a:t>Postup učitele: Uveď jeden příklad vědomého příspěvku a jednoho automatického záznamu.</a:t>
            </a:r>
          </a:p>
          <a:p xmlns:a="http://schemas.openxmlformats.org/drawingml/2006/main">
            <a:r>
              <a:t>Otázka pro studenty: Co o Alexovi zjistíš, když spojíš několik běžných příspěvků?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5–21 minut.</a:t>
            </a:r>
          </a:p>
          <a:p xmlns:a="http://schemas.openxmlformats.org/drawingml/2006/main">
            <a:r>
              <a:t>Činnost: Forenzní čtení profilu.</a:t>
            </a:r>
          </a:p>
          <a:p xmlns:a="http://schemas.openxmlformats.org/drawingml/2006/main">
            <a:r>
              <a:t>Postup učitele: Skupiny hledají informace vznikající kombinací více příspěvků.</a:t>
            </a:r>
          </a:p>
          <a:p xmlns:a="http://schemas.openxmlformats.org/drawingml/2006/main">
            <a:r>
              <a:t>Klíčové závěry: Škola a třída: Popis profilu a fotografie z počítačové učebny umožňují odhadnout školní prostředí. | Pravidelný pohyb: Úterní bowling a ranní cesta ukazují rutinu a časy. | Bydliště a nepřítomnost: Vchod domu v kombinaci s příspěvkem o prázdném bytě zvyšuje bezpečnostní riziko.</a:t>
            </a:r>
          </a:p>
          <a:p xmlns:a="http://schemas.openxmlformats.org/drawingml/2006/main">
            <a:r>
              <a:t>Nech studenty doplnit příklad ke každému bodu. Přechod k 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Profil Alex.html z balíčku V2, digitální pracovní sešit</a:t>
            </a:r>
          </a:p>
          <a:p xmlns:a="http://schemas.openxmlformats.org/drawingml/2006/main">
            <a:r>
              <a:t>5–21 min – Forenzní čtení profilu: Skupiny hledají informace vznikající kombinací více příspěvků.</a:t>
            </a:r>
          </a:p>
          <a:p xmlns:a="http://schemas.openxmlformats.org/drawingml/2006/main">
            <a:r>
              <a:t>21–31 min – Riziko a doporučení: Požaduj vazbu: konkrétní údaj → možné zneužití → opatření.</a:t>
            </a:r>
          </a:p>
          <a:p xmlns:a="http://schemas.openxmlformats.org/drawingml/2006/main">
            <a:r>
              <a:t>31–39 min – Soukromý audit: Tichá individuální práce bez sdílení výsledků.</a:t>
            </a:r>
          </a:p>
          <a:p xmlns:a="http://schemas.openxmlformats.org/drawingml/2006/main">
            <a:r>
              <a:t>39–43 min – Tři obecné změny: Sdílejí se pouze principy, ne osobní nastavení nebo obsah.</a:t>
            </a:r>
          </a:p>
          <a:p xmlns:a="http://schemas.openxmlformats.org/drawingml/2006/main">
            <a:r>
              <a:t>Požadovaný výstup: Tabulka zjištění–podklad–riziko–doporučení a soukromý osobní audit.</a:t>
            </a:r>
          </a:p>
          <a:p xmlns:a="http://schemas.openxmlformats.org/drawingml/2006/main">
            <a:r>
              <a:t>Během práce nepřebírej myš za studenta. Pomáhej otázkami z dalšího snímku a žádej, aby každé rozhodnutí opřel o 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vytvoří nejméně čtyři odvození z kombinace příspěvků a ke každému navrhne přiměřené opatření.</a:t>
            </a:r>
          </a:p>
          <a:p xmlns:a="http://schemas.openxmlformats.org/drawingml/2006/main">
            <a:r>
              <a:t>Vodicí otázky: Které dva příspěvky dohromady odhalují více než každý zvlášť? | Je riziko okamžité, dlouhodobé, nebo závislé na dalším údaji? | Jak lze zachovat smysl příspěvku a přitom snížit množství zveřejněných informací?</a:t>
            </a:r>
          </a:p>
          <a:p xmlns:a="http://schemas.openxmlformats.org/drawingml/2006/main">
            <a:r>
              <a:t>Podpora: Přiděl skupinám vždy tři konkrétní dlaždice profilu a 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Pro rychlou mezikontrolu nech dvojice vyměnit výstup a označit jeden dobře doložený bod a 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Škola a třída: Popis profilu a fotografie z počítačové učebny umožňují odhadnout školní prostředí. | Pravidelný pohyb: Úterní bowling a ranní cesta ukazují rutinu a časy. | Bydliště a nepřítomnost: Vchod domu v kombinaci s příspěvkem o prázdném bytě zvyšuje bezpečnostní riziko. | Datum narození: Dort s číslem 16 a datum příspěvku umožňují odvodit část data narození. | Zařízení: Krabice notebooku nebo čitelný identifikátor může usnadnit cílený podvod či reklamaci. | Další osoby: Skupinová fotografie může zveřejnit podobu, místo a sociální vazby lidí, kteří s tím nepočítali.</a:t>
            </a:r>
          </a:p>
          <a:p xmlns:a="http://schemas.openxmlformats.org/drawingml/2006/main">
            <a:r>
              <a:t>Časté chyby a intervence: Student zesměšňuje profil. → Vrať diskusi k návrhu bezpečnějšího sdílení; cílem není hodnotit osobu. | „Řešením je nic nesdílet.“ → Hledej přiměřená opatření: publikum, načasování, ořez, odstranění identifikátorů a souhlas ostatních. | Skupina analyzuje skutečný profil. → Okamžitě se vrať k fiktivnímu podkladu; nepodporuj dohledávání spolužáků.</a:t>
            </a:r>
          </a:p>
          <a:p xmlns:a="http://schemas.openxmlformats.org/drawingml/2006/main">
            <a:r>
              <a:t>Nečti celý klíč. Vyber dva studentské postupy, které vedou k odlišným závěrům, a 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dvojici veřejných údajů, které jsou samostatně běžné, ale společně zvyšují riziko.</a:t>
            </a:r>
          </a:p>
          <a:p xmlns:a="http://schemas.openxmlformats.org/drawingml/2006/main">
            <a:r>
              <a:t>Podpora: Přiděl skupinám vždy tři konkrétní dlaždice profilu a 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Když technika selže: Fotografická mřížka je vložená lokálně; při problému s prohlížečem použij seznam příspěvků v 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 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ad9241971446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d4af1923a4993" /><Relationship Type="http://schemas.openxmlformats.org/officeDocument/2006/relationships/slideLayout" Target="/ppt/slideLayouts/slideLayout1.xml" Id="R965250c7b1054f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5250c7b1054f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090137c92494d" /><Relationship Type="http://schemas.openxmlformats.org/officeDocument/2006/relationships/notesSlide" Target="/ppt/notesSlides/notesSlide1.xml" Id="R9fcc1bcb298a4f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ca591273f4d07" /><Relationship Type="http://schemas.openxmlformats.org/officeDocument/2006/relationships/image" Target="/ppt/media/image.png" Id="R514ece8cff73495c" /><Relationship Type="http://schemas.openxmlformats.org/officeDocument/2006/relationships/notesSlide" Target="/ppt/notesSlides/notesSlide2.xml" Id="Rfbd7e404019b49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c16e8cbde412a" /><Relationship Type="http://schemas.openxmlformats.org/officeDocument/2006/relationships/notesSlide" Target="/ppt/notesSlides/notesSlide3.xml" Id="R5a0e94f921be43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57735223341ad" /><Relationship Type="http://schemas.openxmlformats.org/officeDocument/2006/relationships/notesSlide" Target="/ppt/notesSlides/notesSlide4.xml" Id="R6514c5d101d246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0ea94f0f44a25" /><Relationship Type="http://schemas.openxmlformats.org/officeDocument/2006/relationships/notesSlide" Target="/ppt/notesSlides/notesSlide5.xml" Id="Rc71d837642b344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e6d4faf7f437e" /><Relationship Type="http://schemas.openxmlformats.org/officeDocument/2006/relationships/notesSlide" Target="/ppt/notesSlides/notesSlide6.xml" Id="R263a753650f047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84854f1504cd5" /><Relationship Type="http://schemas.openxmlformats.org/officeDocument/2006/relationships/notesSlide" Target="/ppt/notesSlides/notesSlide7.xml" Id="R95caf7d9132640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389B318-93CF-463E-B50A-51D00AAD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4C3AF8C-64CD-4348-B3E1-1AA305E1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9AB831F7-A9DF-42CC-B7D6-F733A4C5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 PRÁCE S 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D0FA7E02-EF22-41FA-AEBD-864C20BB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Sociální sítě a digitální stopa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30FE0489-DB1A-441B-9A4B-D0188AB8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propojí zdánlivě drobné údaje z veřejného profilu, určí riziko a navrhne konkrétní omezení sdílení.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F846CD7-7823-4D8E-8FC5-CDC06F44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BF32C08F-501F-4B5B-96B9-D6B0A276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34AE532-86EA-4A44-B3D8-26616F4D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73326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707A7A2-8A39-44A3-85D9-9DA7920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57E5706-E45B-428E-B7BE-550BCE47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F6D1876-7A0D-430C-A7C4-85DC57B2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0DC8D62-2149-4E21-BB6A-15B27329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0B0133A-3B6D-4410-BB00-08FD5821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DE8FB446-4665-4861-BE7E-4455055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ece8cff73495c"/>
          <a:srcRect xmlns:a="http://schemas.openxmlformats.org/drawingml/2006/main" l="0" t="20550" r="0" b="205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5016A57-738A-49B5-9FDA-9207A23A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o Alexovi zjistíš, když spojíš několik běžných příspěvků?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9D9FC401-4139-472C-86E5-70E4DEE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25396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25A2F42-A630-4652-B7FC-03950B0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5–21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0C3C243-8653-4AD5-AADD-4295876D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8942286-086D-4CDF-9603-E3488CAD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88D4985-729E-4CB4-BB47-8370AEC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84D830A-EBB5-48D5-83B5-55F42DA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32BBCF0-6760-4157-9109-8CE9854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C7FE80C3-1455-49D6-9F10-1E1A621E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Spojuj stopy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A17782B6-32DA-4D39-9690-84EB8A0F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Jeden běžný údaj často nestačí. Riziko vzniká kombinací místa, času, rutiny a vztahů.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1C02D2D9-C97B-434F-826D-E3C8571C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878823F-7A58-45F3-864B-0DC8C95B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FC4F05D4-A356-4490-86CD-78D6AF9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Ke každému zjištění uveď podklad, možné zneužití a závažnost — bez hodnocení člověka.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5BA43C4-A1ED-454F-8B51-17B641DF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9E6C00EA-BE7A-4FA6-83F5-6319BDC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Omez sdílení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04E811B4-B1FF-4D05-B963-786A0B7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Uprav publikum, načasování, ořez nebo identifikátory. Smysl příspěvku může zůstat.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1C6E30E4-EE2C-4BA6-8DB5-F5BA5091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EADDC18-4690-47B7-9F8A-F9CC810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 rychlý tip. Jde o postup, který lze vysvětlit a zopakovat.</a:t>
            </a:r>
          </a:p>
        </p:txBody>
      </p:sp>
    </p:spTree>
    <p:extLst>
      <p:ext uri="{BB962C8B-B14F-4D97-AF65-F5344CB8AC3E}">
        <p14:creationId xmlns:p14="http://schemas.microsoft.com/office/powerpoint/2010/main" val="1381503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5C3CB9A-3E76-428C-BEE1-08A346B3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21–43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0D178-972C-4562-B9B6-EE6A8BF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6B17A62-B4F4-4A9A-9C8A-85A82BA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7DD3F08-EE87-46A1-B38B-77C6AE43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6189FD0-45D2-4135-815E-74B1787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B01C3E84-F642-4D4A-BD75-C16442B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5CD2F48-35CD-4EEB-A398-A22321CD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Profil Alex.html ze složky Podklady k 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CAE7BE5-88A1-4A21-A4E1-0E7E3D7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CCDAD7BC-AA91-4E0D-BD7C-94BE285B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C18CA20-C620-4922-971D-BEE61D71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 veřejné stopy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A7433674-BC18-4325-8460-3C769E86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Hledej informace, které vznikají až kombinací několika dlaždic profilu.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022CD212-8BE5-4B92-91A6-F7155D63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A64E954-D7AB-49C9-A8B6-17818BDC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4BF6AF34-3BB2-43F4-8E55-879C6BB6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5B682216-C8EF-47A0-9529-D745AAB7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vazbu: konkrétní údaj → možné zneužití → přiměřené opatření.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50F6E316-FA88-4BC1-BFC0-22564D8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1B2165B2-50FB-4364-B1E4-5E8C4AE6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E79E20-126A-450E-A7AA-27709DA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soukromý audit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9E59164B-1807-42C9-AFFB-AD46BED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Výsledek osobního auditu neodevzdávej, nefotografuj a 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A36A8F2-F084-48CF-AB3E-537EC0D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9D29181F-9E0C-4C39-A615-EDB40999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Tabulka zjištění–podklad–riziko–doporučení a soukromý osobní audit.</a:t>
            </a:r>
          </a:p>
        </p:txBody>
      </p:sp>
    </p:spTree>
    <p:extLst>
      <p:ext uri="{BB962C8B-B14F-4D97-AF65-F5344CB8AC3E}">
        <p14:creationId xmlns:p14="http://schemas.microsoft.com/office/powerpoint/2010/main" val="13319055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2E4C41C-2E44-411E-B431-6750278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ABD626F-7A0B-499C-AB86-0C2243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3E72F22-9BF5-4863-B47D-15D34B7E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402387D-69AF-4FB5-AD19-4FCEBC6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C34FDCC-A0B8-4BB8-8316-A3317961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7B42C09-8EAA-4BD0-B99D-2DCF7A57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91F0D-6283-4015-A911-8AC7DE54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75EE35CA-07C7-4B82-8492-01B8C6F4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20E108D-D1AB-4503-B378-48A5E7C8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vytvoří nejméně čtyři odvození z kombinace příspěvků a ke každému navrhne přiměřené opatření.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950DC3F-B188-49B9-9590-410D85C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1A5022C-0D03-4DAF-A78B-6A257F2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1E6CEDB3-A961-41EB-884A-96B9827C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B2A6EEB-BBBC-4979-814B-9D070F7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dva příspěvky dohromady odhalují více než každý zvlášť?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D27BFB6-6853-48F8-9C87-8AA7C6F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19B886A5-1C7D-408E-9D6C-0E458BE4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4551191-786F-4893-9850-B131584D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78F51FB8-70EB-46C4-9F80-6D615225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riziko okamžité, dlouhodobé, nebo závislé na dalším údaji?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A9A700DE-0B8E-4C4D-9130-F653485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59BACC8-BCAF-447F-B80D-12D8C7D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DF2C6DE-A886-4930-9277-2EFB176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640902CF-BE1E-4E15-9440-FD97F54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zachovat smysl příspěvku a přitom snížit množství zveřejněných informací?</a:t>
            </a:r>
          </a:p>
        </p:txBody>
      </p:sp>
    </p:spTree>
    <p:extLst>
      <p:ext uri="{BB962C8B-B14F-4D97-AF65-F5344CB8AC3E}">
        <p14:creationId xmlns:p14="http://schemas.microsoft.com/office/powerpoint/2010/main" val="603184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33547B3-7040-46FF-A799-E364F9D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39–43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CD0EF9B-EFB2-451F-8E15-13D5C0C2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6F39BE5-162D-425C-BBDC-BE7A768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CF0B82-3D0E-466E-9A63-86536D6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184037B-9226-41DE-BC4D-5173C672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373C16-4300-42DF-BFD6-2F7BB4F8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9F622AD0-F04E-426F-9DC7-2188CEE1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Škola a třída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D367B64-C98F-4F90-A18C-9F2225E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Popis profilu a fotografie z počítačové učebny umožňují odhadnout školní prostředí.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B796395-88D7-4624-B82A-D848D6D3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Pravidelný pohyb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42BFDD87-6B38-4F57-A497-F09FFDD6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Úterní bowling a ranní cesta ukazují rutinu a časy.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827A10AA-832C-4845-B0BB-0A0AC80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7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Bydliště a nepřítomnost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49AEECAF-4AFE-4981-800C-ECB45CC3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Vchod domu v kombinaci s příspěvkem o prázdném bytě zvyšuje bezpečnostní riziko.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5A86F555-5A69-445C-A561-2BECDEED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652361B-5058-4F97-8628-22A703F7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71DE5F39-ACEF-4D48-976C-010D5CEB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zesměšňuje profil.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61A0924-003E-486A-A0CF-09A7119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diskusi k návrhu bezpečnějšího sdílení; cílem není hodnotit osobu.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D89FC5E7-3C27-4FBD-8038-82115836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 úvodnímu rozhodnutí. Co bys teď změnil — a proč?</a:t>
            </a:r>
          </a:p>
        </p:txBody>
      </p:sp>
    </p:spTree>
    <p:extLst>
      <p:ext uri="{BB962C8B-B14F-4D97-AF65-F5344CB8AC3E}">
        <p14:creationId xmlns:p14="http://schemas.microsoft.com/office/powerpoint/2010/main" val="16250816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00655EC-BC5F-45E6-9908-FA4885D7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961589B-E999-48C3-9949-6F8DF20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· POSLEDNÍ 2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F80B872-88C4-444D-88ED-634BBF11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22567662-9B64-424E-8AE7-1A70D9CF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dvojici veřejných údajů, které jsou samostatně běžné, ale společně zvyšují riziko.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E01D8141-52C8-44B1-9044-51231D8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BDA409F-3B3E-4FE5-81A0-D51C0A65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1541A22-0E5C-4513-885F-DF0A73A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13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