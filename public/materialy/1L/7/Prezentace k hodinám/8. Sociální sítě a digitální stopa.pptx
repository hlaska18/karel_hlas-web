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0187eecc8c4fa6" /><Relationship Type="http://schemas.openxmlformats.org/officeDocument/2006/relationships/extended-properties" Target="/docProps/app.xml" Id="R65c3d0a29a854e7e" /><Relationship Type="http://schemas.openxmlformats.org/officeDocument/2006/relationships/officeDocument" Target="/ppt/presentation.xml" Id="R0ee0f64fb65849b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3c35296a7e9405d"/>
  </p:sldMasterIdLst>
  <p:notesMasterIdLst>
    <p:notesMasterId xmlns:r="http://schemas.openxmlformats.org/officeDocument/2006/relationships" r:id="Rdd4a0c2890ec4ff2"/>
  </p:notesMasterIdLst>
  <p:sldIdLst>
    <p:sldId xmlns:r="http://schemas.openxmlformats.org/officeDocument/2006/relationships" id="256" r:id="R011d96845d3b4c79"/>
    <p:sldId xmlns:r="http://schemas.openxmlformats.org/officeDocument/2006/relationships" id="257" r:id="Rdf03d26b53cd4296"/>
    <p:sldId xmlns:r="http://schemas.openxmlformats.org/officeDocument/2006/relationships" id="258" r:id="R9341dd15fadf4e8e"/>
    <p:sldId xmlns:r="http://schemas.openxmlformats.org/officeDocument/2006/relationships" id="259" r:id="R326d34fb00b34e14"/>
    <p:sldId xmlns:r="http://schemas.openxmlformats.org/officeDocument/2006/relationships" id="260" r:id="R1983f5d6de934de3"/>
    <p:sldId xmlns:r="http://schemas.openxmlformats.org/officeDocument/2006/relationships" id="261" r:id="Rd6732987bf47472b"/>
    <p:sldId xmlns:r="http://schemas.openxmlformats.org/officeDocument/2006/relationships" id="262" r:id="R14fdd4a5dee5447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ede56be81764ade" /><Relationship Type="http://schemas.openxmlformats.org/officeDocument/2006/relationships/slideMaster" Target="/ppt/slideMasters/slideMaster1.xml" Id="R63c35296a7e9405d" /><Relationship Type="http://schemas.openxmlformats.org/officeDocument/2006/relationships/notesMaster" Target="/ppt/notesMasters/notesMaster1.xml" Id="Rdd4a0c2890ec4ff2" /><Relationship Type="http://schemas.openxmlformats.org/officeDocument/2006/relationships/presProps" Target="/ppt/presProps.xml" Id="R41d3f4843d1b4f9b" /><Relationship Type="http://schemas.openxmlformats.org/officeDocument/2006/relationships/tableStyles" Target="/ppt/tableStyles.xml" Id="R08c5ad75f5cf401b" /><Relationship Type="http://schemas.openxmlformats.org/officeDocument/2006/relationships/slide" Target="/ppt/slides/slide1.xml" Id="R011d96845d3b4c79" /><Relationship Type="http://schemas.openxmlformats.org/officeDocument/2006/relationships/slide" Target="/ppt/slides/slide2.xml" Id="Rdf03d26b53cd4296" /><Relationship Type="http://schemas.openxmlformats.org/officeDocument/2006/relationships/slide" Target="/ppt/slides/slide3.xml" Id="R9341dd15fadf4e8e" /><Relationship Type="http://schemas.openxmlformats.org/officeDocument/2006/relationships/slide" Target="/ppt/slides/slide4.xml" Id="R326d34fb00b34e14" /><Relationship Type="http://schemas.openxmlformats.org/officeDocument/2006/relationships/slide" Target="/ppt/slides/slide5.xml" Id="R1983f5d6de934de3" /><Relationship Type="http://schemas.openxmlformats.org/officeDocument/2006/relationships/slide" Target="/ppt/slides/slide6.xml" Id="Rd6732987bf47472b" /><Relationship Type="http://schemas.openxmlformats.org/officeDocument/2006/relationships/slide" Target="/ppt/slides/slide7.xml" Id="R14fdd4a5dee5447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2aafa84ea654a7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dbf39f86e9b4346" /><Relationship Type="http://schemas.openxmlformats.org/officeDocument/2006/relationships/notesMaster" Target="/ppt/notesMasters/notesMaster1.xml" Id="R004dfa23abf647e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c256929c6f64645" /><Relationship Type="http://schemas.openxmlformats.org/officeDocument/2006/relationships/notesMaster" Target="/ppt/notesMasters/notesMaster1.xml" Id="R6475318995ae489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2e23ac902884fd6" /><Relationship Type="http://schemas.openxmlformats.org/officeDocument/2006/relationships/notesMaster" Target="/ppt/notesMasters/notesMaster1.xml" Id="R4c04927a3f10467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5e019dc234849fb" /><Relationship Type="http://schemas.openxmlformats.org/officeDocument/2006/relationships/notesMaster" Target="/ppt/notesMasters/notesMaster1.xml" Id="R92dabf409aed45a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e0af06d13654c86" /><Relationship Type="http://schemas.openxmlformats.org/officeDocument/2006/relationships/notesMaster" Target="/ppt/notesMasters/notesMaster1.xml" Id="Rf241040c415841d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36935231e404dd9" /><Relationship Type="http://schemas.openxmlformats.org/officeDocument/2006/relationships/notesMaster" Target="/ppt/notesMasters/notesMaster1.xml" Id="Rf6bcb7e75820405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244ad1665744fdf" /><Relationship Type="http://schemas.openxmlformats.org/officeDocument/2006/relationships/notesMaster" Target="/ppt/notesMasters/notesMaster1.xml" Id="R1b20073988b74c2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Výukový cíl: Student propojí zdánlivě drobné údaje z veřejného profilu, určí riziko a navrhne konkrétní omezení sdílení.</a:t>
            </a:r>
          </a:p>
          <a:p xmlns:a="http://schemas.openxmlformats.org/drawingml/2006/main">
            <a:r>
              <a:t>Soubory: 8. Profil Alex.html z balíčku V2, digitální pracovní sešit</a:t>
            </a:r>
          </a:p>
          <a:p xmlns:a="http://schemas.openxmlformats.org/drawingml/2006/main">
            <a:r>
              <a:t>Výstup: Tabulka zjištění–podklad–riziko–doporučení a soukromý osobní audit.</a:t>
            </a:r>
          </a:p>
          <a:p xmlns:a="http://schemas.openxmlformats.org/drawingml/2006/main">
            <a:r>
              <a:t>Před otevřením dalšího snímku stručně uveďte téma a nechte studenty připravit pracovní soubory.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Čas: 0–5 minut.</a:t>
            </a:r>
          </a:p>
          <a:p xmlns:a="http://schemas.openxmlformats.org/drawingml/2006/main">
            <a:r>
              <a:t>Činnost: Aktivní a pasivní stopa.</a:t>
            </a:r>
          </a:p>
          <a:p xmlns:a="http://schemas.openxmlformats.org/drawingml/2006/main">
            <a:r>
              <a:t>Postup učitele: Uveďte jeden příklad vědomého příspěvku a jednoho automatického záznamu.</a:t>
            </a:r>
          </a:p>
          <a:p xmlns:a="http://schemas.openxmlformats.org/drawingml/2006/main">
            <a:r>
              <a:t>Otázka pro studenty: Co o Alexovi zjistíš, když spojíš několik běžných příspěvků?</a:t>
            </a:r>
          </a:p>
          <a:p xmlns:a="http://schemas.openxmlformats.org/drawingml/2006/main">
            <a:r>
              <a:t>Neprozrazujte správnou odpověď. Cílem je zachytit počáteční úsudek, ke kterému se třída vrátí při reflexi.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Čas: 5–21 minut.</a:t>
            </a:r>
          </a:p>
          <a:p xmlns:a="http://schemas.openxmlformats.org/drawingml/2006/main">
            <a:r>
              <a:t>Činnost: Forenzní čtení profilu.</a:t>
            </a:r>
          </a:p>
          <a:p xmlns:a="http://schemas.openxmlformats.org/drawingml/2006/main">
            <a:r>
              <a:t>Postup učitele: Skupiny hledají informace vznikající kombinací více příspěvků.</a:t>
            </a:r>
          </a:p>
          <a:p xmlns:a="http://schemas.openxmlformats.org/drawingml/2006/main">
            <a:r>
              <a:t>Klíčové závěry: Škola a třída: Popis profilu a fotografie z počítačové učebny umožňují odhadnout školní prostředí. | Pravidelný pohyb: Úterní bowling a ranní cesta ukazují rutinu a časy. | Bydliště a nepřítomnost: Vchod domu v kombinaci s příspěvkem o prázdném bytě zvyšuje bezpečnostní riziko.</a:t>
            </a:r>
          </a:p>
          <a:p xmlns:a="http://schemas.openxmlformats.org/drawingml/2006/main">
            <a:r>
              <a:t>Nechte studenty doplnit příklad ke každému bodu. Přechod k aktivitě proveďte otázkou: Jak tyto tři body použijeme na dnešní soubor?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Hlavní aktivita využívá: 8. Profil Alex.html z balíčku V2, digitální pracovní sešit</a:t>
            </a:r>
          </a:p>
          <a:p xmlns:a="http://schemas.openxmlformats.org/drawingml/2006/main">
            <a:r>
              <a:t>5–21 min – Forenzní čtení profilu: Skupiny hledají informace vznikající kombinací více příspěvků.</a:t>
            </a:r>
          </a:p>
          <a:p xmlns:a="http://schemas.openxmlformats.org/drawingml/2006/main">
            <a:r>
              <a:t>21–31 min – Riziko a doporučení: Požadujte vazbu: konkrétní údaj → možné zneužití → opatření.</a:t>
            </a:r>
          </a:p>
          <a:p xmlns:a="http://schemas.openxmlformats.org/drawingml/2006/main">
            <a:r>
              <a:t>31–39 min – Soukromý audit: Tichá individuální práce bez sdílení výsledků.</a:t>
            </a:r>
          </a:p>
          <a:p xmlns:a="http://schemas.openxmlformats.org/drawingml/2006/main">
            <a:r>
              <a:t>39–43 min – Tři obecné změny: Sdílejí se pouze principy, ne osobní nastavení nebo obsah.</a:t>
            </a:r>
          </a:p>
          <a:p xmlns:a="http://schemas.openxmlformats.org/drawingml/2006/main">
            <a:r>
              <a:t>Požadovaný výstup: Tabulka zjištění–podklad–riziko–doporučení a soukromý osobní audit.</a:t>
            </a:r>
          </a:p>
          <a:p xmlns:a="http://schemas.openxmlformats.org/drawingml/2006/main">
            <a:r>
              <a:t>Během práce nepřebírejte myš za studenta. Pomáhejte otázkami z dalšího snímku a žádejte, aby každé rozhodnutí opřel o konkrétní znak nebo zdroj.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Kritérium úspěchu: Student vytvoří nejméně čtyři odvození z kombinace příspěvků a ke každému navrhne přiměřené opatření.</a:t>
            </a:r>
          </a:p>
          <a:p xmlns:a="http://schemas.openxmlformats.org/drawingml/2006/main">
            <a:r>
              <a:t>Vodicí otázky: Které dva příspěvky dohromady odhalují více než každý zvlášť? | Je riziko okamžité, dlouhodobé, nebo závislé na dalším údaji? | Jak lze zachovat smysl příspěvku a přitom snížit množství zveřejněných informací?</a:t>
            </a:r>
          </a:p>
          <a:p xmlns:a="http://schemas.openxmlformats.org/drawingml/2006/main">
            <a:r>
              <a:t>Podpora: Přidělte skupinám vždy tři konkrétní dlaždice profilu a nechte je hledat vazby pouze mezi nimi.</a:t>
            </a:r>
          </a:p>
          <a:p xmlns:a="http://schemas.openxmlformats.org/drawingml/2006/main">
            <a:r>
              <a:t>Rozšíření: Studenti navrhnou bezpečnější verzi tří příspěvků tak, aby stále dávaly smysl cílovému publiku.</a:t>
            </a:r>
          </a:p>
          <a:p xmlns:a="http://schemas.openxmlformats.org/drawingml/2006/main">
            <a:r>
              <a:t>Pro rychlou mezikontrolu nechte dvojice vyměnit výstup a označit jeden dobře doložený bod a jednu otázku, která ještě zůstává.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Očekávané závěry: Škola a třída: Popis profilu a fotografie z počítačové učebny umožňují odhadnout školní prostředí. | Pravidelný pohyb: Úterní bowling a ranní cesta ukazují rutinu a časy. | Bydliště a nepřítomnost: Vchod domu v kombinaci s příspěvkem o prázdném bytě zvyšuje bezpečnostní riziko. | Datum narození: Dort s číslem 16 a datum příspěvku umožňují odvodit část data narození. | Zařízení: Krabice notebooku nebo čitelný identifikátor může usnadnit cílený podvod či reklamaci. | Další osoby: Skupinová fotografie může zveřejnit podobu, místo a sociální vazby lidí, kteří s tím nepočítali.</a:t>
            </a:r>
          </a:p>
          <a:p xmlns:a="http://schemas.openxmlformats.org/drawingml/2006/main">
            <a:r>
              <a:t>Časté chyby a intervence: Student zesměšňuje profil. → Vraťte diskusi k návrhu bezpečnějšího sdílení; cílem není hodnotit osobu. | „Řešením je nic nesdílet.“ → Hledejte přiměřená opatření: publikum, načasování, ořez, odstranění identifikátorů a souhlas ostatních. | Skupina analyzuje skutečný profil. → Okamžitě se vraťte k fiktivnímu podkladu; nepodporujte dohledávání spolužáků.</a:t>
            </a:r>
          </a:p>
          <a:p xmlns:a="http://schemas.openxmlformats.org/drawingml/2006/main">
            <a:r>
              <a:t>Nečtěte celý klíč. Vyberte dva studentské postupy, které vedou k odlišným závěrům, a nechte třídu určit, který je lépe podložený.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Exit ticket: Uveď dvojici veřejných údajů, které jsou samostatně běžné, ale společně zvyšují riziko.</a:t>
            </a:r>
          </a:p>
          <a:p xmlns:a="http://schemas.openxmlformats.org/drawingml/2006/main">
            <a:r>
              <a:t>Podpora: Přidělte skupinám vždy tři konkrétní dlaždice profilu a nechte je hledat vazby pouze mezi nimi.</a:t>
            </a:r>
          </a:p>
          <a:p xmlns:a="http://schemas.openxmlformats.org/drawingml/2006/main">
            <a:r>
              <a:t>Rozšíření: Studenti navrhnou bezpečnější verzi tří příspěvků tak, aby stále dávaly smysl cílovému publiku.</a:t>
            </a:r>
          </a:p>
          <a:p xmlns:a="http://schemas.openxmlformats.org/drawingml/2006/main">
            <a:r>
              <a:t>Když technika selže: Fotografická mřížka je vložená lokálně; při problému s prohlížečem použijte seznam příspěvků v pracovním sešitu.</a:t>
            </a:r>
          </a:p>
          <a:p xmlns:a="http://schemas.openxmlformats.org/drawingml/2006/main">
            <a:r>
              <a:t>Vyberte způsob odevzdání předem. Odpověď použijte jako diagnostiku pro začátek další hodiny; nehodnoťte pouze formální správnost, ale konkrétnost a zdůvodnění.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ad9241971446e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c8d4af1923a4993" /><Relationship Type="http://schemas.openxmlformats.org/officeDocument/2006/relationships/slideLayout" Target="/ppt/slideLayouts/slideLayout1.xml" Id="R965250c7b1054fc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65250c7b1054fc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1090137c92494d" /><Relationship Type="http://schemas.openxmlformats.org/officeDocument/2006/relationships/notesSlide" Target="/ppt/notesSlides/notesSlide1.xml" Id="R9fcc1bcb298a4fa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1ca591273f4d07" /><Relationship Type="http://schemas.openxmlformats.org/officeDocument/2006/relationships/image" Target="/ppt/media/image.png" Id="R514ece8cff73495c" /><Relationship Type="http://schemas.openxmlformats.org/officeDocument/2006/relationships/notesSlide" Target="/ppt/notesSlides/notesSlide2.xml" Id="Rfbd7e404019b490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fc16e8cbde412a" /><Relationship Type="http://schemas.openxmlformats.org/officeDocument/2006/relationships/notesSlide" Target="/ppt/notesSlides/notesSlide3.xml" Id="R5a0e94f921be43c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a57735223341ad" /><Relationship Type="http://schemas.openxmlformats.org/officeDocument/2006/relationships/notesSlide" Target="/ppt/notesSlides/notesSlide4.xml" Id="R6514c5d101d2463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30ea94f0f44a25" /><Relationship Type="http://schemas.openxmlformats.org/officeDocument/2006/relationships/notesSlide" Target="/ppt/notesSlides/notesSlide5.xml" Id="Rc71d837642b3442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be6d4faf7f437e" /><Relationship Type="http://schemas.openxmlformats.org/officeDocument/2006/relationships/notesSlide" Target="/ppt/notesSlides/notesSlide6.xml" Id="R263a753650f047a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984854f1504cd5" /><Relationship Type="http://schemas.openxmlformats.org/officeDocument/2006/relationships/notesSlide" Target="/ppt/notesSlides/notesSlide7.xml" Id="R95caf7d9132640e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rail">
            <a:extLst xmlns:a="http://schemas.openxmlformats.org/drawingml/2006/main">
              <a:ext uri="{FF2B5EF4-FFF2-40B4-BE49-F238E27FC236}">
                <a16:creationId xmlns:a16="http://schemas.microsoft.com/office/drawing/2014/main" id="{6389B318-93CF-463E-B50A-51D00AAD0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3F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54-48">
            <a:extLst xmlns:a="http://schemas.openxmlformats.org/drawingml/2006/main">
              <a:ext uri="{FF2B5EF4-FFF2-40B4-BE49-F238E27FC236}">
                <a16:creationId xmlns:a16="http://schemas.microsoft.com/office/drawing/2014/main" id="{64C3AF8C-64CD-4348-B3E1-1AA305E1B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3FC0"/>
                </a:solidFill>
                <a:latin typeface="Arial"/>
                <a:ea typeface="Arial"/>
                <a:cs typeface="Arial"/>
              </a:defRPr>
            </a:pPr>
            <a:r>
              <a:t>HODINA 8 / 10</a:t>
            </a:r>
          </a:p>
        </p:txBody>
      </p:sp>
      <p:sp>
        <p:nvSpPr>
          <p:cNvPr id="3" name="text-870-48">
            <a:extLst xmlns:a="http://schemas.openxmlformats.org/drawingml/2006/main">
              <a:ext uri="{FF2B5EF4-FFF2-40B4-BE49-F238E27FC236}">
                <a16:creationId xmlns:a16="http://schemas.microsoft.com/office/drawing/2014/main" id="{9AB831F7-A9DF-42CC-B7D6-F733A4C5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7200"/>
            <a:ext cx="3429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INTERNET, BEZPEČNOST
A PRÁCE S INFORMACEMI</a:t>
            </a:r>
          </a:p>
        </p:txBody>
      </p:sp>
      <p:sp>
        <p:nvSpPr>
          <p:cNvPr id="4" name="text-54-255">
            <a:extLst xmlns:a="http://schemas.openxmlformats.org/drawingml/2006/main">
              <a:ext uri="{FF2B5EF4-FFF2-40B4-BE49-F238E27FC236}">
                <a16:creationId xmlns:a16="http://schemas.microsoft.com/office/drawing/2014/main" id="{D0FA7E02-EF22-41FA-AEBD-864C20BB0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28875"/>
            <a:ext cx="10715625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Sociální sítě a digitální stopa</a:t>
            </a:r>
          </a:p>
        </p:txBody>
      </p:sp>
      <p:sp>
        <p:nvSpPr>
          <p:cNvPr id="5" name="text-56-506">
            <a:extLst xmlns:a="http://schemas.openxmlformats.org/drawingml/2006/main">
              <a:ext uri="{FF2B5EF4-FFF2-40B4-BE49-F238E27FC236}">
                <a16:creationId xmlns:a16="http://schemas.microsoft.com/office/drawing/2014/main" id="{30FE0489-DB1A-441B-9A4B-D0188AB83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19650"/>
            <a:ext cx="8191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Student propojí zdánlivě drobné údaje z veřejného profilu, určí riziko a navrhne konkrétní omezení sdílení.</a:t>
            </a:r>
          </a:p>
        </p:txBody>
      </p:sp>
      <p:sp>
        <p:nvSpPr>
          <p:cNvPr id="6" name="lesson-number">
            <a:extLst xmlns:a="http://schemas.openxmlformats.org/drawingml/2006/main">
              <a:ext uri="{FF2B5EF4-FFF2-40B4-BE49-F238E27FC236}">
                <a16:creationId xmlns:a16="http://schemas.microsoft.com/office/drawing/2014/main" id="{AF846CD7-7823-4D8E-8FC5-CDC06F44C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819650"/>
            <a:ext cx="11811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6D3F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1065-524">
            <a:extLst xmlns:a="http://schemas.openxmlformats.org/drawingml/2006/main">
              <a:ext uri="{FF2B5EF4-FFF2-40B4-BE49-F238E27FC236}">
                <a16:creationId xmlns:a16="http://schemas.microsoft.com/office/drawing/2014/main" id="{BF32C08F-501F-4B5B-96B9-D6B0A2769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991100"/>
            <a:ext cx="11811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08</a:t>
            </a:r>
          </a:p>
        </p:txBody>
      </p:sp>
      <p:sp>
        <p:nvSpPr>
          <p:cNvPr id="8" name="text-1065-603">
            <a:extLst xmlns:a="http://schemas.openxmlformats.org/drawingml/2006/main">
              <a:ext uri="{FF2B5EF4-FFF2-40B4-BE49-F238E27FC236}">
                <a16:creationId xmlns:a16="http://schemas.microsoft.com/office/drawing/2014/main" id="{934AE532-86EA-4A44-B3D8-26616F4D5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5743575"/>
            <a:ext cx="1181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45 MIN</a:t>
            </a:r>
          </a:p>
        </p:txBody>
      </p:sp>
    </p:spTree>
    <p:extLst>
      <p:ext uri="{BB962C8B-B14F-4D97-AF65-F5344CB8AC3E}">
        <p14:creationId xmlns:p14="http://schemas.microsoft.com/office/powerpoint/2010/main" val="5733264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41-34">
            <a:extLst xmlns:a="http://schemas.openxmlformats.org/drawingml/2006/main">
              <a:ext uri="{FF2B5EF4-FFF2-40B4-BE49-F238E27FC236}">
                <a16:creationId xmlns:a16="http://schemas.microsoft.com/office/drawing/2014/main" id="{5707A7A2-8A39-44A3-85D9-9DA792036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3333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3FC0"/>
                </a:solidFill>
                <a:latin typeface="Arial"/>
                <a:ea typeface="Arial"/>
                <a:cs typeface="Arial"/>
              </a:defRPr>
            </a:pPr>
            <a:r>
              <a:t>0–5 MIN · ÚVOD</a:t>
            </a:r>
          </a:p>
        </p:txBody>
      </p:sp>
      <p:sp>
        <p:nvSpPr>
          <p:cNvPr id="2" name="text-41-73">
            <a:extLst xmlns:a="http://schemas.openxmlformats.org/drawingml/2006/main">
              <a:ext uri="{FF2B5EF4-FFF2-40B4-BE49-F238E27FC236}">
                <a16:creationId xmlns:a16="http://schemas.microsoft.com/office/drawing/2014/main" id="{C57E5706-E45B-428E-B7BE-550BCE478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95325"/>
            <a:ext cx="114109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Začni vlastním rozhodnutím</a:t>
            </a:r>
          </a:p>
        </p:txBody>
      </p:sp>
      <p:sp>
        <p:nvSpPr>
          <p:cNvPr id="3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1F6D1876-7A0D-430C-A7C4-85DC57B2A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76975"/>
            <a:ext cx="11410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3F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41-672">
            <a:extLst xmlns:a="http://schemas.openxmlformats.org/drawingml/2006/main">
              <a:ext uri="{FF2B5EF4-FFF2-40B4-BE49-F238E27FC236}">
                <a16:creationId xmlns:a16="http://schemas.microsoft.com/office/drawing/2014/main" id="{C0DC8D62-2149-4E21-BB6A-15B273291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0080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INTERNET · BEZPEČNOST · INFORMACE</a:t>
            </a:r>
          </a:p>
        </p:txBody>
      </p:sp>
      <p:sp>
        <p:nvSpPr>
          <p:cNvPr id="5" name="text-1050-672">
            <a:extLst xmlns:a="http://schemas.openxmlformats.org/drawingml/2006/main">
              <a:ext uri="{FF2B5EF4-FFF2-40B4-BE49-F238E27FC236}">
                <a16:creationId xmlns:a16="http://schemas.microsoft.com/office/drawing/2014/main" id="{00B0133A-3B6D-4410-BB00-08FD5821B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00800"/>
            <a:ext cx="18002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HODINA 8  /  2</a:t>
            </a:r>
          </a:p>
        </p:txBody>
      </p:sp>
      <p:sp>
        <p:nvSpPr>
          <p:cNvPr id="6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DE8FB446-4665-4861-BE7E-4455055C0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533525"/>
            <a:ext cx="5562600" cy="4343400"/>
          </a:xfrm>
          <a:prstGeom xmlns:a="http://schemas.openxmlformats.org/drawingml/2006/main" prst="roundRect">
            <a:avLst>
              <a:gd name="adj" fmla="val 17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C9"/>
            </a:solidFill>
            <a:prstDash val="solid"/>
          </a:ln>
        </p:spPr>
      </p:sp>
      <p:pic>
        <p:nvPicPr>
          <p:cNvPr id="16" name="activity-preview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4ece8cff73495c"/>
          <a:srcRect xmlns:a="http://schemas.openxmlformats.org/drawingml/2006/main" l="0" t="20550" r="0" b="205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38875" y="1533525"/>
            <a:ext cx="5562600" cy="4343400"/>
          </a:xfrm>
          <a:prstGeom xmlns:a="http://schemas.openxmlformats.org/drawingml/2006/main" prst="roundRect">
            <a:avLst/>
          </a:prstGeom>
        </p:spPr>
      </p:pic>
      <p:sp>
        <p:nvSpPr>
          <p:cNvPr id="8" name="text-41-188">
            <a:extLst xmlns:a="http://schemas.openxmlformats.org/drawingml/2006/main">
              <a:ext uri="{FF2B5EF4-FFF2-40B4-BE49-F238E27FC236}">
                <a16:creationId xmlns:a16="http://schemas.microsoft.com/office/drawing/2014/main" id="{25016A57-738A-49B5-9FDA-9207A23A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90700"/>
            <a:ext cx="5238750" cy="2038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Co o Alexovi zjistíš, když spojíš několik běžných příspěvků?</a:t>
            </a:r>
          </a:p>
        </p:txBody>
      </p:sp>
      <p:sp>
        <p:nvSpPr>
          <p:cNvPr id="9" name="text-41-444">
            <a:extLst xmlns:a="http://schemas.openxmlformats.org/drawingml/2006/main">
              <a:ext uri="{FF2B5EF4-FFF2-40B4-BE49-F238E27FC236}">
                <a16:creationId xmlns:a16="http://schemas.microsoft.com/office/drawing/2014/main" id="{9D9FC401-4139-472C-86E5-70E4DEEB1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229100"/>
            <a:ext cx="4953000" cy="1285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1  Rozhodni sám
2  Zapiš konkrétní důvod
3  Porovnej ve dvojici</a:t>
            </a:r>
          </a:p>
        </p:txBody>
      </p:sp>
    </p:spTree>
    <p:extLst>
      <p:ext uri="{BB962C8B-B14F-4D97-AF65-F5344CB8AC3E}">
        <p14:creationId xmlns:p14="http://schemas.microsoft.com/office/powerpoint/2010/main" val="2253969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41-34">
            <a:extLst xmlns:a="http://schemas.openxmlformats.org/drawingml/2006/main">
              <a:ext uri="{FF2B5EF4-FFF2-40B4-BE49-F238E27FC236}">
                <a16:creationId xmlns:a16="http://schemas.microsoft.com/office/drawing/2014/main" id="{625A2F42-A630-4652-B7FC-03950B07E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3333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3FC0"/>
                </a:solidFill>
                <a:latin typeface="Arial"/>
                <a:ea typeface="Arial"/>
                <a:cs typeface="Arial"/>
              </a:defRPr>
            </a:pPr>
            <a:r>
              <a:t>5–21 MIN · MINIMUM</a:t>
            </a:r>
          </a:p>
        </p:txBody>
      </p:sp>
      <p:sp>
        <p:nvSpPr>
          <p:cNvPr id="2" name="text-41-73">
            <a:extLst xmlns:a="http://schemas.openxmlformats.org/drawingml/2006/main">
              <a:ext uri="{FF2B5EF4-FFF2-40B4-BE49-F238E27FC236}">
                <a16:creationId xmlns:a16="http://schemas.microsoft.com/office/drawing/2014/main" id="{20C3C243-8653-4AD5-AADD-4295876D6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95325"/>
            <a:ext cx="114109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Tři opěrné body pro rozhodování</a:t>
            </a:r>
          </a:p>
        </p:txBody>
      </p:sp>
      <p:sp>
        <p:nvSpPr>
          <p:cNvPr id="3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28942286-086D-4CDF-9603-E3488CAD4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76975"/>
            <a:ext cx="11410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3F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41-672">
            <a:extLst xmlns:a="http://schemas.openxmlformats.org/drawingml/2006/main">
              <a:ext uri="{FF2B5EF4-FFF2-40B4-BE49-F238E27FC236}">
                <a16:creationId xmlns:a16="http://schemas.microsoft.com/office/drawing/2014/main" id="{588D4985-729E-4CB4-BB47-8370AEC52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0080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INTERNET · BEZPEČNOST · INFORMACE</a:t>
            </a:r>
          </a:p>
        </p:txBody>
      </p:sp>
      <p:sp>
        <p:nvSpPr>
          <p:cNvPr id="5" name="text-1050-672">
            <a:extLst xmlns:a="http://schemas.openxmlformats.org/drawingml/2006/main">
              <a:ext uri="{FF2B5EF4-FFF2-40B4-BE49-F238E27FC236}">
                <a16:creationId xmlns:a16="http://schemas.microsoft.com/office/drawing/2014/main" id="{184D830A-EBB5-48D5-83B5-55F42DA2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00800"/>
            <a:ext cx="18002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HODINA 8  /  3</a:t>
            </a:r>
          </a:p>
        </p:txBody>
      </p:sp>
      <p:sp>
        <p:nvSpPr>
          <p:cNvPr id="6" name="text-41-179">
            <a:extLst xmlns:a="http://schemas.openxmlformats.org/drawingml/2006/main">
              <a:ext uri="{FF2B5EF4-FFF2-40B4-BE49-F238E27FC236}">
                <a16:creationId xmlns:a16="http://schemas.microsoft.com/office/drawing/2014/main" id="{532BBCF0-6760-4157-9109-8CE9854F3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04975"/>
            <a:ext cx="857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6D3FC0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7" name="text-41-274">
            <a:extLst xmlns:a="http://schemas.openxmlformats.org/drawingml/2006/main">
              <a:ext uri="{FF2B5EF4-FFF2-40B4-BE49-F238E27FC236}">
                <a16:creationId xmlns:a16="http://schemas.microsoft.com/office/drawing/2014/main" id="{C7FE80C3-1455-49D6-9F10-1E1A621ED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09850"/>
            <a:ext cx="3238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Spojuj stopy</a:t>
            </a:r>
          </a:p>
        </p:txBody>
      </p:sp>
      <p:sp>
        <p:nvSpPr>
          <p:cNvPr id="8" name="text-41-362">
            <a:extLst xmlns:a="http://schemas.openxmlformats.org/drawingml/2006/main">
              <a:ext uri="{FF2B5EF4-FFF2-40B4-BE49-F238E27FC236}">
                <a16:creationId xmlns:a16="http://schemas.microsoft.com/office/drawing/2014/main" id="{A17782B6-32DA-4D39-9690-84EB8A0FA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48050"/>
            <a:ext cx="3238500" cy="1581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Jeden běžný údaj často nestačí. Riziko vzniká kombinací místa, času, rutiny a vztahů.</a:t>
            </a:r>
          </a:p>
        </p:txBody>
      </p:sp>
      <p:sp>
        <p:nvSpPr>
          <p:cNvPr id="9" name="text-453-179">
            <a:extLst xmlns:a="http://schemas.openxmlformats.org/drawingml/2006/main">
              <a:ext uri="{FF2B5EF4-FFF2-40B4-BE49-F238E27FC236}">
                <a16:creationId xmlns:a16="http://schemas.microsoft.com/office/drawing/2014/main" id="{1C02D2D9-C97B-434F-826D-E3C8571C9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704975"/>
            <a:ext cx="857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6D3FC0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0" name="text-453-274">
            <a:extLst xmlns:a="http://schemas.openxmlformats.org/drawingml/2006/main">
              <a:ext uri="{FF2B5EF4-FFF2-40B4-BE49-F238E27FC236}">
                <a16:creationId xmlns:a16="http://schemas.microsoft.com/office/drawing/2014/main" id="{4878823F-7A58-45F3-864B-0DC8C95B2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09850"/>
            <a:ext cx="3238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Popiš riziko</a:t>
            </a:r>
          </a:p>
        </p:txBody>
      </p:sp>
      <p:sp>
        <p:nvSpPr>
          <p:cNvPr id="11" name="text-453-362">
            <a:extLst xmlns:a="http://schemas.openxmlformats.org/drawingml/2006/main">
              <a:ext uri="{FF2B5EF4-FFF2-40B4-BE49-F238E27FC236}">
                <a16:creationId xmlns:a16="http://schemas.microsoft.com/office/drawing/2014/main" id="{FC4F05D4-A356-4490-86CD-78D6AF9EE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448050"/>
            <a:ext cx="3238500" cy="1581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Ke každému zjištění uveď podklad, možné zneužití a závažnost — bez hodnocení člověka.</a:t>
            </a:r>
          </a:p>
        </p:txBody>
      </p:sp>
      <p:sp>
        <p:nvSpPr>
          <p:cNvPr id="12" name="text-865-179">
            <a:extLst xmlns:a="http://schemas.openxmlformats.org/drawingml/2006/main">
              <a:ext uri="{FF2B5EF4-FFF2-40B4-BE49-F238E27FC236}">
                <a16:creationId xmlns:a16="http://schemas.microsoft.com/office/drawing/2014/main" id="{F5BA43C4-A1ED-454F-8B51-17B641DF3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704975"/>
            <a:ext cx="857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6D3FC0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3" name="text-865-274">
            <a:extLst xmlns:a="http://schemas.openxmlformats.org/drawingml/2006/main">
              <a:ext uri="{FF2B5EF4-FFF2-40B4-BE49-F238E27FC236}">
                <a16:creationId xmlns:a16="http://schemas.microsoft.com/office/drawing/2014/main" id="{9E6C00EA-BE7A-4FA6-83F5-6319BDC06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09850"/>
            <a:ext cx="3238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Omez sdílení</a:t>
            </a:r>
          </a:p>
        </p:txBody>
      </p:sp>
      <p:sp>
        <p:nvSpPr>
          <p:cNvPr id="14" name="text-865-362">
            <a:extLst xmlns:a="http://schemas.openxmlformats.org/drawingml/2006/main">
              <a:ext uri="{FF2B5EF4-FFF2-40B4-BE49-F238E27FC236}">
                <a16:creationId xmlns:a16="http://schemas.microsoft.com/office/drawing/2014/main" id="{04E811B4-B1FF-4D05-B963-786A0B7F7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448050"/>
            <a:ext cx="3238500" cy="1581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Uprav publikum, načasování, ořez nebo identifikátory. Smysl příspěvku může zůstat.</a:t>
            </a:r>
          </a:p>
        </p:txBody>
      </p:sp>
      <p:sp>
        <p:nvSpPr>
          <p:cNvPr id="15" name="key-line">
            <a:extLst xmlns:a="http://schemas.openxmlformats.org/drawingml/2006/main">
              <a:ext uri="{FF2B5EF4-FFF2-40B4-BE49-F238E27FC236}">
                <a16:creationId xmlns:a16="http://schemas.microsoft.com/office/drawing/2014/main" id="{1C6E30E4-EE2C-4BA6-8DB5-F5BA5091A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14975"/>
            <a:ext cx="11410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3F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41-600">
            <a:extLst xmlns:a="http://schemas.openxmlformats.org/drawingml/2006/main">
              <a:ext uri="{FF2B5EF4-FFF2-40B4-BE49-F238E27FC236}">
                <a16:creationId xmlns:a16="http://schemas.microsoft.com/office/drawing/2014/main" id="{1EADDC18-4690-47B7-9F8A-F9CC810E8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715000"/>
            <a:ext cx="11410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Nejde o rychlý tip. Jde o postup, který lze vysvětlit a zopakovat.</a:t>
            </a:r>
          </a:p>
        </p:txBody>
      </p:sp>
    </p:spTree>
    <p:extLst>
      <p:ext uri="{BB962C8B-B14F-4D97-AF65-F5344CB8AC3E}">
        <p14:creationId xmlns:p14="http://schemas.microsoft.com/office/powerpoint/2010/main" val="13815034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41-34">
            <a:extLst xmlns:a="http://schemas.openxmlformats.org/drawingml/2006/main">
              <a:ext uri="{FF2B5EF4-FFF2-40B4-BE49-F238E27FC236}">
                <a16:creationId xmlns:a16="http://schemas.microsoft.com/office/drawing/2014/main" id="{F5C3CB9A-3E76-428C-BEE1-08A346B32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3333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3FC0"/>
                </a:solidFill>
                <a:latin typeface="Arial"/>
                <a:ea typeface="Arial"/>
                <a:cs typeface="Arial"/>
              </a:defRPr>
            </a:pPr>
            <a:r>
              <a:t>5–43 MIN · PRÁCE</a:t>
            </a:r>
          </a:p>
        </p:txBody>
      </p:sp>
      <p:sp>
        <p:nvSpPr>
          <p:cNvPr id="2" name="text-41-73">
            <a:extLst xmlns:a="http://schemas.openxmlformats.org/drawingml/2006/main">
              <a:ext uri="{FF2B5EF4-FFF2-40B4-BE49-F238E27FC236}">
                <a16:creationId xmlns:a16="http://schemas.microsoft.com/office/drawing/2014/main" id="{6360D178-972C-4562-B9B6-EE6A8BF8A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95325"/>
            <a:ext cx="114109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Hlavní počítačová aktivita</a:t>
            </a:r>
          </a:p>
        </p:txBody>
      </p:sp>
      <p:sp>
        <p:nvSpPr>
          <p:cNvPr id="3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76B17A62-B4F4-4A9A-9C8A-85A82BA99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76975"/>
            <a:ext cx="11410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3F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41-672">
            <a:extLst xmlns:a="http://schemas.openxmlformats.org/drawingml/2006/main">
              <a:ext uri="{FF2B5EF4-FFF2-40B4-BE49-F238E27FC236}">
                <a16:creationId xmlns:a16="http://schemas.microsoft.com/office/drawing/2014/main" id="{67DD3F08-EE87-46A1-B38B-77C6AE43B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0080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INTERNET · BEZPEČNOST · INFORMACE</a:t>
            </a:r>
          </a:p>
        </p:txBody>
      </p:sp>
      <p:sp>
        <p:nvSpPr>
          <p:cNvPr id="5" name="text-1050-672">
            <a:extLst xmlns:a="http://schemas.openxmlformats.org/drawingml/2006/main">
              <a:ext uri="{FF2B5EF4-FFF2-40B4-BE49-F238E27FC236}">
                <a16:creationId xmlns:a16="http://schemas.microsoft.com/office/drawing/2014/main" id="{C6189FD0-45D2-4135-815E-74B17875D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00800"/>
            <a:ext cx="18002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HODINA 8  /  4</a:t>
            </a:r>
          </a:p>
        </p:txBody>
      </p:sp>
      <p:sp>
        <p:nvSpPr>
          <p:cNvPr id="6" name="text-41-165">
            <a:extLst xmlns:a="http://schemas.openxmlformats.org/drawingml/2006/main">
              <a:ext uri="{FF2B5EF4-FFF2-40B4-BE49-F238E27FC236}">
                <a16:creationId xmlns:a16="http://schemas.microsoft.com/office/drawing/2014/main" id="{B01C3E84-F642-4D4A-BD75-C16442B6D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71625"/>
            <a:ext cx="152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3FC0"/>
                </a:solidFill>
                <a:latin typeface="Arial"/>
                <a:ea typeface="Arial"/>
                <a:cs typeface="Arial"/>
              </a:defRPr>
            </a:pPr>
            <a:r>
              <a:t>OTEVŘI</a:t>
            </a:r>
          </a:p>
        </p:txBody>
      </p:sp>
      <p:sp>
        <p:nvSpPr>
          <p:cNvPr id="7" name="text-41-202">
            <a:extLst xmlns:a="http://schemas.openxmlformats.org/drawingml/2006/main">
              <a:ext uri="{FF2B5EF4-FFF2-40B4-BE49-F238E27FC236}">
                <a16:creationId xmlns:a16="http://schemas.microsoft.com/office/drawing/2014/main" id="{E5CD2F48-35CD-4EEB-A398-A22321CD0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924050"/>
            <a:ext cx="11049000" cy="504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8. Profil Alex.html z balíčku V2, digitální pracovní sešit</a:t>
            </a:r>
          </a:p>
        </p:txBody>
      </p:sp>
      <p:sp>
        <p:nvSpPr>
          <p:cNvPr id="8" name="step-1">
            <a:extLst xmlns:a="http://schemas.openxmlformats.org/drawingml/2006/main">
              <a:ext uri="{FF2B5EF4-FFF2-40B4-BE49-F238E27FC236}">
                <a16:creationId xmlns:a16="http://schemas.microsoft.com/office/drawing/2014/main" id="{BCAE7BE5-88A1-4A21-A4E1-0E7E3D76F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771775"/>
            <a:ext cx="35623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63-313">
            <a:extLst xmlns:a="http://schemas.openxmlformats.org/drawingml/2006/main">
              <a:ext uri="{FF2B5EF4-FFF2-40B4-BE49-F238E27FC236}">
                <a16:creationId xmlns:a16="http://schemas.microsoft.com/office/drawing/2014/main" id="{CCDAD7BC-AA91-4E0D-BD7C-94BE285BF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981325"/>
            <a:ext cx="5524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D3FC0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10" name="text-63-372">
            <a:extLst xmlns:a="http://schemas.openxmlformats.org/drawingml/2006/main">
              <a:ext uri="{FF2B5EF4-FFF2-40B4-BE49-F238E27FC236}">
                <a16:creationId xmlns:a16="http://schemas.microsoft.com/office/drawing/2014/main" id="{1C18CA20-C620-4922-971D-BEE61D715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543300"/>
            <a:ext cx="31432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Spoj veřejné stopy</a:t>
            </a:r>
          </a:p>
        </p:txBody>
      </p:sp>
      <p:sp>
        <p:nvSpPr>
          <p:cNvPr id="11" name="text-63-449">
            <a:extLst xmlns:a="http://schemas.openxmlformats.org/drawingml/2006/main">
              <a:ext uri="{FF2B5EF4-FFF2-40B4-BE49-F238E27FC236}">
                <a16:creationId xmlns:a16="http://schemas.microsoft.com/office/drawing/2014/main" id="{A7433674-BC18-4325-8460-3C769E86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276725"/>
            <a:ext cx="31432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Hledej informace, které vznikají až kombinací několika dlaždic profilu.</a:t>
            </a:r>
          </a:p>
        </p:txBody>
      </p:sp>
      <p:sp>
        <p:nvSpPr>
          <p:cNvPr id="12" name="step-2">
            <a:extLst xmlns:a="http://schemas.openxmlformats.org/drawingml/2006/main">
              <a:ext uri="{FF2B5EF4-FFF2-40B4-BE49-F238E27FC236}">
                <a16:creationId xmlns:a16="http://schemas.microsoft.com/office/drawing/2014/main" id="{022CD212-8BE5-4B92-91A6-F7155D638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771775"/>
            <a:ext cx="35623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475-313">
            <a:extLst xmlns:a="http://schemas.openxmlformats.org/drawingml/2006/main">
              <a:ext uri="{FF2B5EF4-FFF2-40B4-BE49-F238E27FC236}">
                <a16:creationId xmlns:a16="http://schemas.microsoft.com/office/drawing/2014/main" id="{0A64E954-D7AB-49C9-A8B6-17818BDCB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981325"/>
            <a:ext cx="5524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D3FC0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4" name="text-475-372">
            <a:extLst xmlns:a="http://schemas.openxmlformats.org/drawingml/2006/main">
              <a:ext uri="{FF2B5EF4-FFF2-40B4-BE49-F238E27FC236}">
                <a16:creationId xmlns:a16="http://schemas.microsoft.com/office/drawing/2014/main" id="{4BF6AF34-3BB2-43F4-8E55-879C6BB64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543300"/>
            <a:ext cx="31432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Popiš riziko</a:t>
            </a:r>
          </a:p>
        </p:txBody>
      </p:sp>
      <p:sp>
        <p:nvSpPr>
          <p:cNvPr id="15" name="text-475-449">
            <a:extLst xmlns:a="http://schemas.openxmlformats.org/drawingml/2006/main">
              <a:ext uri="{FF2B5EF4-FFF2-40B4-BE49-F238E27FC236}">
                <a16:creationId xmlns:a16="http://schemas.microsoft.com/office/drawing/2014/main" id="{5B682216-C8EF-47A0-9529-D745AAB76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276725"/>
            <a:ext cx="31432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Použij vazbu: konkrétní údaj → možné zneužití → přiměřené opatření.</a:t>
            </a:r>
          </a:p>
        </p:txBody>
      </p:sp>
      <p:sp>
        <p:nvSpPr>
          <p:cNvPr id="16" name="step-3">
            <a:extLst xmlns:a="http://schemas.openxmlformats.org/drawingml/2006/main">
              <a:ext uri="{FF2B5EF4-FFF2-40B4-BE49-F238E27FC236}">
                <a16:creationId xmlns:a16="http://schemas.microsoft.com/office/drawing/2014/main" id="{50F6E316-FA88-4BC1-BFC0-22564D81A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771775"/>
            <a:ext cx="35623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-887-313">
            <a:extLst xmlns:a="http://schemas.openxmlformats.org/drawingml/2006/main">
              <a:ext uri="{FF2B5EF4-FFF2-40B4-BE49-F238E27FC236}">
                <a16:creationId xmlns:a16="http://schemas.microsoft.com/office/drawing/2014/main" id="{1B2165B2-50FB-4364-B1E4-5E8C4AE69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981325"/>
            <a:ext cx="5524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D3FC0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8" name="text-887-372">
            <a:extLst xmlns:a="http://schemas.openxmlformats.org/drawingml/2006/main">
              <a:ext uri="{FF2B5EF4-FFF2-40B4-BE49-F238E27FC236}">
                <a16:creationId xmlns:a16="http://schemas.microsoft.com/office/drawing/2014/main" id="{64E79E20-126A-450E-A7AA-27709DA6E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543300"/>
            <a:ext cx="31432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Proveď soukromý audit</a:t>
            </a:r>
          </a:p>
        </p:txBody>
      </p:sp>
      <p:sp>
        <p:nvSpPr>
          <p:cNvPr id="19" name="text-887-449">
            <a:extLst xmlns:a="http://schemas.openxmlformats.org/drawingml/2006/main">
              <a:ext uri="{FF2B5EF4-FFF2-40B4-BE49-F238E27FC236}">
                <a16:creationId xmlns:a16="http://schemas.microsoft.com/office/drawing/2014/main" id="{9E59164B-1807-42C9-AFFB-AD46BED0C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4276725"/>
            <a:ext cx="31432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Výsledek osobního auditu neodevzdávej, nefotografuj a nesdílej.</a:t>
            </a:r>
          </a:p>
        </p:txBody>
      </p:sp>
      <p:sp>
        <p:nvSpPr>
          <p:cNvPr id="20" name="text-41-585">
            <a:extLst xmlns:a="http://schemas.openxmlformats.org/drawingml/2006/main">
              <a:ext uri="{FF2B5EF4-FFF2-40B4-BE49-F238E27FC236}">
                <a16:creationId xmlns:a16="http://schemas.microsoft.com/office/drawing/2014/main" id="{2A36A8F2-F084-48CF-AB3E-537EC0D8E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72125"/>
            <a:ext cx="15240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3FC0"/>
                </a:solidFill>
                <a:latin typeface="Arial"/>
                <a:ea typeface="Arial"/>
                <a:cs typeface="Arial"/>
              </a:defRPr>
            </a:pPr>
            <a:r>
              <a:t>ODEVZDEJ</a:t>
            </a:r>
          </a:p>
        </p:txBody>
      </p:sp>
      <p:sp>
        <p:nvSpPr>
          <p:cNvPr id="21" name="text-201-581">
            <a:extLst xmlns:a="http://schemas.openxmlformats.org/drawingml/2006/main">
              <a:ext uri="{FF2B5EF4-FFF2-40B4-BE49-F238E27FC236}">
                <a16:creationId xmlns:a16="http://schemas.microsoft.com/office/drawing/2014/main" id="{9D29181F-9E0C-4C39-A615-EDB409995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5534025"/>
            <a:ext cx="9886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Tabulka zjištění–podklad–riziko–doporučení a soukromý osobní audit.</a:t>
            </a:r>
          </a:p>
        </p:txBody>
      </p:sp>
    </p:spTree>
    <p:extLst>
      <p:ext uri="{BB962C8B-B14F-4D97-AF65-F5344CB8AC3E}">
        <p14:creationId xmlns:p14="http://schemas.microsoft.com/office/powerpoint/2010/main" val="13319055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41-34">
            <a:extLst xmlns:a="http://schemas.openxmlformats.org/drawingml/2006/main">
              <a:ext uri="{FF2B5EF4-FFF2-40B4-BE49-F238E27FC236}">
                <a16:creationId xmlns:a16="http://schemas.microsoft.com/office/drawing/2014/main" id="{42E4C41C-2E44-411E-B431-675027877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3333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3FC0"/>
                </a:solidFill>
                <a:latin typeface="Arial"/>
                <a:ea typeface="Arial"/>
                <a:cs typeface="Arial"/>
              </a:defRPr>
            </a:pPr>
            <a:r>
              <a:t>PRŮBĚŽNÁ KONTROLA</a:t>
            </a:r>
          </a:p>
        </p:txBody>
      </p:sp>
      <p:sp>
        <p:nvSpPr>
          <p:cNvPr id="2" name="text-41-73">
            <a:extLst xmlns:a="http://schemas.openxmlformats.org/drawingml/2006/main">
              <a:ext uri="{FF2B5EF4-FFF2-40B4-BE49-F238E27FC236}">
                <a16:creationId xmlns:a16="http://schemas.microsoft.com/office/drawing/2014/main" id="{4ABD626F-7A0B-499C-AB86-0C2243BE8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95325"/>
            <a:ext cx="114109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Než práci odevzdáš, ověř čtyři věci</a:t>
            </a:r>
          </a:p>
        </p:txBody>
      </p:sp>
      <p:sp>
        <p:nvSpPr>
          <p:cNvPr id="3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73E72F22-9BF5-4863-B47D-15D34B7EF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76975"/>
            <a:ext cx="11410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3F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41-672">
            <a:extLst xmlns:a="http://schemas.openxmlformats.org/drawingml/2006/main">
              <a:ext uri="{FF2B5EF4-FFF2-40B4-BE49-F238E27FC236}">
                <a16:creationId xmlns:a16="http://schemas.microsoft.com/office/drawing/2014/main" id="{9402387D-69AF-4FB5-AD19-4FCEBC650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0080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INTERNET · BEZPEČNOST · INFORMACE</a:t>
            </a:r>
          </a:p>
        </p:txBody>
      </p:sp>
      <p:sp>
        <p:nvSpPr>
          <p:cNvPr id="5" name="text-1050-672">
            <a:extLst xmlns:a="http://schemas.openxmlformats.org/drawingml/2006/main">
              <a:ext uri="{FF2B5EF4-FFF2-40B4-BE49-F238E27FC236}">
                <a16:creationId xmlns:a16="http://schemas.microsoft.com/office/drawing/2014/main" id="{CC34FDCC-A0B8-4BB8-8316-A3317961F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00800"/>
            <a:ext cx="18002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HODINA 8  /  5</a:t>
            </a:r>
          </a:p>
        </p:txBody>
      </p:sp>
      <p:sp>
        <p:nvSpPr>
          <p:cNvPr id="6" name="check-1">
            <a:extLst xmlns:a="http://schemas.openxmlformats.org/drawingml/2006/main">
              <a:ext uri="{FF2B5EF4-FFF2-40B4-BE49-F238E27FC236}">
                <a16:creationId xmlns:a16="http://schemas.microsoft.com/office/drawing/2014/main" id="{27B42C09-8EAA-4BD0-B99D-2DCF7A575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95450"/>
            <a:ext cx="5543550" cy="1647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65-205">
            <a:extLst xmlns:a="http://schemas.openxmlformats.org/drawingml/2006/main">
              <a:ext uri="{FF2B5EF4-FFF2-40B4-BE49-F238E27FC236}">
                <a16:creationId xmlns:a16="http://schemas.microsoft.com/office/drawing/2014/main" id="{98491F0D-6283-4015-A911-8AC7DE54C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52625"/>
            <a:ext cx="4286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6D3FC0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8" name="text-125-206">
            <a:extLst xmlns:a="http://schemas.openxmlformats.org/drawingml/2006/main">
              <a:ext uri="{FF2B5EF4-FFF2-40B4-BE49-F238E27FC236}">
                <a16:creationId xmlns:a16="http://schemas.microsoft.com/office/drawing/2014/main" id="{75EE35CA-07C7-4B82-8492-01B8C6F49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962150"/>
            <a:ext cx="4381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Výsledek</a:t>
            </a:r>
          </a:p>
        </p:txBody>
      </p:sp>
      <p:sp>
        <p:nvSpPr>
          <p:cNvPr id="9" name="text-125-255">
            <a:extLst xmlns:a="http://schemas.openxmlformats.org/drawingml/2006/main">
              <a:ext uri="{FF2B5EF4-FFF2-40B4-BE49-F238E27FC236}">
                <a16:creationId xmlns:a16="http://schemas.microsoft.com/office/drawing/2014/main" id="{C20E108D-D1AB-4503-B378-48A5E7C82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428875"/>
            <a:ext cx="4381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Student vytvoří nejméně čtyři odvození z kombinace příspěvků a ke každému navrhne přiměřené opatření.</a:t>
            </a:r>
          </a:p>
        </p:txBody>
      </p:sp>
      <p:sp>
        <p:nvSpPr>
          <p:cNvPr id="10" name="check-2">
            <a:extLst xmlns:a="http://schemas.openxmlformats.org/drawingml/2006/main">
              <a:ext uri="{FF2B5EF4-FFF2-40B4-BE49-F238E27FC236}">
                <a16:creationId xmlns:a16="http://schemas.microsoft.com/office/drawing/2014/main" id="{C950DC3F-B188-49B9-9590-410D85C6E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695450"/>
            <a:ext cx="5543550" cy="1647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681-205">
            <a:extLst xmlns:a="http://schemas.openxmlformats.org/drawingml/2006/main">
              <a:ext uri="{FF2B5EF4-FFF2-40B4-BE49-F238E27FC236}">
                <a16:creationId xmlns:a16="http://schemas.microsoft.com/office/drawing/2014/main" id="{21A5022C-0D03-4DAF-A78B-6A257F22D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952625"/>
            <a:ext cx="4286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6D3FC0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12" name="text-741-206">
            <a:extLst xmlns:a="http://schemas.openxmlformats.org/drawingml/2006/main">
              <a:ext uri="{FF2B5EF4-FFF2-40B4-BE49-F238E27FC236}">
                <a16:creationId xmlns:a16="http://schemas.microsoft.com/office/drawing/2014/main" id="{1E6CEDB3-A961-41EB-884A-96B9827C0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1962150"/>
            <a:ext cx="4381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Důvod</a:t>
            </a:r>
          </a:p>
        </p:txBody>
      </p:sp>
      <p:sp>
        <p:nvSpPr>
          <p:cNvPr id="13" name="text-741-255">
            <a:extLst xmlns:a="http://schemas.openxmlformats.org/drawingml/2006/main">
              <a:ext uri="{FF2B5EF4-FFF2-40B4-BE49-F238E27FC236}">
                <a16:creationId xmlns:a16="http://schemas.microsoft.com/office/drawing/2014/main" id="{FB2A6EEB-BBBC-4979-814B-9D070F7F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428875"/>
            <a:ext cx="4381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Které dva příspěvky dohromady odhalují více než každý zvlášť?</a:t>
            </a:r>
          </a:p>
        </p:txBody>
      </p:sp>
      <p:sp>
        <p:nvSpPr>
          <p:cNvPr id="14" name="check-3">
            <a:extLst xmlns:a="http://schemas.openxmlformats.org/drawingml/2006/main">
              <a:ext uri="{FF2B5EF4-FFF2-40B4-BE49-F238E27FC236}">
                <a16:creationId xmlns:a16="http://schemas.microsoft.com/office/drawing/2014/main" id="{BD27BFB6-6853-48F8-9C87-8AA7C6FEA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781425"/>
            <a:ext cx="5543550" cy="1647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65-424">
            <a:extLst xmlns:a="http://schemas.openxmlformats.org/drawingml/2006/main">
              <a:ext uri="{FF2B5EF4-FFF2-40B4-BE49-F238E27FC236}">
                <a16:creationId xmlns:a16="http://schemas.microsoft.com/office/drawing/2014/main" id="{19B886A5-1C7D-408E-9D6C-0E458BE4F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38600"/>
            <a:ext cx="4286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6D3FC0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16" name="text-125-425">
            <a:extLst xmlns:a="http://schemas.openxmlformats.org/drawingml/2006/main">
              <a:ext uri="{FF2B5EF4-FFF2-40B4-BE49-F238E27FC236}">
                <a16:creationId xmlns:a16="http://schemas.microsoft.com/office/drawing/2014/main" id="{84551191-786F-4893-9850-B131584D4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048125"/>
            <a:ext cx="4381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Ověření</a:t>
            </a:r>
          </a:p>
        </p:txBody>
      </p:sp>
      <p:sp>
        <p:nvSpPr>
          <p:cNvPr id="17" name="text-125-474">
            <a:extLst xmlns:a="http://schemas.openxmlformats.org/drawingml/2006/main">
              <a:ext uri="{FF2B5EF4-FFF2-40B4-BE49-F238E27FC236}">
                <a16:creationId xmlns:a16="http://schemas.microsoft.com/office/drawing/2014/main" id="{78F51FB8-70EB-46C4-9F80-6D6152257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514850"/>
            <a:ext cx="4381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Je riziko okamžité, dlouhodobé, nebo závislé na dalším údaji?</a:t>
            </a:r>
          </a:p>
        </p:txBody>
      </p:sp>
      <p:sp>
        <p:nvSpPr>
          <p:cNvPr id="18" name="check-4">
            <a:extLst xmlns:a="http://schemas.openxmlformats.org/drawingml/2006/main">
              <a:ext uri="{FF2B5EF4-FFF2-40B4-BE49-F238E27FC236}">
                <a16:creationId xmlns:a16="http://schemas.microsoft.com/office/drawing/2014/main" id="{A9A700DE-0B8E-4C4D-9130-F653485B2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781425"/>
            <a:ext cx="5543550" cy="1647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681-424">
            <a:extLst xmlns:a="http://schemas.openxmlformats.org/drawingml/2006/main">
              <a:ext uri="{FF2B5EF4-FFF2-40B4-BE49-F238E27FC236}">
                <a16:creationId xmlns:a16="http://schemas.microsoft.com/office/drawing/2014/main" id="{359BACC8-BCAF-447F-B80D-12D8C7D64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038600"/>
            <a:ext cx="4286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6D3FC0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20" name="text-741-425">
            <a:extLst xmlns:a="http://schemas.openxmlformats.org/drawingml/2006/main">
              <a:ext uri="{FF2B5EF4-FFF2-40B4-BE49-F238E27FC236}">
                <a16:creationId xmlns:a16="http://schemas.microsoft.com/office/drawing/2014/main" id="{FDF2C6DE-A886-4930-9277-2EFB17688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048125"/>
            <a:ext cx="4381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Bezpečný krok</a:t>
            </a:r>
          </a:p>
        </p:txBody>
      </p:sp>
      <p:sp>
        <p:nvSpPr>
          <p:cNvPr id="21" name="text-741-474">
            <a:extLst xmlns:a="http://schemas.openxmlformats.org/drawingml/2006/main">
              <a:ext uri="{FF2B5EF4-FFF2-40B4-BE49-F238E27FC236}">
                <a16:creationId xmlns:a16="http://schemas.microsoft.com/office/drawing/2014/main" id="{640902CF-BE1E-4E15-9440-FD97F5466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514850"/>
            <a:ext cx="4381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Jak lze zachovat smysl příspěvku a přitom snížit množství zveřejněných informací?</a:t>
            </a:r>
          </a:p>
        </p:txBody>
      </p:sp>
    </p:spTree>
    <p:extLst>
      <p:ext uri="{BB962C8B-B14F-4D97-AF65-F5344CB8AC3E}">
        <p14:creationId xmlns:p14="http://schemas.microsoft.com/office/powerpoint/2010/main" val="6031847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41-34">
            <a:extLst xmlns:a="http://schemas.openxmlformats.org/drawingml/2006/main">
              <a:ext uri="{FF2B5EF4-FFF2-40B4-BE49-F238E27FC236}">
                <a16:creationId xmlns:a16="http://schemas.microsoft.com/office/drawing/2014/main" id="{433547B3-7040-46FF-A799-E364F9DE9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3333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3FC0"/>
                </a:solidFill>
                <a:latin typeface="Arial"/>
                <a:ea typeface="Arial"/>
                <a:cs typeface="Arial"/>
              </a:defRPr>
            </a:pPr>
            <a:r>
              <a:t>39–43 MIN · SPOLEČNĚ</a:t>
            </a:r>
          </a:p>
        </p:txBody>
      </p:sp>
      <p:sp>
        <p:nvSpPr>
          <p:cNvPr id="2" name="text-41-73">
            <a:extLst xmlns:a="http://schemas.openxmlformats.org/drawingml/2006/main">
              <a:ext uri="{FF2B5EF4-FFF2-40B4-BE49-F238E27FC236}">
                <a16:creationId xmlns:a16="http://schemas.microsoft.com/office/drawing/2014/main" id="{3CD0EF9B-EFB2-451F-8E15-13D5C0C22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95325"/>
            <a:ext cx="114109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Co by měla dobrá odpověď obsahovat</a:t>
            </a:r>
          </a:p>
        </p:txBody>
      </p:sp>
      <p:sp>
        <p:nvSpPr>
          <p:cNvPr id="3" name="footer-rule-6">
            <a:extLst xmlns:a="http://schemas.openxmlformats.org/drawingml/2006/main">
              <a:ext uri="{FF2B5EF4-FFF2-40B4-BE49-F238E27FC236}">
                <a16:creationId xmlns:a16="http://schemas.microsoft.com/office/drawing/2014/main" id="{76F39BE5-162D-425C-BBDC-BE7A768B8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76975"/>
            <a:ext cx="11410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3F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41-672">
            <a:extLst xmlns:a="http://schemas.openxmlformats.org/drawingml/2006/main">
              <a:ext uri="{FF2B5EF4-FFF2-40B4-BE49-F238E27FC236}">
                <a16:creationId xmlns:a16="http://schemas.microsoft.com/office/drawing/2014/main" id="{8DCF0B82-3D0E-466E-9A63-86536D689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0080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INTERNET · BEZPEČNOST · INFORMACE</a:t>
            </a:r>
          </a:p>
        </p:txBody>
      </p:sp>
      <p:sp>
        <p:nvSpPr>
          <p:cNvPr id="5" name="text-1050-672">
            <a:extLst xmlns:a="http://schemas.openxmlformats.org/drawingml/2006/main">
              <a:ext uri="{FF2B5EF4-FFF2-40B4-BE49-F238E27FC236}">
                <a16:creationId xmlns:a16="http://schemas.microsoft.com/office/drawing/2014/main" id="{2184037B-9226-41DE-BC4D-5173C6721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00800"/>
            <a:ext cx="18002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HODINA 8  /  6</a:t>
            </a:r>
          </a:p>
        </p:txBody>
      </p:sp>
      <p:sp>
        <p:nvSpPr>
          <p:cNvPr id="6" name="text-41-171">
            <a:extLst xmlns:a="http://schemas.openxmlformats.org/drawingml/2006/main">
              <a:ext uri="{FF2B5EF4-FFF2-40B4-BE49-F238E27FC236}">
                <a16:creationId xmlns:a16="http://schemas.microsoft.com/office/drawing/2014/main" id="{B2373C16-4300-42DF-BFD6-2F7BB4F82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28775"/>
            <a:ext cx="5048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3FC0"/>
                </a:solidFill>
                <a:latin typeface="Arial"/>
                <a:ea typeface="Arial"/>
                <a:cs typeface="Arial"/>
              </a:defRPr>
            </a:pPr>
            <a:r>
              <a:t>PODLOŽENÝ ZÁVĚR</a:t>
            </a:r>
          </a:p>
        </p:txBody>
      </p:sp>
      <p:sp>
        <p:nvSpPr>
          <p:cNvPr id="7" name="text-41-224">
            <a:extLst xmlns:a="http://schemas.openxmlformats.org/drawingml/2006/main">
              <a:ext uri="{FF2B5EF4-FFF2-40B4-BE49-F238E27FC236}">
                <a16:creationId xmlns:a16="http://schemas.microsoft.com/office/drawing/2014/main" id="{9F622AD0-F04E-426F-9DC7-2188CEE17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133600"/>
            <a:ext cx="2000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Škola a třída</a:t>
            </a:r>
          </a:p>
        </p:txBody>
      </p:sp>
      <p:sp>
        <p:nvSpPr>
          <p:cNvPr id="8" name="text-264-224">
            <a:extLst xmlns:a="http://schemas.openxmlformats.org/drawingml/2006/main">
              <a:ext uri="{FF2B5EF4-FFF2-40B4-BE49-F238E27FC236}">
                <a16:creationId xmlns:a16="http://schemas.microsoft.com/office/drawing/2014/main" id="{5D367B64-C98F-4F90-A18C-9F2225EEC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133600"/>
            <a:ext cx="3238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Popis profilu a fotografie z počítačové učebny umožňují odhadnout školní prostředí.</a:t>
            </a:r>
          </a:p>
        </p:txBody>
      </p:sp>
      <p:sp>
        <p:nvSpPr>
          <p:cNvPr id="9" name="text-41-336">
            <a:extLst xmlns:a="http://schemas.openxmlformats.org/drawingml/2006/main">
              <a:ext uri="{FF2B5EF4-FFF2-40B4-BE49-F238E27FC236}">
                <a16:creationId xmlns:a16="http://schemas.microsoft.com/office/drawing/2014/main" id="{4B796395-88D7-4624-B82A-D848D6D37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00400"/>
            <a:ext cx="2000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Pravidelný pohyb</a:t>
            </a:r>
          </a:p>
        </p:txBody>
      </p:sp>
      <p:sp>
        <p:nvSpPr>
          <p:cNvPr id="10" name="text-264-336">
            <a:extLst xmlns:a="http://schemas.openxmlformats.org/drawingml/2006/main">
              <a:ext uri="{FF2B5EF4-FFF2-40B4-BE49-F238E27FC236}">
                <a16:creationId xmlns:a16="http://schemas.microsoft.com/office/drawing/2014/main" id="{42BFDD87-6B38-4F57-A497-F09FFDD6A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200400"/>
            <a:ext cx="3238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Úterní bowling a ranní cesta ukazují rutinu a časy.</a:t>
            </a:r>
          </a:p>
        </p:txBody>
      </p:sp>
      <p:sp>
        <p:nvSpPr>
          <p:cNvPr id="11" name="text-41-448">
            <a:extLst xmlns:a="http://schemas.openxmlformats.org/drawingml/2006/main">
              <a:ext uri="{FF2B5EF4-FFF2-40B4-BE49-F238E27FC236}">
                <a16:creationId xmlns:a16="http://schemas.microsoft.com/office/drawing/2014/main" id="{827A10AA-832C-4845-B0BB-0A0AC8018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267200"/>
            <a:ext cx="2000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7798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Bydliště a nepřítomnost</a:t>
            </a:r>
          </a:p>
        </p:txBody>
      </p:sp>
      <p:sp>
        <p:nvSpPr>
          <p:cNvPr id="12" name="text-264-448">
            <a:extLst xmlns:a="http://schemas.openxmlformats.org/drawingml/2006/main">
              <a:ext uri="{FF2B5EF4-FFF2-40B4-BE49-F238E27FC236}">
                <a16:creationId xmlns:a16="http://schemas.microsoft.com/office/drawing/2014/main" id="{49AEECAF-4AFE-4981-800C-ECB45CC3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267200"/>
            <a:ext cx="3238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Vchod domu v kombinaci s příspěvkem o prázdném bytě zvyšuje bezpečnostní riziko.</a:t>
            </a:r>
          </a:p>
        </p:txBody>
      </p:sp>
      <p:sp>
        <p:nvSpPr>
          <p:cNvPr id="13" name="misconception-panel">
            <a:extLst xmlns:a="http://schemas.openxmlformats.org/drawingml/2006/main">
              <a:ext uri="{FF2B5EF4-FFF2-40B4-BE49-F238E27FC236}">
                <a16:creationId xmlns:a16="http://schemas.microsoft.com/office/drawing/2014/main" id="{5A86F555-5A69-445C-A561-2BECDEEDC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628775"/>
            <a:ext cx="554355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691-203">
            <a:extLst xmlns:a="http://schemas.openxmlformats.org/drawingml/2006/main">
              <a:ext uri="{FF2B5EF4-FFF2-40B4-BE49-F238E27FC236}">
                <a16:creationId xmlns:a16="http://schemas.microsoft.com/office/drawing/2014/main" id="{4652361B-5058-4F97-8628-22A703F7A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1933575"/>
            <a:ext cx="476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3FC0"/>
                </a:solidFill>
                <a:latin typeface="Arial"/>
                <a:ea typeface="Arial"/>
                <a:cs typeface="Arial"/>
              </a:defRPr>
            </a:pPr>
            <a:r>
              <a:t>POZOR NA ZKRATKU</a:t>
            </a:r>
          </a:p>
        </p:txBody>
      </p:sp>
      <p:sp>
        <p:nvSpPr>
          <p:cNvPr id="15" name="text-691-263">
            <a:extLst xmlns:a="http://schemas.openxmlformats.org/drawingml/2006/main">
              <a:ext uri="{FF2B5EF4-FFF2-40B4-BE49-F238E27FC236}">
                <a16:creationId xmlns:a16="http://schemas.microsoft.com/office/drawing/2014/main" id="{71DE5F39-ACEF-4D48-976C-010D5CEB3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505075"/>
            <a:ext cx="46672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Student zesměšňuje profil.</a:t>
            </a:r>
          </a:p>
        </p:txBody>
      </p:sp>
      <p:sp>
        <p:nvSpPr>
          <p:cNvPr id="16" name="text-691-382">
            <a:extLst xmlns:a="http://schemas.openxmlformats.org/drawingml/2006/main">
              <a:ext uri="{FF2B5EF4-FFF2-40B4-BE49-F238E27FC236}">
                <a16:creationId xmlns:a16="http://schemas.microsoft.com/office/drawing/2014/main" id="{661A0924-003E-486A-A0CF-09A7119B6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638550"/>
            <a:ext cx="466725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Vraťte diskusi k návrhu bezpečnějšího sdílení; cílem není hodnotit osobu.</a:t>
            </a:r>
          </a:p>
        </p:txBody>
      </p:sp>
      <p:sp>
        <p:nvSpPr>
          <p:cNvPr id="17" name="text-41-576">
            <a:extLst xmlns:a="http://schemas.openxmlformats.org/drawingml/2006/main">
              <a:ext uri="{FF2B5EF4-FFF2-40B4-BE49-F238E27FC236}">
                <a16:creationId xmlns:a16="http://schemas.microsoft.com/office/drawing/2014/main" id="{D89FC5E7-3C27-4FBD-8038-821158369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486400"/>
            <a:ext cx="11410950" cy="504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Vrať se k úvodnímu rozhodnutí. Co bys teď změnil — a proč?</a:t>
            </a:r>
          </a:p>
        </p:txBody>
      </p:sp>
    </p:spTree>
    <p:extLst>
      <p:ext uri="{BB962C8B-B14F-4D97-AF65-F5344CB8AC3E}">
        <p14:creationId xmlns:p14="http://schemas.microsoft.com/office/powerpoint/2010/main" val="16250816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rail">
            <a:extLst xmlns:a="http://schemas.openxmlformats.org/drawingml/2006/main">
              <a:ext uri="{FF2B5EF4-FFF2-40B4-BE49-F238E27FC236}">
                <a16:creationId xmlns:a16="http://schemas.microsoft.com/office/drawing/2014/main" id="{700655EC-BC5F-45E6-9908-FA4885D73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3F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54-48">
            <a:extLst xmlns:a="http://schemas.openxmlformats.org/drawingml/2006/main">
              <a:ext uri="{FF2B5EF4-FFF2-40B4-BE49-F238E27FC236}">
                <a16:creationId xmlns:a16="http://schemas.microsoft.com/office/drawing/2014/main" id="{5961589B-E999-48C3-9949-6F8DF20F0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476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3FC0"/>
                </a:solidFill>
                <a:latin typeface="Arial"/>
                <a:ea typeface="Arial"/>
                <a:cs typeface="Arial"/>
              </a:defRPr>
            </a:pPr>
            <a:r>
              <a:t>HODINA 8 · POSLEDNÍ 3 MINUTY</a:t>
            </a:r>
          </a:p>
        </p:txBody>
      </p:sp>
      <p:sp>
        <p:nvSpPr>
          <p:cNvPr id="3" name="text-54-154">
            <a:extLst xmlns:a="http://schemas.openxmlformats.org/drawingml/2006/main">
              <a:ext uri="{FF2B5EF4-FFF2-40B4-BE49-F238E27FC236}">
                <a16:creationId xmlns:a16="http://schemas.microsoft.com/office/drawing/2014/main" id="{AF80B872-88C4-444D-88ED-634BBF11A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58102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Exit ticket</a:t>
            </a:r>
          </a:p>
        </p:txBody>
      </p:sp>
      <p:sp>
        <p:nvSpPr>
          <p:cNvPr id="4" name="text-54-278">
            <a:extLst xmlns:a="http://schemas.openxmlformats.org/drawingml/2006/main">
              <a:ext uri="{FF2B5EF4-FFF2-40B4-BE49-F238E27FC236}">
                <a16:creationId xmlns:a16="http://schemas.microsoft.com/office/drawing/2014/main" id="{22567662-9B64-424E-8AE7-1A70D9CF6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47950"/>
            <a:ext cx="10477500" cy="167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Uveď dvojici veřejných údajů, které jsou samostatně běžné, ale společně zvyšují riziko.</a:t>
            </a:r>
          </a:p>
        </p:txBody>
      </p:sp>
      <p:sp>
        <p:nvSpPr>
          <p:cNvPr id="5" name="exit-line">
            <a:extLst xmlns:a="http://schemas.openxmlformats.org/drawingml/2006/main">
              <a:ext uri="{FF2B5EF4-FFF2-40B4-BE49-F238E27FC236}">
                <a16:creationId xmlns:a16="http://schemas.microsoft.com/office/drawing/2014/main" id="{E01D8141-52C8-44B1-9044-51231D839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5775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3F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54-544">
            <a:extLst xmlns:a="http://schemas.openxmlformats.org/drawingml/2006/main">
              <a:ext uri="{FF2B5EF4-FFF2-40B4-BE49-F238E27FC236}">
                <a16:creationId xmlns:a16="http://schemas.microsoft.com/office/drawing/2014/main" id="{6BDA409F-3B3E-4FE5-81A0-D51C0A658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81600"/>
            <a:ext cx="9144000" cy="581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Odpověz samostatně jednou až třemi větami. Uveď konkrétní krok nebo důvod.</a:t>
            </a:r>
          </a:p>
        </p:txBody>
      </p:sp>
      <p:sp>
        <p:nvSpPr>
          <p:cNvPr id="7" name="text-1070-548">
            <a:extLst xmlns:a="http://schemas.openxmlformats.org/drawingml/2006/main">
              <a:ext uri="{FF2B5EF4-FFF2-40B4-BE49-F238E27FC236}">
                <a16:creationId xmlns:a16="http://schemas.microsoft.com/office/drawing/2014/main" id="{F1541A22-0E5C-4513-885F-DF0A73A02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219700"/>
            <a:ext cx="8953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3300" b="1">
                <a:solidFill>
                  <a:srgbClr val="6D3FC0"/>
                </a:solidFill>
                <a:latin typeface="Arial"/>
                <a:ea typeface="Arial"/>
                <a:cs typeface="Arial"/>
              </a:defRPr>
            </a:pPr>
            <a: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41313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2026-07-24T13:43:38.9840000Z</dcterms:created>
  <dcterms:modified xsi:type="dcterms:W3CDTF">2026-07-24T13:43:38.9840000Z</dcterms:modified>
</coreProperties>
</file>