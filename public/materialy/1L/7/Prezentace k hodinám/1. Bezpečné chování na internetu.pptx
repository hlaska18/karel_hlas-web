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ed24986924e29" /><Relationship Type="http://schemas.openxmlformats.org/officeDocument/2006/relationships/extended-properties" Target="/docProps/app.xml" Id="R282c999a862145b6" /><Relationship Type="http://schemas.openxmlformats.org/officeDocument/2006/relationships/officeDocument" Target="/ppt/presentation.xml" Id="R538b131d91c448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eb9dd327b84d91"/>
  </p:sldMasterIdLst>
  <p:notesMasterIdLst>
    <p:notesMasterId xmlns:r="http://schemas.openxmlformats.org/officeDocument/2006/relationships" r:id="R0fa7db9c353c448f"/>
  </p:notesMasterIdLst>
  <p:sldIdLst>
    <p:sldId xmlns:r="http://schemas.openxmlformats.org/officeDocument/2006/relationships" id="256" r:id="Rcfc90f1ab5934933"/>
    <p:sldId xmlns:r="http://schemas.openxmlformats.org/officeDocument/2006/relationships" id="257" r:id="R92039db6f2a9497a"/>
    <p:sldId xmlns:r="http://schemas.openxmlformats.org/officeDocument/2006/relationships" id="258" r:id="R7dd5d46c58f54236"/>
    <p:sldId xmlns:r="http://schemas.openxmlformats.org/officeDocument/2006/relationships" id="259" r:id="Rc352d728eced4ba9"/>
    <p:sldId xmlns:r="http://schemas.openxmlformats.org/officeDocument/2006/relationships" id="260" r:id="R36cc342473ff4004"/>
    <p:sldId xmlns:r="http://schemas.openxmlformats.org/officeDocument/2006/relationships" id="261" r:id="R30e01198786a478c"/>
    <p:sldId xmlns:r="http://schemas.openxmlformats.org/officeDocument/2006/relationships" id="262" r:id="R61fb866c98fa4a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0583d30234c4a" /><Relationship Type="http://schemas.openxmlformats.org/officeDocument/2006/relationships/slideMaster" Target="/ppt/slideMasters/slideMaster1.xml" Id="Rf2eb9dd327b84d91" /><Relationship Type="http://schemas.openxmlformats.org/officeDocument/2006/relationships/notesMaster" Target="/ppt/notesMasters/notesMaster1.xml" Id="R0fa7db9c353c448f" /><Relationship Type="http://schemas.openxmlformats.org/officeDocument/2006/relationships/presProps" Target="/ppt/presProps.xml" Id="R9147253b93d4492d" /><Relationship Type="http://schemas.openxmlformats.org/officeDocument/2006/relationships/tableStyles" Target="/ppt/tableStyles.xml" Id="R75d69cb7f19c4599" /><Relationship Type="http://schemas.openxmlformats.org/officeDocument/2006/relationships/slide" Target="/ppt/slides/slide1.xml" Id="Rcfc90f1ab5934933" /><Relationship Type="http://schemas.openxmlformats.org/officeDocument/2006/relationships/slide" Target="/ppt/slides/slide2.xml" Id="R92039db6f2a9497a" /><Relationship Type="http://schemas.openxmlformats.org/officeDocument/2006/relationships/slide" Target="/ppt/slides/slide3.xml" Id="R7dd5d46c58f54236" /><Relationship Type="http://schemas.openxmlformats.org/officeDocument/2006/relationships/slide" Target="/ppt/slides/slide4.xml" Id="Rc352d728eced4ba9" /><Relationship Type="http://schemas.openxmlformats.org/officeDocument/2006/relationships/slide" Target="/ppt/slides/slide5.xml" Id="R36cc342473ff4004" /><Relationship Type="http://schemas.openxmlformats.org/officeDocument/2006/relationships/slide" Target="/ppt/slides/slide6.xml" Id="R30e01198786a478c" /><Relationship Type="http://schemas.openxmlformats.org/officeDocument/2006/relationships/slide" Target="/ppt/slides/slide7.xml" Id="R61fb866c98fa4a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eae0015d6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b39c875ef4b3a" /><Relationship Type="http://schemas.openxmlformats.org/officeDocument/2006/relationships/notesMaster" Target="/ppt/notesMasters/notesMaster1.xml" Id="R25b9bb42e90c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2c5d1673964c27" /><Relationship Type="http://schemas.openxmlformats.org/officeDocument/2006/relationships/notesMaster" Target="/ppt/notesMasters/notesMaster1.xml" Id="Rb9bc51f8fc864e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b97cef124645a1" /><Relationship Type="http://schemas.openxmlformats.org/officeDocument/2006/relationships/notesMaster" Target="/ppt/notesMasters/notesMaster1.xml" Id="R9a333239c065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a5f405cbb94939" /><Relationship Type="http://schemas.openxmlformats.org/officeDocument/2006/relationships/notesMaster" Target="/ppt/notesMasters/notesMaster1.xml" Id="Rc4602692bfcd43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9cb34e2084d83" /><Relationship Type="http://schemas.openxmlformats.org/officeDocument/2006/relationships/notesMaster" Target="/ppt/notesMasters/notesMaster1.xml" Id="R308b215f16c443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20ae3149d8454f" /><Relationship Type="http://schemas.openxmlformats.org/officeDocument/2006/relationships/notesMaster" Target="/ppt/notesMasters/notesMaster1.xml" Id="Rbd49ebc7739848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12696ee644bcd" /><Relationship Type="http://schemas.openxmlformats.org/officeDocument/2006/relationships/notesMaster" Target="/ppt/notesMasters/notesMaster1.xml" Id="Rfb50a9248d6e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rozpozná rizikovou online situaci, pojmenuje varovné znaky a navrhne nejmenší bezpečný další krok.</a:t>
            </a:r>
          </a:p>
          <a:p xmlns:a="http://schemas.openxmlformats.org/drawingml/2006/main">
            <a:r>
              <a:t>Soubory: Digitální pracovní sešit, 1. Rizikové situace.csv</a:t>
            </a:r>
          </a:p>
          <a:p xmlns:a="http://schemas.openxmlformats.org/drawingml/2006/main">
            <a:r>
              <a:t>Výstup: Vyplněná tabulka rizik a třídní desatero konkrétních pravidel.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Odkaz ve třídní skupině.</a:t>
            </a:r>
          </a:p>
          <a:p xmlns:a="http://schemas.openxmlformats.org/drawingml/2006/main">
            <a:r>
              <a:t>Postup učitele: Nechte studenty nejprve samostatně rozhodnout a zapsat první bezpečný krok.</a:t>
            </a:r>
          </a:p>
          <a:p xmlns:a="http://schemas.openxmlformats.org/drawingml/2006/main">
            <a:r>
              <a:t>Otázka pro studenty: Otevřeš odkaz ve třídní skupině. Co uděláš jako první?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5–10 minut.</a:t>
            </a:r>
          </a:p>
          <a:p xmlns:a="http://schemas.openxmlformats.org/drawingml/2006/main">
            <a:r>
              <a:t>Činnost: Co mění míru rizika.</a:t>
            </a:r>
          </a:p>
          <a:p xmlns:a="http://schemas.openxmlformats.org/drawingml/2006/main">
            <a:r>
              <a:t>Postup učitele: Na tabuli sbírejte kontextové znaky: zdroj, naléhavost, požadovaná akce, dopad.</a:t>
            </a:r>
          </a:p>
          <a:p xmlns:a="http://schemas.openxmlformats.org/drawingml/2006/main">
            <a:r>
              <a:t>Klíčové závěry: Veřejná Wi‑Fi: Ověřit název sítě; citlivé služby raději nepoužívat nebo zvolit mobilní data či důvěryhodnou síť. | Oprávnění aplikace: Kontakty a poloha nejsou pro svítilnu nezbytné; oprávnění zamítnout nebo aplikaci nepoužít. | Aktualizace: Aktualizovat z nastavení systému či oficiálního obchodu, nikoli z náhodného vyskakovacího okna.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Digitální pracovní sešit, 1. Rizikové situace.csv</a:t>
            </a:r>
          </a:p>
          <a:p xmlns:a="http://schemas.openxmlformats.org/drawingml/2006/main">
            <a:r>
              <a:t>10–25 min – Analýza situací v CSV: Dvojice vyplňují tabulku; ptejte se na důvod, ne pouze na číslo.</a:t>
            </a:r>
          </a:p>
          <a:p xmlns:a="http://schemas.openxmlformats.org/drawingml/2006/main">
            <a:r>
              <a:t>25–34 min – Porovnání rozhodnutí: Vyberte situace s rozdílným hodnocením a nechte skupiny obhájit podmínky.</a:t>
            </a:r>
          </a:p>
          <a:p xmlns:a="http://schemas.openxmlformats.org/drawingml/2006/main">
            <a:r>
              <a:t>34–42 min – Třídní desatero: Trvejte na slovesech: ověř, zastav, nahlas, aktualizuj, nesdílej.</a:t>
            </a:r>
          </a:p>
          <a:p xmlns:a="http://schemas.openxmlformats.org/drawingml/2006/main">
            <a:r>
              <a:t>Požadovaný výstup: Vyplněná tabulka rizik a třídní desatero konkrétních pravidel.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U nejméně pěti situací student uvede riziko, bezpečný postup a srozumitelné zdůvodnění.</a:t>
            </a:r>
          </a:p>
          <a:p xmlns:a="http://schemas.openxmlformats.org/drawingml/2006/main">
            <a:r>
              <a:t>Vodicí otázky: Který konkrétní znak situace mění tvoje rozhodnutí? | Jak lze tvrzení nebo žádost ověřit jiným kanálem? | Jaký je nejmenší bezpečný krok, který neudělá další škodu?</a:t>
            </a:r>
          </a:p>
          <a:p xmlns:a="http://schemas.openxmlformats.org/drawingml/2006/main">
            <a:r>
              <a:t>Podpora: Nechte studenty nejprve vyplnit pouze sloupce situace a bezpečný krok; míru rizika doplní při obhajobě.</a:t>
            </a:r>
          </a:p>
          <a:p xmlns:a="http://schemas.openxmlformats.org/drawingml/2006/main">
            <a:r>
              <a:t>Rozšíření: Silnější skupina doplní, jak by se rozhodnutí změnilo v domácím, školním a veřejném prostředí.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Veřejná Wi‑Fi: Ověřit název sítě; citlivé služby raději nepoužívat nebo zvolit mobilní data či důvěryhodnou síť. | Oprávnění aplikace: Kontakty a poloha nejsou pro svítilnu nezbytné; oprávnění zamítnout nebo aplikaci nepoužít. | Aktualizace: Aktualizovat z nastavení systému či oficiálního obchodu, nikoli z náhodného vyskakovacího okna. | Nalezené USB: Nepřipojovat ke školnímu počítači; předat správci nebo IT podpoře. | Ověřovací kód: Nikomu nepřeposílat; může potvrdit přihlášení, platbu nebo změnu účtu.</a:t>
            </a:r>
          </a:p>
          <a:p xmlns:a="http://schemas.openxmlformats.org/drawingml/2006/main">
            <a:r>
              <a:t>Časté chyby a intervence: „Správné číslo rizika je vždy stejné.“ → Požadujte podmínky. Stejná situace může být podle kontextu běžná i závažná. | „HTTPS znamená bezpečný obsah.“ → Odlište ochranu přenosu od poctivosti provozovatele a pravdivosti tvrzení. | Student popisuje vlastní incident. → Zastavte zveřejňování detailů a vraťte diskusi k fiktivnímu zadání.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Doplň větu: Když mě online zpráva tlačí k rychlé akci, nejdřív…</a:t>
            </a:r>
          </a:p>
          <a:p xmlns:a="http://schemas.openxmlformats.org/drawingml/2006/main">
            <a:r>
              <a:t>Podpora: Nechte studenty nejprve vyplnit pouze sloupce situace a bezpečný krok; míru rizika doplní při obhajobě.</a:t>
            </a:r>
          </a:p>
          <a:p xmlns:a="http://schemas.openxmlformats.org/drawingml/2006/main">
            <a:r>
              <a:t>Rozšíření: Silnější skupina doplní, jak by se rozhodnutí změnilo v domácím, školním a veřejném prostředí.</a:t>
            </a:r>
          </a:p>
          <a:p xmlns:a="http://schemas.openxmlformats.org/drawingml/2006/main">
            <a:r>
              <a:t>Když technika selže: Pokud nefunguje tabulkový procesor, stejné situace jsou uvedené v pracovním sešitu a lze je vyplnit ve Wordu.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4846b955d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50d5667424e19" /><Relationship Type="http://schemas.openxmlformats.org/officeDocument/2006/relationships/slideLayout" Target="/ppt/slideLayouts/slideLayout1.xml" Id="R5eeef2d9bf37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eef2d9bf37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2ec1ee9b42d6" /><Relationship Type="http://schemas.openxmlformats.org/officeDocument/2006/relationships/notesSlide" Target="/ppt/notesSlides/notesSlide1.xml" Id="R08a4b3f2d738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7828101c444d9" /><Relationship Type="http://schemas.openxmlformats.org/officeDocument/2006/relationships/notesSlide" Target="/ppt/notesSlides/notesSlide2.xml" Id="R51b4380427eb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0fc9ad7ab477a" /><Relationship Type="http://schemas.openxmlformats.org/officeDocument/2006/relationships/notesSlide" Target="/ppt/notesSlides/notesSlide3.xml" Id="Rf1cb505fe57f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0859862a14b58" /><Relationship Type="http://schemas.openxmlformats.org/officeDocument/2006/relationships/notesSlide" Target="/ppt/notesSlides/notesSlide4.xml" Id="R047a811d1ec845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c5b3bb8644e4" /><Relationship Type="http://schemas.openxmlformats.org/officeDocument/2006/relationships/notesSlide" Target="/ppt/notesSlides/notesSlide5.xml" Id="R22234e5e081149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c2fc344d449a" /><Relationship Type="http://schemas.openxmlformats.org/officeDocument/2006/relationships/notesSlide" Target="/ppt/notesSlides/notesSlide6.xml" Id="Re50891db303d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ac3748069428a" /><Relationship Type="http://schemas.openxmlformats.org/officeDocument/2006/relationships/notesSlide" Target="/ppt/notesSlides/notesSlide7.xml" Id="R698167fc525a4a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04DC28A-2230-43B7-95AB-CC074B48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B2D31598-DB45-4D79-AD5B-271FA7E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HODINA 1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62C3D42F-9202-46D6-A953-3848AB9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07650B49-FD4E-4CE1-A2E4-3D0C8CE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Bezpečné chování na internetu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BA018248-4B87-48E8-ACEE-2FD925D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rozpozná rizikovou online situaci, pojmenuje varovné znaky a navrhne nejmenší bezpečný další krok.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0E7BDC5F-1E53-46C4-97C2-F6CCF11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305742AF-D8F8-4652-989F-C39DA72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9C90B27E-B7A2-49B5-BF14-364F9B48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458370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8404D642-353D-4612-9CC0-8B49411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DE1122C-99A5-4721-A562-802E17B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303464B-1F90-453C-A028-30A93796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280C764-E0E3-4EA5-9F94-3EA0A8D6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41AF471F-DF32-430B-AE6E-98F90A35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  /  2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75FC1F6C-E8A8-408F-9F4D-B478093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Otevřeš odkaz ve třídní skupině. Co uděláš jako první?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48F1098E-13AE-4784-A87E-BA83B5C5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11410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-476">
            <a:extLst xmlns:a="http://schemas.openxmlformats.org/drawingml/2006/main">
              <a:ext uri="{FF2B5EF4-FFF2-40B4-BE49-F238E27FC236}">
                <a16:creationId xmlns:a16="http://schemas.microsoft.com/office/drawing/2014/main" id="{F167EEC0-4C94-4BC4-87BD-BAD98E9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9" name="text-70-520">
            <a:extLst xmlns:a="http://schemas.openxmlformats.org/drawingml/2006/main">
              <a:ext uri="{FF2B5EF4-FFF2-40B4-BE49-F238E27FC236}">
                <a16:creationId xmlns:a16="http://schemas.microsoft.com/office/drawing/2014/main" id="{175BC6A1-1733-4BB3-B9D5-721577AE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905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 jeden konkrétní důvod.</a:t>
            </a:r>
          </a:p>
        </p:txBody>
      </p:sp>
      <p:sp>
        <p:nvSpPr>
          <p:cNvPr id="10" name="text-461-476">
            <a:extLst xmlns:a="http://schemas.openxmlformats.org/drawingml/2006/main">
              <a:ext uri="{FF2B5EF4-FFF2-40B4-BE49-F238E27FC236}">
                <a16:creationId xmlns:a16="http://schemas.microsoft.com/office/drawing/2014/main" id="{196D3EA1-0982-4219-BEEB-EC96142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3381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1" name="text-461-520">
            <a:extLst xmlns:a="http://schemas.openxmlformats.org/drawingml/2006/main">
              <a:ext uri="{FF2B5EF4-FFF2-40B4-BE49-F238E27FC236}">
                <a16:creationId xmlns:a16="http://schemas.microsoft.com/office/drawing/2014/main" id="{661554DE-8B45-4357-B0C8-7CE2252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3381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Najděte bod, ve kterém se lišíte.</a:t>
            </a:r>
          </a:p>
        </p:txBody>
      </p:sp>
      <p:sp>
        <p:nvSpPr>
          <p:cNvPr id="12" name="text-900-476">
            <a:extLst xmlns:a="http://schemas.openxmlformats.org/drawingml/2006/main">
              <a:ext uri="{FF2B5EF4-FFF2-40B4-BE49-F238E27FC236}">
                <a16:creationId xmlns:a16="http://schemas.microsoft.com/office/drawing/2014/main" id="{4AC9F87D-A4E3-40D0-B29A-1062419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3" name="text-900-520">
            <a:extLst xmlns:a="http://schemas.openxmlformats.org/drawingml/2006/main">
              <a:ext uri="{FF2B5EF4-FFF2-40B4-BE49-F238E27FC236}">
                <a16:creationId xmlns:a16="http://schemas.microsoft.com/office/drawing/2014/main" id="{785BD35D-E14D-4568-9AA5-EBEB978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změnilo tvé rozhodnutí?</a:t>
            </a:r>
          </a:p>
        </p:txBody>
      </p:sp>
    </p:spTree>
    <p:extLst>
      <p:ext uri="{BB962C8B-B14F-4D97-AF65-F5344CB8AC3E}">
        <p14:creationId xmlns:p14="http://schemas.microsoft.com/office/powerpoint/2010/main" val="2002947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733ED9E2-C7B6-4715-BA83-D25E6797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5–10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B0BBC79-B862-45C4-B8F9-70DA95B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96B3BB1-1387-490E-8EF8-401B26A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F9BC000-CCBB-49DC-936B-05D1D09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8C343874-670A-4532-98F8-977E6AD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1C23BC82-FAB8-4068-BF50-B8231AE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20E4DF82-7968-4F55-955E-E63AA9EE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Zastav se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794D4E92-E0C5-4A07-90E5-5946B78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Naléhavost je důvod k pauze. Než klikneš nebo odpovíš, zjisti, co po tobě situace žádá.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7D6B26B0-37F0-41FC-8466-1F6C09E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C99BA818-25F0-445E-9B6E-FC4DD82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 zdroj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300F7EC7-E257-40A0-B181-41FF86AF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Zkontroluj odesílatele, doménu a kontext. Důležitou žádost potvrď jiným známým kanálem.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76B134B3-1936-49AF-A77B-270A3E9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E69D6048-1328-49CA-B44F-83F900B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Nejmenší bezpečný krok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33A6A752-AA8F-4662-946D-A07A35C6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Neklikej, nic nesdílej a neinstaluj. Zvol krok, který situaci nezhorší a lze ho vrátit.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4013BB48-E708-461E-A9E3-05C932C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1DF36BB3-1238-41E0-9043-0ADCE561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2128937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4926CA94-AC58-41C8-BFFD-6DE8992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10–42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AB92C56E-3F94-48E5-92BF-E7A2ED26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6FC2606-5A20-4738-89D5-92B0E07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48FC75C-7C6E-473C-90EC-BBD358D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BB942A87-B98B-4916-B8C2-CA0760FF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4CAFE062-AD0A-4163-AF78-5B9B9FC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FCC00C84-2B00-40E4-87BF-01F730A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Digitální pracovní sešit, 1. Rizikové situace.csv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1F35F33-D505-4DF7-89ED-0C35079F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B0675543-D5F3-48DB-BD57-95F98DA6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C188DD61-2F19-4F1A-AC72-CD05412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Analyzuj situace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D9E1F820-B8D4-4F4B-A2A7-C4FFC08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Ve dvojici doplň riziko, bezpečný krok a konkrétní důvod.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3748E1B1-7794-461F-B1AB-46DD3C4B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8245E1EC-6A03-4D50-BCAF-38ADCB36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CFDE0C6B-5A9A-4837-9B8B-7EC021A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rozhodnutí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33138151-F72A-497D-A092-28365D1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Vyberte dvě situace, ve kterých se lišíte, a obhajte své podmínky.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4DD4AFE6-8D0F-4FAC-AC79-F857397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42D93732-4256-4566-BA5C-949066B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64508808-5573-4DEE-8344-7F6FE0D5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Navrhni pravidla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7CA00692-0E5F-48A7-A4A0-25BCD699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Sepište konkrétní slovesa: ověř, zastav, nahlas, aktualizuj, nesdílej.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A3A81FF8-13FC-446E-BC7F-A123EB12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C6A3EF0D-8C3F-4749-9232-4FA960C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Vyplněná tabulka rizik a třídní desatero konkrétních pravidel.</a:t>
            </a:r>
          </a:p>
        </p:txBody>
      </p:sp>
    </p:spTree>
    <p:extLst>
      <p:ext uri="{BB962C8B-B14F-4D97-AF65-F5344CB8AC3E}">
        <p14:creationId xmlns:p14="http://schemas.microsoft.com/office/powerpoint/2010/main" val="56034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CCF65A2-D6AF-4F08-8195-A6EDF7C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30480D1-E449-48A2-BC13-700BD949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6501B71-C8FA-4C5C-A5C0-7657569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6663ABE-8062-4FF3-BF3D-4263A0D9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E0F0F6DD-2ACE-4204-80C7-BDDE88A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DFE34D8A-FD79-486A-86A1-5DABBDC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976C5827-D59C-4215-94A4-152787B1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49D313A5-B4EE-4296-BB53-F0E12BC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DBFFAD06-4150-4036-8CFA-7531B4E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 nejméně pěti situací student uvede riziko, bezpečný postup a srozumitelné zdůvodnění.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78552A74-4750-492F-8812-33E7A3A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BD8B1890-28E0-4264-9599-7FBF312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FC469CC0-5415-41D3-907B-9185388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4DA05229-C96F-48D8-A695-0FCD75F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Který konkrétní znak situace mění tvoje rozhodnutí?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8A0F2627-EB7E-46A1-A892-24AAFBE1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DAFA6086-FA2D-470F-9FB3-724D063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75CA265E-CDEF-4D4D-ADF7-1210345C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E41247E9-FD94-4A17-9AE8-5455A7E0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 lze tvrzení nebo žádost ověřit jiným kanálem?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CF93D290-CEE8-4F51-BF58-EF20A1E9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88242192-CF06-439C-96B3-CD32904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FFF242B0-E2E8-40BE-8E99-029CAAF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31C599A4-F062-4029-AFCD-41B9718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Jaký je nejmenší bezpečný krok, který neudělá další škodu?</a:t>
            </a:r>
          </a:p>
        </p:txBody>
      </p:sp>
    </p:spTree>
    <p:extLst>
      <p:ext uri="{BB962C8B-B14F-4D97-AF65-F5344CB8AC3E}">
        <p14:creationId xmlns:p14="http://schemas.microsoft.com/office/powerpoint/2010/main" val="3156523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19C7E4F-9E99-4E56-8D55-255E39EC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34–42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2F374E12-466F-4945-9754-3BBBA85A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7081A623-10EB-4141-8C81-30E7CC2A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721E180F-2C2D-48BF-A53D-D25DBDA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805B7276-B3B7-4C2D-979A-D2C05CFA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113204D8-06DE-44B3-9E49-A705CCD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CFE4E188-D150-4DFF-ACD8-F29CD23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Veřejná Wi‑Fi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A8929D1B-F805-4964-A3CB-3980CA39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Ověřit název sítě; citlivé služby raději nepoužívat nebo zvolit mobilní data či důvěryhodnou síť.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8648A999-C211-4952-B4CC-8EB0BF5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Oprávnění aplikace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048F574B-F669-40B7-ADDC-AA997A3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Kontakty a poloha nejsou pro svítilnu nezbytné; oprávnění zamítnout nebo aplikaci nepoužít.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299E5DD8-2C0E-4EA5-9455-9C85F6C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Aktualizace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B083B070-DE54-47EB-B2F0-C294964F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Aktualizovat z nastavení systému či oficiálního obchodu, nikoli z náhodného vyskakovacího okna.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13D490D7-A624-4ACE-AB8A-B88F148D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C626A424-9C27-4C0C-A7C3-8B5C13C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C8BADE80-2721-4B68-A337-AE5C422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„Správné číslo rizika je vždy stejné.“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26D068A2-8973-43FC-91AE-F2698C2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Požadujte podmínky. Stejná situace může být podle kontextu běžná i závažná.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753F9C6A-A088-4E09-82F9-0B4109A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090828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21732D24-F6F8-42E0-A953-AF5CE88E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08FFD14F-794A-4D8D-8422-81E47205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HODINA 1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A0195E9F-60DA-404F-8A1B-DD86D4E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5CA8062B-B3FA-4237-83E2-7FB1180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Doplň větu: Když mě online zpráva tlačí k rychlé akci, nejdřív…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D0BE88AD-7599-4E8C-A185-3CD3B37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7EAA5054-9AF8-47DD-8661-CDA3C48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15EA5CE9-0368-40A2-A8DF-376527C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167D6D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5058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2026-07-24T13:43:30.5570000Z</dcterms:created>
  <dcterms:modified xsi:type="dcterms:W3CDTF">2026-07-24T13:43:30.5570000Z</dcterms:modified>
</coreProperties>
</file>