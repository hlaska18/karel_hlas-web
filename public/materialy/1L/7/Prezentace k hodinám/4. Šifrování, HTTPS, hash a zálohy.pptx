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8f53cc10fe4839" /><Relationship Type="http://schemas.openxmlformats.org/officeDocument/2006/relationships/extended-properties" Target="/docProps/app.xml" Id="R8ce6987ce3e34905" /><Relationship Type="http://schemas.openxmlformats.org/officeDocument/2006/relationships/officeDocument" Target="/ppt/presentation.xml" Id="Rcf257937a9c34a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8048165ae745f9"/>
  </p:sldMasterIdLst>
  <p:notesMasterIdLst>
    <p:notesMasterId xmlns:r="http://schemas.openxmlformats.org/officeDocument/2006/relationships" r:id="R719df033211b40c0"/>
  </p:notesMasterIdLst>
  <p:sldIdLst>
    <p:sldId xmlns:r="http://schemas.openxmlformats.org/officeDocument/2006/relationships" id="256" r:id="R9d85263f79954caa"/>
    <p:sldId xmlns:r="http://schemas.openxmlformats.org/officeDocument/2006/relationships" id="257" r:id="R1731d1099f504e44"/>
    <p:sldId xmlns:r="http://schemas.openxmlformats.org/officeDocument/2006/relationships" id="258" r:id="R6c2de58b547c47cb"/>
    <p:sldId xmlns:r="http://schemas.openxmlformats.org/officeDocument/2006/relationships" id="259" r:id="Rc98b5158f89d4e89"/>
    <p:sldId xmlns:r="http://schemas.openxmlformats.org/officeDocument/2006/relationships" id="260" r:id="R01cf923c7555438d"/>
    <p:sldId xmlns:r="http://schemas.openxmlformats.org/officeDocument/2006/relationships" id="261" r:id="Rd4d8e3df975341a5"/>
    <p:sldId xmlns:r="http://schemas.openxmlformats.org/officeDocument/2006/relationships" id="262" r:id="R63bbc2daae5947b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546043b05942a7" /><Relationship Type="http://schemas.openxmlformats.org/officeDocument/2006/relationships/slideMaster" Target="/ppt/slideMasters/slideMaster1.xml" Id="Rf88048165ae745f9" /><Relationship Type="http://schemas.openxmlformats.org/officeDocument/2006/relationships/notesMaster" Target="/ppt/notesMasters/notesMaster1.xml" Id="R719df033211b40c0" /><Relationship Type="http://schemas.openxmlformats.org/officeDocument/2006/relationships/presProps" Target="/ppt/presProps.xml" Id="Re6ba892999a7490d" /><Relationship Type="http://schemas.openxmlformats.org/officeDocument/2006/relationships/tableStyles" Target="/ppt/tableStyles.xml" Id="Rec7117805cc54bb4" /><Relationship Type="http://schemas.openxmlformats.org/officeDocument/2006/relationships/slide" Target="/ppt/slides/slide1.xml" Id="R9d85263f79954caa" /><Relationship Type="http://schemas.openxmlformats.org/officeDocument/2006/relationships/slide" Target="/ppt/slides/slide2.xml" Id="R1731d1099f504e44" /><Relationship Type="http://schemas.openxmlformats.org/officeDocument/2006/relationships/slide" Target="/ppt/slides/slide3.xml" Id="R6c2de58b547c47cb" /><Relationship Type="http://schemas.openxmlformats.org/officeDocument/2006/relationships/slide" Target="/ppt/slides/slide4.xml" Id="Rc98b5158f89d4e89" /><Relationship Type="http://schemas.openxmlformats.org/officeDocument/2006/relationships/slide" Target="/ppt/slides/slide5.xml" Id="R01cf923c7555438d" /><Relationship Type="http://schemas.openxmlformats.org/officeDocument/2006/relationships/slide" Target="/ppt/slides/slide6.xml" Id="Rd4d8e3df975341a5" /><Relationship Type="http://schemas.openxmlformats.org/officeDocument/2006/relationships/slide" Target="/ppt/slides/slide7.xml" Id="R63bbc2daae5947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bc54c363a94b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3ed9bc86fe4f37" /><Relationship Type="http://schemas.openxmlformats.org/officeDocument/2006/relationships/notesMaster" Target="/ppt/notesMasters/notesMaster1.xml" Id="R94845e80d31f42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99d3685cf14fd0" /><Relationship Type="http://schemas.openxmlformats.org/officeDocument/2006/relationships/notesMaster" Target="/ppt/notesMasters/notesMaster1.xml" Id="Rcf6ce336ade44e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165a9b26c74c1e" /><Relationship Type="http://schemas.openxmlformats.org/officeDocument/2006/relationships/notesMaster" Target="/ppt/notesMasters/notesMaster1.xml" Id="R1f5956a00e2b4b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ad3a7e6f4449ed" /><Relationship Type="http://schemas.openxmlformats.org/officeDocument/2006/relationships/notesMaster" Target="/ppt/notesMasters/notesMaster1.xml" Id="R0e10ab8cd03a49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64d50cc8bb4a80" /><Relationship Type="http://schemas.openxmlformats.org/officeDocument/2006/relationships/notesMaster" Target="/ppt/notesMasters/notesMaster1.xml" Id="Rbfec8f744e8842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9f1fc171354089" /><Relationship Type="http://schemas.openxmlformats.org/officeDocument/2006/relationships/notesMaster" Target="/ppt/notesMasters/notesMaster1.xml" Id="R0aaa619b552846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cabdbac10943c1" /><Relationship Type="http://schemas.openxmlformats.org/officeDocument/2006/relationships/notesMaster" Target="/ppt/notesMasters/notesMaster1.xml" Id="R0f05293e44fa4a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odliší šifrování od hashe, vysvětlí význam HTTPS a ověří integritu dvou souborů pomocí SHA‑256.</a:t>
            </a:r>
          </a:p>
          <a:p xmlns:a="http://schemas.openxmlformats.org/drawingml/2006/main">
            <a:r>
              <a:t>Soubory: Složka Podklady k aktivitám, PowerShell, digitální pracovní sešit</a:t>
            </a:r>
          </a:p>
          <a:p xmlns:a="http://schemas.openxmlformats.org/drawingml/2006/main">
            <a:r>
              <a:t>Výstup: Dva vypočtené hashe, vysvětlení rozdílu a vlastní vícevrstvý plán záloh.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Pohlednice, obálka a pečeť.</a:t>
            </a:r>
          </a:p>
          <a:p xmlns:a="http://schemas.openxmlformats.org/drawingml/2006/main">
            <a:r>
              <a:t>Postup učitele: Nechte studenty přiřadit otevřený text, šifrovaný obsah a kontrolní otisk.</a:t>
            </a:r>
          </a:p>
          <a:p xmlns:a="http://schemas.openxmlformats.org/drawingml/2006/main">
            <a:r>
              <a:t>Otázka pro studenty: Jak poznáš, že se soubor změnil, i když má stejný název?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5–13 minut.</a:t>
            </a:r>
          </a:p>
          <a:p xmlns:a="http://schemas.openxmlformats.org/drawingml/2006/main">
            <a:r>
              <a:t>Činnost: Klíčové pojmy.</a:t>
            </a:r>
          </a:p>
          <a:p xmlns:a="http://schemas.openxmlformats.org/drawingml/2006/main">
            <a:r>
              <a:t>Postup učitele: Odlište důvěrnost, integritu a dostupnost.</a:t>
            </a:r>
          </a:p>
          <a:p xmlns:a="http://schemas.openxmlformats.org/drawingml/2006/main">
            <a:r>
              <a:t>Klíčové závěry: Šifrování: Mění čitelná data na podobu, kterou lze s odpovídajícím klíčem obnovit. | Hash: Jednosměrný otisk pro kontrolu shody nebo změny; není určen k dešifrování původního obsahu. | HTTPS: Chrání přenos mezi prohlížečem a konkrétní doménou; nezaručuje pravdivost či poctivost obsahu.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Složka Podklady k aktivitám, PowerShell, digitální pracovní sešit</a:t>
            </a:r>
          </a:p>
          <a:p xmlns:a="http://schemas.openxmlformats.org/drawingml/2006/main">
            <a:r>
              <a:t>13–22 min – Model jednoduché šifry: Dvojice zašifrují a obnoví slovo; ihned vysvětlete slabost modelu.</a:t>
            </a:r>
          </a:p>
          <a:p xmlns:a="http://schemas.openxmlformats.org/drawingml/2006/main">
            <a:r>
              <a:t>22–31 min – HTTPS: Oddělte zabezpečení spojení od důvěryhodnosti webu.</a:t>
            </a:r>
          </a:p>
          <a:p xmlns:a="http://schemas.openxmlformats.org/drawingml/2006/main">
            <a:r>
              <a:t>31–39 min – Get-FileHash: Studenti porovnají SHA‑256 souborů 4. Kontrola integrity - projekt A.txt a 4. Kontrola integrity - projekt B.txt.</a:t>
            </a:r>
          </a:p>
          <a:p xmlns:a="http://schemas.openxmlformats.org/drawingml/2006/main">
            <a:r>
              <a:t>39–42 min – Plán záloh: Požadujte oddělené kopie a ověření obnovitelnosti.</a:t>
            </a:r>
          </a:p>
          <a:p xmlns:a="http://schemas.openxmlformats.org/drawingml/2006/main">
            <a:r>
              <a:t>Požadovaný výstup: Dva vypočtené hashe, vysvětlení rozdílu a vlastní vícevrstvý plán záloh.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správně popíše, co rozdílný hash dokazuje a co z něj nelze zjistit.</a:t>
            </a:r>
          </a:p>
          <a:p xmlns:a="http://schemas.openxmlformats.org/drawingml/2006/main">
            <a:r>
              <a:t>Vodicí otázky: Jaký problém řeší šifrování a jaký hash? | Co přesně znamená zámek v adresním řádku a co neznamená? | Proč dvě stejně dlouhé verze souboru mohou mít zcela jiný hash?</a:t>
            </a:r>
          </a:p>
          <a:p xmlns:a="http://schemas.openxmlformats.org/drawingml/2006/main">
            <a:r>
              <a:t>Podpora: Příkaz poskytněte ke zkopírování: Get-FileHash .\4. Kontrola integrity - projekt A.txt -Algorithm SHA256.</a:t>
            </a:r>
          </a:p>
          <a:p xmlns:a="http://schemas.openxmlformats.org/drawingml/2006/main">
            <a:r>
              <a:t>Rozšíření: Studenti upraví v kopii jeden znak a sledují změnu hashe; vysvětlí lavinový efekt bez matematických detailů.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Šifrování: Mění čitelná data na podobu, kterou lze s odpovídajícím klíčem obnovit. | Hash: Jednosměrný otisk pro kontrolu shody nebo změny; není určen k dešifrování původního obsahu. | HTTPS: Chrání přenos mezi prohlížečem a konkrétní doménou; nezaručuje pravdivost či poctivost obsahu. | SHA‑256: Soubory mají rozdílné hashe, protože se liší částka rozpočtu; hash sám neřekne, která verze je správná. | Záloha: Pracovní kopie plus nejméně dvě oddělené kopie na různých místech nebo typech úložiště; obnova musí být vyzkoušená.</a:t>
            </a:r>
          </a:p>
          <a:p xmlns:a="http://schemas.openxmlformats.org/drawingml/2006/main">
            <a:r>
              <a:t>Časté chyby a intervence: „Hash lze dešifrovat.“ → Vraťte se k rozdílu mezi vratnou transformací s klíčem a jednosměrným otiskem. | „Stejný název znamená stejný soubor.“ → Porovnávejte obsah pomocí hashe, nikoli pouze název, velikost nebo ikonu. | „Cloudová synchronizace je vždy záloha.“ → Synchronizace může přenést smazání či poškození; důležitá je historie verzí a oddělená kopie.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Jednou větou vysvětli, co dokazuje shodný hash dvou souborů.</a:t>
            </a:r>
          </a:p>
          <a:p xmlns:a="http://schemas.openxmlformats.org/drawingml/2006/main">
            <a:r>
              <a:t>Podpora: Příkaz poskytněte ke zkopírování: Get-FileHash .\4. Kontrola integrity - projekt A.txt -Algorithm SHA256.</a:t>
            </a:r>
          </a:p>
          <a:p xmlns:a="http://schemas.openxmlformats.org/drawingml/2006/main">
            <a:r>
              <a:t>Rozšíření: Studenti upraví v kopii jeden znak a sledují změnu hashe; vysvětlí lavinový efekt bez matematických detailů.</a:t>
            </a:r>
          </a:p>
          <a:p xmlns:a="http://schemas.openxmlformats.org/drawingml/2006/main">
            <a:r>
              <a:t>Když technika selže: Pokud je PowerShell blokovaný, hash vypočítá učitel na projekci a studenti interpretují dva výsledky.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69902af6f448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4c8537af3a4602" /><Relationship Type="http://schemas.openxmlformats.org/officeDocument/2006/relationships/slideLayout" Target="/ppt/slideLayouts/slideLayout1.xml" Id="Rb8f4d42a304b42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f4d42a304b42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67900ff424e34" /><Relationship Type="http://schemas.openxmlformats.org/officeDocument/2006/relationships/notesSlide" Target="/ppt/notesSlides/notesSlide1.xml" Id="Rc638ca6523c640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6dde8846d469c" /><Relationship Type="http://schemas.openxmlformats.org/officeDocument/2006/relationships/notesSlide" Target="/ppt/notesSlides/notesSlide2.xml" Id="R87b2acb170384b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8a6363ba24f05" /><Relationship Type="http://schemas.openxmlformats.org/officeDocument/2006/relationships/notesSlide" Target="/ppt/notesSlides/notesSlide3.xml" Id="R28002d1647c545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86c7ecf204b0b" /><Relationship Type="http://schemas.openxmlformats.org/officeDocument/2006/relationships/notesSlide" Target="/ppt/notesSlides/notesSlide4.xml" Id="Rc440559b32dc4c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f055f55b147e9" /><Relationship Type="http://schemas.openxmlformats.org/officeDocument/2006/relationships/notesSlide" Target="/ppt/notesSlides/notesSlide5.xml" Id="R668b1aa2255e45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c76c12560417a" /><Relationship Type="http://schemas.openxmlformats.org/officeDocument/2006/relationships/notesSlide" Target="/ppt/notesSlides/notesSlide6.xml" Id="R3266f93bfdb744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c0530a2f24bfb" /><Relationship Type="http://schemas.openxmlformats.org/officeDocument/2006/relationships/notesSlide" Target="/ppt/notesSlides/notesSlide7.xml" Id="Rf9669104706244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E9C8FA8-79EE-4703-BDEB-CCCE7D2E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0F71C2D3-A7D8-4D1F-B5E8-FD8F3216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HODINA 4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40D76733-2789-45FD-B90F-D4CAA62D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91173D4A-F906-453C-BD40-D45404B7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Šifrování, HTTPS, hash a zálohování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12C39FF7-50AE-4109-BBB7-6D152955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odliší šifrování od hashe, vysvětlí význam HTTPS a ověří integritu dvou souborů pomocí SHA‑256.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6C9FD55-E232-4F42-9C0B-0FA30E1B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E93A14B5-CEAA-4231-888E-75E42A8D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777E9A53-736A-4888-84DD-A21E8C38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20107547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6B1908B-58DF-4D81-9CDD-B76ED657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D15BBF6-ED6E-478E-A241-A7D97D4A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CA4A666-3965-4799-A041-79C5B5C4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F215F521-23F7-42EC-B8C2-50D3F74D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5AD1A93-2A68-4F6A-80D2-06029F16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DAD5E249-EA06-40EF-A726-40D8B6A6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poznáš, že se soubor změnil, i když má stejný název?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7ED6D215-41C1-40F6-84C4-A70110A3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18BA4995-6531-4D68-8E80-6C860AFB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04E3D83A-4F43-48EC-AE05-3163DB55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367B1EA9-9B76-46BF-82E2-5889CED8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FCE58F95-A402-4C47-B271-B118EF15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8E2AE9B2-2972-4D5E-8709-F3FB1D32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E260B4E2-285F-4E4F-862E-701862CE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1277495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43C4C81-7887-4E79-94ED-A5840373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5–13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4A750A5-97A8-4CC3-BF19-85E3EC31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1110DCB-6DFD-4E87-86EB-798A2D65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6490CCF-1272-4D02-A156-6EFF04D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3945772-A663-48D1-8FBA-C67AF645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2D1CCE23-810E-47E6-86B9-D23557CF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02016541-0321-4E0D-ABB0-5631A772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Důvěrnost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D88FE637-F94A-4362-A34D-0582D81F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Šifrování chrání čitelnost dat. S odpovídajícím klíčem lze původní obsah znovu obnovit.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55EA786B-7065-4F85-90D4-21D96981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960B3A13-D6E9-4AB2-9FDB-5521C02B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Integrita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9C6320B8-3218-4887-932F-047AD18C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Hash je jednosměrný otisk pro kontrolu shody nebo změny. Není určen k dešifrování.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9F91FF6B-7A05-4902-9A6A-C8E1B99A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3AC641CB-274C-4E77-A2F7-1D840BD5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Dostupnost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C4CC3F8-E92A-4ACA-9926-8918BFF2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Záloha musí být oddělená a obnovitelná. Pouhá synchronizace nemusí stačit.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B6955DCB-BEFA-4C82-A545-B97AF490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51F3956A-43B8-447E-AC30-D2001660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1610607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536E75A-44BC-44BE-97F2-CCA690EB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13–42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93073D4-23BD-422C-BD68-5EAD7457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5D9DBA85-5AD6-436B-90C8-5BF004A2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2F48DD35-EA8D-409B-AA4E-5273B790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63592509-3A8B-4905-89E8-7CBBA3AA3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FC8FA7E7-8AC9-4B14-A602-F326C726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BEF98C36-B41A-4EFB-872D-596E3705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Složka Podklady k aktivitám, PowerShell,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11DE61B8-4EF4-4DFD-A4ED-253988D5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B377B6A5-8527-444C-8BD8-0931C2B9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DBEE7D90-9526-4882-8312-B889F288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Vyzkoušej šifru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211314A0-93BE-43B2-A563-A3B45A71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Zašifruj a obnov krátké slovo. Potom vysvětli, proč je tento model slabý.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9149DC4A-894A-4611-B763-4C70528E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D6C1C984-EF07-4B69-BDC4-40939237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305360DA-1A47-40A5-A85F-609841AE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SHA-256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BEE753D5-FACD-4391-83DA-89C1C1C1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Spusť Get-FileHash pro 4. Kontrola integrity - projekt A.txt a 4. Kontrola integrity - projekt B.txt a porovnej výsledky.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F8406867-CEFC-4EFB-BAC7-93542F3A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BDF0FA2-2D2A-4358-8607-4489331C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B708700C-2008-470D-A3C6-9C267BAD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plán záloh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C6BEA353-5C62-4A53-92C4-C0C9738C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Uveď pracovní kopii a dvě oddělené kopie. Doplň, jak ověříš obnovení.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C235A12-CBCE-4738-8A2E-802AE9C8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1C0D470C-8948-4297-9658-B1109150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Dva vypočtené hashe, vysvětlení rozdílu a vlastní vícevrstvý plán záloh.</a:t>
            </a:r>
          </a:p>
        </p:txBody>
      </p:sp>
    </p:spTree>
    <p:extLst>
      <p:ext uri="{BB962C8B-B14F-4D97-AF65-F5344CB8AC3E}">
        <p14:creationId xmlns:p14="http://schemas.microsoft.com/office/powerpoint/2010/main" val="21307733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3A5288B-96E0-4C50-9C29-3910E126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B5383D6-F5A8-4E2E-B95E-8A82511F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5D41150A-21A1-4EAF-BBA6-E8BC5EF6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2A0794D-8BDE-402A-943E-A777AEBD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208F781-B39C-4DD5-9A56-23DE1159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9B1A0EA3-B62E-44CE-89B5-8BF7A82B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16E15D9-5DA8-4B92-BC9F-268C0FB4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8DEA4BA5-CBB1-43DF-8B6B-D11605F5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BE515BBE-5740-431A-B188-17A01CDE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správně popíše, co rozdílný hash dokazuje a co z něj nelze zjistit.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E5ED9A28-B311-48AD-988F-A8D90EB8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FF526C9B-BD4D-491F-B16E-D6592C9D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8C1D67A6-0F14-49C4-B050-61A23E55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C4BEF76E-E02C-4D8E-A0E7-B92661E2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Jaký problém řeší šifrování a jaký hash?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52EDE34E-EED7-4046-BB5B-85E8A88F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0813B30-B54B-4326-85E6-29FBCA14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929CD85D-E061-4FA8-A44F-DD4985F7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9C87CDF6-F658-40DA-A71B-3DFC9036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přesně znamená zámek v adresním řádku a co neznamená?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E1C97EAE-329D-44C3-AF87-6B7C18CB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3AE88D45-45E9-46DA-B609-21899710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BA411BEE-E79D-46BF-B94B-5F84B703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B428BA81-32C8-4C82-B554-6D9DB587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Proč dvě stejně dlouhé verze souboru mohou mít zcela jiný hash?</a:t>
            </a:r>
          </a:p>
        </p:txBody>
      </p:sp>
    </p:spTree>
    <p:extLst>
      <p:ext uri="{BB962C8B-B14F-4D97-AF65-F5344CB8AC3E}">
        <p14:creationId xmlns:p14="http://schemas.microsoft.com/office/powerpoint/2010/main" val="20719325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3EAF01F-F3A6-46F1-920E-5283B76B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39–42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8C20C7E-D392-4B82-95E0-4F58B0AC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9DCF9D3F-7593-4D00-8961-F1676B0C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3409850-187F-42E6-86EE-77DF5351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B9688BB-F5D0-4313-AAC3-8E9015EE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6CBA61CA-D745-4F4E-BCC4-2DEC5348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78B56115-B111-4D3C-9BE2-5066B722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Šifrování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67D67832-C010-4544-8914-6FA35988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Mění čitelná data na podobu, kterou lze s odpovídajícím klíčem obnovit.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68D2924A-6EDB-4C34-8371-9142F780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Hash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C78C0774-813D-4465-A472-A5493976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Jednosměrný otisk pro kontrolu shody nebo změny; není určen k dešifrování původního obsahu.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932FB0D6-C23A-4610-BBA1-209F6B0F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HTTPS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B1B60EE-A6EB-4CEF-92A2-B90EDF8D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Chrání přenos mezi prohlížečem a konkrétní doménou; nezaručuje pravdivost či poctivost obsahu.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8B1EF8B1-7286-4A3B-92B7-FB6E6CFF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3DD64D8F-BBDF-44C0-862E-E9B20D9D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CC6892BC-5378-42AE-A53C-B32FAB1B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„Hash lze dešifrovat.“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F9000C07-CB68-4D5D-B5DE-00FD5756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se k rozdílu mezi vratnou transformací s klíčem a jednosměrným otiskem.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9E2CC1CD-ACB9-4AC6-90A5-E9624CF7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3327343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0951224-0905-4FDC-BE16-3F212C41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A52B7D6-E41F-49F8-BD98-722A1E67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HODINA 4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EB325A6B-4A4D-448D-B058-558665FB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0DCC008A-86D2-4ADB-BE3B-A3F0A7F1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Jednou větou vysvětli, co dokazuje shodný hash dvou souborů.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DBA8F328-F282-4CE0-A110-8ED4E14D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813BCD68-1133-46D6-95A5-C805F5D0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9E2AC3E4-ED90-40C6-8632-B43BC520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072429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2026-07-24T13:43:34.7350000Z</dcterms:created>
  <dcterms:modified xsi:type="dcterms:W3CDTF">2026-07-24T13:43:34.7350000Z</dcterms:modified>
</coreProperties>
</file>