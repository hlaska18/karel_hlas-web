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8f53cc10fe4839" /><Relationship Type="http://schemas.openxmlformats.org/officeDocument/2006/relationships/extended-properties" Target="/docProps/app.xml" Id="R8ce6987ce3e34905" /><Relationship Type="http://schemas.openxmlformats.org/officeDocument/2006/relationships/officeDocument" Target="/ppt/presentation.xml" Id="Rcf257937a9c34a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8048165ae745f9"/>
  </p:sldMasterIdLst>
  <p:notesMasterIdLst>
    <p:notesMasterId xmlns:r="http://schemas.openxmlformats.org/officeDocument/2006/relationships" r:id="R719df033211b40c0"/>
  </p:notesMasterIdLst>
  <p:sldIdLst>
    <p:sldId xmlns:r="http://schemas.openxmlformats.org/officeDocument/2006/relationships" id="256" r:id="R9d85263f79954caa"/>
    <p:sldId xmlns:r="http://schemas.openxmlformats.org/officeDocument/2006/relationships" id="257" r:id="R1731d1099f504e44"/>
    <p:sldId xmlns:r="http://schemas.openxmlformats.org/officeDocument/2006/relationships" id="258" r:id="R6c2de58b547c47cb"/>
    <p:sldId xmlns:r="http://schemas.openxmlformats.org/officeDocument/2006/relationships" id="259" r:id="Rc98b5158f89d4e89"/>
    <p:sldId xmlns:r="http://schemas.openxmlformats.org/officeDocument/2006/relationships" id="260" r:id="R01cf923c7555438d"/>
    <p:sldId xmlns:r="http://schemas.openxmlformats.org/officeDocument/2006/relationships" id="261" r:id="Rd4d8e3df975341a5"/>
    <p:sldId xmlns:r="http://schemas.openxmlformats.org/officeDocument/2006/relationships" id="262" r:id="R63bbc2daae5947b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546043b05942a7" /><Relationship Type="http://schemas.openxmlformats.org/officeDocument/2006/relationships/slideMaster" Target="/ppt/slideMasters/slideMaster1.xml" Id="Rf88048165ae745f9" /><Relationship Type="http://schemas.openxmlformats.org/officeDocument/2006/relationships/notesMaster" Target="/ppt/notesMasters/notesMaster1.xml" Id="R719df033211b40c0" /><Relationship Type="http://schemas.openxmlformats.org/officeDocument/2006/relationships/presProps" Target="/ppt/presProps.xml" Id="Re6ba892999a7490d" /><Relationship Type="http://schemas.openxmlformats.org/officeDocument/2006/relationships/tableStyles" Target="/ppt/tableStyles.xml" Id="Rec7117805cc54bb4" /><Relationship Type="http://schemas.openxmlformats.org/officeDocument/2006/relationships/slide" Target="/ppt/slides/slide1.xml" Id="R9d85263f79954caa" /><Relationship Type="http://schemas.openxmlformats.org/officeDocument/2006/relationships/slide" Target="/ppt/slides/slide2.xml" Id="R1731d1099f504e44" /><Relationship Type="http://schemas.openxmlformats.org/officeDocument/2006/relationships/slide" Target="/ppt/slides/slide3.xml" Id="R6c2de58b547c47cb" /><Relationship Type="http://schemas.openxmlformats.org/officeDocument/2006/relationships/slide" Target="/ppt/slides/slide4.xml" Id="Rc98b5158f89d4e89" /><Relationship Type="http://schemas.openxmlformats.org/officeDocument/2006/relationships/slide" Target="/ppt/slides/slide5.xml" Id="R01cf923c7555438d" /><Relationship Type="http://schemas.openxmlformats.org/officeDocument/2006/relationships/slide" Target="/ppt/slides/slide6.xml" Id="Rd4d8e3df975341a5" /><Relationship Type="http://schemas.openxmlformats.org/officeDocument/2006/relationships/slide" Target="/ppt/slides/slide7.xml" Id="R63bbc2daae5947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bc54c363a94b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3ed9bc86fe4f37" /><Relationship Type="http://schemas.openxmlformats.org/officeDocument/2006/relationships/notesMaster" Target="/ppt/notesMasters/notesMaster1.xml" Id="R94845e80d31f42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99d3685cf14fd0" /><Relationship Type="http://schemas.openxmlformats.org/officeDocument/2006/relationships/notesMaster" Target="/ppt/notesMasters/notesMaster1.xml" Id="Rcf6ce336ade44e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165a9b26c74c1e" /><Relationship Type="http://schemas.openxmlformats.org/officeDocument/2006/relationships/notesMaster" Target="/ppt/notesMasters/notesMaster1.xml" Id="R1f5956a00e2b4b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ad3a7e6f4449ed" /><Relationship Type="http://schemas.openxmlformats.org/officeDocument/2006/relationships/notesMaster" Target="/ppt/notesMasters/notesMaster1.xml" Id="R0e10ab8cd03a49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64d50cc8bb4a80" /><Relationship Type="http://schemas.openxmlformats.org/officeDocument/2006/relationships/notesMaster" Target="/ppt/notesMasters/notesMaster1.xml" Id="Rbfec8f744e8842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9f1fc171354089" /><Relationship Type="http://schemas.openxmlformats.org/officeDocument/2006/relationships/notesMaster" Target="/ppt/notesMasters/notesMaster1.xml" Id="R0aaa619b552846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cabdbac10943c1" /><Relationship Type="http://schemas.openxmlformats.org/officeDocument/2006/relationships/notesMaster" Target="/ppt/notesMasters/notesMaster1.xml" Id="R0f05293e44fa4a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Výukový cíl: Student odliší šifrování od hashe, vysvětlí význam HTTPS a ověří integritu dvou souborů pomocí SHA‑256.</a:t>
            </a:r>
          </a:p>
          <a:p xmlns:a="http://schemas.openxmlformats.org/drawingml/2006/main">
            <a:r>
              <a:t>Soubory: Složka Podklady k aktivitám, PowerShell, digitální pracovní sešit</a:t>
            </a:r>
          </a:p>
          <a:p xmlns:a="http://schemas.openxmlformats.org/drawingml/2006/main">
            <a:r>
              <a:t>Výstup: Dva vypočtené hashe, vysvětlení rozdílu a vlastní vícevrstvý plán záloh.</a:t>
            </a:r>
          </a:p>
          <a:p xmlns:a="http://schemas.openxmlformats.org/drawingml/2006/main">
            <a:r>
              <a:t>Před otevřením dalšího snímku stručně uveďte téma a nechte studenty připravit pracovní soubory.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0–5 minut.</a:t>
            </a:r>
          </a:p>
          <a:p xmlns:a="http://schemas.openxmlformats.org/drawingml/2006/main">
            <a:r>
              <a:t>Činnost: Pohlednice, obálka a pečeť.</a:t>
            </a:r>
          </a:p>
          <a:p xmlns:a="http://schemas.openxmlformats.org/drawingml/2006/main">
            <a:r>
              <a:t>Postup učitele: Nechte studenty přiřadit otevřený text, šifrovaný obsah a kontrolní otisk.</a:t>
            </a:r>
          </a:p>
          <a:p xmlns:a="http://schemas.openxmlformats.org/drawingml/2006/main">
            <a:r>
              <a:t>Otázka pro studenty: Jak poznáš, že se soubor změnil, i když má stejný název?</a:t>
            </a:r>
          </a:p>
          <a:p xmlns:a="http://schemas.openxmlformats.org/drawingml/2006/main">
            <a:r>
              <a:t>Neprozrazujte správnou odpověď. Cílem je zachytit počáteční úsudek, ke kterému se třída vrátí při reflexi.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5–13 minut.</a:t>
            </a:r>
          </a:p>
          <a:p xmlns:a="http://schemas.openxmlformats.org/drawingml/2006/main">
            <a:r>
              <a:t>Činnost: Klíčové pojmy.</a:t>
            </a:r>
          </a:p>
          <a:p xmlns:a="http://schemas.openxmlformats.org/drawingml/2006/main">
            <a:r>
              <a:t>Postup učitele: Odlište důvěrnost, integritu a dostupnost.</a:t>
            </a:r>
          </a:p>
          <a:p xmlns:a="http://schemas.openxmlformats.org/drawingml/2006/main">
            <a:r>
              <a:t>Klíčové závěry: Šifrování: Mění čitelná data na podobu, kterou lze s odpovídajícím klíčem obnovit. | Hash: Jednosměrný otisk pro kontrolu shody nebo změny; není určen k dešifrování původního obsahu. | HTTPS: Chrání přenos mezi prohlížečem a konkrétní doménou; nezaručuje pravdivost či poctivost obsahu.</a:t>
            </a:r>
          </a:p>
          <a:p xmlns:a="http://schemas.openxmlformats.org/drawingml/2006/main">
            <a:r>
              <a:t>Nechte studenty doplnit příklad ke každému bodu. Přechod k aktivitě proveďte otázkou: Jak tyto tři body použijeme na dnešní soubor?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Hlavní aktivita využívá: Složka Podklady k aktivitám, PowerShell, digitální pracovní sešit</a:t>
            </a:r>
          </a:p>
          <a:p xmlns:a="http://schemas.openxmlformats.org/drawingml/2006/main">
            <a:r>
              <a:t>13–22 min – Model jednoduché šifry: Dvojice zašifrují a obnoví slovo; ihned vysvětlete slabost modelu.</a:t>
            </a:r>
          </a:p>
          <a:p xmlns:a="http://schemas.openxmlformats.org/drawingml/2006/main">
            <a:r>
              <a:t>22–31 min – HTTPS: Oddělte zabezpečení spojení od důvěryhodnosti webu.</a:t>
            </a:r>
          </a:p>
          <a:p xmlns:a="http://schemas.openxmlformats.org/drawingml/2006/main">
            <a:r>
              <a:t>31–39 min – Get-FileHash: Studenti porovnají SHA‑256 souborů 4. Kontrola integrity - projekt A.txt a 4. Kontrola integrity - projekt B.txt.</a:t>
            </a:r>
          </a:p>
          <a:p xmlns:a="http://schemas.openxmlformats.org/drawingml/2006/main">
            <a:r>
              <a:t>39–42 min – Plán záloh: Požadujte oddělené kopie a ověření obnovitelnosti.</a:t>
            </a:r>
          </a:p>
          <a:p xmlns:a="http://schemas.openxmlformats.org/drawingml/2006/main">
            <a:r>
              <a:t>Požadovaný výstup: Dva vypočtené hashe, vysvětlení rozdílu a vlastní vícevrstvý plán záloh.</a:t>
            </a:r>
          </a:p>
          <a:p xmlns:a="http://schemas.openxmlformats.org/drawingml/2006/main">
            <a:r>
              <a:t>Během práce nepřebírejte myš za studenta. Pomáhejte otázkami z dalšího snímku a žádejte, aby každé rozhodnutí opřel o konkrétní znak nebo zdroj.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 úspěchu: Student správně popíše, co rozdílný hash dokazuje a co z něj nelze zjistit.</a:t>
            </a:r>
          </a:p>
          <a:p xmlns:a="http://schemas.openxmlformats.org/drawingml/2006/main">
            <a:r>
              <a:t>Vodicí otázky: Jaký problém řeší šifrování a jaký hash? | Co přesně znamená zámek v adresním řádku a co neznamená? | Proč dvě stejně dlouhé verze souboru mohou mít zcela jiný hash?</a:t>
            </a:r>
          </a:p>
          <a:p xmlns:a="http://schemas.openxmlformats.org/drawingml/2006/main">
            <a:r>
              <a:t>Podpora: Příkaz poskytněte ke zkopírování: Get-FileHash .\4. Kontrola integrity - projekt A.txt -Algorithm SHA256.</a:t>
            </a:r>
          </a:p>
          <a:p xmlns:a="http://schemas.openxmlformats.org/drawingml/2006/main">
            <a:r>
              <a:t>Rozšíření: Studenti upraví v kopii jeden znak a sledují změnu hashe; vysvětlí lavinový efekt bez matematických detailů.</a:t>
            </a:r>
          </a:p>
          <a:p xmlns:a="http://schemas.openxmlformats.org/drawingml/2006/main">
            <a:r>
              <a:t>Pro rychlou mezikontrolu nechte dvojice vyměnit výstup a označit jeden dobře doložený bod a jednu otázku, která ještě zůstává.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Šifrování: Mění čitelná data na podobu, kterou lze s odpovídajícím klíčem obnovit. | Hash: Jednosměrný otisk pro kontrolu shody nebo změny; není určen k dešifrování původního obsahu. | HTTPS: Chrání přenos mezi prohlížečem a konkrétní doménou; nezaručuje pravdivost či poctivost obsahu. | SHA‑256: Soubory mají rozdílné hashe, protože se liší částka rozpočtu; hash sám neřekne, která verze je správná. | Záloha: Pracovní kopie plus nejméně dvě oddělené kopie na různých místech nebo typech úložiště; obnova musí být vyzkoušená.</a:t>
            </a:r>
          </a:p>
          <a:p xmlns:a="http://schemas.openxmlformats.org/drawingml/2006/main">
            <a:r>
              <a:t>Časté chyby a intervence: „Hash lze dešifrovat.“ → Vraťte se k rozdílu mezi vratnou transformací s klíčem a jednosměrným otiskem. | „Stejný název znamená stejný soubor.“ → Porovnávejte obsah pomocí hashe, nikoli pouze název, velikost nebo ikonu. | „Cloudová synchronizace je vždy záloha.“ → Synchronizace může přenést smazání či poškození; důležitá je historie verzí a oddělená kopie.</a:t>
            </a:r>
          </a:p>
          <a:p xmlns:a="http://schemas.openxmlformats.org/drawingml/2006/main">
            <a:r>
              <a:t>Nečtěte celý klíč. Vyberte dva studentské postupy, které vedou k odlišným závěrům, a nechte třídu určit, který je lépe podložený.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Jednou větou vysvětli, co dokazuje shodný hash dvou souborů.</a:t>
            </a:r>
          </a:p>
          <a:p xmlns:a="http://schemas.openxmlformats.org/drawingml/2006/main">
            <a:r>
              <a:t>Podpora: Příkaz poskytněte ke zkopírování: Get-FileHash .\4. Kontrola integrity - projekt A.txt -Algorithm SHA256.</a:t>
            </a:r>
          </a:p>
          <a:p xmlns:a="http://schemas.openxmlformats.org/drawingml/2006/main">
            <a:r>
              <a:t>Rozšíření: Studenti upraví v kopii jeden znak a sledují změnu hashe; vysvětlí lavinový efekt bez matematických detailů.</a:t>
            </a:r>
          </a:p>
          <a:p xmlns:a="http://schemas.openxmlformats.org/drawingml/2006/main">
            <a:r>
              <a:t>Když technika selže: Pokud je PowerShell blokovaný, hash vypočítá učitel na projekci a studenti interpretují dva výsledky.</a:t>
            </a:r>
          </a:p>
          <a:p xmlns:a="http://schemas.openxmlformats.org/drawingml/2006/main">
            <a:r>
              <a:t>Vyberte způsob odevzdání předem. Odpověď použijte jako diagnostiku pro začátek další hodiny; nehodnoťte pouze formální správnost, ale konkrétnost a zdůvodnění.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9902af6f448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4c8537af3a4602" /><Relationship Type="http://schemas.openxmlformats.org/officeDocument/2006/relationships/slideLayout" Target="/ppt/slideLayouts/slideLayout1.xml" Id="Rb8f4d42a304b42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f4d42a304b42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67900ff424e34" /><Relationship Type="http://schemas.openxmlformats.org/officeDocument/2006/relationships/notesSlide" Target="/ppt/notesSlides/notesSlide1.xml" Id="Rc638ca6523c640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6dde8846d469c" /><Relationship Type="http://schemas.openxmlformats.org/officeDocument/2006/relationships/notesSlide" Target="/ppt/notesSlides/notesSlide2.xml" Id="R87b2acb170384b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8a6363ba24f05" /><Relationship Type="http://schemas.openxmlformats.org/officeDocument/2006/relationships/notesSlide" Target="/ppt/notesSlides/notesSlide3.xml" Id="R28002d1647c545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86c7ecf204b0b" /><Relationship Type="http://schemas.openxmlformats.org/officeDocument/2006/relationships/notesSlide" Target="/ppt/notesSlides/notesSlide4.xml" Id="Rc440559b32dc4c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f055f55b147e9" /><Relationship Type="http://schemas.openxmlformats.org/officeDocument/2006/relationships/notesSlide" Target="/ppt/notesSlides/notesSlide5.xml" Id="R668b1aa2255e45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c76c12560417a" /><Relationship Type="http://schemas.openxmlformats.org/officeDocument/2006/relationships/notesSlide" Target="/ppt/notesSlides/notesSlide6.xml" Id="R3266f93bfdb744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c0530a2f24bfb" /><Relationship Type="http://schemas.openxmlformats.org/officeDocument/2006/relationships/notesSlide" Target="/ppt/notesSlides/notesSlide7.xml" Id="Rf9669104706244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6E9C8FA8-79EE-4703-BDEB-CCCE7D2E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0F71C2D3-A7D8-4D1F-B5E8-FD8F3216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HODINA 4 / 10</a:t>
            </a:r>
          </a:p>
        </p:txBody>
      </p:sp>
      <p:sp>
        <p:nvSpPr>
          <p:cNvPr id="3" name="text-870-48">
            <a:extLst xmlns:a="http://schemas.openxmlformats.org/drawingml/2006/main">
              <a:ext uri="{FF2B5EF4-FFF2-40B4-BE49-F238E27FC236}">
                <a16:creationId xmlns:a16="http://schemas.microsoft.com/office/drawing/2014/main" id="{40D76733-2789-45FD-B90F-D4CAA62D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INTERNET, BEZPEČNOST
A PRÁCE S INFORMACEMI</a:t>
            </a:r>
          </a:p>
        </p:txBody>
      </p:sp>
      <p:sp>
        <p:nvSpPr>
          <p:cNvPr id="4" name="text-54-255">
            <a:extLst xmlns:a="http://schemas.openxmlformats.org/drawingml/2006/main">
              <a:ext uri="{FF2B5EF4-FFF2-40B4-BE49-F238E27FC236}">
                <a16:creationId xmlns:a16="http://schemas.microsoft.com/office/drawing/2014/main" id="{91173D4A-F906-453C-BD40-D45404B7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0715625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Šifrování, HTTPS, hash a zálohování</a:t>
            </a:r>
          </a:p>
        </p:txBody>
      </p:sp>
      <p:sp>
        <p:nvSpPr>
          <p:cNvPr id="5" name="text-56-506">
            <a:extLst xmlns:a="http://schemas.openxmlformats.org/drawingml/2006/main">
              <a:ext uri="{FF2B5EF4-FFF2-40B4-BE49-F238E27FC236}">
                <a16:creationId xmlns:a16="http://schemas.microsoft.com/office/drawing/2014/main" id="{12C39FF7-50AE-4109-BBB7-6D152955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8191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odliší šifrování od hashe, vysvětlí význam HTTPS a ověří integritu dvou souborů pomocí SHA‑256.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A6C9FD55-E232-4F42-9C0B-0FA30E1B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1965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6B4F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24">
            <a:extLst xmlns:a="http://schemas.openxmlformats.org/drawingml/2006/main">
              <a:ext uri="{FF2B5EF4-FFF2-40B4-BE49-F238E27FC236}">
                <a16:creationId xmlns:a16="http://schemas.microsoft.com/office/drawing/2014/main" id="{E93A14B5-CEAA-4231-888E-75E42A8D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91100"/>
            <a:ext cx="1181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8" name="text-1065-603">
            <a:extLst xmlns:a="http://schemas.openxmlformats.org/drawingml/2006/main">
              <a:ext uri="{FF2B5EF4-FFF2-40B4-BE49-F238E27FC236}">
                <a16:creationId xmlns:a16="http://schemas.microsoft.com/office/drawing/2014/main" id="{777E9A53-736A-4888-84DD-A21E8C38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743575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2010754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B6B1908B-58DF-4D81-9CDD-B76ED65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0–5 MIN · ÚVOD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9D15BBF6-ED6E-478E-A241-A7D97D4A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rozhodnutím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4CA4A666-3965-4799-A041-79C5B5C4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F215F521-23F7-42EC-B8C2-50D3F74D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45AD1A93-2A68-4F6A-80D2-06029F16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4  /  2</a:t>
            </a:r>
          </a:p>
        </p:txBody>
      </p:sp>
      <p:sp>
        <p:nvSpPr>
          <p:cNvPr id="6" name="text-41-188">
            <a:extLst xmlns:a="http://schemas.openxmlformats.org/drawingml/2006/main">
              <a:ext uri="{FF2B5EF4-FFF2-40B4-BE49-F238E27FC236}">
                <a16:creationId xmlns:a16="http://schemas.microsoft.com/office/drawing/2014/main" id="{DAD5E249-EA06-40EF-A726-40D8B6A6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Jak poznáš, že se soubor změnil, i když má stejný název?</a:t>
            </a:r>
          </a:p>
        </p:txBody>
      </p:sp>
      <p:sp>
        <p:nvSpPr>
          <p:cNvPr id="7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7ED6D215-41C1-40F6-84C4-A70110A3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38625"/>
            <a:ext cx="11410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0-476">
            <a:extLst xmlns:a="http://schemas.openxmlformats.org/drawingml/2006/main">
              <a:ext uri="{FF2B5EF4-FFF2-40B4-BE49-F238E27FC236}">
                <a16:creationId xmlns:a16="http://schemas.microsoft.com/office/drawing/2014/main" id="{18BA4995-6531-4D68-8E80-6C860AFB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905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ROZHODNI SÁM</a:t>
            </a:r>
          </a:p>
        </p:txBody>
      </p:sp>
      <p:sp>
        <p:nvSpPr>
          <p:cNvPr id="9" name="text-70-520">
            <a:extLst xmlns:a="http://schemas.openxmlformats.org/drawingml/2006/main">
              <a:ext uri="{FF2B5EF4-FFF2-40B4-BE49-F238E27FC236}">
                <a16:creationId xmlns:a16="http://schemas.microsoft.com/office/drawing/2014/main" id="{04E3D83A-4F43-48EC-AE05-3163DB55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29051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2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Zapiš jeden konkrétní důvod.</a:t>
            </a:r>
          </a:p>
        </p:txBody>
      </p:sp>
      <p:sp>
        <p:nvSpPr>
          <p:cNvPr id="10" name="text-461-476">
            <a:extLst xmlns:a="http://schemas.openxmlformats.org/drawingml/2006/main">
              <a:ext uri="{FF2B5EF4-FFF2-40B4-BE49-F238E27FC236}">
                <a16:creationId xmlns:a16="http://schemas.microsoft.com/office/drawing/2014/main" id="{367B1EA9-9B76-46BF-82E2-5889CED8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33900"/>
            <a:ext cx="3381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POROVNEJ VE DVOJICI</a:t>
            </a:r>
          </a:p>
        </p:txBody>
      </p:sp>
      <p:sp>
        <p:nvSpPr>
          <p:cNvPr id="11" name="text-461-520">
            <a:extLst xmlns:a="http://schemas.openxmlformats.org/drawingml/2006/main">
              <a:ext uri="{FF2B5EF4-FFF2-40B4-BE49-F238E27FC236}">
                <a16:creationId xmlns:a16="http://schemas.microsoft.com/office/drawing/2014/main" id="{FCE58F95-A402-4C47-B271-B118EF15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953000"/>
            <a:ext cx="33813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Najděte bod, ve kterém se lišíte.</a:t>
            </a:r>
          </a:p>
        </p:txBody>
      </p:sp>
      <p:sp>
        <p:nvSpPr>
          <p:cNvPr id="12" name="text-900-476">
            <a:extLst xmlns:a="http://schemas.openxmlformats.org/drawingml/2006/main">
              <a:ext uri="{FF2B5EF4-FFF2-40B4-BE49-F238E27FC236}">
                <a16:creationId xmlns:a16="http://schemas.microsoft.com/office/drawing/2014/main" id="{8E2AE9B2-2972-4D5E-8709-F3FB1D32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PŘIPRAV OBHAJOBU</a:t>
            </a:r>
          </a:p>
        </p:txBody>
      </p:sp>
      <p:sp>
        <p:nvSpPr>
          <p:cNvPr id="13" name="text-900-520">
            <a:extLst xmlns:a="http://schemas.openxmlformats.org/drawingml/2006/main">
              <a:ext uri="{FF2B5EF4-FFF2-40B4-BE49-F238E27FC236}">
                <a16:creationId xmlns:a16="http://schemas.microsoft.com/office/drawing/2014/main" id="{E260B4E2-285F-4E4F-862E-701862CE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76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519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změnilo tvé rozhodnutí?</a:t>
            </a:r>
          </a:p>
        </p:txBody>
      </p:sp>
    </p:spTree>
    <p:extLst>
      <p:ext uri="{BB962C8B-B14F-4D97-AF65-F5344CB8AC3E}">
        <p14:creationId xmlns:p14="http://schemas.microsoft.com/office/powerpoint/2010/main" val="2127749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643C4C81-7887-4E79-94ED-A5840373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5–13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14A750A5-97A8-4CC3-BF19-85E3EC31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 pro rozhodování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11110DCB-6DFD-4E87-86EB-798A2D65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86490CCF-1272-4D02-A156-6EFF04D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53945772-A663-48D1-8FBA-C67AF645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4  /  3</a:t>
            </a:r>
          </a:p>
        </p:txBody>
      </p:sp>
      <p:sp>
        <p:nvSpPr>
          <p:cNvPr id="6" name="text-41-179">
            <a:extLst xmlns:a="http://schemas.openxmlformats.org/drawingml/2006/main">
              <a:ext uri="{FF2B5EF4-FFF2-40B4-BE49-F238E27FC236}">
                <a16:creationId xmlns:a16="http://schemas.microsoft.com/office/drawing/2014/main" id="{2D1CCE23-810E-47E6-86B9-D23557CF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74">
            <a:extLst xmlns:a="http://schemas.openxmlformats.org/drawingml/2006/main">
              <a:ext uri="{FF2B5EF4-FFF2-40B4-BE49-F238E27FC236}">
                <a16:creationId xmlns:a16="http://schemas.microsoft.com/office/drawing/2014/main" id="{02016541-0321-4E0D-ABB0-5631A772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Důvěrnost</a:t>
            </a:r>
          </a:p>
        </p:txBody>
      </p:sp>
      <p:sp>
        <p:nvSpPr>
          <p:cNvPr id="8" name="text-41-362">
            <a:extLst xmlns:a="http://schemas.openxmlformats.org/drawingml/2006/main">
              <a:ext uri="{FF2B5EF4-FFF2-40B4-BE49-F238E27FC236}">
                <a16:creationId xmlns:a16="http://schemas.microsoft.com/office/drawing/2014/main" id="{D88FE637-F94A-4362-A34D-0582D81F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Šifrování chrání čitelnost dat. S odpovídajícím klíčem lze původní obsah znovu obnovit.</a:t>
            </a:r>
          </a:p>
        </p:txBody>
      </p:sp>
      <p:sp>
        <p:nvSpPr>
          <p:cNvPr id="9" name="text-453-179">
            <a:extLst xmlns:a="http://schemas.openxmlformats.org/drawingml/2006/main">
              <a:ext uri="{FF2B5EF4-FFF2-40B4-BE49-F238E27FC236}">
                <a16:creationId xmlns:a16="http://schemas.microsoft.com/office/drawing/2014/main" id="{55EA786B-7065-4F85-90D4-21D96981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74">
            <a:extLst xmlns:a="http://schemas.openxmlformats.org/drawingml/2006/main">
              <a:ext uri="{FF2B5EF4-FFF2-40B4-BE49-F238E27FC236}">
                <a16:creationId xmlns:a16="http://schemas.microsoft.com/office/drawing/2014/main" id="{960B3A13-D6E9-4AB2-9FDB-5521C02B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Integrita</a:t>
            </a:r>
          </a:p>
        </p:txBody>
      </p:sp>
      <p:sp>
        <p:nvSpPr>
          <p:cNvPr id="11" name="text-453-362">
            <a:extLst xmlns:a="http://schemas.openxmlformats.org/drawingml/2006/main">
              <a:ext uri="{FF2B5EF4-FFF2-40B4-BE49-F238E27FC236}">
                <a16:creationId xmlns:a16="http://schemas.microsoft.com/office/drawing/2014/main" id="{9C6320B8-3218-4887-932F-047AD18C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Hash je jednosměrný otisk pro kontrolu shody nebo změny. Není určen k dešifrování.</a:t>
            </a:r>
          </a:p>
        </p:txBody>
      </p:sp>
      <p:sp>
        <p:nvSpPr>
          <p:cNvPr id="12" name="text-865-179">
            <a:extLst xmlns:a="http://schemas.openxmlformats.org/drawingml/2006/main">
              <a:ext uri="{FF2B5EF4-FFF2-40B4-BE49-F238E27FC236}">
                <a16:creationId xmlns:a16="http://schemas.microsoft.com/office/drawing/2014/main" id="{9F91FF6B-7A05-4902-9A6A-C8E1B99A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74">
            <a:extLst xmlns:a="http://schemas.openxmlformats.org/drawingml/2006/main">
              <a:ext uri="{FF2B5EF4-FFF2-40B4-BE49-F238E27FC236}">
                <a16:creationId xmlns:a16="http://schemas.microsoft.com/office/drawing/2014/main" id="{3AC641CB-274C-4E77-A2F7-1D840BD5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Dostupnost</a:t>
            </a:r>
          </a:p>
        </p:txBody>
      </p:sp>
      <p:sp>
        <p:nvSpPr>
          <p:cNvPr id="14" name="text-865-362">
            <a:extLst xmlns:a="http://schemas.openxmlformats.org/drawingml/2006/main">
              <a:ext uri="{FF2B5EF4-FFF2-40B4-BE49-F238E27FC236}">
                <a16:creationId xmlns:a16="http://schemas.microsoft.com/office/drawing/2014/main" id="{DC4CC3F8-E92A-4ACA-9926-8918BFF2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Záloha musí být oddělená a obnovitelná. Pouhá synchronizace nemusí stačit.</a:t>
            </a:r>
          </a:p>
        </p:txBody>
      </p:sp>
      <p:sp>
        <p:nvSpPr>
          <p:cNvPr id="15" name="key-line">
            <a:extLst xmlns:a="http://schemas.openxmlformats.org/drawingml/2006/main">
              <a:ext uri="{FF2B5EF4-FFF2-40B4-BE49-F238E27FC236}">
                <a16:creationId xmlns:a16="http://schemas.microsoft.com/office/drawing/2014/main" id="{B6955DCB-BEFA-4C82-A545-B97AF490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14975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1-600">
            <a:extLst xmlns:a="http://schemas.openxmlformats.org/drawingml/2006/main">
              <a:ext uri="{FF2B5EF4-FFF2-40B4-BE49-F238E27FC236}">
                <a16:creationId xmlns:a16="http://schemas.microsoft.com/office/drawing/2014/main" id="{51F3956A-43B8-447E-AC30-D2001660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1141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Nejde o rychlý tip. Jde o postup, který lze vysvětlit a zopakovat.</a:t>
            </a:r>
          </a:p>
        </p:txBody>
      </p:sp>
    </p:spTree>
    <p:extLst>
      <p:ext uri="{BB962C8B-B14F-4D97-AF65-F5344CB8AC3E}">
        <p14:creationId xmlns:p14="http://schemas.microsoft.com/office/powerpoint/2010/main" val="1161060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E536E75A-44BC-44BE-97F2-CCA690EB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13–42 MIN · PRÁCE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E93073D4-23BD-422C-BD68-5EAD7457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5D9DBA85-5AD6-436B-90C8-5BF004A2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2F48DD35-EA8D-409B-AA4E-5273B790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63592509-3A8B-4905-89E8-7CBBA3AA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4  /  4</a:t>
            </a:r>
          </a:p>
        </p:txBody>
      </p:sp>
      <p:sp>
        <p:nvSpPr>
          <p:cNvPr id="6" name="text-41-165">
            <a:extLst xmlns:a="http://schemas.openxmlformats.org/drawingml/2006/main">
              <a:ext uri="{FF2B5EF4-FFF2-40B4-BE49-F238E27FC236}">
                <a16:creationId xmlns:a16="http://schemas.microsoft.com/office/drawing/2014/main" id="{FC8FA7E7-8AC9-4B14-A602-F326C726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202">
            <a:extLst xmlns:a="http://schemas.openxmlformats.org/drawingml/2006/main">
              <a:ext uri="{FF2B5EF4-FFF2-40B4-BE49-F238E27FC236}">
                <a16:creationId xmlns:a16="http://schemas.microsoft.com/office/drawing/2014/main" id="{BEF98C36-B41A-4EFB-872D-596E3705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1104900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Složka Podklady k aktivitám, PowerShell, digitální pracovní sešit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11DE61B8-4EF4-4DFD-A4ED-253988D5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3-313">
            <a:extLst xmlns:a="http://schemas.openxmlformats.org/drawingml/2006/main">
              <a:ext uri="{FF2B5EF4-FFF2-40B4-BE49-F238E27FC236}">
                <a16:creationId xmlns:a16="http://schemas.microsoft.com/office/drawing/2014/main" id="{B377B6A5-8527-444C-8BD8-0931C2B9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63-372">
            <a:extLst xmlns:a="http://schemas.openxmlformats.org/drawingml/2006/main">
              <a:ext uri="{FF2B5EF4-FFF2-40B4-BE49-F238E27FC236}">
                <a16:creationId xmlns:a16="http://schemas.microsoft.com/office/drawing/2014/main" id="{DBEE7D90-9526-4882-8312-B889F288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Vyzkoušej šifru</a:t>
            </a:r>
          </a:p>
        </p:txBody>
      </p:sp>
      <p:sp>
        <p:nvSpPr>
          <p:cNvPr id="11" name="text-63-449">
            <a:extLst xmlns:a="http://schemas.openxmlformats.org/drawingml/2006/main">
              <a:ext uri="{FF2B5EF4-FFF2-40B4-BE49-F238E27FC236}">
                <a16:creationId xmlns:a16="http://schemas.microsoft.com/office/drawing/2014/main" id="{211314A0-93BE-43B2-A563-A3B45A71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Zašifruj a obnov krátké slovo. Potom vysvětli, proč je tento model slabý.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9149DC4A-894A-4611-B763-4C70528E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5-313">
            <a:extLst xmlns:a="http://schemas.openxmlformats.org/drawingml/2006/main">
              <a:ext uri="{FF2B5EF4-FFF2-40B4-BE49-F238E27FC236}">
                <a16:creationId xmlns:a16="http://schemas.microsoft.com/office/drawing/2014/main" id="{D6C1C984-EF07-4B69-BDC4-40939237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text-475-372">
            <a:extLst xmlns:a="http://schemas.openxmlformats.org/drawingml/2006/main">
              <a:ext uri="{FF2B5EF4-FFF2-40B4-BE49-F238E27FC236}">
                <a16:creationId xmlns:a16="http://schemas.microsoft.com/office/drawing/2014/main" id="{305360DA-1A47-40A5-A85F-609841AE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Porovnej SHA-256</a:t>
            </a:r>
          </a:p>
        </p:txBody>
      </p:sp>
      <p:sp>
        <p:nvSpPr>
          <p:cNvPr id="15" name="text-475-449">
            <a:extLst xmlns:a="http://schemas.openxmlformats.org/drawingml/2006/main">
              <a:ext uri="{FF2B5EF4-FFF2-40B4-BE49-F238E27FC236}">
                <a16:creationId xmlns:a16="http://schemas.microsoft.com/office/drawing/2014/main" id="{BEE753D5-FACD-4391-83DA-89C1C1C1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Spusť Get-FileHash pro 4. Kontrola integrity - projekt A.txt a 4. Kontrola integrity - projekt B.txt a porovnej výsledky.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F8406867-CEFC-4EFB-BAC7-93542F3A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887-313">
            <a:extLst xmlns:a="http://schemas.openxmlformats.org/drawingml/2006/main">
              <a:ext uri="{FF2B5EF4-FFF2-40B4-BE49-F238E27FC236}">
                <a16:creationId xmlns:a16="http://schemas.microsoft.com/office/drawing/2014/main" id="{8BDF0FA2-2D2A-4358-8607-4489331C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text-887-372">
            <a:extLst xmlns:a="http://schemas.openxmlformats.org/drawingml/2006/main">
              <a:ext uri="{FF2B5EF4-FFF2-40B4-BE49-F238E27FC236}">
                <a16:creationId xmlns:a16="http://schemas.microsoft.com/office/drawing/2014/main" id="{B708700C-2008-470D-A3C6-9C267BAD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Navrhni plán záloh</a:t>
            </a:r>
          </a:p>
        </p:txBody>
      </p:sp>
      <p:sp>
        <p:nvSpPr>
          <p:cNvPr id="19" name="text-887-449">
            <a:extLst xmlns:a="http://schemas.openxmlformats.org/drawingml/2006/main">
              <a:ext uri="{FF2B5EF4-FFF2-40B4-BE49-F238E27FC236}">
                <a16:creationId xmlns:a16="http://schemas.microsoft.com/office/drawing/2014/main" id="{C6BEA353-5C62-4A53-92C4-C0C9738C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Uveď pracovní kopii a dvě oddělené kopie. Doplň, jak ověříš obnovení.</a:t>
            </a:r>
          </a:p>
        </p:txBody>
      </p:sp>
      <p:sp>
        <p:nvSpPr>
          <p:cNvPr id="20" name="text-41-585">
            <a:extLst xmlns:a="http://schemas.openxmlformats.org/drawingml/2006/main">
              <a:ext uri="{FF2B5EF4-FFF2-40B4-BE49-F238E27FC236}">
                <a16:creationId xmlns:a16="http://schemas.microsoft.com/office/drawing/2014/main" id="{2C235A12-CBCE-4738-8A2E-802AE9C8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152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ODEVZDEJ</a:t>
            </a:r>
          </a:p>
        </p:txBody>
      </p:sp>
      <p:sp>
        <p:nvSpPr>
          <p:cNvPr id="21" name="text-201-581">
            <a:extLst xmlns:a="http://schemas.openxmlformats.org/drawingml/2006/main">
              <a:ext uri="{FF2B5EF4-FFF2-40B4-BE49-F238E27FC236}">
                <a16:creationId xmlns:a16="http://schemas.microsoft.com/office/drawing/2014/main" id="{1C0D470C-8948-4297-9658-B1109150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534025"/>
            <a:ext cx="988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Dva vypočtené hashe, vysvětlení rozdílu a vlastní vícevrstvý plán záloh.</a:t>
            </a:r>
          </a:p>
        </p:txBody>
      </p:sp>
    </p:spTree>
    <p:extLst>
      <p:ext uri="{BB962C8B-B14F-4D97-AF65-F5344CB8AC3E}">
        <p14:creationId xmlns:p14="http://schemas.microsoft.com/office/powerpoint/2010/main" val="2130773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33A5288B-96E0-4C50-9C29-3910E126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7B5383D6-F5A8-4E2E-B95E-8A82511F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práci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5D41150A-21A1-4EAF-BBA6-E8BC5EF6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D2A0794D-8BDE-402A-943E-A777AEBD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9208F781-B39C-4DD5-9A56-23DE1159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4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9B1A0EA3-B62E-44CE-89B5-8BF7A82B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5-205">
            <a:extLst xmlns:a="http://schemas.openxmlformats.org/drawingml/2006/main">
              <a:ext uri="{FF2B5EF4-FFF2-40B4-BE49-F238E27FC236}">
                <a16:creationId xmlns:a16="http://schemas.microsoft.com/office/drawing/2014/main" id="{E16E15D9-5DA8-4B92-BC9F-268C0FB4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5-206">
            <a:extLst xmlns:a="http://schemas.openxmlformats.org/drawingml/2006/main">
              <a:ext uri="{FF2B5EF4-FFF2-40B4-BE49-F238E27FC236}">
                <a16:creationId xmlns:a16="http://schemas.microsoft.com/office/drawing/2014/main" id="{8DEA4BA5-CBB1-43DF-8B6B-D11605F5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Výsledek</a:t>
            </a:r>
          </a:p>
        </p:txBody>
      </p:sp>
      <p:sp>
        <p:nvSpPr>
          <p:cNvPr id="9" name="text-125-255">
            <a:extLst xmlns:a="http://schemas.openxmlformats.org/drawingml/2006/main">
              <a:ext uri="{FF2B5EF4-FFF2-40B4-BE49-F238E27FC236}">
                <a16:creationId xmlns:a16="http://schemas.microsoft.com/office/drawing/2014/main" id="{BE515BBE-5740-431A-B188-17A01CDE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správně popíše, co rozdílný hash dokazuje a co z něj nelze zjistit.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E5ED9A28-B311-48AD-988F-A8D90EB8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1-205">
            <a:extLst xmlns:a="http://schemas.openxmlformats.org/drawingml/2006/main">
              <a:ext uri="{FF2B5EF4-FFF2-40B4-BE49-F238E27FC236}">
                <a16:creationId xmlns:a16="http://schemas.microsoft.com/office/drawing/2014/main" id="{FF526C9B-BD4D-491F-B16E-D6592C9D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41-206">
            <a:extLst xmlns:a="http://schemas.openxmlformats.org/drawingml/2006/main">
              <a:ext uri="{FF2B5EF4-FFF2-40B4-BE49-F238E27FC236}">
                <a16:creationId xmlns:a16="http://schemas.microsoft.com/office/drawing/2014/main" id="{8C1D67A6-0F14-49C4-B050-61A23E55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41-255">
            <a:extLst xmlns:a="http://schemas.openxmlformats.org/drawingml/2006/main">
              <a:ext uri="{FF2B5EF4-FFF2-40B4-BE49-F238E27FC236}">
                <a16:creationId xmlns:a16="http://schemas.microsoft.com/office/drawing/2014/main" id="{C4BEF76E-E02C-4D8E-A0E7-B92661E2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Jaký problém řeší šifrování a jaký hash?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52EDE34E-EED7-4046-BB5B-85E8A88F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5-424">
            <a:extLst xmlns:a="http://schemas.openxmlformats.org/drawingml/2006/main">
              <a:ext uri="{FF2B5EF4-FFF2-40B4-BE49-F238E27FC236}">
                <a16:creationId xmlns:a16="http://schemas.microsoft.com/office/drawing/2014/main" id="{E0813B30-B54B-4326-85E6-29FBCA14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5-425">
            <a:extLst xmlns:a="http://schemas.openxmlformats.org/drawingml/2006/main">
              <a:ext uri="{FF2B5EF4-FFF2-40B4-BE49-F238E27FC236}">
                <a16:creationId xmlns:a16="http://schemas.microsoft.com/office/drawing/2014/main" id="{929CD85D-E061-4FA8-A44F-DD4985F7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5-474">
            <a:extLst xmlns:a="http://schemas.openxmlformats.org/drawingml/2006/main">
              <a:ext uri="{FF2B5EF4-FFF2-40B4-BE49-F238E27FC236}">
                <a16:creationId xmlns:a16="http://schemas.microsoft.com/office/drawing/2014/main" id="{9C87CDF6-F658-40DA-A71B-3DFC9036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Co přesně znamená zámek v adresním řádku a co neznamená?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E1C97EAE-329D-44C3-AF87-6B7C18CB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1-424">
            <a:extLst xmlns:a="http://schemas.openxmlformats.org/drawingml/2006/main">
              <a:ext uri="{FF2B5EF4-FFF2-40B4-BE49-F238E27FC236}">
                <a16:creationId xmlns:a16="http://schemas.microsoft.com/office/drawing/2014/main" id="{3AE88D45-45E9-46DA-B609-21899710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41-425">
            <a:extLst xmlns:a="http://schemas.openxmlformats.org/drawingml/2006/main">
              <a:ext uri="{FF2B5EF4-FFF2-40B4-BE49-F238E27FC236}">
                <a16:creationId xmlns:a16="http://schemas.microsoft.com/office/drawing/2014/main" id="{BA411BEE-E79D-46BF-B94B-5F84B703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Bezpečný krok</a:t>
            </a:r>
          </a:p>
        </p:txBody>
      </p:sp>
      <p:sp>
        <p:nvSpPr>
          <p:cNvPr id="21" name="text-741-474">
            <a:extLst xmlns:a="http://schemas.openxmlformats.org/drawingml/2006/main">
              <a:ext uri="{FF2B5EF4-FFF2-40B4-BE49-F238E27FC236}">
                <a16:creationId xmlns:a16="http://schemas.microsoft.com/office/drawing/2014/main" id="{B428BA81-32C8-4C82-B554-6D9DB587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Proč dvě stejně dlouhé verze souboru mohou mít zcela jiný hash?</a:t>
            </a:r>
          </a:p>
        </p:txBody>
      </p:sp>
    </p:spTree>
    <p:extLst>
      <p:ext uri="{BB962C8B-B14F-4D97-AF65-F5344CB8AC3E}">
        <p14:creationId xmlns:p14="http://schemas.microsoft.com/office/powerpoint/2010/main" val="20719325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63EAF01F-F3A6-46F1-920E-5283B76B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39–42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48C20C7E-D392-4B82-95E0-4F58B0AC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měla dobrá odpověď obsahovat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9DCF9D3F-7593-4D00-8961-F1676B0C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03409850-187F-42E6-86EE-77DF5351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9B9688BB-F5D0-4313-AAC3-8E9015EE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4  /  6</a:t>
            </a:r>
          </a:p>
        </p:txBody>
      </p:sp>
      <p:sp>
        <p:nvSpPr>
          <p:cNvPr id="6" name="text-41-171">
            <a:extLst xmlns:a="http://schemas.openxmlformats.org/drawingml/2006/main">
              <a:ext uri="{FF2B5EF4-FFF2-40B4-BE49-F238E27FC236}">
                <a16:creationId xmlns:a16="http://schemas.microsoft.com/office/drawing/2014/main" id="{6CBA61CA-D745-4F4E-BCC4-2DEC5348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PODLOŽENÝ ZÁVĚR</a:t>
            </a:r>
          </a:p>
        </p:txBody>
      </p:sp>
      <p:sp>
        <p:nvSpPr>
          <p:cNvPr id="7" name="text-41-224">
            <a:extLst xmlns:a="http://schemas.openxmlformats.org/drawingml/2006/main">
              <a:ext uri="{FF2B5EF4-FFF2-40B4-BE49-F238E27FC236}">
                <a16:creationId xmlns:a16="http://schemas.microsoft.com/office/drawing/2014/main" id="{78B56115-B111-4D3C-9BE2-5066B722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336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Šifrování</a:t>
            </a:r>
          </a:p>
        </p:txBody>
      </p:sp>
      <p:sp>
        <p:nvSpPr>
          <p:cNvPr id="8" name="text-264-224">
            <a:extLst xmlns:a="http://schemas.openxmlformats.org/drawingml/2006/main">
              <a:ext uri="{FF2B5EF4-FFF2-40B4-BE49-F238E27FC236}">
                <a16:creationId xmlns:a16="http://schemas.microsoft.com/office/drawing/2014/main" id="{67D67832-C010-4544-8914-6FA3598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336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Mění čitelná data na podobu, kterou lze s odpovídajícím klíčem obnovit.</a:t>
            </a:r>
          </a:p>
        </p:txBody>
      </p:sp>
      <p:sp>
        <p:nvSpPr>
          <p:cNvPr id="9" name="text-41-336">
            <a:extLst xmlns:a="http://schemas.openxmlformats.org/drawingml/2006/main">
              <a:ext uri="{FF2B5EF4-FFF2-40B4-BE49-F238E27FC236}">
                <a16:creationId xmlns:a16="http://schemas.microsoft.com/office/drawing/2014/main" id="{68D2924A-6EDB-4C34-8371-9142F780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04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Hash</a:t>
            </a:r>
          </a:p>
        </p:txBody>
      </p:sp>
      <p:sp>
        <p:nvSpPr>
          <p:cNvPr id="10" name="text-264-336">
            <a:extLst xmlns:a="http://schemas.openxmlformats.org/drawingml/2006/main">
              <a:ext uri="{FF2B5EF4-FFF2-40B4-BE49-F238E27FC236}">
                <a16:creationId xmlns:a16="http://schemas.microsoft.com/office/drawing/2014/main" id="{C78C0774-813D-4465-A472-A5493976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Jednosměrný otisk pro kontrolu shody nebo změny; není určen k dešifrování původního obsahu.</a:t>
            </a:r>
          </a:p>
        </p:txBody>
      </p:sp>
      <p:sp>
        <p:nvSpPr>
          <p:cNvPr id="11" name="text-41-448">
            <a:extLst xmlns:a="http://schemas.openxmlformats.org/drawingml/2006/main">
              <a:ext uri="{FF2B5EF4-FFF2-40B4-BE49-F238E27FC236}">
                <a16:creationId xmlns:a16="http://schemas.microsoft.com/office/drawing/2014/main" id="{932FB0D6-C23A-4610-BBA1-209F6B0F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HTTPS</a:t>
            </a:r>
          </a:p>
        </p:txBody>
      </p:sp>
      <p:sp>
        <p:nvSpPr>
          <p:cNvPr id="12" name="text-264-448">
            <a:extLst xmlns:a="http://schemas.openxmlformats.org/drawingml/2006/main">
              <a:ext uri="{FF2B5EF4-FFF2-40B4-BE49-F238E27FC236}">
                <a16:creationId xmlns:a16="http://schemas.microsoft.com/office/drawing/2014/main" id="{BB1B60EE-A6EB-4CEF-92A2-B90EDF8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Chrání přenos mezi prohlížečem a konkrétní doménou; nezaručuje pravdivost či poctivost obsahu.</a:t>
            </a:r>
          </a:p>
        </p:txBody>
      </p:sp>
      <p:sp>
        <p:nvSpPr>
          <p:cNvPr id="13" name="misconception-panel">
            <a:extLst xmlns:a="http://schemas.openxmlformats.org/drawingml/2006/main">
              <a:ext uri="{FF2B5EF4-FFF2-40B4-BE49-F238E27FC236}">
                <a16:creationId xmlns:a16="http://schemas.microsoft.com/office/drawing/2014/main" id="{8B1EF8B1-7286-4A3B-92B7-FB6E6CFF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91-203">
            <a:extLst xmlns:a="http://schemas.openxmlformats.org/drawingml/2006/main">
              <a:ext uri="{FF2B5EF4-FFF2-40B4-BE49-F238E27FC236}">
                <a16:creationId xmlns:a16="http://schemas.microsoft.com/office/drawing/2014/main" id="{3DD64D8F-BBDF-44C0-862E-E9B20D9D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335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5" name="text-691-263">
            <a:extLst xmlns:a="http://schemas.openxmlformats.org/drawingml/2006/main">
              <a:ext uri="{FF2B5EF4-FFF2-40B4-BE49-F238E27FC236}">
                <a16:creationId xmlns:a16="http://schemas.microsoft.com/office/drawing/2014/main" id="{CC6892BC-5378-42AE-A53C-B32FAB1B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05075"/>
            <a:ext cx="4667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„Hash lze dešifrovat.“</a:t>
            </a:r>
          </a:p>
        </p:txBody>
      </p:sp>
      <p:sp>
        <p:nvSpPr>
          <p:cNvPr id="16" name="text-691-382">
            <a:extLst xmlns:a="http://schemas.openxmlformats.org/drawingml/2006/main">
              <a:ext uri="{FF2B5EF4-FFF2-40B4-BE49-F238E27FC236}">
                <a16:creationId xmlns:a16="http://schemas.microsoft.com/office/drawing/2014/main" id="{F9000C07-CB68-4D5D-B5DE-00FD5756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38550"/>
            <a:ext cx="4667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Vraťte se k rozdílu mezi vratnou transformací s klíčem a jednosměrným otiskem.</a:t>
            </a:r>
          </a:p>
        </p:txBody>
      </p:sp>
      <p:sp>
        <p:nvSpPr>
          <p:cNvPr id="17" name="text-41-576">
            <a:extLst xmlns:a="http://schemas.openxmlformats.org/drawingml/2006/main">
              <a:ext uri="{FF2B5EF4-FFF2-40B4-BE49-F238E27FC236}">
                <a16:creationId xmlns:a16="http://schemas.microsoft.com/office/drawing/2014/main" id="{9E2CC1CD-ACB9-4AC6-90A5-E9624CF7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1141095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úvodnímu rozhodnutí. Co bys teď změnil — a proč?</a:t>
            </a:r>
          </a:p>
        </p:txBody>
      </p:sp>
    </p:spTree>
    <p:extLst>
      <p:ext uri="{BB962C8B-B14F-4D97-AF65-F5344CB8AC3E}">
        <p14:creationId xmlns:p14="http://schemas.microsoft.com/office/powerpoint/2010/main" val="1332734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60951224-0905-4FDC-BE16-3F212C41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AA52B7D6-E41F-49F8-BD98-722A1E67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HODINA 4 · POSLEDNÍ 3 MINUTY</a:t>
            </a:r>
          </a:p>
        </p:txBody>
      </p:sp>
      <p:sp>
        <p:nvSpPr>
          <p:cNvPr id="3" name="text-54-154">
            <a:extLst xmlns:a="http://schemas.openxmlformats.org/drawingml/2006/main">
              <a:ext uri="{FF2B5EF4-FFF2-40B4-BE49-F238E27FC236}">
                <a16:creationId xmlns:a16="http://schemas.microsoft.com/office/drawing/2014/main" id="{EB325A6B-4A4D-448D-B058-558665FB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81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0DCC008A-86D2-4ADB-BE3B-A3F0A7F1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Jednou větou vysvětli, co dokazuje shodný hash dvou souborů.</a:t>
            </a:r>
          </a:p>
        </p:txBody>
      </p:sp>
      <p:sp>
        <p:nvSpPr>
          <p:cNvPr id="5" name="exit-line">
            <a:extLst xmlns:a="http://schemas.openxmlformats.org/drawingml/2006/main">
              <a:ext uri="{FF2B5EF4-FFF2-40B4-BE49-F238E27FC236}">
                <a16:creationId xmlns:a16="http://schemas.microsoft.com/office/drawing/2014/main" id="{DBA8F328-F282-4CE0-A110-8ED4E14D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F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4">
            <a:extLst xmlns:a="http://schemas.openxmlformats.org/drawingml/2006/main">
              <a:ext uri="{FF2B5EF4-FFF2-40B4-BE49-F238E27FC236}">
                <a16:creationId xmlns:a16="http://schemas.microsoft.com/office/drawing/2014/main" id="{813BCD68-1133-46D6-95A5-C805F5D0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91440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krok nebo důvod.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9E2AC3E4-ED90-40C6-8632-B43BC520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6B4FA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7242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2026-07-24T13:43:34.7350000Z</dcterms:created>
  <dcterms:modified xsi:type="dcterms:W3CDTF">2026-07-24T13:43:34.7350000Z</dcterms:modified>
</coreProperties>
</file>