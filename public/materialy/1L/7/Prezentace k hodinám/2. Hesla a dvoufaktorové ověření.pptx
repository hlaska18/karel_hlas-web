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0641b88135284a26" /><Relationship Type="http://schemas.openxmlformats.org/officeDocument/2006/relationships/extended-properties" Target="/docProps/app.xml" Id="Rc4bfa2a4c7694324" /><Relationship Type="http://schemas.openxmlformats.org/officeDocument/2006/relationships/officeDocument" Target="/ppt/presentation.xml" Id="Rbcd3943d56444f54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ceeabf94848d4b39"/>
  </p:sldMasterIdLst>
  <p:notesMasterIdLst>
    <p:notesMasterId xmlns:r="http://schemas.openxmlformats.org/officeDocument/2006/relationships" r:id="R17d8fbafb25041bc"/>
  </p:notesMasterIdLst>
  <p:sldIdLst>
    <p:sldId xmlns:r="http://schemas.openxmlformats.org/officeDocument/2006/relationships" id="256" r:id="Rcbb9d582df7f422d"/>
    <p:sldId xmlns:r="http://schemas.openxmlformats.org/officeDocument/2006/relationships" id="257" r:id="Rd6a1f837089845d3"/>
    <p:sldId xmlns:r="http://schemas.openxmlformats.org/officeDocument/2006/relationships" id="258" r:id="R4c7fdc4775874ffc"/>
    <p:sldId xmlns:r="http://schemas.openxmlformats.org/officeDocument/2006/relationships" id="259" r:id="R9c324d1fc8c0438d"/>
    <p:sldId xmlns:r="http://schemas.openxmlformats.org/officeDocument/2006/relationships" id="260" r:id="R7a6c4d418b1847cb"/>
    <p:sldId xmlns:r="http://schemas.openxmlformats.org/officeDocument/2006/relationships" id="261" r:id="Re8b9f95e9873465c"/>
    <p:sldId xmlns:r="http://schemas.openxmlformats.org/officeDocument/2006/relationships" id="262" r:id="R845565a038644f13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bf9009467b004740" /><Relationship Type="http://schemas.openxmlformats.org/officeDocument/2006/relationships/slideMaster" Target="/ppt/slideMasters/slideMaster1.xml" Id="Rceeabf94848d4b39" /><Relationship Type="http://schemas.openxmlformats.org/officeDocument/2006/relationships/notesMaster" Target="/ppt/notesMasters/notesMaster1.xml" Id="R17d8fbafb25041bc" /><Relationship Type="http://schemas.openxmlformats.org/officeDocument/2006/relationships/presProps" Target="/ppt/presProps.xml" Id="Re2fddf1281b142c7" /><Relationship Type="http://schemas.openxmlformats.org/officeDocument/2006/relationships/tableStyles" Target="/ppt/tableStyles.xml" Id="R7f2c24feba2b4451" /><Relationship Type="http://schemas.openxmlformats.org/officeDocument/2006/relationships/slide" Target="/ppt/slides/slide1.xml" Id="Rcbb9d582df7f422d" /><Relationship Type="http://schemas.openxmlformats.org/officeDocument/2006/relationships/slide" Target="/ppt/slides/slide2.xml" Id="Rd6a1f837089845d3" /><Relationship Type="http://schemas.openxmlformats.org/officeDocument/2006/relationships/slide" Target="/ppt/slides/slide3.xml" Id="R4c7fdc4775874ffc" /><Relationship Type="http://schemas.openxmlformats.org/officeDocument/2006/relationships/slide" Target="/ppt/slides/slide4.xml" Id="R9c324d1fc8c0438d" /><Relationship Type="http://schemas.openxmlformats.org/officeDocument/2006/relationships/slide" Target="/ppt/slides/slide5.xml" Id="R7a6c4d418b1847cb" /><Relationship Type="http://schemas.openxmlformats.org/officeDocument/2006/relationships/slide" Target="/ppt/slides/slide6.xml" Id="Re8b9f95e9873465c" /><Relationship Type="http://schemas.openxmlformats.org/officeDocument/2006/relationships/slide" Target="/ppt/slides/slide7.xml" Id="R845565a038644f13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a475cfcad6ea43c7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6804fb80c4054d89" /><Relationship Type="http://schemas.openxmlformats.org/officeDocument/2006/relationships/notesMaster" Target="/ppt/notesMasters/notesMaster1.xml" Id="R054dc546ff4e4885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d571e6d4fa264e2e" /><Relationship Type="http://schemas.openxmlformats.org/officeDocument/2006/relationships/notesMaster" Target="/ppt/notesMasters/notesMaster1.xml" Id="R0c09e13912da4e55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b4f030805cbe480e" /><Relationship Type="http://schemas.openxmlformats.org/officeDocument/2006/relationships/notesMaster" Target="/ppt/notesMasters/notesMaster1.xml" Id="R7b13f06ec318489d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5f0d78982f424fba" /><Relationship Type="http://schemas.openxmlformats.org/officeDocument/2006/relationships/notesMaster" Target="/ppt/notesMasters/notesMaster1.xml" Id="R1719565cf7d04257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1d0b3fefd5c3462e" /><Relationship Type="http://schemas.openxmlformats.org/officeDocument/2006/relationships/notesMaster" Target="/ppt/notesMasters/notesMaster1.xml" Id="Rb95653a2a44b419a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ca9ff4b293cb4f43" /><Relationship Type="http://schemas.openxmlformats.org/officeDocument/2006/relationships/notesMaster" Target="/ppt/notesMasters/notesMaster1.xml" Id="Ra8618d1385b24717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691e6da6656f464b" /><Relationship Type="http://schemas.openxmlformats.org/officeDocument/2006/relationships/notesMaster" Target="/ppt/notesMasters/notesMaster1.xml" Id="Rb8ccbd12d2de470c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Výukový cíl: Student vysvětlí význam unikátního hesla, rozliší faktory znám–mám–jsem a navrhne bezpečnou obnovu účtu.</a:t>
            </a:r>
          </a:p>
          <a:p xmlns:a="http://schemas.openxmlformats.org/drawingml/2006/main">
            <a:r>
              <a:t>Soubory: Digitální pracovní sešit, 2. Účty a faktory ověření.csv</a:t>
            </a:r>
          </a:p>
          <a:p xmlns:a="http://schemas.openxmlformats.org/drawingml/2006/main">
            <a:r>
              <a:t>Výstup: Model ochrany školního e-mailu, sociální sítě a herního účtu.</a:t>
            </a:r>
          </a:p>
          <a:p xmlns:a="http://schemas.openxmlformats.org/drawingml/2006/main">
            <a:r>
              <a:t>Před otevřením dalšího snímku stručně uveď téma a nech studenty připravit pracovní soubory.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Čas: 0–5 minut.</a:t>
            </a:r>
          </a:p>
          <a:p xmlns:a="http://schemas.openxmlformats.org/drawingml/2006/main">
            <a:r>
              <a:t>Činnost: Řetězová škoda po úniku.</a:t>
            </a:r>
          </a:p>
          <a:p xmlns:a="http://schemas.openxmlformats.org/drawingml/2006/main">
            <a:r>
              <a:t>Postup učitele: Ptej se, které další účty ohrozí jedno opakované heslo.</a:t>
            </a:r>
          </a:p>
          <a:p xmlns:a="http://schemas.openxmlformats.org/drawingml/2006/main">
            <a:r>
              <a:t>Otázka pro studenty: Jedno heslo uniklo. Kolik účtů je teď v ohrožení?</a:t>
            </a:r>
          </a:p>
          <a:p xmlns:a="http://schemas.openxmlformats.org/drawingml/2006/main">
            <a:r>
              <a:t>Neprozrazuj správnou odpověď. Cílem je zachytit počáteční úsudek, ke kterému se třída vrátí při reflexi.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Čas: 5–12 minut.</a:t>
            </a:r>
          </a:p>
          <a:p xmlns:a="http://schemas.openxmlformats.org/drawingml/2006/main">
            <a:r>
              <a:t>Činnost: Heslová fráze a správce hesel.</a:t>
            </a:r>
          </a:p>
          <a:p xmlns:a="http://schemas.openxmlformats.org/drawingml/2006/main">
            <a:r>
              <a:t>Postup učitele: Zdůrazni délku, jedinečnost a nepředvídatelnost.</a:t>
            </a:r>
          </a:p>
          <a:p xmlns:a="http://schemas.openxmlformats.org/drawingml/2006/main">
            <a:r>
              <a:t>Klíčové závěry: Silné heslo: Je dlouhé, unikátní a nepředvídatelné; nesmí být známým citátem ani osobním údajem. | Správce hesel: Pomáhá vytvářet a ukládat odlišná hesla; hlavní účet správce musí být dobře chráněn. | Faktor znám: Heslo a PIN.</a:t>
            </a:r>
          </a:p>
          <a:p xmlns:a="http://schemas.openxmlformats.org/drawingml/2006/main">
            <a:r>
              <a:t>Nech studenty doplnit příklad ke každému bodu. Přechod k aktivitě proveď otázkou: Jak tyto tři body použijeme na dnešní soubor?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Hlavní aktivita využívá: Digitální pracovní sešit, 2. Účty a faktory ověření.csv</a:t>
            </a:r>
          </a:p>
          <a:p xmlns:a="http://schemas.openxmlformats.org/drawingml/2006/main">
            <a:r>
              <a:t>12–22 min – Posouzení modelových hesel: Nehodnoť heslo pouze podle přítomnosti speciálního znaku.</a:t>
            </a:r>
          </a:p>
          <a:p xmlns:a="http://schemas.openxmlformats.org/drawingml/2006/main">
            <a:r>
              <a:t>22–32 min – Třídění faktorů v CSV: Dvojice přiřazují znám–mám–jsem a obhajují sporné příklady.</a:t>
            </a:r>
          </a:p>
          <a:p xmlns:a="http://schemas.openxmlformats.org/drawingml/2006/main">
            <a:r>
              <a:t>32–41 min – Návrh ochrany tří účtů: Požaduj přihlášení, druhý faktor i způsob obnovy.</a:t>
            </a:r>
          </a:p>
          <a:p xmlns:a="http://schemas.openxmlformats.org/drawingml/2006/main">
            <a:r>
              <a:t>Požadovaný výstup: Model ochrany školního e-mailu, sociální sítě a herního účtu.</a:t>
            </a:r>
          </a:p>
          <a:p xmlns:a="http://schemas.openxmlformats.org/drawingml/2006/main">
            <a:r>
              <a:t>Během práce nepřebírej myš za studenta. Pomáhej otázkami z dalšího snímku a žádej, aby každé rozhodnutí opřel o konkrétní znak nebo zdroj.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Kritérium úspěchu: Student správně roztřídí autentizační prvky a navrhne alespoň jednu skutečnou kombinaci 2FA.</a:t>
            </a:r>
          </a:p>
          <a:p xmlns:a="http://schemas.openxmlformats.org/drawingml/2006/main">
            <a:r>
              <a:t>Vodicí otázky: Proč dvě tajné informace nemusí znamenat dva různé faktory? | Co se stane, když ztratíš telefon s autentizační aplikací? | Kde mají být záložní kódy, aby nebyly současně se ztraceným zařízením?</a:t>
            </a:r>
          </a:p>
          <a:p xmlns:a="http://schemas.openxmlformats.org/drawingml/2006/main">
            <a:r>
              <a:t>Podpora: Nabídni kartičky s nadpisy znám, mám a jsem; student pouze přesouvá připravené příklady.</a:t>
            </a:r>
          </a:p>
          <a:p xmlns:a="http://schemas.openxmlformats.org/drawingml/2006/main">
            <a:r>
              <a:t>Rozšíření: Porovnej SMS kód, autentizační aplikaci a bezpečnostní klíč z hlediska pohodlí, obnovy a odolnosti proti phishingu.</a:t>
            </a:r>
          </a:p>
          <a:p xmlns:a="http://schemas.openxmlformats.org/drawingml/2006/main">
            <a:r>
              <a:t>Pro rychlou mezikontrolu nech dvojice vyměnit výstup a označit jeden dobře doložený bod a jednu otázku, která ještě zůstává.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Očekávané závěry: Silné heslo: Je dlouhé, unikátní a nepředvídatelné; nesmí být známým citátem ani osobním údajem. | Správce hesel: Pomáhá vytvářet a ukládat odlišná hesla; hlavní účet správce musí být dobře chráněn. | Faktor znám: Heslo a PIN. | Faktor mám: Telefon s autentizační aplikací, bezpečnostní klíč nebo jiné držené zařízení. | Faktor jsem: Otisk prstu nebo jiná biometrie. | Obnova: Záložní kódy uložené odděleně, aktuální obnovovací údaje a známý postup poskytovatele.</a:t>
            </a:r>
          </a:p>
          <a:p xmlns:a="http://schemas.openxmlformats.org/drawingml/2006/main">
            <a:r>
              <a:t>Časté chyby a intervence: „Heslo + PIN je 2FA.“ → Obojí patří do faktoru znám; pro 2FA je třeba odlišný typ faktoru. | „Biometrie je heslo, které lze změnit.“ → Biometrický údaj nelze jednoduše nahradit; zařízení obvykle ukládá jeho šablonu. | „Nejsilnější je co nejvíce znaků.“ → Délka nepomůže, pokud je heslo známé, opakované nebo předvídatelné.</a:t>
            </a:r>
          </a:p>
          <a:p xmlns:a="http://schemas.openxmlformats.org/drawingml/2006/main">
            <a:r>
              <a:t>Nečti celý klíč. Vyber dva studentské postupy, které vedou k odlišným závěrům, a nech třídu určit, který je lépe podložený.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Exit ticket: Uveď jednu platnou dvojici 2FA a napiš, ke kterým dvěma faktorům patří.</a:t>
            </a:r>
          </a:p>
          <a:p xmlns:a="http://schemas.openxmlformats.org/drawingml/2006/main">
            <a:r>
              <a:t>Podpora: Nabídni kartičky s nadpisy znám, mám a jsem; student pouze přesouvá připravené příklady.</a:t>
            </a:r>
          </a:p>
          <a:p xmlns:a="http://schemas.openxmlformats.org/drawingml/2006/main">
            <a:r>
              <a:t>Rozšíření: Porovnej SMS kód, autentizační aplikaci a bezpečnostní klíč z hlediska pohodlí, obnovy a odolnosti proti phishingu.</a:t>
            </a:r>
          </a:p>
          <a:p xmlns:a="http://schemas.openxmlformats.org/drawingml/2006/main">
            <a:r>
              <a:t>Když technika selže: CSV lze nahradit tříděním příkladů přímo v tabulce pracovního sešitu.</a:t>
            </a:r>
          </a:p>
          <a:p xmlns:a="http://schemas.openxmlformats.org/drawingml/2006/main">
            <a:r>
              <a:t>Vyber způsob odevzdání předem. Odpověď použij jako diagnostiku pro začátek další hodiny; nehodnoť pouze formální správnost, ale konkrétnost a zdůvodnění.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3ccd855f20a46d7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e31b23a5c69e4113" /><Relationship Type="http://schemas.openxmlformats.org/officeDocument/2006/relationships/slideLayout" Target="/ppt/slideLayouts/slideLayout1.xml" Id="R02194db71f0a44ed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02194db71f0a44ed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43f45391ab043f5" /><Relationship Type="http://schemas.openxmlformats.org/officeDocument/2006/relationships/notesSlide" Target="/ppt/notesSlides/notesSlide1.xml" Id="R0546b4155b3d4f5b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09cc37e99e6494f" /><Relationship Type="http://schemas.openxmlformats.org/officeDocument/2006/relationships/notesSlide" Target="/ppt/notesSlides/notesSlide2.xml" Id="R70a1b8d7ac7c4c66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9544a5edae24616" /><Relationship Type="http://schemas.openxmlformats.org/officeDocument/2006/relationships/notesSlide" Target="/ppt/notesSlides/notesSlide3.xml" Id="R3d39018b0c02463e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570394a472f4524" /><Relationship Type="http://schemas.openxmlformats.org/officeDocument/2006/relationships/notesSlide" Target="/ppt/notesSlides/notesSlide4.xml" Id="R56637218259840fa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3c8e10dd79a409b" /><Relationship Type="http://schemas.openxmlformats.org/officeDocument/2006/relationships/notesSlide" Target="/ppt/notesSlides/notesSlide5.xml" Id="Rf6d4c677f71340cc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5199d9bb09346bc" /><Relationship Type="http://schemas.openxmlformats.org/officeDocument/2006/relationships/notesSlide" Target="/ppt/notesSlides/notesSlide6.xml" Id="R6e0cf82277704523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a00061ecd644501" /><Relationship Type="http://schemas.openxmlformats.org/officeDocument/2006/relationships/notesSlide" Target="/ppt/notesSlides/notesSlide7.xml" Id="Rfb60210ac8044a29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accent-rail">
            <a:extLst xmlns:a="http://schemas.openxmlformats.org/drawingml/2006/main">
              <a:ext uri="{FF2B5EF4-FFF2-40B4-BE49-F238E27FC236}">
                <a16:creationId xmlns:a16="http://schemas.microsoft.com/office/drawing/2014/main" id="{D8B5A0C2-E6CF-4AD6-8385-C79D119EF6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2095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59C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text-54-48">
            <a:extLst xmlns:a="http://schemas.openxmlformats.org/drawingml/2006/main">
              <a:ext uri="{FF2B5EF4-FFF2-40B4-BE49-F238E27FC236}">
                <a16:creationId xmlns:a16="http://schemas.microsoft.com/office/drawing/2014/main" id="{2AEB9314-2DF3-4E20-936C-D3BEDAA590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57200"/>
            <a:ext cx="30480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B59C3"/>
                </a:solidFill>
                <a:latin typeface="Arial"/>
                <a:ea typeface="Arial"/>
                <a:cs typeface="Arial"/>
              </a:defRPr>
            </a:pPr>
            <a:r>
              <a:t>HODINA 2 / 10</a:t>
            </a:r>
          </a:p>
        </p:txBody>
      </p:sp>
      <p:sp>
        <p:nvSpPr>
          <p:cNvPr id="3" name="text-870-48">
            <a:extLst xmlns:a="http://schemas.openxmlformats.org/drawingml/2006/main">
              <a:ext uri="{FF2B5EF4-FFF2-40B4-BE49-F238E27FC236}">
                <a16:creationId xmlns:a16="http://schemas.microsoft.com/office/drawing/2014/main" id="{A6D62431-8C8D-43D2-9D2F-D63EBF0465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457200"/>
            <a:ext cx="3429000" cy="533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200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INTERNET, BEZPEČNOST
A PRÁCE S INFORMACEMI</a:t>
            </a:r>
          </a:p>
        </p:txBody>
      </p:sp>
      <p:sp>
        <p:nvSpPr>
          <p:cNvPr id="4" name="text-54-255">
            <a:extLst xmlns:a="http://schemas.openxmlformats.org/drawingml/2006/main">
              <a:ext uri="{FF2B5EF4-FFF2-40B4-BE49-F238E27FC236}">
                <a16:creationId xmlns:a16="http://schemas.microsoft.com/office/drawing/2014/main" id="{28D28A56-6FA7-44A4-88D3-A9FE42828E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428875"/>
            <a:ext cx="10715625" cy="20002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b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46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Hesla, přihlašování a dvoufaktorové ověření</a:t>
            </a:r>
          </a:p>
        </p:txBody>
      </p:sp>
      <p:sp>
        <p:nvSpPr>
          <p:cNvPr id="5" name="text-56-506">
            <a:extLst xmlns:a="http://schemas.openxmlformats.org/drawingml/2006/main">
              <a:ext uri="{FF2B5EF4-FFF2-40B4-BE49-F238E27FC236}">
                <a16:creationId xmlns:a16="http://schemas.microsoft.com/office/drawing/2014/main" id="{B106A551-B874-4A51-8A7A-5D47CDF4EF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819650"/>
            <a:ext cx="8191500" cy="742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Student vysvětlí význam unikátního hesla, rozliší faktory znám–mám–jsem a navrhne bezpečnou obnovu účtu.</a:t>
            </a:r>
          </a:p>
        </p:txBody>
      </p:sp>
      <p:sp>
        <p:nvSpPr>
          <p:cNvPr id="6" name="lesson-number">
            <a:extLst xmlns:a="http://schemas.openxmlformats.org/drawingml/2006/main">
              <a:ext uri="{FF2B5EF4-FFF2-40B4-BE49-F238E27FC236}">
                <a16:creationId xmlns:a16="http://schemas.microsoft.com/office/drawing/2014/main" id="{971A8A89-589C-46B8-B109-B441FDDA77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44125" y="4819650"/>
            <a:ext cx="1181100" cy="1181100"/>
          </a:xfrm>
          <a:prstGeom xmlns:a="http://schemas.openxmlformats.org/drawingml/2006/main" prst="roundRect">
            <a:avLst>
              <a:gd name="adj" fmla="val 6452"/>
            </a:avLst>
          </a:prstGeom>
          <a:solidFill xmlns:a="http://schemas.openxmlformats.org/drawingml/2006/main">
            <a:srgbClr val="2B59C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text-1065-524">
            <a:extLst xmlns:a="http://schemas.openxmlformats.org/drawingml/2006/main">
              <a:ext uri="{FF2B5EF4-FFF2-40B4-BE49-F238E27FC236}">
                <a16:creationId xmlns:a16="http://schemas.microsoft.com/office/drawing/2014/main" id="{1BF92AFF-A39E-45F3-A9D1-FDB7402BE3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44125" y="4991100"/>
            <a:ext cx="1181100" cy="742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t>02</a:t>
            </a:r>
          </a:p>
        </p:txBody>
      </p:sp>
      <p:sp>
        <p:nvSpPr>
          <p:cNvPr id="8" name="text-1065-603">
            <a:extLst xmlns:a="http://schemas.openxmlformats.org/drawingml/2006/main">
              <a:ext uri="{FF2B5EF4-FFF2-40B4-BE49-F238E27FC236}">
                <a16:creationId xmlns:a16="http://schemas.microsoft.com/office/drawing/2014/main" id="{96BCB3FC-7316-47AD-A8CA-955225E3E1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44125" y="5743575"/>
            <a:ext cx="11811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t>45 MIN</a:t>
            </a:r>
          </a:p>
        </p:txBody>
      </p:sp>
    </p:spTree>
    <p:extLst>
      <p:ext uri="{BB962C8B-B14F-4D97-AF65-F5344CB8AC3E}">
        <p14:creationId xmlns:p14="http://schemas.microsoft.com/office/powerpoint/2010/main" val="1893188179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ext-41-34">
            <a:extLst xmlns:a="http://schemas.openxmlformats.org/drawingml/2006/main">
              <a:ext uri="{FF2B5EF4-FFF2-40B4-BE49-F238E27FC236}">
                <a16:creationId xmlns:a16="http://schemas.microsoft.com/office/drawing/2014/main" id="{0FB9C20D-5C03-4B68-BE6A-F8BD341593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23850"/>
            <a:ext cx="33337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B59C3"/>
                </a:solidFill>
                <a:latin typeface="Arial"/>
                <a:ea typeface="Arial"/>
                <a:cs typeface="Arial"/>
              </a:defRPr>
            </a:pPr>
            <a:r>
              <a:t>0–5 MIN · ÚVOD</a:t>
            </a:r>
          </a:p>
        </p:txBody>
      </p:sp>
      <p:sp>
        <p:nvSpPr>
          <p:cNvPr id="2" name="text-41-73">
            <a:extLst xmlns:a="http://schemas.openxmlformats.org/drawingml/2006/main">
              <a:ext uri="{FF2B5EF4-FFF2-40B4-BE49-F238E27FC236}">
                <a16:creationId xmlns:a16="http://schemas.microsoft.com/office/drawing/2014/main" id="{C4B08D59-5378-49E2-9835-FA18A2C1F6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95325"/>
            <a:ext cx="114109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Začni vlastním rozhodnutím</a:t>
            </a:r>
          </a:p>
        </p:txBody>
      </p:sp>
      <p:sp>
        <p:nvSpPr>
          <p:cNvPr id="3" name="footer-rule-2">
            <a:extLst xmlns:a="http://schemas.openxmlformats.org/drawingml/2006/main">
              <a:ext uri="{FF2B5EF4-FFF2-40B4-BE49-F238E27FC236}">
                <a16:creationId xmlns:a16="http://schemas.microsoft.com/office/drawing/2014/main" id="{472B71FA-A43D-4178-8C50-7E963DB90B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276975"/>
            <a:ext cx="114109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59C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text-41-672">
            <a:extLst xmlns:a="http://schemas.openxmlformats.org/drawingml/2006/main">
              <a:ext uri="{FF2B5EF4-FFF2-40B4-BE49-F238E27FC236}">
                <a16:creationId xmlns:a16="http://schemas.microsoft.com/office/drawing/2014/main" id="{6ED2F9BA-7817-4FBA-BDF1-488EB66A35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400800"/>
            <a:ext cx="47625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INTERNET · BEZPEČNOST · INFORMACE</a:t>
            </a:r>
          </a:p>
        </p:txBody>
      </p:sp>
      <p:sp>
        <p:nvSpPr>
          <p:cNvPr id="5" name="text-1050-672">
            <a:extLst xmlns:a="http://schemas.openxmlformats.org/drawingml/2006/main">
              <a:ext uri="{FF2B5EF4-FFF2-40B4-BE49-F238E27FC236}">
                <a16:creationId xmlns:a16="http://schemas.microsoft.com/office/drawing/2014/main" id="{5F3AEE5A-28E3-47C5-BD0C-98F6E1AA98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6400800"/>
            <a:ext cx="1800225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HODINA 2  /  2</a:t>
            </a:r>
          </a:p>
        </p:txBody>
      </p:sp>
      <p:sp>
        <p:nvSpPr>
          <p:cNvPr id="6" name="text-41-188">
            <a:extLst xmlns:a="http://schemas.openxmlformats.org/drawingml/2006/main">
              <a:ext uri="{FF2B5EF4-FFF2-40B4-BE49-F238E27FC236}">
                <a16:creationId xmlns:a16="http://schemas.microsoft.com/office/drawing/2014/main" id="{2CC03189-B0B5-4D14-A162-A9347E3DAA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790700"/>
            <a:ext cx="10668000" cy="1943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b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Jedno heslo uniklo. Kolik účtů je teď v ohrožení?</a:t>
            </a:r>
          </a:p>
        </p:txBody>
      </p:sp>
      <p:sp>
        <p:nvSpPr>
          <p:cNvPr id="7" name="prompt-panel">
            <a:extLst xmlns:a="http://schemas.openxmlformats.org/drawingml/2006/main">
              <a:ext uri="{FF2B5EF4-FFF2-40B4-BE49-F238E27FC236}">
                <a16:creationId xmlns:a16="http://schemas.microsoft.com/office/drawing/2014/main" id="{801F864C-016C-4193-A094-D07A4AE574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4238625"/>
            <a:ext cx="11410950" cy="1371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E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text-70-476">
            <a:extLst xmlns:a="http://schemas.openxmlformats.org/drawingml/2006/main">
              <a:ext uri="{FF2B5EF4-FFF2-40B4-BE49-F238E27FC236}">
                <a16:creationId xmlns:a16="http://schemas.microsoft.com/office/drawing/2014/main" id="{50F9E587-308D-4AA8-8BD6-B6BF0862B6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533900"/>
            <a:ext cx="2905125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B59C3"/>
                </a:solidFill>
                <a:latin typeface="Arial"/>
                <a:ea typeface="Arial"/>
                <a:cs typeface="Arial"/>
              </a:defRPr>
            </a:pPr>
            <a:r>
              <a:t>ROZHODNI SÁM</a:t>
            </a:r>
          </a:p>
        </p:txBody>
      </p:sp>
      <p:sp>
        <p:nvSpPr>
          <p:cNvPr id="9" name="text-70-520">
            <a:extLst xmlns:a="http://schemas.openxmlformats.org/drawingml/2006/main">
              <a:ext uri="{FF2B5EF4-FFF2-40B4-BE49-F238E27FC236}">
                <a16:creationId xmlns:a16="http://schemas.microsoft.com/office/drawing/2014/main" id="{7DD47F67-B2C8-49E5-81BD-55BAACD0E8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953000"/>
            <a:ext cx="2905125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99023"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Zapiš jeden konkrétní důvod.</a:t>
            </a:r>
          </a:p>
        </p:txBody>
      </p:sp>
      <p:sp>
        <p:nvSpPr>
          <p:cNvPr id="10" name="text-461-476">
            <a:extLst xmlns:a="http://schemas.openxmlformats.org/drawingml/2006/main">
              <a:ext uri="{FF2B5EF4-FFF2-40B4-BE49-F238E27FC236}">
                <a16:creationId xmlns:a16="http://schemas.microsoft.com/office/drawing/2014/main" id="{ED00FEF2-6FEF-4B2F-8251-9B2AFA3C9F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91025" y="4533900"/>
            <a:ext cx="3381375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B59C3"/>
                </a:solidFill>
                <a:latin typeface="Arial"/>
                <a:ea typeface="Arial"/>
                <a:cs typeface="Arial"/>
              </a:defRPr>
            </a:pPr>
            <a:r>
              <a:t>POROVNEJ VE DVOJICI</a:t>
            </a:r>
          </a:p>
        </p:txBody>
      </p:sp>
      <p:sp>
        <p:nvSpPr>
          <p:cNvPr id="11" name="text-461-520">
            <a:extLst xmlns:a="http://schemas.openxmlformats.org/drawingml/2006/main">
              <a:ext uri="{FF2B5EF4-FFF2-40B4-BE49-F238E27FC236}">
                <a16:creationId xmlns:a16="http://schemas.microsoft.com/office/drawing/2014/main" id="{CDD2D7CA-46EE-45F3-A619-A81D35E06D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91025" y="4953000"/>
            <a:ext cx="3381375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Najděte bod, ve kterém se lišíte.</a:t>
            </a:r>
          </a:p>
        </p:txBody>
      </p:sp>
      <p:sp>
        <p:nvSpPr>
          <p:cNvPr id="12" name="text-900-476">
            <a:extLst xmlns:a="http://schemas.openxmlformats.org/drawingml/2006/main">
              <a:ext uri="{FF2B5EF4-FFF2-40B4-BE49-F238E27FC236}">
                <a16:creationId xmlns:a16="http://schemas.microsoft.com/office/drawing/2014/main" id="{5D6D49F2-E905-471B-A122-205C01EE14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4533900"/>
            <a:ext cx="276225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B59C3"/>
                </a:solidFill>
                <a:latin typeface="Arial"/>
                <a:ea typeface="Arial"/>
                <a:cs typeface="Arial"/>
              </a:defRPr>
            </a:pPr>
            <a:r>
              <a:t>PŘIPRAV OBHAJOBU</a:t>
            </a:r>
          </a:p>
        </p:txBody>
      </p:sp>
      <p:sp>
        <p:nvSpPr>
          <p:cNvPr id="13" name="text-900-520">
            <a:extLst xmlns:a="http://schemas.openxmlformats.org/drawingml/2006/main">
              <a:ext uri="{FF2B5EF4-FFF2-40B4-BE49-F238E27FC236}">
                <a16:creationId xmlns:a16="http://schemas.microsoft.com/office/drawing/2014/main" id="{410175C4-B1E3-458B-807B-51A0A26D56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4953000"/>
            <a:ext cx="276225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89519"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Co by změnilo tvé rozhodnutí?</a:t>
            </a:r>
          </a:p>
        </p:txBody>
      </p:sp>
    </p:spTree>
    <p:extLst>
      <p:ext uri="{BB962C8B-B14F-4D97-AF65-F5344CB8AC3E}">
        <p14:creationId xmlns:p14="http://schemas.microsoft.com/office/powerpoint/2010/main" val="1585990252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ext-41-34">
            <a:extLst xmlns:a="http://schemas.openxmlformats.org/drawingml/2006/main">
              <a:ext uri="{FF2B5EF4-FFF2-40B4-BE49-F238E27FC236}">
                <a16:creationId xmlns:a16="http://schemas.microsoft.com/office/drawing/2014/main" id="{7D4D615F-5D95-47EC-B8C4-5546D60994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23850"/>
            <a:ext cx="33337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B59C3"/>
                </a:solidFill>
                <a:latin typeface="Arial"/>
                <a:ea typeface="Arial"/>
                <a:cs typeface="Arial"/>
              </a:defRPr>
            </a:pPr>
            <a:r>
              <a:t>5–12 MIN · MINIMUM</a:t>
            </a:r>
          </a:p>
        </p:txBody>
      </p:sp>
      <p:sp>
        <p:nvSpPr>
          <p:cNvPr id="2" name="text-41-73">
            <a:extLst xmlns:a="http://schemas.openxmlformats.org/drawingml/2006/main">
              <a:ext uri="{FF2B5EF4-FFF2-40B4-BE49-F238E27FC236}">
                <a16:creationId xmlns:a16="http://schemas.microsoft.com/office/drawing/2014/main" id="{1EEE7F40-5F0F-47BC-963B-CC2D253D69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95325"/>
            <a:ext cx="114109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Tři opěrné body pro rozhodování</a:t>
            </a:r>
          </a:p>
        </p:txBody>
      </p:sp>
      <p:sp>
        <p:nvSpPr>
          <p:cNvPr id="3" name="footer-rule-3">
            <a:extLst xmlns:a="http://schemas.openxmlformats.org/drawingml/2006/main">
              <a:ext uri="{FF2B5EF4-FFF2-40B4-BE49-F238E27FC236}">
                <a16:creationId xmlns:a16="http://schemas.microsoft.com/office/drawing/2014/main" id="{9E6E0AA7-FBFB-48C3-B20E-B39460D8CA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276975"/>
            <a:ext cx="114109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59C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text-41-672">
            <a:extLst xmlns:a="http://schemas.openxmlformats.org/drawingml/2006/main">
              <a:ext uri="{FF2B5EF4-FFF2-40B4-BE49-F238E27FC236}">
                <a16:creationId xmlns:a16="http://schemas.microsoft.com/office/drawing/2014/main" id="{6A6920A4-4828-4A2B-BF4C-C924A83C68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400800"/>
            <a:ext cx="47625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INTERNET · BEZPEČNOST · INFORMACE</a:t>
            </a:r>
          </a:p>
        </p:txBody>
      </p:sp>
      <p:sp>
        <p:nvSpPr>
          <p:cNvPr id="5" name="text-1050-672">
            <a:extLst xmlns:a="http://schemas.openxmlformats.org/drawingml/2006/main">
              <a:ext uri="{FF2B5EF4-FFF2-40B4-BE49-F238E27FC236}">
                <a16:creationId xmlns:a16="http://schemas.microsoft.com/office/drawing/2014/main" id="{C05075BE-9099-4FF9-A7C8-AFDE723A76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6400800"/>
            <a:ext cx="1800225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HODINA 2  /  3</a:t>
            </a:r>
          </a:p>
        </p:txBody>
      </p:sp>
      <p:sp>
        <p:nvSpPr>
          <p:cNvPr id="6" name="text-41-179">
            <a:extLst xmlns:a="http://schemas.openxmlformats.org/drawingml/2006/main">
              <a:ext uri="{FF2B5EF4-FFF2-40B4-BE49-F238E27FC236}">
                <a16:creationId xmlns:a16="http://schemas.microsoft.com/office/drawing/2014/main" id="{B638EA81-8550-4A1C-852A-162775D77D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704975"/>
            <a:ext cx="85725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2B59C3"/>
                </a:solidFill>
                <a:latin typeface="Arial"/>
                <a:ea typeface="Arial"/>
                <a:cs typeface="Arial"/>
              </a:defRPr>
            </a:pPr>
            <a:r>
              <a:t>01</a:t>
            </a:r>
          </a:p>
        </p:txBody>
      </p:sp>
      <p:sp>
        <p:nvSpPr>
          <p:cNvPr id="7" name="text-41-274">
            <a:extLst xmlns:a="http://schemas.openxmlformats.org/drawingml/2006/main">
              <a:ext uri="{FF2B5EF4-FFF2-40B4-BE49-F238E27FC236}">
                <a16:creationId xmlns:a16="http://schemas.microsoft.com/office/drawing/2014/main" id="{289A16C5-053B-48BB-B231-B83D81CE3B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2609850"/>
            <a:ext cx="3238500" cy="590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Unikátní hesla</a:t>
            </a:r>
          </a:p>
        </p:txBody>
      </p:sp>
      <p:sp>
        <p:nvSpPr>
          <p:cNvPr id="8" name="text-41-362">
            <a:extLst xmlns:a="http://schemas.openxmlformats.org/drawingml/2006/main">
              <a:ext uri="{FF2B5EF4-FFF2-40B4-BE49-F238E27FC236}">
                <a16:creationId xmlns:a16="http://schemas.microsoft.com/office/drawing/2014/main" id="{6A3E0710-A569-4929-94E1-15D1E43942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448050"/>
            <a:ext cx="3238500" cy="1581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Každý účet má jiné dlouhé heslo nebo frázi. Únik jednoho hesla se pak nerozšíří na další služby.</a:t>
            </a:r>
          </a:p>
        </p:txBody>
      </p:sp>
      <p:sp>
        <p:nvSpPr>
          <p:cNvPr id="9" name="text-453-179">
            <a:extLst xmlns:a="http://schemas.openxmlformats.org/drawingml/2006/main">
              <a:ext uri="{FF2B5EF4-FFF2-40B4-BE49-F238E27FC236}">
                <a16:creationId xmlns:a16="http://schemas.microsoft.com/office/drawing/2014/main" id="{D79E2EC7-9FC0-4B62-901B-1C3B1B050E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1704975"/>
            <a:ext cx="85725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2B59C3"/>
                </a:solidFill>
                <a:latin typeface="Arial"/>
                <a:ea typeface="Arial"/>
                <a:cs typeface="Arial"/>
              </a:defRPr>
            </a:pPr>
            <a:r>
              <a:t>02</a:t>
            </a:r>
          </a:p>
        </p:txBody>
      </p:sp>
      <p:sp>
        <p:nvSpPr>
          <p:cNvPr id="10" name="text-453-274">
            <a:extLst xmlns:a="http://schemas.openxmlformats.org/drawingml/2006/main">
              <a:ext uri="{FF2B5EF4-FFF2-40B4-BE49-F238E27FC236}">
                <a16:creationId xmlns:a16="http://schemas.microsoft.com/office/drawing/2014/main" id="{AE377211-1D91-4311-8F6B-AFB800C887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2609850"/>
            <a:ext cx="3238500" cy="590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Druhý faktor</a:t>
            </a:r>
          </a:p>
        </p:txBody>
      </p:sp>
      <p:sp>
        <p:nvSpPr>
          <p:cNvPr id="11" name="text-453-362">
            <a:extLst xmlns:a="http://schemas.openxmlformats.org/drawingml/2006/main">
              <a:ext uri="{FF2B5EF4-FFF2-40B4-BE49-F238E27FC236}">
                <a16:creationId xmlns:a16="http://schemas.microsoft.com/office/drawing/2014/main" id="{349D80DC-09EA-4C53-BA03-83E8D1B0BD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3448050"/>
            <a:ext cx="3238500" cy="1581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Kombinuj dva různé typy: něco, co znám, s něčím, co mám nebo čím jsem.</a:t>
            </a:r>
          </a:p>
        </p:txBody>
      </p:sp>
      <p:sp>
        <p:nvSpPr>
          <p:cNvPr id="12" name="text-865-179">
            <a:extLst xmlns:a="http://schemas.openxmlformats.org/drawingml/2006/main">
              <a:ext uri="{FF2B5EF4-FFF2-40B4-BE49-F238E27FC236}">
                <a16:creationId xmlns:a16="http://schemas.microsoft.com/office/drawing/2014/main" id="{769D49E3-9D0D-40D1-BB6E-BA432CD12F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1704975"/>
            <a:ext cx="85725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2B59C3"/>
                </a:solidFill>
                <a:latin typeface="Arial"/>
                <a:ea typeface="Arial"/>
                <a:cs typeface="Arial"/>
              </a:defRPr>
            </a:pPr>
            <a:r>
              <a:t>03</a:t>
            </a:r>
          </a:p>
        </p:txBody>
      </p:sp>
      <p:sp>
        <p:nvSpPr>
          <p:cNvPr id="13" name="text-865-274">
            <a:extLst xmlns:a="http://schemas.openxmlformats.org/drawingml/2006/main">
              <a:ext uri="{FF2B5EF4-FFF2-40B4-BE49-F238E27FC236}">
                <a16:creationId xmlns:a16="http://schemas.microsoft.com/office/drawing/2014/main" id="{00F5D820-EC1D-486C-A71F-5294936315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2609850"/>
            <a:ext cx="3238500" cy="590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Bezpečná obnova</a:t>
            </a:r>
          </a:p>
        </p:txBody>
      </p:sp>
      <p:sp>
        <p:nvSpPr>
          <p:cNvPr id="14" name="text-865-362">
            <a:extLst xmlns:a="http://schemas.openxmlformats.org/drawingml/2006/main">
              <a:ext uri="{FF2B5EF4-FFF2-40B4-BE49-F238E27FC236}">
                <a16:creationId xmlns:a16="http://schemas.microsoft.com/office/drawing/2014/main" id="{E8030B5B-07B4-4037-A3CC-85141598F7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3448050"/>
            <a:ext cx="3238500" cy="1581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Záložní kódy a obnovovací údaje ulož odděleně od zařízení, které můžeš ztratit.</a:t>
            </a:r>
          </a:p>
        </p:txBody>
      </p:sp>
      <p:sp>
        <p:nvSpPr>
          <p:cNvPr id="15" name="key-line">
            <a:extLst xmlns:a="http://schemas.openxmlformats.org/drawingml/2006/main">
              <a:ext uri="{FF2B5EF4-FFF2-40B4-BE49-F238E27FC236}">
                <a16:creationId xmlns:a16="http://schemas.microsoft.com/office/drawing/2014/main" id="{C0E31F81-841C-47BC-AF91-A6F8070EAF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5514975"/>
            <a:ext cx="114109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59C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text-41-600">
            <a:extLst xmlns:a="http://schemas.openxmlformats.org/drawingml/2006/main">
              <a:ext uri="{FF2B5EF4-FFF2-40B4-BE49-F238E27FC236}">
                <a16:creationId xmlns:a16="http://schemas.microsoft.com/office/drawing/2014/main" id="{3AEC552D-9C60-466B-9E35-AFAEB8E7A6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5715000"/>
            <a:ext cx="1141095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Nejde o rychlý tip. Jde o postup, který lze vysvětlit a zopakovat.</a:t>
            </a:r>
          </a:p>
        </p:txBody>
      </p:sp>
    </p:spTree>
    <p:extLst>
      <p:ext uri="{BB962C8B-B14F-4D97-AF65-F5344CB8AC3E}">
        <p14:creationId xmlns:p14="http://schemas.microsoft.com/office/powerpoint/2010/main" val="2057065128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ext-41-34">
            <a:extLst xmlns:a="http://schemas.openxmlformats.org/drawingml/2006/main">
              <a:ext uri="{FF2B5EF4-FFF2-40B4-BE49-F238E27FC236}">
                <a16:creationId xmlns:a16="http://schemas.microsoft.com/office/drawing/2014/main" id="{828F6F11-40CF-4E90-8C31-2A826EACCB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23850"/>
            <a:ext cx="33337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B59C3"/>
                </a:solidFill>
                <a:latin typeface="Arial"/>
                <a:ea typeface="Arial"/>
                <a:cs typeface="Arial"/>
              </a:defRPr>
            </a:pPr>
            <a:r>
              <a:t>12–41 MIN · PRÁCE</a:t>
            </a:r>
          </a:p>
        </p:txBody>
      </p:sp>
      <p:sp>
        <p:nvSpPr>
          <p:cNvPr id="2" name="text-41-73">
            <a:extLst xmlns:a="http://schemas.openxmlformats.org/drawingml/2006/main">
              <a:ext uri="{FF2B5EF4-FFF2-40B4-BE49-F238E27FC236}">
                <a16:creationId xmlns:a16="http://schemas.microsoft.com/office/drawing/2014/main" id="{677F4A08-CAA2-4A2A-8107-147AE86C52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95325"/>
            <a:ext cx="114109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Hlavní počítačová aktivita</a:t>
            </a:r>
          </a:p>
        </p:txBody>
      </p:sp>
      <p:sp>
        <p:nvSpPr>
          <p:cNvPr id="3" name="footer-rule-4">
            <a:extLst xmlns:a="http://schemas.openxmlformats.org/drawingml/2006/main">
              <a:ext uri="{FF2B5EF4-FFF2-40B4-BE49-F238E27FC236}">
                <a16:creationId xmlns:a16="http://schemas.microsoft.com/office/drawing/2014/main" id="{B8187D35-2ADF-47F3-96C8-F2295421D8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276975"/>
            <a:ext cx="114109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59C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text-41-672">
            <a:extLst xmlns:a="http://schemas.openxmlformats.org/drawingml/2006/main">
              <a:ext uri="{FF2B5EF4-FFF2-40B4-BE49-F238E27FC236}">
                <a16:creationId xmlns:a16="http://schemas.microsoft.com/office/drawing/2014/main" id="{8D01EC8D-519F-491E-9B2B-3AEC80E40C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400800"/>
            <a:ext cx="47625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INTERNET · BEZPEČNOST · INFORMACE</a:t>
            </a:r>
          </a:p>
        </p:txBody>
      </p:sp>
      <p:sp>
        <p:nvSpPr>
          <p:cNvPr id="5" name="text-1050-672">
            <a:extLst xmlns:a="http://schemas.openxmlformats.org/drawingml/2006/main">
              <a:ext uri="{FF2B5EF4-FFF2-40B4-BE49-F238E27FC236}">
                <a16:creationId xmlns:a16="http://schemas.microsoft.com/office/drawing/2014/main" id="{F0E358B8-6D90-4A93-8883-844693CC3A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6400800"/>
            <a:ext cx="1800225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HODINA 2  /  4</a:t>
            </a:r>
          </a:p>
        </p:txBody>
      </p:sp>
      <p:sp>
        <p:nvSpPr>
          <p:cNvPr id="6" name="text-41-165">
            <a:extLst xmlns:a="http://schemas.openxmlformats.org/drawingml/2006/main">
              <a:ext uri="{FF2B5EF4-FFF2-40B4-BE49-F238E27FC236}">
                <a16:creationId xmlns:a16="http://schemas.microsoft.com/office/drawing/2014/main" id="{DAC249AA-CA8B-49C9-A666-171FEDB2CB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571625"/>
            <a:ext cx="15240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2B59C3"/>
                </a:solidFill>
                <a:latin typeface="Arial"/>
                <a:ea typeface="Arial"/>
                <a:cs typeface="Arial"/>
              </a:defRPr>
            </a:pPr>
            <a:r>
              <a:t>OTEVŘI</a:t>
            </a:r>
          </a:p>
        </p:txBody>
      </p:sp>
      <p:sp>
        <p:nvSpPr>
          <p:cNvPr id="7" name="text-41-202">
            <a:extLst xmlns:a="http://schemas.openxmlformats.org/drawingml/2006/main">
              <a:ext uri="{FF2B5EF4-FFF2-40B4-BE49-F238E27FC236}">
                <a16:creationId xmlns:a16="http://schemas.microsoft.com/office/drawing/2014/main" id="{B8597F73-83B7-4BAC-9AB1-BB9CA80D4E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924050"/>
            <a:ext cx="11049000" cy="5048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Digitální pracovní sešit, 2. Účty a faktory ověření.csv</a:t>
            </a:r>
          </a:p>
        </p:txBody>
      </p:sp>
      <p:sp>
        <p:nvSpPr>
          <p:cNvPr id="8" name="step-1">
            <a:extLst xmlns:a="http://schemas.openxmlformats.org/drawingml/2006/main">
              <a:ext uri="{FF2B5EF4-FFF2-40B4-BE49-F238E27FC236}">
                <a16:creationId xmlns:a16="http://schemas.microsoft.com/office/drawing/2014/main" id="{CEBD4445-901D-4B5E-BA28-BDDA972E24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2771775"/>
            <a:ext cx="3562350" cy="2514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1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text-63-313">
            <a:extLst xmlns:a="http://schemas.openxmlformats.org/drawingml/2006/main">
              <a:ext uri="{FF2B5EF4-FFF2-40B4-BE49-F238E27FC236}">
                <a16:creationId xmlns:a16="http://schemas.microsoft.com/office/drawing/2014/main" id="{39DC581C-1632-4317-8DFB-21A26D9B3F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2981325"/>
            <a:ext cx="55245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2B59C3"/>
                </a:solidFill>
                <a:latin typeface="Arial"/>
                <a:ea typeface="Arial"/>
                <a:cs typeface="Arial"/>
              </a:defRPr>
            </a:pPr>
            <a:r>
              <a:t>01</a:t>
            </a:r>
          </a:p>
        </p:txBody>
      </p:sp>
      <p:sp>
        <p:nvSpPr>
          <p:cNvPr id="10" name="text-63-372">
            <a:extLst xmlns:a="http://schemas.openxmlformats.org/drawingml/2006/main">
              <a:ext uri="{FF2B5EF4-FFF2-40B4-BE49-F238E27FC236}">
                <a16:creationId xmlns:a16="http://schemas.microsoft.com/office/drawing/2014/main" id="{AC10A8E0-869A-4A73-9FF6-D331BF1363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3543300"/>
            <a:ext cx="31432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Posuď modelová hesla</a:t>
            </a:r>
          </a:p>
        </p:txBody>
      </p:sp>
      <p:sp>
        <p:nvSpPr>
          <p:cNvPr id="11" name="text-63-449">
            <a:extLst xmlns:a="http://schemas.openxmlformats.org/drawingml/2006/main">
              <a:ext uri="{FF2B5EF4-FFF2-40B4-BE49-F238E27FC236}">
                <a16:creationId xmlns:a16="http://schemas.microsoft.com/office/drawing/2014/main" id="{FD807110-CB3B-49BB-8358-B5EC2B69C4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4276725"/>
            <a:ext cx="3143250" cy="762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Nehodnoť je jen podle speciálních znaků. Sleduj délku, jedinečnost a předvídatelnost.</a:t>
            </a:r>
          </a:p>
        </p:txBody>
      </p:sp>
      <p:sp>
        <p:nvSpPr>
          <p:cNvPr id="12" name="step-2">
            <a:extLst xmlns:a="http://schemas.openxmlformats.org/drawingml/2006/main">
              <a:ext uri="{FF2B5EF4-FFF2-40B4-BE49-F238E27FC236}">
                <a16:creationId xmlns:a16="http://schemas.microsoft.com/office/drawing/2014/main" id="{DD3BE06F-DF2F-43E7-97A4-63FDF866B6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2771775"/>
            <a:ext cx="3562350" cy="2514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E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text-475-313">
            <a:extLst xmlns:a="http://schemas.openxmlformats.org/drawingml/2006/main">
              <a:ext uri="{FF2B5EF4-FFF2-40B4-BE49-F238E27FC236}">
                <a16:creationId xmlns:a16="http://schemas.microsoft.com/office/drawing/2014/main" id="{948F66DF-F6D4-4B00-AB38-D340CCA909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2981325"/>
            <a:ext cx="55245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2B59C3"/>
                </a:solidFill>
                <a:latin typeface="Arial"/>
                <a:ea typeface="Arial"/>
                <a:cs typeface="Arial"/>
              </a:defRPr>
            </a:pPr>
            <a:r>
              <a:t>02</a:t>
            </a:r>
          </a:p>
        </p:txBody>
      </p:sp>
      <p:sp>
        <p:nvSpPr>
          <p:cNvPr id="14" name="text-475-372">
            <a:extLst xmlns:a="http://schemas.openxmlformats.org/drawingml/2006/main">
              <a:ext uri="{FF2B5EF4-FFF2-40B4-BE49-F238E27FC236}">
                <a16:creationId xmlns:a16="http://schemas.microsoft.com/office/drawing/2014/main" id="{8CA32022-7EDB-4E3B-A6E6-068F1260DC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3543300"/>
            <a:ext cx="31432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Roztřiď faktory</a:t>
            </a:r>
          </a:p>
        </p:txBody>
      </p:sp>
      <p:sp>
        <p:nvSpPr>
          <p:cNvPr id="15" name="text-475-449">
            <a:extLst xmlns:a="http://schemas.openxmlformats.org/drawingml/2006/main">
              <a:ext uri="{FF2B5EF4-FFF2-40B4-BE49-F238E27FC236}">
                <a16:creationId xmlns:a16="http://schemas.microsoft.com/office/drawing/2014/main" id="{DFD40C2F-B05E-4B7B-AE08-C8340C6574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4276725"/>
            <a:ext cx="3143250" cy="762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Přiřaď prvky ke znám – mám – jsem a obhaj sporné příklady.</a:t>
            </a:r>
          </a:p>
        </p:txBody>
      </p:sp>
      <p:sp>
        <p:nvSpPr>
          <p:cNvPr id="16" name="step-3">
            <a:extLst xmlns:a="http://schemas.openxmlformats.org/drawingml/2006/main">
              <a:ext uri="{FF2B5EF4-FFF2-40B4-BE49-F238E27FC236}">
                <a16:creationId xmlns:a16="http://schemas.microsoft.com/office/drawing/2014/main" id="{E48ABD78-28E9-442D-8815-719ACC4BED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2771775"/>
            <a:ext cx="3562350" cy="2514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1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text-887-313">
            <a:extLst xmlns:a="http://schemas.openxmlformats.org/drawingml/2006/main">
              <a:ext uri="{FF2B5EF4-FFF2-40B4-BE49-F238E27FC236}">
                <a16:creationId xmlns:a16="http://schemas.microsoft.com/office/drawing/2014/main" id="{8EA34A02-AC81-4484-BB8E-F8D27B3E7A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48675" y="2981325"/>
            <a:ext cx="55245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2B59C3"/>
                </a:solidFill>
                <a:latin typeface="Arial"/>
                <a:ea typeface="Arial"/>
                <a:cs typeface="Arial"/>
              </a:defRPr>
            </a:pPr>
            <a:r>
              <a:t>03</a:t>
            </a:r>
          </a:p>
        </p:txBody>
      </p:sp>
      <p:sp>
        <p:nvSpPr>
          <p:cNvPr id="18" name="text-887-372">
            <a:extLst xmlns:a="http://schemas.openxmlformats.org/drawingml/2006/main">
              <a:ext uri="{FF2B5EF4-FFF2-40B4-BE49-F238E27FC236}">
                <a16:creationId xmlns:a16="http://schemas.microsoft.com/office/drawing/2014/main" id="{C8BFC38E-C8D8-494A-88FA-FF5DF5F3FC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48675" y="3543300"/>
            <a:ext cx="31432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Navrhni ochranu účtů</a:t>
            </a:r>
          </a:p>
        </p:txBody>
      </p:sp>
      <p:sp>
        <p:nvSpPr>
          <p:cNvPr id="19" name="text-887-449">
            <a:extLst xmlns:a="http://schemas.openxmlformats.org/drawingml/2006/main">
              <a:ext uri="{FF2B5EF4-FFF2-40B4-BE49-F238E27FC236}">
                <a16:creationId xmlns:a16="http://schemas.microsoft.com/office/drawing/2014/main" id="{4BC5DFA7-B801-4B20-8639-CBD136E2B6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48675" y="4276725"/>
            <a:ext cx="3143250" cy="762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U e-mailu, sociální sítě a hry doplň heslo, druhý faktor i způsob obnovy.</a:t>
            </a:r>
          </a:p>
        </p:txBody>
      </p:sp>
      <p:sp>
        <p:nvSpPr>
          <p:cNvPr id="20" name="text-41-585">
            <a:extLst xmlns:a="http://schemas.openxmlformats.org/drawingml/2006/main">
              <a:ext uri="{FF2B5EF4-FFF2-40B4-BE49-F238E27FC236}">
                <a16:creationId xmlns:a16="http://schemas.microsoft.com/office/drawing/2014/main" id="{2FA6CEE7-47F8-4023-A690-58D72B314A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5572125"/>
            <a:ext cx="1524000" cy="238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B59C3"/>
                </a:solidFill>
                <a:latin typeface="Arial"/>
                <a:ea typeface="Arial"/>
                <a:cs typeface="Arial"/>
              </a:defRPr>
            </a:pPr>
            <a:r>
              <a:t>ODEVZDEJ</a:t>
            </a:r>
          </a:p>
        </p:txBody>
      </p:sp>
      <p:sp>
        <p:nvSpPr>
          <p:cNvPr id="21" name="text-201-581">
            <a:extLst xmlns:a="http://schemas.openxmlformats.org/drawingml/2006/main">
              <a:ext uri="{FF2B5EF4-FFF2-40B4-BE49-F238E27FC236}">
                <a16:creationId xmlns:a16="http://schemas.microsoft.com/office/drawing/2014/main" id="{CDC5454A-9A45-40CA-8673-62F456959B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14525" y="5534025"/>
            <a:ext cx="9886950" cy="361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Model ochrany školního e-mailu, sociální sítě a herního účtu.</a:t>
            </a:r>
          </a:p>
        </p:txBody>
      </p:sp>
    </p:spTree>
    <p:extLst>
      <p:ext uri="{BB962C8B-B14F-4D97-AF65-F5344CB8AC3E}">
        <p14:creationId xmlns:p14="http://schemas.microsoft.com/office/powerpoint/2010/main" val="1842632338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ext-41-34">
            <a:extLst xmlns:a="http://schemas.openxmlformats.org/drawingml/2006/main">
              <a:ext uri="{FF2B5EF4-FFF2-40B4-BE49-F238E27FC236}">
                <a16:creationId xmlns:a16="http://schemas.microsoft.com/office/drawing/2014/main" id="{5E1576D2-8260-4789-B5DE-A0B46E9964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23850"/>
            <a:ext cx="33337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B59C3"/>
                </a:solidFill>
                <a:latin typeface="Arial"/>
                <a:ea typeface="Arial"/>
                <a:cs typeface="Arial"/>
              </a:defRPr>
            </a:pPr>
            <a:r>
              <a:t>PRŮBĚŽNÁ KONTROLA</a:t>
            </a:r>
          </a:p>
        </p:txBody>
      </p:sp>
      <p:sp>
        <p:nvSpPr>
          <p:cNvPr id="2" name="text-41-73">
            <a:extLst xmlns:a="http://schemas.openxmlformats.org/drawingml/2006/main">
              <a:ext uri="{FF2B5EF4-FFF2-40B4-BE49-F238E27FC236}">
                <a16:creationId xmlns:a16="http://schemas.microsoft.com/office/drawing/2014/main" id="{57620750-C6E2-4C2A-BC07-7D40F97346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95325"/>
            <a:ext cx="114109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Než práci odevzdáš, ověř čtyři věci</a:t>
            </a:r>
          </a:p>
        </p:txBody>
      </p:sp>
      <p:sp>
        <p:nvSpPr>
          <p:cNvPr id="3" name="footer-rule-5">
            <a:extLst xmlns:a="http://schemas.openxmlformats.org/drawingml/2006/main">
              <a:ext uri="{FF2B5EF4-FFF2-40B4-BE49-F238E27FC236}">
                <a16:creationId xmlns:a16="http://schemas.microsoft.com/office/drawing/2014/main" id="{AFB2AB3E-7AD5-492A-9060-AF4CE60C66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276975"/>
            <a:ext cx="114109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59C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text-41-672">
            <a:extLst xmlns:a="http://schemas.openxmlformats.org/drawingml/2006/main">
              <a:ext uri="{FF2B5EF4-FFF2-40B4-BE49-F238E27FC236}">
                <a16:creationId xmlns:a16="http://schemas.microsoft.com/office/drawing/2014/main" id="{A7AAD51D-CDF7-4A70-B795-84CB95E4EC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400800"/>
            <a:ext cx="47625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INTERNET · BEZPEČNOST · INFORMACE</a:t>
            </a:r>
          </a:p>
        </p:txBody>
      </p:sp>
      <p:sp>
        <p:nvSpPr>
          <p:cNvPr id="5" name="text-1050-672">
            <a:extLst xmlns:a="http://schemas.openxmlformats.org/drawingml/2006/main">
              <a:ext uri="{FF2B5EF4-FFF2-40B4-BE49-F238E27FC236}">
                <a16:creationId xmlns:a16="http://schemas.microsoft.com/office/drawing/2014/main" id="{E4CE7862-F86C-41D4-80CE-FEF986B4F0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6400800"/>
            <a:ext cx="1800225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HODINA 2  /  5</a:t>
            </a:r>
          </a:p>
        </p:txBody>
      </p:sp>
      <p:sp>
        <p:nvSpPr>
          <p:cNvPr id="6" name="check-1">
            <a:extLst xmlns:a="http://schemas.openxmlformats.org/drawingml/2006/main">
              <a:ext uri="{FF2B5EF4-FFF2-40B4-BE49-F238E27FC236}">
                <a16:creationId xmlns:a16="http://schemas.microsoft.com/office/drawing/2014/main" id="{34DADCA6-8D4A-40AF-9E6A-A0667512FC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695450"/>
            <a:ext cx="5543550" cy="1647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E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text-65-205">
            <a:extLst xmlns:a="http://schemas.openxmlformats.org/drawingml/2006/main">
              <a:ext uri="{FF2B5EF4-FFF2-40B4-BE49-F238E27FC236}">
                <a16:creationId xmlns:a16="http://schemas.microsoft.com/office/drawing/2014/main" id="{E9B7EEC2-482C-4C95-946A-9AA2DB6F54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952625"/>
            <a:ext cx="428625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2B59C3"/>
                </a:solidFill>
                <a:latin typeface="Arial"/>
                <a:ea typeface="Arial"/>
                <a:cs typeface="Arial"/>
              </a:defRPr>
            </a:pPr>
            <a:r>
              <a:t>✓</a:t>
            </a:r>
          </a:p>
        </p:txBody>
      </p:sp>
      <p:sp>
        <p:nvSpPr>
          <p:cNvPr id="8" name="text-125-206">
            <a:extLst xmlns:a="http://schemas.openxmlformats.org/drawingml/2006/main">
              <a:ext uri="{FF2B5EF4-FFF2-40B4-BE49-F238E27FC236}">
                <a16:creationId xmlns:a16="http://schemas.microsoft.com/office/drawing/2014/main" id="{32701ADB-7F3C-4D1D-8612-1157E9F3D2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1962150"/>
            <a:ext cx="43815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Výsledek</a:t>
            </a:r>
          </a:p>
        </p:txBody>
      </p:sp>
      <p:sp>
        <p:nvSpPr>
          <p:cNvPr id="9" name="text-125-255">
            <a:extLst xmlns:a="http://schemas.openxmlformats.org/drawingml/2006/main">
              <a:ext uri="{FF2B5EF4-FFF2-40B4-BE49-F238E27FC236}">
                <a16:creationId xmlns:a16="http://schemas.microsoft.com/office/drawing/2014/main" id="{337F78C2-A3F0-4752-A808-CE019FE634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2428875"/>
            <a:ext cx="438150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Student správně roztřídí autentizační prvky a navrhne alespoň jednu skutečnou kombinaci 2FA.</a:t>
            </a:r>
          </a:p>
        </p:txBody>
      </p:sp>
      <p:sp>
        <p:nvSpPr>
          <p:cNvPr id="10" name="check-2">
            <a:extLst xmlns:a="http://schemas.openxmlformats.org/drawingml/2006/main">
              <a:ext uri="{FF2B5EF4-FFF2-40B4-BE49-F238E27FC236}">
                <a16:creationId xmlns:a16="http://schemas.microsoft.com/office/drawing/2014/main" id="{C54F7572-5B84-4B14-8DD1-5C43958E8E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1695450"/>
            <a:ext cx="5543550" cy="1647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1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text-681-205">
            <a:extLst xmlns:a="http://schemas.openxmlformats.org/drawingml/2006/main">
              <a:ext uri="{FF2B5EF4-FFF2-40B4-BE49-F238E27FC236}">
                <a16:creationId xmlns:a16="http://schemas.microsoft.com/office/drawing/2014/main" id="{A25EB7F3-19BD-460E-8B5C-D0CF426252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86525" y="1952625"/>
            <a:ext cx="428625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2B59C3"/>
                </a:solidFill>
                <a:latin typeface="Arial"/>
                <a:ea typeface="Arial"/>
                <a:cs typeface="Arial"/>
              </a:defRPr>
            </a:pPr>
            <a:r>
              <a:t>✓</a:t>
            </a:r>
          </a:p>
        </p:txBody>
      </p:sp>
      <p:sp>
        <p:nvSpPr>
          <p:cNvPr id="12" name="text-741-206">
            <a:extLst xmlns:a="http://schemas.openxmlformats.org/drawingml/2006/main">
              <a:ext uri="{FF2B5EF4-FFF2-40B4-BE49-F238E27FC236}">
                <a16:creationId xmlns:a16="http://schemas.microsoft.com/office/drawing/2014/main" id="{F5CABCE8-041B-4A23-92FB-82A3703D27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58025" y="1962150"/>
            <a:ext cx="43815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Důvod</a:t>
            </a:r>
          </a:p>
        </p:txBody>
      </p:sp>
      <p:sp>
        <p:nvSpPr>
          <p:cNvPr id="13" name="text-741-255">
            <a:extLst xmlns:a="http://schemas.openxmlformats.org/drawingml/2006/main">
              <a:ext uri="{FF2B5EF4-FFF2-40B4-BE49-F238E27FC236}">
                <a16:creationId xmlns:a16="http://schemas.microsoft.com/office/drawing/2014/main" id="{4B033283-15B2-41C2-A9B0-173709905F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58025" y="2428875"/>
            <a:ext cx="438150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Proč dvě tajné informace nemusí znamenat dva různé faktory?</a:t>
            </a:r>
          </a:p>
        </p:txBody>
      </p:sp>
      <p:sp>
        <p:nvSpPr>
          <p:cNvPr id="14" name="check-3">
            <a:extLst xmlns:a="http://schemas.openxmlformats.org/drawingml/2006/main">
              <a:ext uri="{FF2B5EF4-FFF2-40B4-BE49-F238E27FC236}">
                <a16:creationId xmlns:a16="http://schemas.microsoft.com/office/drawing/2014/main" id="{CC55449B-64C7-46E5-B555-0943FA2311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781425"/>
            <a:ext cx="5543550" cy="1647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1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text-65-424">
            <a:extLst xmlns:a="http://schemas.openxmlformats.org/drawingml/2006/main">
              <a:ext uri="{FF2B5EF4-FFF2-40B4-BE49-F238E27FC236}">
                <a16:creationId xmlns:a16="http://schemas.microsoft.com/office/drawing/2014/main" id="{44B2BE1F-13B2-40C2-8B68-18D3E12CA7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4038600"/>
            <a:ext cx="428625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2B59C3"/>
                </a:solidFill>
                <a:latin typeface="Arial"/>
                <a:ea typeface="Arial"/>
                <a:cs typeface="Arial"/>
              </a:defRPr>
            </a:pPr>
            <a:r>
              <a:t>✓</a:t>
            </a:r>
          </a:p>
        </p:txBody>
      </p:sp>
      <p:sp>
        <p:nvSpPr>
          <p:cNvPr id="16" name="text-125-425">
            <a:extLst xmlns:a="http://schemas.openxmlformats.org/drawingml/2006/main">
              <a:ext uri="{FF2B5EF4-FFF2-40B4-BE49-F238E27FC236}">
                <a16:creationId xmlns:a16="http://schemas.microsoft.com/office/drawing/2014/main" id="{D3791800-A7EF-4CBB-9E8F-E4730CD8F5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4048125"/>
            <a:ext cx="43815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Ověření</a:t>
            </a:r>
          </a:p>
        </p:txBody>
      </p:sp>
      <p:sp>
        <p:nvSpPr>
          <p:cNvPr id="17" name="text-125-474">
            <a:extLst xmlns:a="http://schemas.openxmlformats.org/drawingml/2006/main">
              <a:ext uri="{FF2B5EF4-FFF2-40B4-BE49-F238E27FC236}">
                <a16:creationId xmlns:a16="http://schemas.microsoft.com/office/drawing/2014/main" id="{8B580024-0E0C-4BED-9424-E90BB3D6D3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4514850"/>
            <a:ext cx="438150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Co se stane, když ztratíš telefon s autentizační aplikací?</a:t>
            </a:r>
          </a:p>
        </p:txBody>
      </p:sp>
      <p:sp>
        <p:nvSpPr>
          <p:cNvPr id="18" name="check-4">
            <a:extLst xmlns:a="http://schemas.openxmlformats.org/drawingml/2006/main">
              <a:ext uri="{FF2B5EF4-FFF2-40B4-BE49-F238E27FC236}">
                <a16:creationId xmlns:a16="http://schemas.microsoft.com/office/drawing/2014/main" id="{6D12A28D-70B7-4D17-845A-4CBBDD45AD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3781425"/>
            <a:ext cx="5543550" cy="1647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1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text-681-424">
            <a:extLst xmlns:a="http://schemas.openxmlformats.org/drawingml/2006/main">
              <a:ext uri="{FF2B5EF4-FFF2-40B4-BE49-F238E27FC236}">
                <a16:creationId xmlns:a16="http://schemas.microsoft.com/office/drawing/2014/main" id="{95BEC591-A0A8-4E27-A389-EAF7DFC5B4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86525" y="4038600"/>
            <a:ext cx="428625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2B59C3"/>
                </a:solidFill>
                <a:latin typeface="Arial"/>
                <a:ea typeface="Arial"/>
                <a:cs typeface="Arial"/>
              </a:defRPr>
            </a:pPr>
            <a:r>
              <a:t>✓</a:t>
            </a:r>
          </a:p>
        </p:txBody>
      </p:sp>
      <p:sp>
        <p:nvSpPr>
          <p:cNvPr id="20" name="text-741-425">
            <a:extLst xmlns:a="http://schemas.openxmlformats.org/drawingml/2006/main">
              <a:ext uri="{FF2B5EF4-FFF2-40B4-BE49-F238E27FC236}">
                <a16:creationId xmlns:a16="http://schemas.microsoft.com/office/drawing/2014/main" id="{B833306D-3E4F-471E-9F7E-5F55B589CB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58025" y="4048125"/>
            <a:ext cx="43815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Bezpečný krok</a:t>
            </a:r>
          </a:p>
        </p:txBody>
      </p:sp>
      <p:sp>
        <p:nvSpPr>
          <p:cNvPr id="21" name="text-741-474">
            <a:extLst xmlns:a="http://schemas.openxmlformats.org/drawingml/2006/main">
              <a:ext uri="{FF2B5EF4-FFF2-40B4-BE49-F238E27FC236}">
                <a16:creationId xmlns:a16="http://schemas.microsoft.com/office/drawing/2014/main" id="{DFE6CD1F-F04F-414D-A16B-251E471058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58025" y="4514850"/>
            <a:ext cx="438150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Kde mají být záložní kódy, aby nebyly současně se ztraceným zařízením?</a:t>
            </a:r>
          </a:p>
        </p:txBody>
      </p:sp>
    </p:spTree>
    <p:extLst>
      <p:ext uri="{BB962C8B-B14F-4D97-AF65-F5344CB8AC3E}">
        <p14:creationId xmlns:p14="http://schemas.microsoft.com/office/powerpoint/2010/main" val="1680094694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ext-41-34">
            <a:extLst xmlns:a="http://schemas.openxmlformats.org/drawingml/2006/main">
              <a:ext uri="{FF2B5EF4-FFF2-40B4-BE49-F238E27FC236}">
                <a16:creationId xmlns:a16="http://schemas.microsoft.com/office/drawing/2014/main" id="{AFD38693-300F-41D4-9C25-727FC222C2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23850"/>
            <a:ext cx="33337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B59C3"/>
                </a:solidFill>
                <a:latin typeface="Arial"/>
                <a:ea typeface="Arial"/>
                <a:cs typeface="Arial"/>
              </a:defRPr>
            </a:pPr>
            <a:r>
              <a:t>32–41 MIN · SPOLEČNĚ</a:t>
            </a:r>
          </a:p>
        </p:txBody>
      </p:sp>
      <p:sp>
        <p:nvSpPr>
          <p:cNvPr id="2" name="text-41-73">
            <a:extLst xmlns:a="http://schemas.openxmlformats.org/drawingml/2006/main">
              <a:ext uri="{FF2B5EF4-FFF2-40B4-BE49-F238E27FC236}">
                <a16:creationId xmlns:a16="http://schemas.microsoft.com/office/drawing/2014/main" id="{D73A4807-799F-44B1-A825-E32644E6DC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95325"/>
            <a:ext cx="114109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Co by měla dobrá odpověď obsahovat</a:t>
            </a:r>
          </a:p>
        </p:txBody>
      </p:sp>
      <p:sp>
        <p:nvSpPr>
          <p:cNvPr id="3" name="footer-rule-6">
            <a:extLst xmlns:a="http://schemas.openxmlformats.org/drawingml/2006/main">
              <a:ext uri="{FF2B5EF4-FFF2-40B4-BE49-F238E27FC236}">
                <a16:creationId xmlns:a16="http://schemas.microsoft.com/office/drawing/2014/main" id="{20B550DB-AAB7-41A1-9BE6-9E51404DC3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276975"/>
            <a:ext cx="114109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59C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text-41-672">
            <a:extLst xmlns:a="http://schemas.openxmlformats.org/drawingml/2006/main">
              <a:ext uri="{FF2B5EF4-FFF2-40B4-BE49-F238E27FC236}">
                <a16:creationId xmlns:a16="http://schemas.microsoft.com/office/drawing/2014/main" id="{0071243F-A0A9-450C-AA5A-20AEDBF037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400800"/>
            <a:ext cx="47625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INTERNET · BEZPEČNOST · INFORMACE</a:t>
            </a:r>
          </a:p>
        </p:txBody>
      </p:sp>
      <p:sp>
        <p:nvSpPr>
          <p:cNvPr id="5" name="text-1050-672">
            <a:extLst xmlns:a="http://schemas.openxmlformats.org/drawingml/2006/main">
              <a:ext uri="{FF2B5EF4-FFF2-40B4-BE49-F238E27FC236}">
                <a16:creationId xmlns:a16="http://schemas.microsoft.com/office/drawing/2014/main" id="{C4A58CF8-E058-45DF-AD76-BBD7FB740A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6400800"/>
            <a:ext cx="1800225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HODINA 2  /  6</a:t>
            </a:r>
          </a:p>
        </p:txBody>
      </p:sp>
      <p:sp>
        <p:nvSpPr>
          <p:cNvPr id="6" name="text-41-171">
            <a:extLst xmlns:a="http://schemas.openxmlformats.org/drawingml/2006/main">
              <a:ext uri="{FF2B5EF4-FFF2-40B4-BE49-F238E27FC236}">
                <a16:creationId xmlns:a16="http://schemas.microsoft.com/office/drawing/2014/main" id="{7F617964-4E6F-411B-A571-F10F6EB4FE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628775"/>
            <a:ext cx="504825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B59C3"/>
                </a:solidFill>
                <a:latin typeface="Arial"/>
                <a:ea typeface="Arial"/>
                <a:cs typeface="Arial"/>
              </a:defRPr>
            </a:pPr>
            <a:r>
              <a:t>PODLOŽENÝ ZÁVĚR</a:t>
            </a:r>
          </a:p>
        </p:txBody>
      </p:sp>
      <p:sp>
        <p:nvSpPr>
          <p:cNvPr id="7" name="text-41-224">
            <a:extLst xmlns:a="http://schemas.openxmlformats.org/drawingml/2006/main">
              <a:ext uri="{FF2B5EF4-FFF2-40B4-BE49-F238E27FC236}">
                <a16:creationId xmlns:a16="http://schemas.microsoft.com/office/drawing/2014/main" id="{1355F623-6CF7-4668-8862-B114D24623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2133600"/>
            <a:ext cx="200025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Silné heslo</a:t>
            </a:r>
          </a:p>
        </p:txBody>
      </p:sp>
      <p:sp>
        <p:nvSpPr>
          <p:cNvPr id="8" name="text-264-224">
            <a:extLst xmlns:a="http://schemas.openxmlformats.org/drawingml/2006/main">
              <a:ext uri="{FF2B5EF4-FFF2-40B4-BE49-F238E27FC236}">
                <a16:creationId xmlns:a16="http://schemas.microsoft.com/office/drawing/2014/main" id="{520EDF55-83E6-4F79-831B-3BAD7D4230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2133600"/>
            <a:ext cx="3238500" cy="742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Je dlouhé, unikátní a nepředvídatelné; nesmí být známým citátem ani osobním údajem.</a:t>
            </a:r>
          </a:p>
        </p:txBody>
      </p:sp>
      <p:sp>
        <p:nvSpPr>
          <p:cNvPr id="9" name="text-41-336">
            <a:extLst xmlns:a="http://schemas.openxmlformats.org/drawingml/2006/main">
              <a:ext uri="{FF2B5EF4-FFF2-40B4-BE49-F238E27FC236}">
                <a16:creationId xmlns:a16="http://schemas.microsoft.com/office/drawing/2014/main" id="{4DE88615-EE18-439A-9676-72AB98023E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200400"/>
            <a:ext cx="200025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Správce hesel</a:t>
            </a:r>
          </a:p>
        </p:txBody>
      </p:sp>
      <p:sp>
        <p:nvSpPr>
          <p:cNvPr id="10" name="text-264-336">
            <a:extLst xmlns:a="http://schemas.openxmlformats.org/drawingml/2006/main">
              <a:ext uri="{FF2B5EF4-FFF2-40B4-BE49-F238E27FC236}">
                <a16:creationId xmlns:a16="http://schemas.microsoft.com/office/drawing/2014/main" id="{BE35EEB0-BB8F-493F-9067-3F7A590369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3200400"/>
            <a:ext cx="3238500" cy="742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Pomáhá vytvářet a ukládat odlišná hesla; hlavní účet správce musí být dobře chráněn.</a:t>
            </a:r>
          </a:p>
        </p:txBody>
      </p:sp>
      <p:sp>
        <p:nvSpPr>
          <p:cNvPr id="11" name="text-41-448">
            <a:extLst xmlns:a="http://schemas.openxmlformats.org/drawingml/2006/main">
              <a:ext uri="{FF2B5EF4-FFF2-40B4-BE49-F238E27FC236}">
                <a16:creationId xmlns:a16="http://schemas.microsoft.com/office/drawing/2014/main" id="{34A87D20-58EC-4E3B-A659-E4C319B4AC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4267200"/>
            <a:ext cx="200025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Faktor znám</a:t>
            </a:r>
          </a:p>
        </p:txBody>
      </p:sp>
      <p:sp>
        <p:nvSpPr>
          <p:cNvPr id="12" name="text-264-448">
            <a:extLst xmlns:a="http://schemas.openxmlformats.org/drawingml/2006/main">
              <a:ext uri="{FF2B5EF4-FFF2-40B4-BE49-F238E27FC236}">
                <a16:creationId xmlns:a16="http://schemas.microsoft.com/office/drawing/2014/main" id="{BFD71C87-67EB-44DD-AB74-52DA2DF1B6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4267200"/>
            <a:ext cx="3238500" cy="742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Heslo a PIN.</a:t>
            </a:r>
          </a:p>
        </p:txBody>
      </p:sp>
      <p:sp>
        <p:nvSpPr>
          <p:cNvPr id="13" name="misconception-panel">
            <a:extLst xmlns:a="http://schemas.openxmlformats.org/drawingml/2006/main">
              <a:ext uri="{FF2B5EF4-FFF2-40B4-BE49-F238E27FC236}">
                <a16:creationId xmlns:a16="http://schemas.microsoft.com/office/drawing/2014/main" id="{836CDE05-4682-41C6-B746-E07BDA5338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1628775"/>
            <a:ext cx="5543550" cy="3486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E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text-691-203">
            <a:extLst xmlns:a="http://schemas.openxmlformats.org/drawingml/2006/main">
              <a:ext uri="{FF2B5EF4-FFF2-40B4-BE49-F238E27FC236}">
                <a16:creationId xmlns:a16="http://schemas.microsoft.com/office/drawing/2014/main" id="{7A7AFDC6-17DB-4F12-9841-E5F984B05A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1775" y="1933575"/>
            <a:ext cx="47625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B59C3"/>
                </a:solidFill>
                <a:latin typeface="Arial"/>
                <a:ea typeface="Arial"/>
                <a:cs typeface="Arial"/>
              </a:defRPr>
            </a:pPr>
            <a:r>
              <a:t>POZOR NA ZKRATKU</a:t>
            </a:r>
          </a:p>
        </p:txBody>
      </p:sp>
      <p:sp>
        <p:nvSpPr>
          <p:cNvPr id="15" name="text-691-263">
            <a:extLst xmlns:a="http://schemas.openxmlformats.org/drawingml/2006/main">
              <a:ext uri="{FF2B5EF4-FFF2-40B4-BE49-F238E27FC236}">
                <a16:creationId xmlns:a16="http://schemas.microsoft.com/office/drawing/2014/main" id="{1503A5B5-BF85-4EBC-9DC9-21644ED097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1775" y="2505075"/>
            <a:ext cx="4667250" cy="781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„Heslo + PIN je 2FA.“</a:t>
            </a:r>
          </a:p>
        </p:txBody>
      </p:sp>
      <p:sp>
        <p:nvSpPr>
          <p:cNvPr id="16" name="text-691-382">
            <a:extLst xmlns:a="http://schemas.openxmlformats.org/drawingml/2006/main">
              <a:ext uri="{FF2B5EF4-FFF2-40B4-BE49-F238E27FC236}">
                <a16:creationId xmlns:a16="http://schemas.microsoft.com/office/drawing/2014/main" id="{0487EDA3-D315-473C-9DAE-DDFE4954D2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1775" y="3638550"/>
            <a:ext cx="4667250" cy="1066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Obojí patří do faktoru znám; pro 2FA je třeba odlišný typ faktoru.</a:t>
            </a:r>
          </a:p>
        </p:txBody>
      </p:sp>
      <p:sp>
        <p:nvSpPr>
          <p:cNvPr id="17" name="text-41-576">
            <a:extLst xmlns:a="http://schemas.openxmlformats.org/drawingml/2006/main">
              <a:ext uri="{FF2B5EF4-FFF2-40B4-BE49-F238E27FC236}">
                <a16:creationId xmlns:a16="http://schemas.microsoft.com/office/drawing/2014/main" id="{87A8A077-1F92-455E-A773-A94D68B659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5486400"/>
            <a:ext cx="11410950" cy="5048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Vrať se k úvodnímu rozhodnutí. Co bys teď změnil — a proč?</a:t>
            </a:r>
          </a:p>
        </p:txBody>
      </p:sp>
    </p:spTree>
    <p:extLst>
      <p:ext uri="{BB962C8B-B14F-4D97-AF65-F5344CB8AC3E}">
        <p14:creationId xmlns:p14="http://schemas.microsoft.com/office/powerpoint/2010/main" val="18014737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accent-rail">
            <a:extLst xmlns:a="http://schemas.openxmlformats.org/drawingml/2006/main">
              <a:ext uri="{FF2B5EF4-FFF2-40B4-BE49-F238E27FC236}">
                <a16:creationId xmlns:a16="http://schemas.microsoft.com/office/drawing/2014/main" id="{C2CB60EE-6B3E-4E38-A37F-2577257DAD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2095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59C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text-54-48">
            <a:extLst xmlns:a="http://schemas.openxmlformats.org/drawingml/2006/main">
              <a:ext uri="{FF2B5EF4-FFF2-40B4-BE49-F238E27FC236}">
                <a16:creationId xmlns:a16="http://schemas.microsoft.com/office/drawing/2014/main" id="{227CE039-026D-499B-BFCF-950BA6E14C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57200"/>
            <a:ext cx="47625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B59C3"/>
                </a:solidFill>
                <a:latin typeface="Arial"/>
                <a:ea typeface="Arial"/>
                <a:cs typeface="Arial"/>
              </a:defRPr>
            </a:pPr>
            <a:r>
              <a:t>HODINA 2 · POSLEDNÍ 4 MINUTY</a:t>
            </a:r>
          </a:p>
        </p:txBody>
      </p:sp>
      <p:sp>
        <p:nvSpPr>
          <p:cNvPr id="3" name="text-54-154">
            <a:extLst xmlns:a="http://schemas.openxmlformats.org/drawingml/2006/main">
              <a:ext uri="{FF2B5EF4-FFF2-40B4-BE49-F238E27FC236}">
                <a16:creationId xmlns:a16="http://schemas.microsoft.com/office/drawing/2014/main" id="{1C32DEE4-26A7-4DDB-BEA0-C9875A3AB7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466850"/>
            <a:ext cx="5810250" cy="704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7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Exit ticket</a:t>
            </a:r>
          </a:p>
        </p:txBody>
      </p:sp>
      <p:sp>
        <p:nvSpPr>
          <p:cNvPr id="4" name="text-54-278">
            <a:extLst xmlns:a="http://schemas.openxmlformats.org/drawingml/2006/main">
              <a:ext uri="{FF2B5EF4-FFF2-40B4-BE49-F238E27FC236}">
                <a16:creationId xmlns:a16="http://schemas.microsoft.com/office/drawing/2014/main" id="{7F806F37-A4A6-4A43-8A1E-216F6293FC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47950"/>
            <a:ext cx="10477500" cy="1676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Uveď jednu platnou dvojici 2FA a napiš, ke kterým dvěma faktorům patří.</a:t>
            </a:r>
          </a:p>
        </p:txBody>
      </p:sp>
      <p:sp>
        <p:nvSpPr>
          <p:cNvPr id="5" name="exit-line">
            <a:extLst xmlns:a="http://schemas.openxmlformats.org/drawingml/2006/main">
              <a:ext uri="{FF2B5EF4-FFF2-40B4-BE49-F238E27FC236}">
                <a16:creationId xmlns:a16="http://schemas.microsoft.com/office/drawing/2014/main" id="{FD2E5DEE-4F77-4F98-8E10-4290DF73B5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857750"/>
            <a:ext cx="105727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59C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text-54-544">
            <a:extLst xmlns:a="http://schemas.openxmlformats.org/drawingml/2006/main">
              <a:ext uri="{FF2B5EF4-FFF2-40B4-BE49-F238E27FC236}">
                <a16:creationId xmlns:a16="http://schemas.microsoft.com/office/drawing/2014/main" id="{E05D95BC-290F-438F-8824-B94709C22B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181600"/>
            <a:ext cx="9144000" cy="5810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Odpověz samostatně jednou až třemi větami. Uveď konkrétní krok nebo důvod.</a:t>
            </a:r>
          </a:p>
        </p:txBody>
      </p:sp>
      <p:sp>
        <p:nvSpPr>
          <p:cNvPr id="7" name="text-1070-548">
            <a:extLst xmlns:a="http://schemas.openxmlformats.org/drawingml/2006/main">
              <a:ext uri="{FF2B5EF4-FFF2-40B4-BE49-F238E27FC236}">
                <a16:creationId xmlns:a16="http://schemas.microsoft.com/office/drawing/2014/main" id="{01C2907B-26E0-4A02-9139-EF5DD2C743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1750" y="5219700"/>
            <a:ext cx="895350" cy="628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3300" b="1">
                <a:solidFill>
                  <a:srgbClr val="2B59C3"/>
                </a:solidFill>
                <a:latin typeface="Arial"/>
                <a:ea typeface="Arial"/>
                <a:cs typeface="Arial"/>
              </a:defRPr>
            </a:pPr>
            <a: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72646082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creator>Karel Hlas</dc:creator>
  <cp:lastModifiedBy>Karel Hlas</cp:lastModifiedBy>
  <dc:title>Presentation</dc:title>
  <dcterms:created xsi:type="dcterms:W3CDTF">2026-07-24T00:00:00Z</dcterms:created>
  <dcterms:modified xsi:type="dcterms:W3CDTF">2026-07-24T00:00:00Z</dcterms:modified>
  <dc:description/>
</cp:coreProperties>
</file>