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41b88135284a26" /><Relationship Type="http://schemas.openxmlformats.org/officeDocument/2006/relationships/extended-properties" Target="/docProps/app.xml" Id="Rc4bfa2a4c7694324" /><Relationship Type="http://schemas.openxmlformats.org/officeDocument/2006/relationships/officeDocument" Target="/ppt/presentation.xml" Id="Rbcd3943d56444f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eabf94848d4b39"/>
  </p:sldMasterIdLst>
  <p:notesMasterIdLst>
    <p:notesMasterId xmlns:r="http://schemas.openxmlformats.org/officeDocument/2006/relationships" r:id="R17d8fbafb25041bc"/>
  </p:notesMasterIdLst>
  <p:sldIdLst>
    <p:sldId xmlns:r="http://schemas.openxmlformats.org/officeDocument/2006/relationships" id="256" r:id="Rcbb9d582df7f422d"/>
    <p:sldId xmlns:r="http://schemas.openxmlformats.org/officeDocument/2006/relationships" id="257" r:id="Rd6a1f837089845d3"/>
    <p:sldId xmlns:r="http://schemas.openxmlformats.org/officeDocument/2006/relationships" id="258" r:id="R4c7fdc4775874ffc"/>
    <p:sldId xmlns:r="http://schemas.openxmlformats.org/officeDocument/2006/relationships" id="259" r:id="R9c324d1fc8c0438d"/>
    <p:sldId xmlns:r="http://schemas.openxmlformats.org/officeDocument/2006/relationships" id="260" r:id="R7a6c4d418b1847cb"/>
    <p:sldId xmlns:r="http://schemas.openxmlformats.org/officeDocument/2006/relationships" id="261" r:id="Re8b9f95e9873465c"/>
    <p:sldId xmlns:r="http://schemas.openxmlformats.org/officeDocument/2006/relationships" id="262" r:id="R845565a038644f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9009467b004740" /><Relationship Type="http://schemas.openxmlformats.org/officeDocument/2006/relationships/slideMaster" Target="/ppt/slideMasters/slideMaster1.xml" Id="Rceeabf94848d4b39" /><Relationship Type="http://schemas.openxmlformats.org/officeDocument/2006/relationships/notesMaster" Target="/ppt/notesMasters/notesMaster1.xml" Id="R17d8fbafb25041bc" /><Relationship Type="http://schemas.openxmlformats.org/officeDocument/2006/relationships/presProps" Target="/ppt/presProps.xml" Id="Re2fddf1281b142c7" /><Relationship Type="http://schemas.openxmlformats.org/officeDocument/2006/relationships/tableStyles" Target="/ppt/tableStyles.xml" Id="R7f2c24feba2b4451" /><Relationship Type="http://schemas.openxmlformats.org/officeDocument/2006/relationships/slide" Target="/ppt/slides/slide1.xml" Id="Rcbb9d582df7f422d" /><Relationship Type="http://schemas.openxmlformats.org/officeDocument/2006/relationships/slide" Target="/ppt/slides/slide2.xml" Id="Rd6a1f837089845d3" /><Relationship Type="http://schemas.openxmlformats.org/officeDocument/2006/relationships/slide" Target="/ppt/slides/slide3.xml" Id="R4c7fdc4775874ffc" /><Relationship Type="http://schemas.openxmlformats.org/officeDocument/2006/relationships/slide" Target="/ppt/slides/slide4.xml" Id="R9c324d1fc8c0438d" /><Relationship Type="http://schemas.openxmlformats.org/officeDocument/2006/relationships/slide" Target="/ppt/slides/slide5.xml" Id="R7a6c4d418b1847cb" /><Relationship Type="http://schemas.openxmlformats.org/officeDocument/2006/relationships/slide" Target="/ppt/slides/slide6.xml" Id="Re8b9f95e9873465c" /><Relationship Type="http://schemas.openxmlformats.org/officeDocument/2006/relationships/slide" Target="/ppt/slides/slide7.xml" Id="R845565a03864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75cfcad6ea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4fb80c4054d89" /><Relationship Type="http://schemas.openxmlformats.org/officeDocument/2006/relationships/notesMaster" Target="/ppt/notesMasters/notesMaster1.xml" Id="R054dc546ff4e48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1e6d4fa264e2e" /><Relationship Type="http://schemas.openxmlformats.org/officeDocument/2006/relationships/notesMaster" Target="/ppt/notesMasters/notesMaster1.xml" Id="R0c09e13912da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030805cbe480e" /><Relationship Type="http://schemas.openxmlformats.org/officeDocument/2006/relationships/notesMaster" Target="/ppt/notesMasters/notesMaster1.xml" Id="R7b13f06ec31848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d78982f424fba" /><Relationship Type="http://schemas.openxmlformats.org/officeDocument/2006/relationships/notesMaster" Target="/ppt/notesMasters/notesMaster1.xml" Id="R1719565cf7d042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b3fefd5c3462e" /><Relationship Type="http://schemas.openxmlformats.org/officeDocument/2006/relationships/notesMaster" Target="/ppt/notesMasters/notesMaster1.xml" Id="Rb95653a2a44b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ff4b293cb4f43" /><Relationship Type="http://schemas.openxmlformats.org/officeDocument/2006/relationships/notesMaster" Target="/ppt/notesMasters/notesMaster1.xml" Id="Ra8618d1385b247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1e6da6656f464b" /><Relationship Type="http://schemas.openxmlformats.org/officeDocument/2006/relationships/notesMaster" Target="/ppt/notesMasters/notesMaster1.xml" Id="Rb8ccbd12d2de47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vysvětlí význam unikátního hesla, rozliší faktory znám–mám–jsem a navrhne bezpečnou obnovu účtu.</a:t>
            </a:r>
          </a:p>
          <a:p xmlns:a="http://schemas.openxmlformats.org/drawingml/2006/main">
            <a:r>
              <a:t>Soubory: Digitální pracovní sešit, 2. Účty a faktory ověření.csv</a:t>
            </a:r>
          </a:p>
          <a:p xmlns:a="http://schemas.openxmlformats.org/drawingml/2006/main">
            <a:r>
              <a:t>Výstup: Model ochrany školního e-mailu, sociální sítě a herního účtu.</a:t>
            </a:r>
          </a:p>
          <a:p xmlns:a="http://schemas.openxmlformats.org/drawingml/2006/main">
            <a:r>
              <a:t>Před otevřením dalšího snímku stručně uveďte téma a nechte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Řetězová škoda po úniku.</a:t>
            </a:r>
          </a:p>
          <a:p xmlns:a="http://schemas.openxmlformats.org/drawingml/2006/main">
            <a:r>
              <a:t>Postup učitele: Ptejte se, které další účty ohrozí jedno opakované heslo.</a:t>
            </a:r>
          </a:p>
          <a:p xmlns:a="http://schemas.openxmlformats.org/drawingml/2006/main">
            <a:r>
              <a:t>Otázka pro studenty: Jedno heslo uniklo. Kolik účtů je teď v ohrožení?</a:t>
            </a:r>
          </a:p>
          <a:p xmlns:a="http://schemas.openxmlformats.org/drawingml/2006/main">
            <a:r>
              <a:t>Neprozrazujte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5–12 minut.</a:t>
            </a:r>
          </a:p>
          <a:p xmlns:a="http://schemas.openxmlformats.org/drawingml/2006/main">
            <a:r>
              <a:t>Činnost: Heslová fráze a správce hesel.</a:t>
            </a:r>
          </a:p>
          <a:p xmlns:a="http://schemas.openxmlformats.org/drawingml/2006/main">
            <a:r>
              <a:t>Postup učitele: Zdůrazněte délku, jedinečnost a nepředvídatelnost.</a:t>
            </a:r>
          </a:p>
          <a:p xmlns:a="http://schemas.openxmlformats.org/drawingml/2006/main">
            <a:r>
              <a:t>Klíčové závěry: Silné heslo: Je dlouhé, unikátní a nepředvídatelné; nesmí být známým citátem ani osobním údajem. | Správce hesel: Pomáhá vytvářet a ukládat odlišná hesla; hlavní účet správce musí být dobře chráněn. | Faktor znám: Heslo a PIN.</a:t>
            </a:r>
          </a:p>
          <a:p xmlns:a="http://schemas.openxmlformats.org/drawingml/2006/main">
            <a:r>
              <a:t>Nechte studenty doplnit příklad ke každému bodu. Přechod k aktivitě proveďte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Digitální pracovní sešit, 2. Účty a faktory ověření.csv</a:t>
            </a:r>
          </a:p>
          <a:p xmlns:a="http://schemas.openxmlformats.org/drawingml/2006/main">
            <a:r>
              <a:t>12–22 min – Posouzení modelových hesel: Nehodnoťte heslo pouze podle přítomnosti speciálního znaku.</a:t>
            </a:r>
          </a:p>
          <a:p xmlns:a="http://schemas.openxmlformats.org/drawingml/2006/main">
            <a:r>
              <a:t>22–32 min – Třídění faktorů v CSV: Dvojice přiřazují znám–mám–jsem a obhajují sporné příklady.</a:t>
            </a:r>
          </a:p>
          <a:p xmlns:a="http://schemas.openxmlformats.org/drawingml/2006/main">
            <a:r>
              <a:t>32–41 min – Návrh ochrany tří účtů: Požadujte přihlášení, druhý faktor i způsob obnovy.</a:t>
            </a:r>
          </a:p>
          <a:p xmlns:a="http://schemas.openxmlformats.org/drawingml/2006/main">
            <a:r>
              <a:t>Požadovaný výstup: Model ochrany školního e-mailu, sociální sítě a herního účtu.</a:t>
            </a:r>
          </a:p>
          <a:p xmlns:a="http://schemas.openxmlformats.org/drawingml/2006/main">
            <a:r>
              <a:t>Během práce nepřebírejte myš za studenta. Pomáhejte otázkami z dalšího snímku a žádejte,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správně roztřídí autentizační prvky a navrhne alespoň jednu skutečnou kombinaci 2FA.</a:t>
            </a:r>
          </a:p>
          <a:p xmlns:a="http://schemas.openxmlformats.org/drawingml/2006/main">
            <a:r>
              <a:t>Vodicí otázky: Proč dvě tajné informace nemusí znamenat dva různé faktory? | Co se stane, když ztratíš telefon s autentizační aplikací? | Kde mají být záložní kódy, aby nebyly současně se ztraceným zařízením?</a:t>
            </a:r>
          </a:p>
          <a:p xmlns:a="http://schemas.openxmlformats.org/drawingml/2006/main">
            <a:r>
              <a:t>Podpora: Nabídněte kartičky s nadpisy znám, mám a jsem; student pouze přesouvá připravené příklady.</a:t>
            </a:r>
          </a:p>
          <a:p xmlns:a="http://schemas.openxmlformats.org/drawingml/2006/main">
            <a:r>
              <a:t>Rozšíření: Porovnejte SMS kód, autentizační aplikaci a bezpečnostní klíč z hlediska pohodlí, obnovy a odolnosti proti phishingu.</a:t>
            </a:r>
          </a:p>
          <a:p xmlns:a="http://schemas.openxmlformats.org/drawingml/2006/main">
            <a:r>
              <a:t>Pro rychlou mezikontrolu nechte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Silné heslo: Je dlouhé, unikátní a nepředvídatelné; nesmí být známým citátem ani osobním údajem. | Správce hesel: Pomáhá vytvářet a ukládat odlišná hesla; hlavní účet správce musí být dobře chráněn. | Faktor znám: Heslo a PIN. | Faktor mám: Telefon s autentizační aplikací, bezpečnostní klíč nebo jiné držené zařízení. | Faktor jsem: Otisk prstu nebo jiná biometrie. | Obnova: Záložní kódy uložené odděleně, aktuální obnovovací údaje a známý postup poskytovatele.</a:t>
            </a:r>
          </a:p>
          <a:p xmlns:a="http://schemas.openxmlformats.org/drawingml/2006/main">
            <a:r>
              <a:t>Časté chyby a intervence: „Heslo + PIN je 2FA.“ → Obojí patří do faktoru znám; pro 2FA je třeba odlišný typ faktoru. | „Biometrie je heslo, které lze změnit.“ → Biometrický údaj nelze jednoduše nahradit; zařízení obvykle ukládá jeho šablonu. | „Nejsilnější je co nejvíce znaků.“ → Délka nepomůže, pokud je heslo známé, opakované nebo předvídatelné.</a:t>
            </a:r>
          </a:p>
          <a:p xmlns:a="http://schemas.openxmlformats.org/drawingml/2006/main">
            <a:r>
              <a:t>Nečtěte celý klíč. Vyberte dva studentské postupy, které vedou k odlišným závěrům, a nechte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Uveď jednu platnou dvojici 2FA a napiš, ke kterým dvěma faktorům patří.</a:t>
            </a:r>
          </a:p>
          <a:p xmlns:a="http://schemas.openxmlformats.org/drawingml/2006/main">
            <a:r>
              <a:t>Podpora: Nabídněte kartičky s nadpisy znám, mám a jsem; student pouze přesouvá připravené příklady.</a:t>
            </a:r>
          </a:p>
          <a:p xmlns:a="http://schemas.openxmlformats.org/drawingml/2006/main">
            <a:r>
              <a:t>Rozšíření: Porovnejte SMS kód, autentizační aplikaci a bezpečnostní klíč z hlediska pohodlí, obnovy a odolnosti proti phishingu.</a:t>
            </a:r>
          </a:p>
          <a:p xmlns:a="http://schemas.openxmlformats.org/drawingml/2006/main">
            <a:r>
              <a:t>Když technika selže: CSV lze nahradit tříděním příkladů přímo v tabulce pracovního sešitu.</a:t>
            </a:r>
          </a:p>
          <a:p xmlns:a="http://schemas.openxmlformats.org/drawingml/2006/main">
            <a:r>
              <a:t>Vyberte způsob odevzdání předem. Odpověď použijte jako diagnostiku pro začátek další hodiny; nehodnoťte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cd855f20a46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1b23a5c69e4113" /><Relationship Type="http://schemas.openxmlformats.org/officeDocument/2006/relationships/slideLayout" Target="/ppt/slideLayouts/slideLayout1.xml" Id="R02194db71f0a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194db71f0a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f45391ab043f5" /><Relationship Type="http://schemas.openxmlformats.org/officeDocument/2006/relationships/notesSlide" Target="/ppt/notesSlides/notesSlide1.xml" Id="R0546b4155b3d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cc37e99e6494f" /><Relationship Type="http://schemas.openxmlformats.org/officeDocument/2006/relationships/notesSlide" Target="/ppt/notesSlides/notesSlide2.xml" Id="R70a1b8d7ac7c4c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44a5edae24616" /><Relationship Type="http://schemas.openxmlformats.org/officeDocument/2006/relationships/notesSlide" Target="/ppt/notesSlides/notesSlide3.xml" Id="R3d39018b0c0246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0394a472f4524" /><Relationship Type="http://schemas.openxmlformats.org/officeDocument/2006/relationships/notesSlide" Target="/ppt/notesSlides/notesSlide4.xml" Id="R56637218259840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e10dd79a409b" /><Relationship Type="http://schemas.openxmlformats.org/officeDocument/2006/relationships/notesSlide" Target="/ppt/notesSlides/notesSlide5.xml" Id="Rf6d4c677f71340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99d9bb09346bc" /><Relationship Type="http://schemas.openxmlformats.org/officeDocument/2006/relationships/notesSlide" Target="/ppt/notesSlides/notesSlide6.xml" Id="R6e0cf822777045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0061ecd644501" /><Relationship Type="http://schemas.openxmlformats.org/officeDocument/2006/relationships/notesSlide" Target="/ppt/notesSlides/notesSlide7.xml" Id="Rfb60210ac804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D8B5A0C2-E6CF-4AD6-8385-C79D119E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2AEB9314-2DF3-4E20-936C-D3BEDAA5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HODINA 2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A6D62431-8C8D-43D2-9D2F-D63EBF04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28D28A56-6FA7-44A4-88D3-A9FE4282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Hesla, přihlašování a dvoufaktorové ověření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B106A551-B874-4A51-8A7A-5D47CDF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vysvětlí význam unikátního hesla, rozliší faktory znám–mám–jsem a navrhne bezpečnou obnovu účtu.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971A8A89-589C-46B8-B109-B441FDDA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1BF92AFF-A39E-45F3-A9D1-FDB7402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96BCB3FC-7316-47AD-A8CA-955225E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1893188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FB9C20D-5C03-4B68-BE6A-F8BD341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C4B08D59-5378-49E2-9835-FA18A2C1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472B71FA-A43D-4178-8C50-7E963DB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ED2F9BA-7817-4FBA-BDF1-488EB66A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5F3AEE5A-28E3-47C5-BD0C-98F6E1AA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2  /  2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2CC03189-B0B5-4D14-A162-A9347E3D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Jedno heslo uniklo. Kolik účtů je teď v ohrožení?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801F864C-016C-4193-A094-D07A4AE5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11410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0-476">
            <a:extLst xmlns:a="http://schemas.openxmlformats.org/drawingml/2006/main">
              <a:ext uri="{FF2B5EF4-FFF2-40B4-BE49-F238E27FC236}">
                <a16:creationId xmlns:a16="http://schemas.microsoft.com/office/drawing/2014/main" id="{50F9E587-308D-4AA8-8BD6-B6BF0862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9" name="text-70-520">
            <a:extLst xmlns:a="http://schemas.openxmlformats.org/drawingml/2006/main">
              <a:ext uri="{FF2B5EF4-FFF2-40B4-BE49-F238E27FC236}">
                <a16:creationId xmlns:a16="http://schemas.microsoft.com/office/drawing/2014/main" id="{7DD47F67-B2C8-49E5-81BD-55BAACD0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905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2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Zapiš jeden konkrétní důvod.</a:t>
            </a:r>
          </a:p>
        </p:txBody>
      </p:sp>
      <p:sp>
        <p:nvSpPr>
          <p:cNvPr id="10" name="text-461-476">
            <a:extLst xmlns:a="http://schemas.openxmlformats.org/drawingml/2006/main">
              <a:ext uri="{FF2B5EF4-FFF2-40B4-BE49-F238E27FC236}">
                <a16:creationId xmlns:a16="http://schemas.microsoft.com/office/drawing/2014/main" id="{ED00FEF2-6FEF-4B2F-8251-9B2AFA3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33900"/>
            <a:ext cx="3381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1" name="text-461-520">
            <a:extLst xmlns:a="http://schemas.openxmlformats.org/drawingml/2006/main">
              <a:ext uri="{FF2B5EF4-FFF2-40B4-BE49-F238E27FC236}">
                <a16:creationId xmlns:a16="http://schemas.microsoft.com/office/drawing/2014/main" id="{CDD2D7CA-46EE-45F3-A619-A81D35E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53000"/>
            <a:ext cx="3381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Najděte bod, ve kterém se lišíte.</a:t>
            </a:r>
          </a:p>
        </p:txBody>
      </p:sp>
      <p:sp>
        <p:nvSpPr>
          <p:cNvPr id="12" name="text-900-476">
            <a:extLst xmlns:a="http://schemas.openxmlformats.org/drawingml/2006/main">
              <a:ext uri="{FF2B5EF4-FFF2-40B4-BE49-F238E27FC236}">
                <a16:creationId xmlns:a16="http://schemas.microsoft.com/office/drawing/2014/main" id="{5D6D49F2-E905-471B-A122-205C01E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3" name="text-900-520">
            <a:extLst xmlns:a="http://schemas.openxmlformats.org/drawingml/2006/main">
              <a:ext uri="{FF2B5EF4-FFF2-40B4-BE49-F238E27FC236}">
                <a16:creationId xmlns:a16="http://schemas.microsoft.com/office/drawing/2014/main" id="{410175C4-B1E3-458B-807B-51A0A26D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změnilo tvé rozhodnutí?</a:t>
            </a:r>
          </a:p>
        </p:txBody>
      </p:sp>
    </p:spTree>
    <p:extLst>
      <p:ext uri="{BB962C8B-B14F-4D97-AF65-F5344CB8AC3E}">
        <p14:creationId xmlns:p14="http://schemas.microsoft.com/office/powerpoint/2010/main" val="1585990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7D4D615F-5D95-47EC-B8C4-5546D60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5–12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EEE7F40-5F0F-47BC-963B-CC2D253D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E6E0AA7-FBFB-48C3-B20E-B39460D8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A6920A4-4828-4A2B-BF4C-C924A83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C05075BE-9099-4FF9-A7C8-AFDE723A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2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B638EA81-8550-4A1C-852A-162775D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289A16C5-053B-48BB-B231-B83D81CE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Unikátní hesla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6A3E0710-A569-4929-94E1-15D1E439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Každý účet má jiné dlouhé heslo nebo frázi. Únik jednoho hesla se pak nerozšíří na další služby.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D79E2EC7-9FC0-4B62-901B-1C3B1B0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AE377211-1D91-4311-8F6B-AFB800C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Druhý faktor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349D80DC-09EA-4C53-BA03-83E8D1B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Kombinuj dva různé typy: něco, co znám, s něčím, co mám nebo čím jsem.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769D49E3-9D0D-40D1-BB6E-BA432CD1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00F5D820-EC1D-486C-A71F-52949363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Bezpečná obnova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E8030B5B-07B4-4037-A3CC-85141598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Záložní kódy a obnovovací údaje ulož odděleně od zařízení, které můžeš ztratit.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C0E31F81-841C-47BC-AF91-A6F8070E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3AEC552D-9C60-466B-9E35-AFAEB8E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2057065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828F6F11-40CF-4E90-8C31-2A826EA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12–41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77F4A08-CAA2-4A2A-8107-147AE86C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B8187D35-2ADF-47F3-96C8-F2295421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8D01EC8D-519F-491E-9B2B-3AEC80E4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F0E358B8-6D90-4A93-8883-844693C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2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DAC249AA-CA8B-49C9-A666-171FEDB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B8597F73-83B7-4BAC-9AB1-BB9CA80D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Digitální pracovní sešit, 2. Účty a faktory ověření.csv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CEBD4445-901D-4B5E-BA28-BDDA972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39DC581C-1632-4317-8DFB-21A26D9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AC10A8E0-869A-4A73-9FF6-D331BF13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Posuď modelová hesla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FD807110-CB3B-49BB-8358-B5EC2B69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Nehodnoť je jen podle speciálních znaků. Sleduj délku, jedinečnost a předvídatelnost.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DD3BE06F-DF2F-43E7-97A4-63FDF86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948F66DF-F6D4-4B00-AB38-D340CCA9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8CA32022-7EDB-4E3B-A6E6-068F1260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Roztřiď faktory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DFD40C2F-B05E-4B7B-AE08-C8340C6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Přiřaď prvky ke znám – mám – jsem a obhaj sporné příklady.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E48ABD78-28E9-442D-8815-719ACC4B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8EA34A02-AC81-4484-BB8E-F8D27B3E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C8BFC38E-C8D8-494A-88FA-FF5DF5F3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Navrhni ochranu účtů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4BC5DFA7-B801-4B20-8639-CBD136E2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 e-mailu, sociální sítě a hry doplň heslo, druhý faktor i způsob obnovy.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2FA6CEE7-47F8-4023-A690-58D72B31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CDC5454A-9A45-40CA-8673-62F45695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Model ochrany školního e-mailu, sociální sítě a herního účtu.</a:t>
            </a:r>
          </a:p>
        </p:txBody>
      </p:sp>
    </p:spTree>
    <p:extLst>
      <p:ext uri="{BB962C8B-B14F-4D97-AF65-F5344CB8AC3E}">
        <p14:creationId xmlns:p14="http://schemas.microsoft.com/office/powerpoint/2010/main" val="1842632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5E1576D2-8260-4789-B5DE-A0B46E99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57620750-C6E2-4C2A-BC07-7D40F97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FB2AB3E-7AD5-492A-9060-AF4CE60C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A7AAD51D-CDF7-4A70-B795-84CB95E4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E4CE7862-F86C-41D4-80CE-FEF986B4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2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34DADCA6-8D4A-40AF-9E6A-A066751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E9B7EEC2-482C-4C95-946A-9AA2DB6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32701ADB-7F3C-4D1D-8612-1157E9F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337F78C2-A3F0-4752-A808-CE019FE6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správně roztřídí autentizační prvky a navrhne alespoň jednu skutečnou kombinaci 2FA.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C54F7572-5B84-4B14-8DD1-5C43958E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A25EB7F3-19BD-460E-8B5C-D0CF426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F5CABCE8-041B-4A23-92FB-82A3703D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4B033283-15B2-41C2-A9B0-17370990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Proč dvě tajné informace nemusí znamenat dva různé faktory?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CC55449B-64C7-46E5-B555-0943FA23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44B2BE1F-13B2-40C2-8B68-18D3E12C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D3791800-A7EF-4CBB-9E8F-E4730CD8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8B580024-0E0C-4BED-9424-E90BB3D6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Co se stane, když ztratíš telefon s autentizační aplikací?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6D12A28D-70B7-4D17-845A-4CBBDD4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95BEC591-A0A8-4E27-A389-EAF7DFC5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B833306D-3E4F-471E-9F7E-5F55B58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DFE6CD1F-F04F-414D-A16B-251E4710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Kde mají být záložní kódy, aby nebyly současně se ztraceným zařízením?</a:t>
            </a:r>
          </a:p>
        </p:txBody>
      </p:sp>
    </p:spTree>
    <p:extLst>
      <p:ext uri="{BB962C8B-B14F-4D97-AF65-F5344CB8AC3E}">
        <p14:creationId xmlns:p14="http://schemas.microsoft.com/office/powerpoint/2010/main" val="1680094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AFD38693-300F-41D4-9C25-727FC22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32–41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73A4807-799F-44B1-A825-E32644E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0B550DB-AAB7-41A1-9BE6-9E51404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0071243F-A0A9-450C-AA5A-20AEDBF0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C4A58CF8-E058-45DF-AD76-BBD7FB74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2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7F617964-4E6F-411B-A571-F10F6EB4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1355F623-6CF7-4668-8862-B114D246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Silné heslo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520EDF55-83E6-4F79-831B-3BAD7D42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Je dlouhé, unikátní a nepředvídatelné; nesmí být známým citátem ani osobním údajem.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4DE88615-EE18-439A-9676-72AB9802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Správce hesel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BE35EEB0-BB8F-493F-9067-3F7A5903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Pomáhá vytvářet a ukládat odlišná hesla; hlavní účet správce musí být dobře chráněn.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34A87D20-58EC-4E3B-A659-E4C319B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Faktor znám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BFD71C87-67EB-44DD-AB74-52DA2DF1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Heslo a PIN.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836CDE05-4682-41C6-B746-E07BDA5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7A7AFDC6-17DB-4F12-9841-E5F984B0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1503A5B5-BF85-4EBC-9DC9-21644ED0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„Heslo + PIN je 2FA.“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0487EDA3-D315-473C-9DAE-DDFE4954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Obojí patří do faktoru znám; pro 2FA je třeba odlišný typ faktoru.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87A8A077-1F92-455E-A773-A94D68B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8014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C2CB60EE-6B3E-4E38-A37F-2577257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227CE039-026D-499B-BFCF-950BA6E1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HODINA 2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1C32DEE4-26A7-4DDB-BEA0-C9875A3A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7F806F37-A4A6-4A43-8A1E-216F629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Uveď jednu platnou dvojici 2FA a napiš, ke kterým dvěma faktorům patří.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FD2E5DEE-4F77-4F98-8E10-4290DF7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E05D95BC-290F-438F-8824-B94709C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01C2907B-26E0-4A02-9139-EF5DD2C7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2B59C3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646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2026-07-24T13:43:32.3030000Z</dcterms:created>
  <dcterms:modified xsi:type="dcterms:W3CDTF">2026-07-24T13:43:32.3030000Z</dcterms:modified>
</coreProperties>
</file>