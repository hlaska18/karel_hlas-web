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66e97dcab745cc" /><Relationship Type="http://schemas.openxmlformats.org/officeDocument/2006/relationships/extended-properties" Target="/docProps/app.xml" Id="Raa1edcfe4b914f45" /><Relationship Type="http://schemas.openxmlformats.org/officeDocument/2006/relationships/officeDocument" Target="/ppt/presentation.xml" Id="R7d42eee8b65443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e1f7a886a4442f"/>
  </p:sldMasterIdLst>
  <p:notesMasterIdLst>
    <p:notesMasterId xmlns:r="http://schemas.openxmlformats.org/officeDocument/2006/relationships" r:id="Rf2339246b53b458a"/>
  </p:notesMasterIdLst>
  <p:sldIdLst>
    <p:sldId xmlns:r="http://schemas.openxmlformats.org/officeDocument/2006/relationships" id="256" r:id="R1e60593dd3bc420b"/>
    <p:sldId xmlns:r="http://schemas.openxmlformats.org/officeDocument/2006/relationships" id="257" r:id="R9975ebc23c3c4ea7"/>
    <p:sldId xmlns:r="http://schemas.openxmlformats.org/officeDocument/2006/relationships" id="258" r:id="Rdbcbd21468d54acf"/>
    <p:sldId xmlns:r="http://schemas.openxmlformats.org/officeDocument/2006/relationships" id="259" r:id="R6ca3ddf0256d4592"/>
    <p:sldId xmlns:r="http://schemas.openxmlformats.org/officeDocument/2006/relationships" id="260" r:id="R9d9aa3224d904020"/>
    <p:sldId xmlns:r="http://schemas.openxmlformats.org/officeDocument/2006/relationships" id="261" r:id="R76870345d658418b"/>
    <p:sldId xmlns:r="http://schemas.openxmlformats.org/officeDocument/2006/relationships" id="262" r:id="R07136b26a9914d7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358784795341ed" /><Relationship Type="http://schemas.openxmlformats.org/officeDocument/2006/relationships/slideMaster" Target="/ppt/slideMasters/slideMaster1.xml" Id="Rf8e1f7a886a4442f" /><Relationship Type="http://schemas.openxmlformats.org/officeDocument/2006/relationships/notesMaster" Target="/ppt/notesMasters/notesMaster1.xml" Id="Rf2339246b53b458a" /><Relationship Type="http://schemas.openxmlformats.org/officeDocument/2006/relationships/presProps" Target="/ppt/presProps.xml" Id="R6ece29823e1943c7" /><Relationship Type="http://schemas.openxmlformats.org/officeDocument/2006/relationships/tableStyles" Target="/ppt/tableStyles.xml" Id="R6e62f154ff704bd2" /><Relationship Type="http://schemas.openxmlformats.org/officeDocument/2006/relationships/slide" Target="/ppt/slides/slide1.xml" Id="R1e60593dd3bc420b" /><Relationship Type="http://schemas.openxmlformats.org/officeDocument/2006/relationships/slide" Target="/ppt/slides/slide2.xml" Id="R9975ebc23c3c4ea7" /><Relationship Type="http://schemas.openxmlformats.org/officeDocument/2006/relationships/slide" Target="/ppt/slides/slide3.xml" Id="Rdbcbd21468d54acf" /><Relationship Type="http://schemas.openxmlformats.org/officeDocument/2006/relationships/slide" Target="/ppt/slides/slide4.xml" Id="R6ca3ddf0256d4592" /><Relationship Type="http://schemas.openxmlformats.org/officeDocument/2006/relationships/slide" Target="/ppt/slides/slide5.xml" Id="R9d9aa3224d904020" /><Relationship Type="http://schemas.openxmlformats.org/officeDocument/2006/relationships/slide" Target="/ppt/slides/slide6.xml" Id="R76870345d658418b" /><Relationship Type="http://schemas.openxmlformats.org/officeDocument/2006/relationships/slide" Target="/ppt/slides/slide7.xml" Id="R07136b26a9914d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1ae60015fb48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09396acaf14d67" /><Relationship Type="http://schemas.openxmlformats.org/officeDocument/2006/relationships/notesMaster" Target="/ppt/notesMasters/notesMaster1.xml" Id="R69286e94f2c34b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6c28e44d4b48a1" /><Relationship Type="http://schemas.openxmlformats.org/officeDocument/2006/relationships/notesMaster" Target="/ppt/notesMasters/notesMaster1.xml" Id="R8dfe6cad997342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f50f4d1e024381" /><Relationship Type="http://schemas.openxmlformats.org/officeDocument/2006/relationships/notesMaster" Target="/ppt/notesMasters/notesMaster1.xml" Id="R3535b70222d848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323fbbea3042ae" /><Relationship Type="http://schemas.openxmlformats.org/officeDocument/2006/relationships/notesMaster" Target="/ppt/notesMasters/notesMaster1.xml" Id="Rc3078d49710d4d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d80088744a453a" /><Relationship Type="http://schemas.openxmlformats.org/officeDocument/2006/relationships/notesMaster" Target="/ppt/notesMasters/notesMaster1.xml" Id="Rd0bacd7fe8b648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84ba631f1c4b19" /><Relationship Type="http://schemas.openxmlformats.org/officeDocument/2006/relationships/notesMaster" Target="/ppt/notesMasters/notesMaster1.xml" Id="Re94221e5da0048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56efc442f6420c" /><Relationship Type="http://schemas.openxmlformats.org/officeDocument/2006/relationships/notesMaster" Target="/ppt/notesMasters/notesMaster1.xml" Id="R67900e1781264b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Výukový cíl: Student rozpozná osobní údaj, posoudí přiměřenost jeho zpracování a zvolí legální a etický způsob použití cizího díla.</a:t>
            </a:r>
          </a:p>
          <a:p xmlns:a="http://schemas.openxmlformats.org/drawingml/2006/main">
            <a:r>
              <a:t>Soubory: 9. Díla a licence.csv, digitální pracovní sešit</a:t>
            </a:r>
          </a:p>
          <a:p xmlns:a="http://schemas.openxmlformats.org/drawingml/2006/main">
            <a:r>
              <a:t>Výstup: Rozhodnutí k modelovým údajům a licencím včetně správného uvedení díla.</a:t>
            </a:r>
          </a:p>
          <a:p xmlns:a="http://schemas.openxmlformats.org/drawingml/2006/main">
            <a:r>
              <a:t>Před otevřením dalšího snímku stručně uveď téma a nech studenty připravit pracovní soubory.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Čas: 0–6 minut.</a:t>
            </a:r>
          </a:p>
          <a:p xmlns:a="http://schemas.openxmlformats.org/drawingml/2006/main">
            <a:r>
              <a:t>Činnost: Co je osobní údaj.</a:t>
            </a:r>
          </a:p>
          <a:p xmlns:a="http://schemas.openxmlformats.org/drawingml/2006/main">
            <a:r>
              <a:t>Postup učitele: Třiď běžné příklady a ptej se, zda lze určit konkrétní osobu.</a:t>
            </a:r>
          </a:p>
          <a:p xmlns:a="http://schemas.openxmlformats.org/drawingml/2006/main">
            <a:r>
              <a:t>Otázka pro studenty: Veřejně dostupné neznamená volně použitelné. Co musíš ověřit?</a:t>
            </a:r>
          </a:p>
          <a:p xmlns:a="http://schemas.openxmlformats.org/drawingml/2006/main">
            <a:r>
              <a:t>Neprozrazuj správnou odpověď. Cílem je zachytit počáteční úsudek, ke kterému se třída vrátí při reflexi.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Čas: 6–17 minut.</a:t>
            </a:r>
          </a:p>
          <a:p xmlns:a="http://schemas.openxmlformats.org/drawingml/2006/main">
            <a:r>
              <a:t>Činnost: Modelové situace GDPR.</a:t>
            </a:r>
          </a:p>
          <a:p xmlns:a="http://schemas.openxmlformats.org/drawingml/2006/main">
            <a:r>
              <a:t>Postup učitele: Požaduj účel, nezbytnost, rozsah a zabezpečení.</a:t>
            </a:r>
          </a:p>
          <a:p xmlns:a="http://schemas.openxmlformats.org/drawingml/2006/main">
            <a:r>
              <a:t>Klíčové závěry: Osobní údaje: Jméno, datum narození, školní e-mail, rozpoznatelná fotografie a poloha se vztahují k identifikované či identifikovatelné osobě. | Anonymní souhrn: Obvykle není osobním údajem, pokud osobu nelze rozumně zpětně určit. | Kódované výsledky: Mohou zůstat osobními údaji, pokud existuje klíč nebo jiná reálná možnost zpětného přiřazení.</a:t>
            </a:r>
          </a:p>
          <a:p xmlns:a="http://schemas.openxmlformats.org/drawingml/2006/main">
            <a:r>
              <a:t>Nech studenty doplnit příklad ke každému bodu. Přechod k aktivitě proveď otázkou: Jak tyto tři body použijeme na dnešní soubor?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Hlavní aktivita využívá: 9. Díla a licence.csv, digitální pracovní sešit</a:t>
            </a:r>
          </a:p>
          <a:p xmlns:a="http://schemas.openxmlformats.org/drawingml/2006/main">
            <a:r>
              <a:t>17–24 min – Mýtus o souhlasu: Vysvětli, že souhlas není jediný právní základ a nemusí být vždy vhodný.</a:t>
            </a:r>
          </a:p>
          <a:p xmlns:a="http://schemas.openxmlformats.org/drawingml/2006/main">
            <a:r>
              <a:t>24–36 min – Licence a použití děl v CSV: Rozliš nalezení obrázku, licenci, citaci a souhlas osob na fotografii.</a:t>
            </a:r>
          </a:p>
          <a:p xmlns:a="http://schemas.openxmlformats.org/drawingml/2006/main">
            <a:r>
              <a:t>36–42 min – Modelové uvedení díla: Použij vzorec autor – název – zdroj – licence.</a:t>
            </a:r>
          </a:p>
          <a:p xmlns:a="http://schemas.openxmlformats.org/drawingml/2006/main">
            <a:r>
              <a:t>Požadovaný výstup: Rozhodnutí k modelovým údajům a licencím včetně správného uvedení díla.</a:t>
            </a:r>
          </a:p>
          <a:p xmlns:a="http://schemas.openxmlformats.org/drawingml/2006/main">
            <a:r>
              <a:t>Během práce nepřebírej myš za studenta. Pomáhej otázkami z dalšího snímku a žádej, aby každé rozhodnutí opřel o konkrétní znak nebo zdroj.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Kritérium úspěchu: Student odliší osobní údaj od anonymního údaje a u díla uvede původ, oprávnění a podmínky použití.</a:t>
            </a:r>
          </a:p>
          <a:p xmlns:a="http://schemas.openxmlformats.org/drawingml/2006/main">
            <a:r>
              <a:t>Vodicí otázky: Lze údaj spojit s konkrétní osobou přímo nebo kombinací s jinými údaji? | Je rozsah údajů nezbytný pro uvedený účel? | Kde je uvedeno oprávnění dílo použít a jaké má podmínky?</a:t>
            </a:r>
          </a:p>
          <a:p xmlns:a="http://schemas.openxmlformats.org/drawingml/2006/main">
            <a:r>
              <a:t>Podpora: Použij čtyři kontrolní otázky: Kdo? Co? Proč? Za jakých podmínek?</a:t>
            </a:r>
          </a:p>
          <a:p xmlns:a="http://schemas.openxmlformats.org/drawingml/2006/main">
            <a:r>
              <a:t>Rozšíření: Student porovná CC0, CC BY a běžné autorské dílo z hlediska povinností uživatele.</a:t>
            </a:r>
          </a:p>
          <a:p xmlns:a="http://schemas.openxmlformats.org/drawingml/2006/main">
            <a:r>
              <a:t>Pro rychlou mezikontrolu nech dvojice vyměnit výstup a označit jeden dobře doložený bod a jednu otázku, která ještě zůstává.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Očekávané závěry: Osobní údaje: Jméno, datum narození, školní e-mail, rozpoznatelná fotografie a poloha se vztahují k identifikované či identifikovatelné osobě. | Anonymní souhrn: Obvykle není osobním údajem, pokud osobu nelze rozumně zpětně určit. | Kódované výsledky: Mohou zůstat osobními údaji, pokud existuje klíč nebo jiná reálná možnost zpětného přiřazení. | Souhlas: Není univerzální odpověď; řeší se také jiný právní základ, účel, transparentnost, minimalizace a zabezpečení. | Vyhledávač: Není zdrojem licence; je nutné otevřít původní stránku a zjistit autora a oprávnění. | CC BY: Při dodržení licence uvést autora, název, zdroj a licenci; zkontrolovat případné úpravy a další podmínky.</a:t>
            </a:r>
          </a:p>
          <a:p xmlns:a="http://schemas.openxmlformats.org/drawingml/2006/main">
            <a:r>
              <a:t>Časté chyby a intervence: „Na všechno je potřeba souhlas.“ → Ptej se na účel a právní základ; ve vztahu školy a žáka může být souhlas problematický. | „Když uvedu autora, mohu dílo použít.“ → Uvedení autora nenahrazuje licenci nebo jiné oprávnění. | „Obrázek z internetu je veřejný.“ → Veřejně dostupný neznamená volně použitelný; dohledávej původ a podmínky.</a:t>
            </a:r>
          </a:p>
          <a:p xmlns:a="http://schemas.openxmlformats.org/drawingml/2006/main">
            <a:r>
              <a:t>Nečti celý klíč. Vyber dva studentské postupy, které vedou k odlišným závěrům, a nech třídu určit, který je lépe podložený.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Exit ticket: Co musíš ověřit před vložením cizí fotografie do veřejné školní prezentace?</a:t>
            </a:r>
          </a:p>
          <a:p xmlns:a="http://schemas.openxmlformats.org/drawingml/2006/main">
            <a:r>
              <a:t>Podpora: Použij čtyři kontrolní otázky: Kdo? Co? Proč? Za jakých podmínek?</a:t>
            </a:r>
          </a:p>
          <a:p xmlns:a="http://schemas.openxmlformats.org/drawingml/2006/main">
            <a:r>
              <a:t>Rozšíření: Student porovná CC0, CC BY a běžné autorské dílo z hlediska povinností uživatele.</a:t>
            </a:r>
          </a:p>
          <a:p xmlns:a="http://schemas.openxmlformats.org/drawingml/2006/main">
            <a:r>
              <a:t>Když technika selže: CSV lze otevřít jako textový soubor; hodnoty jsou oddělené středníkem a stejné situace obsahuje sešit.</a:t>
            </a:r>
          </a:p>
          <a:p xmlns:a="http://schemas.openxmlformats.org/drawingml/2006/main">
            <a:r>
              <a:t>Vyber způsob odevzdání předem. Odpověď použij jako diagnostiku pro začátek další hodiny; nehodnoť pouze formální správnost, ale konkrétnost a zdůvodnění.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b1de5ba7e642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471c8022eb4dd4" /><Relationship Type="http://schemas.openxmlformats.org/officeDocument/2006/relationships/slideLayout" Target="/ppt/slideLayouts/slideLayout1.xml" Id="Rdba0a2e0d35b49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a0a2e0d35b49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e3eab82044a0c" /><Relationship Type="http://schemas.openxmlformats.org/officeDocument/2006/relationships/notesSlide" Target="/ppt/notesSlides/notesSlide1.xml" Id="R33edbb9882d349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a5db3498cb439b" /><Relationship Type="http://schemas.openxmlformats.org/officeDocument/2006/relationships/notesSlide" Target="/ppt/notesSlides/notesSlide2.xml" Id="Rf4aec1f4760b4f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9055067d04303" /><Relationship Type="http://schemas.openxmlformats.org/officeDocument/2006/relationships/notesSlide" Target="/ppt/notesSlides/notesSlide3.xml" Id="R7c1cfb5aca104b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a9a5d688a49a3" /><Relationship Type="http://schemas.openxmlformats.org/officeDocument/2006/relationships/notesSlide" Target="/ppt/notesSlides/notesSlide4.xml" Id="R6e7a87c36c8e46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f436f7ea24f19" /><Relationship Type="http://schemas.openxmlformats.org/officeDocument/2006/relationships/notesSlide" Target="/ppt/notesSlides/notesSlide5.xml" Id="Refe74f6581934b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afa6befd5e4217" /><Relationship Type="http://schemas.openxmlformats.org/officeDocument/2006/relationships/notesSlide" Target="/ppt/notesSlides/notesSlide6.xml" Id="R153a2be04cc34e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fbe6d82924b07" /><Relationship Type="http://schemas.openxmlformats.org/officeDocument/2006/relationships/notesSlide" Target="/ppt/notesSlides/notesSlide7.xml" Id="R8e80cd11aa7147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">
            <a:extLst xmlns:a="http://schemas.openxmlformats.org/drawingml/2006/main">
              <a:ext uri="{FF2B5EF4-FFF2-40B4-BE49-F238E27FC236}">
                <a16:creationId xmlns:a16="http://schemas.microsoft.com/office/drawing/2014/main" id="{5E9CEBCF-9BC8-47F9-B609-BF27E2FD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54-48">
            <a:extLst xmlns:a="http://schemas.openxmlformats.org/drawingml/2006/main">
              <a:ext uri="{FF2B5EF4-FFF2-40B4-BE49-F238E27FC236}">
                <a16:creationId xmlns:a16="http://schemas.microsoft.com/office/drawing/2014/main" id="{8694DC48-1F54-46F3-A592-44B38476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HODINA 9 / 10</a:t>
            </a:r>
          </a:p>
        </p:txBody>
      </p:sp>
      <p:sp>
        <p:nvSpPr>
          <p:cNvPr id="3" name="text-870-48">
            <a:extLst xmlns:a="http://schemas.openxmlformats.org/drawingml/2006/main">
              <a:ext uri="{FF2B5EF4-FFF2-40B4-BE49-F238E27FC236}">
                <a16:creationId xmlns:a16="http://schemas.microsoft.com/office/drawing/2014/main" id="{ECCE54B0-6D17-4B8A-982D-644BA5A5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7200"/>
            <a:ext cx="3429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INTERNET, BEZPEČNOST
A PRÁCE S INFORMACEMI</a:t>
            </a:r>
          </a:p>
        </p:txBody>
      </p:sp>
      <p:sp>
        <p:nvSpPr>
          <p:cNvPr id="4" name="text-54-255">
            <a:extLst xmlns:a="http://schemas.openxmlformats.org/drawingml/2006/main">
              <a:ext uri="{FF2B5EF4-FFF2-40B4-BE49-F238E27FC236}">
                <a16:creationId xmlns:a16="http://schemas.microsoft.com/office/drawing/2014/main" id="{E48FD3B4-280D-48B6-AD99-F1895609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28875"/>
            <a:ext cx="10715625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Soukromí, GDPR a autorská práva</a:t>
            </a:r>
          </a:p>
        </p:txBody>
      </p:sp>
      <p:sp>
        <p:nvSpPr>
          <p:cNvPr id="5" name="text-56-506">
            <a:extLst xmlns:a="http://schemas.openxmlformats.org/drawingml/2006/main">
              <a:ext uri="{FF2B5EF4-FFF2-40B4-BE49-F238E27FC236}">
                <a16:creationId xmlns:a16="http://schemas.microsoft.com/office/drawing/2014/main" id="{FAFDD650-4C66-419E-A70D-B37536AD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9650"/>
            <a:ext cx="8191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Student rozpozná osobní údaj, posoudí přiměřenost jeho zpracování a zvolí legální a etický způsob použití cizího díla.</a:t>
            </a:r>
          </a:p>
        </p:txBody>
      </p:sp>
      <p:sp>
        <p:nvSpPr>
          <p:cNvPr id="6" name="lesson-number">
            <a:extLst xmlns:a="http://schemas.openxmlformats.org/drawingml/2006/main">
              <a:ext uri="{FF2B5EF4-FFF2-40B4-BE49-F238E27FC236}">
                <a16:creationId xmlns:a16="http://schemas.microsoft.com/office/drawing/2014/main" id="{D689A90A-06A8-4CF7-9FBA-45E39D03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819650"/>
            <a:ext cx="11811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1065-524">
            <a:extLst xmlns:a="http://schemas.openxmlformats.org/drawingml/2006/main">
              <a:ext uri="{FF2B5EF4-FFF2-40B4-BE49-F238E27FC236}">
                <a16:creationId xmlns:a16="http://schemas.microsoft.com/office/drawing/2014/main" id="{E0092D78-CC2D-4BA5-ACD5-FF1017A4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991100"/>
            <a:ext cx="11811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  <p:sp>
        <p:nvSpPr>
          <p:cNvPr id="8" name="text-1065-603">
            <a:extLst xmlns:a="http://schemas.openxmlformats.org/drawingml/2006/main">
              <a:ext uri="{FF2B5EF4-FFF2-40B4-BE49-F238E27FC236}">
                <a16:creationId xmlns:a16="http://schemas.microsoft.com/office/drawing/2014/main" id="{E1003381-5EE7-49A5-9EB2-6EF9F0D1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743575"/>
            <a:ext cx="1181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45 MIN</a:t>
            </a:r>
          </a:p>
        </p:txBody>
      </p:sp>
    </p:spTree>
    <p:extLst>
      <p:ext uri="{BB962C8B-B14F-4D97-AF65-F5344CB8AC3E}">
        <p14:creationId xmlns:p14="http://schemas.microsoft.com/office/powerpoint/2010/main" val="5309485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F0D366B1-A34D-416D-8656-4D526F99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0–6 MIN · ÚVOD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E835AEF4-11E4-4839-A935-D3A1654A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Začni vlastním rozhodnutím</a:t>
            </a:r>
          </a:p>
        </p:txBody>
      </p:sp>
      <p:sp>
        <p:nvSpPr>
          <p:cNvPr id="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1D3023E1-C8EA-498C-986F-5127CE77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1861EA6B-6609-462B-A472-46BB45CB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F5DF1963-B287-4E9D-B50A-6D7EF5AC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9  /  2</a:t>
            </a:r>
          </a:p>
        </p:txBody>
      </p:sp>
      <p:sp>
        <p:nvSpPr>
          <p:cNvPr id="6" name="text-41-188">
            <a:extLst xmlns:a="http://schemas.openxmlformats.org/drawingml/2006/main">
              <a:ext uri="{FF2B5EF4-FFF2-40B4-BE49-F238E27FC236}">
                <a16:creationId xmlns:a16="http://schemas.microsoft.com/office/drawing/2014/main" id="{5C209ABB-8279-49D9-B472-63699EEA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90700"/>
            <a:ext cx="10668000" cy="194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Veřejně dostupné neznamená volně použitelné. Co musíš ověřit?</a:t>
            </a:r>
          </a:p>
        </p:txBody>
      </p:sp>
      <p:sp>
        <p:nvSpPr>
          <p:cNvPr id="7" name="prompt-panel">
            <a:extLst xmlns:a="http://schemas.openxmlformats.org/drawingml/2006/main">
              <a:ext uri="{FF2B5EF4-FFF2-40B4-BE49-F238E27FC236}">
                <a16:creationId xmlns:a16="http://schemas.microsoft.com/office/drawing/2014/main" id="{DF46A190-EAAC-4486-B028-EB3DF8F2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38625"/>
            <a:ext cx="114109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70-476">
            <a:extLst xmlns:a="http://schemas.openxmlformats.org/drawingml/2006/main">
              <a:ext uri="{FF2B5EF4-FFF2-40B4-BE49-F238E27FC236}">
                <a16:creationId xmlns:a16="http://schemas.microsoft.com/office/drawing/2014/main" id="{306E409C-D61B-441C-84BF-246221BE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29051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ROZHODNI SÁM</a:t>
            </a:r>
          </a:p>
        </p:txBody>
      </p:sp>
      <p:sp>
        <p:nvSpPr>
          <p:cNvPr id="9" name="text-70-520">
            <a:extLst xmlns:a="http://schemas.openxmlformats.org/drawingml/2006/main">
              <a:ext uri="{FF2B5EF4-FFF2-40B4-BE49-F238E27FC236}">
                <a16:creationId xmlns:a16="http://schemas.microsoft.com/office/drawing/2014/main" id="{39F1C74B-DA39-4B7C-80E5-18923469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29051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023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Zapiš jeden konkrétní důvod.</a:t>
            </a:r>
          </a:p>
        </p:txBody>
      </p:sp>
      <p:sp>
        <p:nvSpPr>
          <p:cNvPr id="10" name="text-461-476">
            <a:extLst xmlns:a="http://schemas.openxmlformats.org/drawingml/2006/main">
              <a:ext uri="{FF2B5EF4-FFF2-40B4-BE49-F238E27FC236}">
                <a16:creationId xmlns:a16="http://schemas.microsoft.com/office/drawing/2014/main" id="{01D9B1F6-7C2E-4DBD-B498-33F9A04C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533900"/>
            <a:ext cx="33813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POROVNEJ VE DVOJICI</a:t>
            </a:r>
          </a:p>
        </p:txBody>
      </p:sp>
      <p:sp>
        <p:nvSpPr>
          <p:cNvPr id="11" name="text-461-520">
            <a:extLst xmlns:a="http://schemas.openxmlformats.org/drawingml/2006/main">
              <a:ext uri="{FF2B5EF4-FFF2-40B4-BE49-F238E27FC236}">
                <a16:creationId xmlns:a16="http://schemas.microsoft.com/office/drawing/2014/main" id="{3A93049B-8FFD-447E-B39C-E97CBAF7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953000"/>
            <a:ext cx="33813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Najděte bod, ve kterém se lišíte.</a:t>
            </a:r>
          </a:p>
        </p:txBody>
      </p:sp>
      <p:sp>
        <p:nvSpPr>
          <p:cNvPr id="12" name="text-900-476">
            <a:extLst xmlns:a="http://schemas.openxmlformats.org/drawingml/2006/main">
              <a:ext uri="{FF2B5EF4-FFF2-40B4-BE49-F238E27FC236}">
                <a16:creationId xmlns:a16="http://schemas.microsoft.com/office/drawing/2014/main" id="{546D9790-71B0-4D98-A45C-2B665BA9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33900"/>
            <a:ext cx="2762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PŘIPRAV OBHAJOBU</a:t>
            </a:r>
          </a:p>
        </p:txBody>
      </p:sp>
      <p:sp>
        <p:nvSpPr>
          <p:cNvPr id="13" name="text-900-520">
            <a:extLst xmlns:a="http://schemas.openxmlformats.org/drawingml/2006/main">
              <a:ext uri="{FF2B5EF4-FFF2-40B4-BE49-F238E27FC236}">
                <a16:creationId xmlns:a16="http://schemas.microsoft.com/office/drawing/2014/main" id="{C41BDCC6-4897-4286-BB7D-7A9B336B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53000"/>
            <a:ext cx="2762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9519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Co by změnilo tvé rozhodnutí?</a:t>
            </a:r>
          </a:p>
        </p:txBody>
      </p:sp>
    </p:spTree>
    <p:extLst>
      <p:ext uri="{BB962C8B-B14F-4D97-AF65-F5344CB8AC3E}">
        <p14:creationId xmlns:p14="http://schemas.microsoft.com/office/powerpoint/2010/main" val="2838016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3CBA5126-0367-487C-ADFE-BAEC254F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6–17 MIN · MINIMUM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1C421905-2DD6-4BB9-8168-86A3EFE4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Tři opěrné body pro rozhodování</a:t>
            </a:r>
          </a:p>
        </p:txBody>
      </p:sp>
      <p:sp>
        <p:nvSpPr>
          <p:cNvPr id="3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CD2CC86B-3AC3-4D30-9513-F405E8CD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9280E81E-9680-41BC-89D2-4D70A255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DC9C1E81-34B2-482B-9C48-924D09AD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9  /  3</a:t>
            </a:r>
          </a:p>
        </p:txBody>
      </p:sp>
      <p:sp>
        <p:nvSpPr>
          <p:cNvPr id="6" name="text-41-179">
            <a:extLst xmlns:a="http://schemas.openxmlformats.org/drawingml/2006/main">
              <a:ext uri="{FF2B5EF4-FFF2-40B4-BE49-F238E27FC236}">
                <a16:creationId xmlns:a16="http://schemas.microsoft.com/office/drawing/2014/main" id="{F9F214EF-800B-4ADD-8726-149BC1AD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04975"/>
            <a:ext cx="857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7" name="text-41-274">
            <a:extLst xmlns:a="http://schemas.openxmlformats.org/drawingml/2006/main">
              <a:ext uri="{FF2B5EF4-FFF2-40B4-BE49-F238E27FC236}">
                <a16:creationId xmlns:a16="http://schemas.microsoft.com/office/drawing/2014/main" id="{B306F643-5AB7-4F21-A1C7-C69044B0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09850"/>
            <a:ext cx="3238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Účel a rozsah</a:t>
            </a:r>
          </a:p>
        </p:txBody>
      </p:sp>
      <p:sp>
        <p:nvSpPr>
          <p:cNvPr id="8" name="text-41-362">
            <a:extLst xmlns:a="http://schemas.openxmlformats.org/drawingml/2006/main">
              <a:ext uri="{FF2B5EF4-FFF2-40B4-BE49-F238E27FC236}">
                <a16:creationId xmlns:a16="http://schemas.microsoft.com/office/drawing/2014/main" id="{79DFE8E7-BA63-417F-BB1B-2AE9B77D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48050"/>
            <a:ext cx="32385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U osobních údajů se ptej, proč jsou potřeba, zda je rozsah nezbytný a jak budou chráněny.</a:t>
            </a:r>
          </a:p>
        </p:txBody>
      </p:sp>
      <p:sp>
        <p:nvSpPr>
          <p:cNvPr id="9" name="text-453-179">
            <a:extLst xmlns:a="http://schemas.openxmlformats.org/drawingml/2006/main">
              <a:ext uri="{FF2B5EF4-FFF2-40B4-BE49-F238E27FC236}">
                <a16:creationId xmlns:a16="http://schemas.microsoft.com/office/drawing/2014/main" id="{EDAA22CA-B150-4E9A-83E9-C91192C1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04975"/>
            <a:ext cx="857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0" name="text-453-274">
            <a:extLst xmlns:a="http://schemas.openxmlformats.org/drawingml/2006/main">
              <a:ext uri="{FF2B5EF4-FFF2-40B4-BE49-F238E27FC236}">
                <a16:creationId xmlns:a16="http://schemas.microsoft.com/office/drawing/2014/main" id="{21F48A40-757A-46C6-9164-E574DDCB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09850"/>
            <a:ext cx="3238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Oprávnění</a:t>
            </a:r>
          </a:p>
        </p:txBody>
      </p:sp>
      <p:sp>
        <p:nvSpPr>
          <p:cNvPr id="11" name="text-453-362">
            <a:extLst xmlns:a="http://schemas.openxmlformats.org/drawingml/2006/main">
              <a:ext uri="{FF2B5EF4-FFF2-40B4-BE49-F238E27FC236}">
                <a16:creationId xmlns:a16="http://schemas.microsoft.com/office/drawing/2014/main" id="{136FE86C-1953-4BFE-8E6E-025DF2F6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448050"/>
            <a:ext cx="32385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Veřejně dostupné dílo není automaticky volné. Citace sama nenahrazuje licenci nebo souhlas.</a:t>
            </a:r>
          </a:p>
        </p:txBody>
      </p:sp>
      <p:sp>
        <p:nvSpPr>
          <p:cNvPr id="12" name="text-865-179">
            <a:extLst xmlns:a="http://schemas.openxmlformats.org/drawingml/2006/main">
              <a:ext uri="{FF2B5EF4-FFF2-40B4-BE49-F238E27FC236}">
                <a16:creationId xmlns:a16="http://schemas.microsoft.com/office/drawing/2014/main" id="{FD5021F3-3D1B-452F-A6BC-3B1D72AD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04975"/>
            <a:ext cx="857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3" name="text-865-274">
            <a:extLst xmlns:a="http://schemas.openxmlformats.org/drawingml/2006/main">
              <a:ext uri="{FF2B5EF4-FFF2-40B4-BE49-F238E27FC236}">
                <a16:creationId xmlns:a16="http://schemas.microsoft.com/office/drawing/2014/main" id="{B1A26BD3-C04E-401B-9B64-AEAB4EEF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09850"/>
            <a:ext cx="3238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Autor · zdroj · licence</a:t>
            </a:r>
          </a:p>
        </p:txBody>
      </p:sp>
      <p:sp>
        <p:nvSpPr>
          <p:cNvPr id="14" name="text-865-362">
            <a:extLst xmlns:a="http://schemas.openxmlformats.org/drawingml/2006/main">
              <a:ext uri="{FF2B5EF4-FFF2-40B4-BE49-F238E27FC236}">
                <a16:creationId xmlns:a16="http://schemas.microsoft.com/office/drawing/2014/main" id="{614301D4-BC8C-4000-A6E6-162E889A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48050"/>
            <a:ext cx="32385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U díla dohledávej původ a podmínky použití. Zapiš autora, název, zdroj a licenci.</a:t>
            </a:r>
          </a:p>
        </p:txBody>
      </p:sp>
      <p:sp>
        <p:nvSpPr>
          <p:cNvPr id="15" name="key-line">
            <a:extLst xmlns:a="http://schemas.openxmlformats.org/drawingml/2006/main">
              <a:ext uri="{FF2B5EF4-FFF2-40B4-BE49-F238E27FC236}">
                <a16:creationId xmlns:a16="http://schemas.microsoft.com/office/drawing/2014/main" id="{08C490F2-C7BE-4FBF-BD06-FA680B7D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14975"/>
            <a:ext cx="11410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41-600">
            <a:extLst xmlns:a="http://schemas.openxmlformats.org/drawingml/2006/main">
              <a:ext uri="{FF2B5EF4-FFF2-40B4-BE49-F238E27FC236}">
                <a16:creationId xmlns:a16="http://schemas.microsoft.com/office/drawing/2014/main" id="{84218E70-6B1C-41E8-BB7D-276E8178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15000"/>
            <a:ext cx="11410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Nejde o rychlý tip. Jde o postup, který lze vysvětlit a zopakovat.</a:t>
            </a:r>
          </a:p>
        </p:txBody>
      </p:sp>
    </p:spTree>
    <p:extLst>
      <p:ext uri="{BB962C8B-B14F-4D97-AF65-F5344CB8AC3E}">
        <p14:creationId xmlns:p14="http://schemas.microsoft.com/office/powerpoint/2010/main" val="556157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5DF0FCB9-2DC6-4ACB-93BD-3A0B6783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17–42 MIN · PRÁCE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C4709C29-12FB-4B81-AA1A-0D9C6CFE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Hlavní počítačová aktivita</a:t>
            </a:r>
          </a:p>
        </p:txBody>
      </p:sp>
      <p:sp>
        <p:nvSpPr>
          <p:cNvPr id="3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07A01148-5A23-4FB3-81AB-60747CA7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D7C32C60-7D58-4666-8641-1D5AF71A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1A5BA400-BFFA-4ACC-9A36-ED1E305E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9  /  4</a:t>
            </a:r>
          </a:p>
        </p:txBody>
      </p:sp>
      <p:sp>
        <p:nvSpPr>
          <p:cNvPr id="6" name="text-41-165">
            <a:extLst xmlns:a="http://schemas.openxmlformats.org/drawingml/2006/main">
              <a:ext uri="{FF2B5EF4-FFF2-40B4-BE49-F238E27FC236}">
                <a16:creationId xmlns:a16="http://schemas.microsoft.com/office/drawing/2014/main" id="{9B818240-9C01-4A17-8BF1-DA835CFC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71625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OTEVŘI</a:t>
            </a:r>
          </a:p>
        </p:txBody>
      </p:sp>
      <p:sp>
        <p:nvSpPr>
          <p:cNvPr id="7" name="text-41-202">
            <a:extLst xmlns:a="http://schemas.openxmlformats.org/drawingml/2006/main">
              <a:ext uri="{FF2B5EF4-FFF2-40B4-BE49-F238E27FC236}">
                <a16:creationId xmlns:a16="http://schemas.microsoft.com/office/drawing/2014/main" id="{F0100D29-3A69-49AC-828C-0FDF9347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24050"/>
            <a:ext cx="11049000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9. Díla a licence.csv, digitální pracovní sešit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472C543B-3C5F-4713-917F-C33C0E7B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771775"/>
            <a:ext cx="35623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63-313">
            <a:extLst xmlns:a="http://schemas.openxmlformats.org/drawingml/2006/main">
              <a:ext uri="{FF2B5EF4-FFF2-40B4-BE49-F238E27FC236}">
                <a16:creationId xmlns:a16="http://schemas.microsoft.com/office/drawing/2014/main" id="{5F1BEBB7-0A55-493A-A635-5E1DFE1F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981325"/>
            <a:ext cx="552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0" name="text-63-372">
            <a:extLst xmlns:a="http://schemas.openxmlformats.org/drawingml/2006/main">
              <a:ext uri="{FF2B5EF4-FFF2-40B4-BE49-F238E27FC236}">
                <a16:creationId xmlns:a16="http://schemas.microsoft.com/office/drawing/2014/main" id="{433FA222-4C9A-49CA-92A0-BC822069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5433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Posuď osobní údaje</a:t>
            </a:r>
          </a:p>
        </p:txBody>
      </p:sp>
      <p:sp>
        <p:nvSpPr>
          <p:cNvPr id="11" name="text-63-449">
            <a:extLst xmlns:a="http://schemas.openxmlformats.org/drawingml/2006/main">
              <a:ext uri="{FF2B5EF4-FFF2-40B4-BE49-F238E27FC236}">
                <a16:creationId xmlns:a16="http://schemas.microsoft.com/office/drawing/2014/main" id="{3AFA2630-2416-4FBB-86B6-D195F29E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276725"/>
            <a:ext cx="3143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Rozhodni, zda lze určit člověka a zda je rozsah údajů pro účel nezbytný.</a:t>
            </a:r>
          </a:p>
        </p:txBody>
      </p:sp>
      <p:sp>
        <p:nvSpPr>
          <p:cNvPr id="12" name="step-2">
            <a:extLst xmlns:a="http://schemas.openxmlformats.org/drawingml/2006/main">
              <a:ext uri="{FF2B5EF4-FFF2-40B4-BE49-F238E27FC236}">
                <a16:creationId xmlns:a16="http://schemas.microsoft.com/office/drawing/2014/main" id="{FD3E8299-A741-4F53-9A5D-5EEACB1E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71775"/>
            <a:ext cx="35623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475-313">
            <a:extLst xmlns:a="http://schemas.openxmlformats.org/drawingml/2006/main">
              <a:ext uri="{FF2B5EF4-FFF2-40B4-BE49-F238E27FC236}">
                <a16:creationId xmlns:a16="http://schemas.microsoft.com/office/drawing/2014/main" id="{115B85C1-E7A2-480A-B359-4851AB52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81325"/>
            <a:ext cx="552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4" name="text-475-372">
            <a:extLst xmlns:a="http://schemas.openxmlformats.org/drawingml/2006/main">
              <a:ext uri="{FF2B5EF4-FFF2-40B4-BE49-F238E27FC236}">
                <a16:creationId xmlns:a16="http://schemas.microsoft.com/office/drawing/2014/main" id="{DED66959-DB40-400E-91C4-3537373F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433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Rozhodni o použití díla</a:t>
            </a:r>
          </a:p>
        </p:txBody>
      </p:sp>
      <p:sp>
        <p:nvSpPr>
          <p:cNvPr id="15" name="text-475-449">
            <a:extLst xmlns:a="http://schemas.openxmlformats.org/drawingml/2006/main">
              <a:ext uri="{FF2B5EF4-FFF2-40B4-BE49-F238E27FC236}">
                <a16:creationId xmlns:a16="http://schemas.microsoft.com/office/drawing/2014/main" id="{C3DD0D1D-76B2-4B19-87E7-6B2C7CB0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276725"/>
            <a:ext cx="3143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Dohledej původ, licenci, podmínky a případný souhlas osob na fotografii.</a:t>
            </a:r>
          </a:p>
        </p:txBody>
      </p:sp>
      <p:sp>
        <p:nvSpPr>
          <p:cNvPr id="16" name="step-3">
            <a:extLst xmlns:a="http://schemas.openxmlformats.org/drawingml/2006/main">
              <a:ext uri="{FF2B5EF4-FFF2-40B4-BE49-F238E27FC236}">
                <a16:creationId xmlns:a16="http://schemas.microsoft.com/office/drawing/2014/main" id="{9DDD0043-A980-4AFF-BADB-E9045F96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71775"/>
            <a:ext cx="35623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887-313">
            <a:extLst xmlns:a="http://schemas.openxmlformats.org/drawingml/2006/main">
              <a:ext uri="{FF2B5EF4-FFF2-40B4-BE49-F238E27FC236}">
                <a16:creationId xmlns:a16="http://schemas.microsoft.com/office/drawing/2014/main" id="{84A1D84D-CA64-4BCB-946B-3E30A7B2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981325"/>
            <a:ext cx="552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8" name="text-887-372">
            <a:extLst xmlns:a="http://schemas.openxmlformats.org/drawingml/2006/main">
              <a:ext uri="{FF2B5EF4-FFF2-40B4-BE49-F238E27FC236}">
                <a16:creationId xmlns:a16="http://schemas.microsoft.com/office/drawing/2014/main" id="{144CDEB8-5AB4-4B0E-8CE1-29AE4B3D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5433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Uveď dílo správně</a:t>
            </a:r>
          </a:p>
        </p:txBody>
      </p:sp>
      <p:sp>
        <p:nvSpPr>
          <p:cNvPr id="19" name="text-887-449">
            <a:extLst xmlns:a="http://schemas.openxmlformats.org/drawingml/2006/main">
              <a:ext uri="{FF2B5EF4-FFF2-40B4-BE49-F238E27FC236}">
                <a16:creationId xmlns:a16="http://schemas.microsoft.com/office/drawing/2014/main" id="{81CCF655-1EB3-42C4-B738-07A46A4D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276725"/>
            <a:ext cx="3143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Použij vzorec autor – název – zdroj – licence a ověř podmínky úprav.</a:t>
            </a:r>
          </a:p>
        </p:txBody>
      </p:sp>
      <p:sp>
        <p:nvSpPr>
          <p:cNvPr id="20" name="text-41-585">
            <a:extLst xmlns:a="http://schemas.openxmlformats.org/drawingml/2006/main">
              <a:ext uri="{FF2B5EF4-FFF2-40B4-BE49-F238E27FC236}">
                <a16:creationId xmlns:a16="http://schemas.microsoft.com/office/drawing/2014/main" id="{D517F6C9-9616-4AB4-AD52-154B953C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72125"/>
            <a:ext cx="1524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ODEVZDEJ</a:t>
            </a:r>
          </a:p>
        </p:txBody>
      </p:sp>
      <p:sp>
        <p:nvSpPr>
          <p:cNvPr id="21" name="text-201-581">
            <a:extLst xmlns:a="http://schemas.openxmlformats.org/drawingml/2006/main">
              <a:ext uri="{FF2B5EF4-FFF2-40B4-BE49-F238E27FC236}">
                <a16:creationId xmlns:a16="http://schemas.microsoft.com/office/drawing/2014/main" id="{D788302A-6B83-4ADB-88F7-82753744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534025"/>
            <a:ext cx="9886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Rozhodnutí k modelovým údajům a licencím včetně správného uvedení díla.</a:t>
            </a:r>
          </a:p>
        </p:txBody>
      </p:sp>
    </p:spTree>
    <p:extLst>
      <p:ext uri="{BB962C8B-B14F-4D97-AF65-F5344CB8AC3E}">
        <p14:creationId xmlns:p14="http://schemas.microsoft.com/office/powerpoint/2010/main" val="20185292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3C7CF7B8-4F2A-428E-B40C-EF9BD4EB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PRŮBĚŽNÁ KONTROLA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B1DDB167-7071-4982-9A3A-F84F9F2C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Než práci odevzdáš, ověř čtyři věci</a:t>
            </a:r>
          </a:p>
        </p:txBody>
      </p:sp>
      <p:sp>
        <p:nvSpPr>
          <p:cNvPr id="3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CB43DFC5-7099-4396-AE5A-B5C77CF3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EE713AFA-9683-4F47-88CA-4413F894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DE607DCE-9627-4E18-8631-5F3B24C5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9  /  5</a:t>
            </a:r>
          </a:p>
        </p:txBody>
      </p:sp>
      <p:sp>
        <p:nvSpPr>
          <p:cNvPr id="6" name="check-1">
            <a:extLst xmlns:a="http://schemas.openxmlformats.org/drawingml/2006/main">
              <a:ext uri="{FF2B5EF4-FFF2-40B4-BE49-F238E27FC236}">
                <a16:creationId xmlns:a16="http://schemas.microsoft.com/office/drawing/2014/main" id="{0ED047BF-D451-48C5-B127-7F0C9150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95450"/>
            <a:ext cx="55435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65-205">
            <a:extLst xmlns:a="http://schemas.openxmlformats.org/drawingml/2006/main">
              <a:ext uri="{FF2B5EF4-FFF2-40B4-BE49-F238E27FC236}">
                <a16:creationId xmlns:a16="http://schemas.microsoft.com/office/drawing/2014/main" id="{8A2E124D-982F-4129-88BE-C3706A62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42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8" name="text-125-206">
            <a:extLst xmlns:a="http://schemas.openxmlformats.org/drawingml/2006/main">
              <a:ext uri="{FF2B5EF4-FFF2-40B4-BE49-F238E27FC236}">
                <a16:creationId xmlns:a16="http://schemas.microsoft.com/office/drawing/2014/main" id="{C29B816C-121D-43F6-84B1-39924796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62150"/>
            <a:ext cx="438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Výsledek</a:t>
            </a:r>
          </a:p>
        </p:txBody>
      </p:sp>
      <p:sp>
        <p:nvSpPr>
          <p:cNvPr id="9" name="text-125-255">
            <a:extLst xmlns:a="http://schemas.openxmlformats.org/drawingml/2006/main">
              <a:ext uri="{FF2B5EF4-FFF2-40B4-BE49-F238E27FC236}">
                <a16:creationId xmlns:a16="http://schemas.microsoft.com/office/drawing/2014/main" id="{E8CE6F09-0CD0-4840-B5C3-1DDBBFE3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28875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Student odliší osobní údaj od anonymního údaje a u díla uvede původ, oprávnění a podmínky použití.</a:t>
            </a:r>
          </a:p>
        </p:txBody>
      </p:sp>
      <p:sp>
        <p:nvSpPr>
          <p:cNvPr id="10" name="check-2">
            <a:extLst xmlns:a="http://schemas.openxmlformats.org/drawingml/2006/main">
              <a:ext uri="{FF2B5EF4-FFF2-40B4-BE49-F238E27FC236}">
                <a16:creationId xmlns:a16="http://schemas.microsoft.com/office/drawing/2014/main" id="{DB276AA5-5940-47D0-9C4A-85796AF4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695450"/>
            <a:ext cx="55435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681-205">
            <a:extLst xmlns:a="http://schemas.openxmlformats.org/drawingml/2006/main">
              <a:ext uri="{FF2B5EF4-FFF2-40B4-BE49-F238E27FC236}">
                <a16:creationId xmlns:a16="http://schemas.microsoft.com/office/drawing/2014/main" id="{69DAFA65-9E16-4760-ADEB-CDD38CC8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952625"/>
            <a:ext cx="42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2" name="text-741-206">
            <a:extLst xmlns:a="http://schemas.openxmlformats.org/drawingml/2006/main">
              <a:ext uri="{FF2B5EF4-FFF2-40B4-BE49-F238E27FC236}">
                <a16:creationId xmlns:a16="http://schemas.microsoft.com/office/drawing/2014/main" id="{B281648F-779E-46D9-B916-FF00C818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962150"/>
            <a:ext cx="438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Důvod</a:t>
            </a:r>
          </a:p>
        </p:txBody>
      </p:sp>
      <p:sp>
        <p:nvSpPr>
          <p:cNvPr id="13" name="text-741-255">
            <a:extLst xmlns:a="http://schemas.openxmlformats.org/drawingml/2006/main">
              <a:ext uri="{FF2B5EF4-FFF2-40B4-BE49-F238E27FC236}">
                <a16:creationId xmlns:a16="http://schemas.microsoft.com/office/drawing/2014/main" id="{BD1E1964-F16B-4FA6-8621-1D87147E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428875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Lze údaj spojit s konkrétní osobou přímo nebo kombinací s jinými údaji?</a:t>
            </a:r>
          </a:p>
        </p:txBody>
      </p:sp>
      <p:sp>
        <p:nvSpPr>
          <p:cNvPr id="14" name="check-3">
            <a:extLst xmlns:a="http://schemas.openxmlformats.org/drawingml/2006/main">
              <a:ext uri="{FF2B5EF4-FFF2-40B4-BE49-F238E27FC236}">
                <a16:creationId xmlns:a16="http://schemas.microsoft.com/office/drawing/2014/main" id="{656C4E93-05AB-4D5C-B834-ABAD6CB2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81425"/>
            <a:ext cx="55435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65-424">
            <a:extLst xmlns:a="http://schemas.openxmlformats.org/drawingml/2006/main">
              <a:ext uri="{FF2B5EF4-FFF2-40B4-BE49-F238E27FC236}">
                <a16:creationId xmlns:a16="http://schemas.microsoft.com/office/drawing/2014/main" id="{DA7F153B-B3C4-4AEF-A61D-40B5ACFB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38600"/>
            <a:ext cx="42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6" name="text-125-425">
            <a:extLst xmlns:a="http://schemas.openxmlformats.org/drawingml/2006/main">
              <a:ext uri="{FF2B5EF4-FFF2-40B4-BE49-F238E27FC236}">
                <a16:creationId xmlns:a16="http://schemas.microsoft.com/office/drawing/2014/main" id="{55E6FD34-516E-42E7-BD22-E2FB897E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48125"/>
            <a:ext cx="438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Ověření</a:t>
            </a:r>
          </a:p>
        </p:txBody>
      </p:sp>
      <p:sp>
        <p:nvSpPr>
          <p:cNvPr id="17" name="text-125-474">
            <a:extLst xmlns:a="http://schemas.openxmlformats.org/drawingml/2006/main">
              <a:ext uri="{FF2B5EF4-FFF2-40B4-BE49-F238E27FC236}">
                <a16:creationId xmlns:a16="http://schemas.microsoft.com/office/drawing/2014/main" id="{86A07580-B5A5-4A63-91BC-E7F9F0D2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14850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Je rozsah údajů nezbytný pro uvedený účel?</a:t>
            </a:r>
          </a:p>
        </p:txBody>
      </p:sp>
      <p:sp>
        <p:nvSpPr>
          <p:cNvPr id="18" name="check-4">
            <a:extLst xmlns:a="http://schemas.openxmlformats.org/drawingml/2006/main">
              <a:ext uri="{FF2B5EF4-FFF2-40B4-BE49-F238E27FC236}">
                <a16:creationId xmlns:a16="http://schemas.microsoft.com/office/drawing/2014/main" id="{D3FBAA34-4E70-4FE0-8D12-1B6228DA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81425"/>
            <a:ext cx="55435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681-424">
            <a:extLst xmlns:a="http://schemas.openxmlformats.org/drawingml/2006/main">
              <a:ext uri="{FF2B5EF4-FFF2-40B4-BE49-F238E27FC236}">
                <a16:creationId xmlns:a16="http://schemas.microsoft.com/office/drawing/2014/main" id="{84D2154D-3B23-4D30-92E0-9C761D8F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038600"/>
            <a:ext cx="42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20" name="text-741-425">
            <a:extLst xmlns:a="http://schemas.openxmlformats.org/drawingml/2006/main">
              <a:ext uri="{FF2B5EF4-FFF2-40B4-BE49-F238E27FC236}">
                <a16:creationId xmlns:a16="http://schemas.microsoft.com/office/drawing/2014/main" id="{89CC20C3-4207-4E44-B294-408B40B4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048125"/>
            <a:ext cx="438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Bezpečný krok</a:t>
            </a:r>
          </a:p>
        </p:txBody>
      </p:sp>
      <p:sp>
        <p:nvSpPr>
          <p:cNvPr id="21" name="text-741-474">
            <a:extLst xmlns:a="http://schemas.openxmlformats.org/drawingml/2006/main">
              <a:ext uri="{FF2B5EF4-FFF2-40B4-BE49-F238E27FC236}">
                <a16:creationId xmlns:a16="http://schemas.microsoft.com/office/drawing/2014/main" id="{4E71DAB5-BB40-456B-97CF-B9397244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514850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Kde je uvedeno oprávnění dílo použít a jaké má podmínky?</a:t>
            </a:r>
          </a:p>
        </p:txBody>
      </p:sp>
    </p:spTree>
    <p:extLst>
      <p:ext uri="{BB962C8B-B14F-4D97-AF65-F5344CB8AC3E}">
        <p14:creationId xmlns:p14="http://schemas.microsoft.com/office/powerpoint/2010/main" val="8432308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276D6368-81EC-4878-834C-79386895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36–42 MIN · SPOLEČNĚ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15AB9024-2E97-40FB-8D3E-07ADBC82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Co by měla dobrá odpověď obsahovat</a:t>
            </a:r>
          </a:p>
        </p:txBody>
      </p:sp>
      <p:sp>
        <p:nvSpPr>
          <p:cNvPr id="3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29894180-EAA8-4656-A408-D33D58B3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197EEF4C-8ED7-44A6-848E-8748FD9C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07EA6B88-7F63-45DB-8025-321DCDAC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9  /  6</a:t>
            </a:r>
          </a:p>
        </p:txBody>
      </p:sp>
      <p:sp>
        <p:nvSpPr>
          <p:cNvPr id="6" name="text-41-171">
            <a:extLst xmlns:a="http://schemas.openxmlformats.org/drawingml/2006/main">
              <a:ext uri="{FF2B5EF4-FFF2-40B4-BE49-F238E27FC236}">
                <a16:creationId xmlns:a16="http://schemas.microsoft.com/office/drawing/2014/main" id="{F276E2AB-4EE8-4858-9605-6B4C0EFA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28775"/>
            <a:ext cx="504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PODLOŽENÝ ZÁVĚR</a:t>
            </a:r>
          </a:p>
        </p:txBody>
      </p:sp>
      <p:sp>
        <p:nvSpPr>
          <p:cNvPr id="7" name="text-41-224">
            <a:extLst xmlns:a="http://schemas.openxmlformats.org/drawingml/2006/main">
              <a:ext uri="{FF2B5EF4-FFF2-40B4-BE49-F238E27FC236}">
                <a16:creationId xmlns:a16="http://schemas.microsoft.com/office/drawing/2014/main" id="{2B77438A-476F-441B-B1ED-3C75C2B4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3360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Osobní údaje</a:t>
            </a:r>
          </a:p>
        </p:txBody>
      </p:sp>
      <p:sp>
        <p:nvSpPr>
          <p:cNvPr id="8" name="text-264-224">
            <a:extLst xmlns:a="http://schemas.openxmlformats.org/drawingml/2006/main">
              <a:ext uri="{FF2B5EF4-FFF2-40B4-BE49-F238E27FC236}">
                <a16:creationId xmlns:a16="http://schemas.microsoft.com/office/drawing/2014/main" id="{615BB14B-65B3-4C29-86B4-7117C765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33600"/>
            <a:ext cx="3238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96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Jméno, datum narození, školní e-mail, rozpoznatelná fotografie a poloha se vztahují k identifikované či identifikovatelné osobě.</a:t>
            </a:r>
          </a:p>
        </p:txBody>
      </p:sp>
      <p:sp>
        <p:nvSpPr>
          <p:cNvPr id="9" name="text-41-336">
            <a:extLst xmlns:a="http://schemas.openxmlformats.org/drawingml/2006/main">
              <a:ext uri="{FF2B5EF4-FFF2-40B4-BE49-F238E27FC236}">
                <a16:creationId xmlns:a16="http://schemas.microsoft.com/office/drawing/2014/main" id="{C1E9CB99-42DD-40D8-B3BF-64977C79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0040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Anonymní souhrn</a:t>
            </a:r>
          </a:p>
        </p:txBody>
      </p:sp>
      <p:sp>
        <p:nvSpPr>
          <p:cNvPr id="10" name="text-264-336">
            <a:extLst xmlns:a="http://schemas.openxmlformats.org/drawingml/2006/main">
              <a:ext uri="{FF2B5EF4-FFF2-40B4-BE49-F238E27FC236}">
                <a16:creationId xmlns:a16="http://schemas.microsoft.com/office/drawing/2014/main" id="{04B5257C-2E4F-4205-9782-0E4DDA19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00400"/>
            <a:ext cx="3238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Obvykle není osobním údajem, pokud osobu nelze rozumně zpětně určit.</a:t>
            </a:r>
          </a:p>
        </p:txBody>
      </p:sp>
      <p:sp>
        <p:nvSpPr>
          <p:cNvPr id="11" name="text-41-448">
            <a:extLst xmlns:a="http://schemas.openxmlformats.org/drawingml/2006/main">
              <a:ext uri="{FF2B5EF4-FFF2-40B4-BE49-F238E27FC236}">
                <a16:creationId xmlns:a16="http://schemas.microsoft.com/office/drawing/2014/main" id="{46F4A1AF-B904-49B0-B745-D14636FF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6720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Kódované výsledky</a:t>
            </a:r>
          </a:p>
        </p:txBody>
      </p:sp>
      <p:sp>
        <p:nvSpPr>
          <p:cNvPr id="12" name="text-264-448">
            <a:extLst xmlns:a="http://schemas.openxmlformats.org/drawingml/2006/main">
              <a:ext uri="{FF2B5EF4-FFF2-40B4-BE49-F238E27FC236}">
                <a16:creationId xmlns:a16="http://schemas.microsoft.com/office/drawing/2014/main" id="{A85A9974-24E6-442F-AEB4-A23AAC1F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267200"/>
            <a:ext cx="3238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Mohou zůstat osobními údaji, pokud existuje klíč nebo jiná reálná možnost zpětného přiřazení.</a:t>
            </a:r>
          </a:p>
        </p:txBody>
      </p:sp>
      <p:sp>
        <p:nvSpPr>
          <p:cNvPr id="13" name="misconception-panel">
            <a:extLst xmlns:a="http://schemas.openxmlformats.org/drawingml/2006/main">
              <a:ext uri="{FF2B5EF4-FFF2-40B4-BE49-F238E27FC236}">
                <a16:creationId xmlns:a16="http://schemas.microsoft.com/office/drawing/2014/main" id="{98F22C86-8EB3-4571-800E-A59B1D31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628775"/>
            <a:ext cx="55435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691-203">
            <a:extLst xmlns:a="http://schemas.openxmlformats.org/drawingml/2006/main">
              <a:ext uri="{FF2B5EF4-FFF2-40B4-BE49-F238E27FC236}">
                <a16:creationId xmlns:a16="http://schemas.microsoft.com/office/drawing/2014/main" id="{40563283-0131-4136-B2DF-94EC2BD5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933575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POZOR NA ZKRATKU</a:t>
            </a:r>
          </a:p>
        </p:txBody>
      </p:sp>
      <p:sp>
        <p:nvSpPr>
          <p:cNvPr id="15" name="text-691-263">
            <a:extLst xmlns:a="http://schemas.openxmlformats.org/drawingml/2006/main">
              <a:ext uri="{FF2B5EF4-FFF2-40B4-BE49-F238E27FC236}">
                <a16:creationId xmlns:a16="http://schemas.microsoft.com/office/drawing/2014/main" id="{537CF7E2-B6B0-4466-92EC-F357C910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505075"/>
            <a:ext cx="4667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„Na všechno je potřeba souhlas.“</a:t>
            </a:r>
          </a:p>
        </p:txBody>
      </p:sp>
      <p:sp>
        <p:nvSpPr>
          <p:cNvPr id="16" name="text-691-382">
            <a:extLst xmlns:a="http://schemas.openxmlformats.org/drawingml/2006/main">
              <a:ext uri="{FF2B5EF4-FFF2-40B4-BE49-F238E27FC236}">
                <a16:creationId xmlns:a16="http://schemas.microsoft.com/office/drawing/2014/main" id="{0BD1120A-F654-4E7F-A4AF-8DBAD11D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638550"/>
            <a:ext cx="4667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Ptejte se na účel a právní základ; ve vztahu školy a žáka může být souhlas problematický.</a:t>
            </a:r>
          </a:p>
        </p:txBody>
      </p:sp>
      <p:sp>
        <p:nvSpPr>
          <p:cNvPr id="17" name="text-41-576">
            <a:extLst xmlns:a="http://schemas.openxmlformats.org/drawingml/2006/main">
              <a:ext uri="{FF2B5EF4-FFF2-40B4-BE49-F238E27FC236}">
                <a16:creationId xmlns:a16="http://schemas.microsoft.com/office/drawing/2014/main" id="{6FEC4D6F-6511-4E4D-AB94-6505FA6D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86400"/>
            <a:ext cx="11410950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Vrať se k úvodnímu rozhodnutí. Co bys teď změnil — a proč?</a:t>
            </a:r>
          </a:p>
        </p:txBody>
      </p:sp>
    </p:spTree>
    <p:extLst>
      <p:ext uri="{BB962C8B-B14F-4D97-AF65-F5344CB8AC3E}">
        <p14:creationId xmlns:p14="http://schemas.microsoft.com/office/powerpoint/2010/main" val="19705291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">
            <a:extLst xmlns:a="http://schemas.openxmlformats.org/drawingml/2006/main">
              <a:ext uri="{FF2B5EF4-FFF2-40B4-BE49-F238E27FC236}">
                <a16:creationId xmlns:a16="http://schemas.microsoft.com/office/drawing/2014/main" id="{AEE1E276-C29B-417B-AEC9-7364B43A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54-48">
            <a:extLst xmlns:a="http://schemas.openxmlformats.org/drawingml/2006/main">
              <a:ext uri="{FF2B5EF4-FFF2-40B4-BE49-F238E27FC236}">
                <a16:creationId xmlns:a16="http://schemas.microsoft.com/office/drawing/2014/main" id="{43A7D6BC-2110-4ABB-A09A-ABBD9570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HODINA 9 · POSLEDNÍ 3 MINUTY</a:t>
            </a:r>
          </a:p>
        </p:txBody>
      </p:sp>
      <p:sp>
        <p:nvSpPr>
          <p:cNvPr id="3" name="text-54-154">
            <a:extLst xmlns:a="http://schemas.openxmlformats.org/drawingml/2006/main">
              <a:ext uri="{FF2B5EF4-FFF2-40B4-BE49-F238E27FC236}">
                <a16:creationId xmlns:a16="http://schemas.microsoft.com/office/drawing/2014/main" id="{3383A2C5-2201-4338-AC49-A6866014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5810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Exit ticket</a:t>
            </a:r>
          </a:p>
        </p:txBody>
      </p:sp>
      <p:sp>
        <p:nvSpPr>
          <p:cNvPr id="4" name="text-54-278">
            <a:extLst xmlns:a="http://schemas.openxmlformats.org/drawingml/2006/main">
              <a:ext uri="{FF2B5EF4-FFF2-40B4-BE49-F238E27FC236}">
                <a16:creationId xmlns:a16="http://schemas.microsoft.com/office/drawing/2014/main" id="{F6A71A98-FC87-42A3-88B4-8C9F279B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1047750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Co musíš ověřit před vložením cizí fotografie do veřejné školní prezentace?</a:t>
            </a:r>
          </a:p>
        </p:txBody>
      </p:sp>
      <p:sp>
        <p:nvSpPr>
          <p:cNvPr id="5" name="exit-line">
            <a:extLst xmlns:a="http://schemas.openxmlformats.org/drawingml/2006/main">
              <a:ext uri="{FF2B5EF4-FFF2-40B4-BE49-F238E27FC236}">
                <a16:creationId xmlns:a16="http://schemas.microsoft.com/office/drawing/2014/main" id="{09801632-B1DD-40AA-BE59-885595F8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4-544">
            <a:extLst xmlns:a="http://schemas.openxmlformats.org/drawingml/2006/main">
              <a:ext uri="{FF2B5EF4-FFF2-40B4-BE49-F238E27FC236}">
                <a16:creationId xmlns:a16="http://schemas.microsoft.com/office/drawing/2014/main" id="{EF209EBC-18F4-4D20-A94B-E604382D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81600"/>
            <a:ext cx="914400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Odpověz samostatně jednou až třemi větami. Uveď konkrétní krok nebo důvod.</a:t>
            </a:r>
          </a:p>
        </p:txBody>
      </p:sp>
      <p:sp>
        <p:nvSpPr>
          <p:cNvPr id="7" name="text-1070-548">
            <a:extLst xmlns:a="http://schemas.openxmlformats.org/drawingml/2006/main">
              <a:ext uri="{FF2B5EF4-FFF2-40B4-BE49-F238E27FC236}">
                <a16:creationId xmlns:a16="http://schemas.microsoft.com/office/drawing/2014/main" id="{EBBA4D2F-E68B-4581-BFE2-B27551D9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19700"/>
            <a:ext cx="8953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535635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Karel Hlas</dc:creator>
  <cp:lastModifiedBy>Karel Hlas</cp:lastModifiedBy>
  <dc:title>Presentation</dc:title>
  <dcterms:created xsi:type="dcterms:W3CDTF">2026-07-24T00:00:00Z</dcterms:created>
  <dcterms:modified xsi:type="dcterms:W3CDTF">2026-07-24T00:00:00Z</dcterms:modified>
  <dc:description/>
</cp:coreProperties>
</file>