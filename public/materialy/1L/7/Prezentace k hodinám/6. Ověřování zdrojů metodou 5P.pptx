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5653bd22224e5b" /><Relationship Type="http://schemas.openxmlformats.org/officeDocument/2006/relationships/extended-properties" Target="/docProps/app.xml" Id="R20d549e04c3e4b71" /><Relationship Type="http://schemas.openxmlformats.org/officeDocument/2006/relationships/officeDocument" Target="/ppt/presentation.xml" Id="R8d30abb596c64e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36b9da51804bd5"/>
  </p:sldMasterIdLst>
  <p:notesMasterIdLst>
    <p:notesMasterId xmlns:r="http://schemas.openxmlformats.org/officeDocument/2006/relationships" r:id="R3e1c349cd8314640"/>
  </p:notesMasterIdLst>
  <p:sldIdLst>
    <p:sldId xmlns:r="http://schemas.openxmlformats.org/officeDocument/2006/relationships" id="256" r:id="R2f2f0d4503174885"/>
    <p:sldId xmlns:r="http://schemas.openxmlformats.org/officeDocument/2006/relationships" id="257" r:id="R96255d3f0fcd4df6"/>
    <p:sldId xmlns:r="http://schemas.openxmlformats.org/officeDocument/2006/relationships" id="258" r:id="R5eca4331176c46b5"/>
    <p:sldId xmlns:r="http://schemas.openxmlformats.org/officeDocument/2006/relationships" id="259" r:id="Rdf6a6ac1ea8646e6"/>
    <p:sldId xmlns:r="http://schemas.openxmlformats.org/officeDocument/2006/relationships" id="260" r:id="Rfdd2ddbfdd6248b7"/>
    <p:sldId xmlns:r="http://schemas.openxmlformats.org/officeDocument/2006/relationships" id="261" r:id="Rfc22c3b49cb94427"/>
    <p:sldId xmlns:r="http://schemas.openxmlformats.org/officeDocument/2006/relationships" id="262" r:id="Ra657e978db5640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a67c602747495a" /><Relationship Type="http://schemas.openxmlformats.org/officeDocument/2006/relationships/slideMaster" Target="/ppt/slideMasters/slideMaster1.xml" Id="R9836b9da51804bd5" /><Relationship Type="http://schemas.openxmlformats.org/officeDocument/2006/relationships/notesMaster" Target="/ppt/notesMasters/notesMaster1.xml" Id="R3e1c349cd8314640" /><Relationship Type="http://schemas.openxmlformats.org/officeDocument/2006/relationships/presProps" Target="/ppt/presProps.xml" Id="R1c23d08846e54634" /><Relationship Type="http://schemas.openxmlformats.org/officeDocument/2006/relationships/tableStyles" Target="/ppt/tableStyles.xml" Id="Rc73e2eee863d4891" /><Relationship Type="http://schemas.openxmlformats.org/officeDocument/2006/relationships/slide" Target="/ppt/slides/slide1.xml" Id="R2f2f0d4503174885" /><Relationship Type="http://schemas.openxmlformats.org/officeDocument/2006/relationships/slide" Target="/ppt/slides/slide2.xml" Id="R96255d3f0fcd4df6" /><Relationship Type="http://schemas.openxmlformats.org/officeDocument/2006/relationships/slide" Target="/ppt/slides/slide3.xml" Id="R5eca4331176c46b5" /><Relationship Type="http://schemas.openxmlformats.org/officeDocument/2006/relationships/slide" Target="/ppt/slides/slide4.xml" Id="Rdf6a6ac1ea8646e6" /><Relationship Type="http://schemas.openxmlformats.org/officeDocument/2006/relationships/slide" Target="/ppt/slides/slide5.xml" Id="Rfdd2ddbfdd6248b7" /><Relationship Type="http://schemas.openxmlformats.org/officeDocument/2006/relationships/slide" Target="/ppt/slides/slide6.xml" Id="Rfc22c3b49cb94427" /><Relationship Type="http://schemas.openxmlformats.org/officeDocument/2006/relationships/slide" Target="/ppt/slides/slide7.xml" Id="Ra657e978db5640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c360105c1a49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b97c41b14843d2" /><Relationship Type="http://schemas.openxmlformats.org/officeDocument/2006/relationships/notesMaster" Target="/ppt/notesMasters/notesMaster1.xml" Id="Rf0abf5e610a140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0a3b1f44e84071" /><Relationship Type="http://schemas.openxmlformats.org/officeDocument/2006/relationships/notesMaster" Target="/ppt/notesMasters/notesMaster1.xml" Id="R0a2fbb47c4d340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b4aca9ba84453d" /><Relationship Type="http://schemas.openxmlformats.org/officeDocument/2006/relationships/notesMaster" Target="/ppt/notesMasters/notesMaster1.xml" Id="R7efbc1704e6542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b95c43362f47b1" /><Relationship Type="http://schemas.openxmlformats.org/officeDocument/2006/relationships/notesMaster" Target="/ppt/notesMasters/notesMaster1.xml" Id="R96b41f95a28a42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1d5b96e9f94ff3" /><Relationship Type="http://schemas.openxmlformats.org/officeDocument/2006/relationships/notesMaster" Target="/ppt/notesMasters/notesMaster1.xml" Id="R3212216c286149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34670829e40c5" /><Relationship Type="http://schemas.openxmlformats.org/officeDocument/2006/relationships/notesMaster" Target="/ppt/notesMasters/notesMaster1.xml" Id="R181da3e080fa48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849ab82d6b4f89" /><Relationship Type="http://schemas.openxmlformats.org/officeDocument/2006/relationships/notesMaster" Target="/ppt/notesMasters/notesMaster1.xml" Id="R3e3c0b72e229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postupně porovná clickbaitový web, univerzitní zprávu a původní studii a vytvoří přiměřený závěr.</a:t>
            </a:r>
          </a:p>
          <a:p xmlns:a="http://schemas.openxmlformats.org/drawingml/2006/main">
            <a:r>
              <a:t>Soubory: Zdroj A.html, Zdroj B.html, Zdroj C.html z balíčku V2</a:t>
            </a:r>
          </a:p>
          <a:p xmlns:a="http://schemas.openxmlformats.org/drawingml/2006/main">
            <a:r>
              <a:t>Výstup: Protokol 5P, opravený titulek a závěr s vyjádřenou mírou jistoty.</a:t>
            </a:r>
          </a:p>
          <a:p xmlns:a="http://schemas.openxmlformats.org/drawingml/2006/main">
            <a:r>
              <a:t>Před otevřením dalšího snímku stručně uveď téma a nech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Činnost: Zdroj A: první dojem.</a:t>
            </a:r>
          </a:p>
          <a:p xmlns:a="http://schemas.openxmlformats.org/drawingml/2006/main">
            <a:r>
              <a:t>Postup učitele: Studenti samostatně zapíší, čemu článek chce, aby věřili a co udělali.</a:t>
            </a:r>
          </a:p>
          <a:p xmlns:a="http://schemas.openxmlformats.org/drawingml/2006/main">
            <a:r>
              <a:t>Otázka pro studenty: Tvrzení zní přesvědčivě. Kde je ale původní důkaz?</a:t>
            </a:r>
          </a:p>
          <a:p xmlns:a="http://schemas.openxmlformats.org/drawingml/2006/main">
            <a:r>
              <a:t>Neprozrazuj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5–11 minut.</a:t>
            </a:r>
          </a:p>
          <a:p xmlns:a="http://schemas.openxmlformats.org/drawingml/2006/main">
            <a:r>
              <a:t>Činnost: Metoda 5P.</a:t>
            </a:r>
          </a:p>
          <a:p xmlns:a="http://schemas.openxmlformats.org/drawingml/2006/main">
            <a:r>
              <a:t>Postup učitele: Ke každému P společně formuluj jednu kontrolní otázku.</a:t>
            </a:r>
          </a:p>
          <a:p xmlns:a="http://schemas.openxmlformats.org/drawingml/2006/main">
            <a:r>
              <a:t>Klíčové závěry: Původce: A je komerční web prodávající playlist, B univerzitní komunikace, C původní fiktivní odborná studie. | Původní zdroj: Zdroj C s popisem metody, dat a omezení. | Podklady: 32 účastníků, tři podmínky a tři krátké úlohy; rozdíl se projevil pouze v jedné úloze.</a:t>
            </a:r>
          </a:p>
          <a:p xmlns:a="http://schemas.openxmlformats.org/drawingml/2006/main">
            <a:r>
              <a:t>Nech studenty doplnit příklad ke každému bodu. Přechod k aktivitě proveď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Zdroj A.html, Zdroj B.html, Zdroj C.html z balíčku V2</a:t>
            </a:r>
          </a:p>
          <a:p xmlns:a="http://schemas.openxmlformats.org/drawingml/2006/main">
            <a:r>
              <a:t>11–19 min – Zdroj B: Porovnej přesnost titulku, velikost vzorku a uvedená omezení.</a:t>
            </a:r>
          </a:p>
          <a:p xmlns:a="http://schemas.openxmlformats.org/drawingml/2006/main">
            <a:r>
              <a:t>19–30 min – Zdroj C: Dohledávej původní tvrzení, metodu, výsledek a limity.</a:t>
            </a:r>
          </a:p>
          <a:p xmlns:a="http://schemas.openxmlformats.org/drawingml/2006/main">
            <a:r>
              <a:t>30–39 min – Protokol a nový titulek: Požaduj formulaci odpovídající skutečné síle podkladů.</a:t>
            </a:r>
          </a:p>
          <a:p xmlns:a="http://schemas.openxmlformats.org/drawingml/2006/main">
            <a:r>
              <a:t>39–42 min – Obhajoba: Skupiny sdílí důkaz, který nejvíce změnil jejich závěr.</a:t>
            </a:r>
          </a:p>
          <a:p xmlns:a="http://schemas.openxmlformats.org/drawingml/2006/main">
            <a:r>
              <a:t>Požadovaný výstup: Protokol 5P, opravený titulek a závěr s vyjádřenou mírou jistoty.</a:t>
            </a:r>
          </a:p>
          <a:p xmlns:a="http://schemas.openxmlformats.org/drawingml/2006/main">
            <a:r>
              <a:t>Během práce nepřebírej myš za studenta. Pomáhej otázkami z dalšího snímku a žádej, aby každé rozhodnutí opřel o 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Student dohledá původní zdroj, uvede omezení studie a odliší data od obchodního tvrzení.</a:t>
            </a:r>
          </a:p>
          <a:p xmlns:a="http://schemas.openxmlformats.org/drawingml/2006/main">
            <a:r>
              <a:t>Vodicí otázky: Kdo obsah vytvořil a jaký má vztah k tvrzení? | Kde je původní studie a co skutečně měřila? | Která část titulku jde dál než dostupná data?</a:t>
            </a:r>
          </a:p>
          <a:p xmlns:a="http://schemas.openxmlformats.org/drawingml/2006/main">
            <a:r>
              <a:t>Podpora: Rozděl protokol na pět barevně označených polí a každé skupině přiděl nejprve jedno P.</a:t>
            </a:r>
          </a:p>
          <a:p xmlns:a="http://schemas.openxmlformats.org/drawingml/2006/main">
            <a:r>
              <a:t>Rozšíření: Studenti vytvoří dva titulky: přesný populárně-naučný a stále přitažlivý, ale nepřehánějící.</a:t>
            </a:r>
          </a:p>
          <a:p xmlns:a="http://schemas.openxmlformats.org/drawingml/2006/main">
            <a:r>
              <a:t>Pro rychlou mezikontrolu nech dvojice vyměnit výstup a označit jeden dobře doložený bod a 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Původce: A je komerční web prodávající playlist, B univerzitní komunikace, C původní fiktivní odborná studie. | Původní zdroj: Zdroj C s popisem metody, dat a omezení. | Podklady: 32 účastníků, tři podmínky a tři krátké úlohy; rozdíl se projevil pouze v jedné úloze. | Porovnání: Zdroj A zobecňuje dílčí výsledek a uvádí 40 %, které studie jako univerzální efekt nepotvrzuje. | Působení: Zdroj A používá naléhavý titulek a partnerský prodej; B informuje, C dokumentuje výzkum. | Přiměřený závěr: Malá pilotní studie zjistila dílčí rozdíl v jedné paměťové úloze; nelze tvrdit, že hudba zlepší paměť všem o 40 %.</a:t>
            </a:r>
          </a:p>
          <a:p xmlns:a="http://schemas.openxmlformats.org/drawingml/2006/main">
            <a:r>
              <a:t>Časté chyby a intervence: „Profesionální vzhled znamená důvěryhodnost.“ → Design je pouze signál; rozhodují původ, podklady, transparentnost a nezávislé potvrzení. | „Zdroj B je původní studie.“ → Univerzitní zpráva výzkum shrnuje; původní metoda a omezení jsou až ve zdroji C. | Student rozhodne jen pravda/nepravda. → Požaduj přesnější formulaci a míru jistoty: potvrzeno, vyvráceno, nebo nelze rozhodnout.</a:t>
            </a:r>
          </a:p>
          <a:p xmlns:a="http://schemas.openxmlformats.org/drawingml/2006/main">
            <a:r>
              <a:t>Nečti celý klíč. Vyber dva studentské postupy, které vedou k odlišným závěrům, a nech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Který jeden detail ze zdroje C nejvíce změnil tvé hodnocení titulku A a proč?</a:t>
            </a:r>
          </a:p>
          <a:p xmlns:a="http://schemas.openxmlformats.org/drawingml/2006/main">
            <a:r>
              <a:t>Podpora: Rozděl protokol na pět barevně označených polí a každé skupině přiděl nejprve jedno P.</a:t>
            </a:r>
          </a:p>
          <a:p xmlns:a="http://schemas.openxmlformats.org/drawingml/2006/main">
            <a:r>
              <a:t>Rozšíření: Studenti vytvoří dva titulky: přesný populárně-naučný a stále přitažlivý, ale nepřehánějící.</a:t>
            </a:r>
          </a:p>
          <a:p xmlns:a="http://schemas.openxmlformats.org/drawingml/2006/main">
            <a:r>
              <a:t>Když technika selže: Všechny tři zdroje jsou offline; při problému s prohlížečem použij jejich shrnutí v pracovním sešitu.</a:t>
            </a:r>
          </a:p>
          <a:p xmlns:a="http://schemas.openxmlformats.org/drawingml/2006/main">
            <a:r>
              <a:t>Vyber způsob odevzdání předem. Odpověď použij jako diagnostiku pro začátek další hodiny; nehodnoť pouze formální správnost, ale konkrétnost a 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dd4619e0249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111112b8ec4472" /><Relationship Type="http://schemas.openxmlformats.org/officeDocument/2006/relationships/slideLayout" Target="/ppt/slideLayouts/slideLayout1.xml" Id="Rdd325390f64b45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325390f64b45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d6ca8b5ed4713" /><Relationship Type="http://schemas.openxmlformats.org/officeDocument/2006/relationships/notesSlide" Target="/ppt/notesSlides/notesSlide1.xml" Id="Ree0071eef3d44f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ac52153784b51" /><Relationship Type="http://schemas.openxmlformats.org/officeDocument/2006/relationships/image" Target="/ppt/media/image.png" Id="R49923a8c145941e5" /><Relationship Type="http://schemas.openxmlformats.org/officeDocument/2006/relationships/notesSlide" Target="/ppt/notesSlides/notesSlide2.xml" Id="Ra74375c9b82146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17250bfb74030" /><Relationship Type="http://schemas.openxmlformats.org/officeDocument/2006/relationships/notesSlide" Target="/ppt/notesSlides/notesSlide3.xml" Id="Rff691418177640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edae4ee9d42f6" /><Relationship Type="http://schemas.openxmlformats.org/officeDocument/2006/relationships/notesSlide" Target="/ppt/notesSlides/notesSlide4.xml" Id="Rcb5a9f166dae47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342b7a517432e" /><Relationship Type="http://schemas.openxmlformats.org/officeDocument/2006/relationships/notesSlide" Target="/ppt/notesSlides/notesSlide5.xml" Id="Rc512a839fe5340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622f5957d4a00" /><Relationship Type="http://schemas.openxmlformats.org/officeDocument/2006/relationships/notesSlide" Target="/ppt/notesSlides/notesSlide6.xml" Id="R02cb4bb33b5045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cfcae10344a9a" /><Relationship Type="http://schemas.openxmlformats.org/officeDocument/2006/relationships/notesSlide" Target="/ppt/notesSlides/notesSlide7.xml" Id="R89df14beeb1d4b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849CF539-56A2-41A6-8118-DB191B57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10258F09-B80D-4F8A-BA80-4DBB6CC1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HODINA 6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F64B671D-C5CE-45F2-8651-57CB67E7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 PRÁCE S 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B4EB83B0-9EB5-4B75-9FBD-FF9B8E2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Ověřování zdrojů metodou 5P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823B66E9-439A-4677-BBA8-C81795A3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postupně porovná clickbaitový web, univerzitní zprávu a původní studii a vytvoří přiměřený závěr.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07D073B5-B53B-4BD3-B829-F47C43D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8FA1AE59-5603-4D58-A6CA-5DFB25A4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3A9CCD91-0346-4CE8-9871-4FE7B91D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364407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CC4A377D-0116-4BEF-BFF9-CC309B02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0–5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B683297A-B0BD-468E-AED6-EBD30E1B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66EC4F2-5F7B-4D41-97DD-7B1DE586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3A0844F8-B985-4BA1-A265-CE51CF0A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1A157815-CC7E-4390-B81D-6FC619E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6  /  2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3435BCA1-D2A7-4D90-8C53-47EE8887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pic>
        <p:nvPicPr>
          <p:cNvPr id="16" name="activity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23a8c145941e5"/>
          <a:srcRect xmlns:a="http://schemas.openxmlformats.org/drawingml/2006/main" l="0" t="17709" r="0" b="177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/>
          </a:prstGeom>
        </p:spPr>
      </p:pic>
      <p:sp>
        <p:nvSpPr>
          <p:cNvPr id="8" name="text-41-188">
            <a:extLst xmlns:a="http://schemas.openxmlformats.org/drawingml/2006/main">
              <a:ext uri="{FF2B5EF4-FFF2-40B4-BE49-F238E27FC236}">
                <a16:creationId xmlns:a16="http://schemas.microsoft.com/office/drawing/2014/main" id="{5B43A016-5FB8-41AD-BDC9-D7809EAB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238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Tvrzení zní přesvědčivě. Kde je ale původní důkaz?</a:t>
            </a:r>
          </a:p>
        </p:txBody>
      </p:sp>
      <p:sp>
        <p:nvSpPr>
          <p:cNvPr id="9" name="text-41-444">
            <a:extLst xmlns:a="http://schemas.openxmlformats.org/drawingml/2006/main">
              <a:ext uri="{FF2B5EF4-FFF2-40B4-BE49-F238E27FC236}">
                <a16:creationId xmlns:a16="http://schemas.microsoft.com/office/drawing/2014/main" id="{72CCDA79-B27A-4304-87A4-7C6A6134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29100"/>
            <a:ext cx="4953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1  Rozhodni sám
2  Zapiš konkrétní důvod
3  Porovnej ve dvojici</a:t>
            </a:r>
          </a:p>
        </p:txBody>
      </p:sp>
    </p:spTree>
    <p:extLst>
      <p:ext uri="{BB962C8B-B14F-4D97-AF65-F5344CB8AC3E}">
        <p14:creationId xmlns:p14="http://schemas.microsoft.com/office/powerpoint/2010/main" val="411171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E0215714-FDED-48D8-938C-749CE1E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5–11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10DB2A09-97C4-4A0B-A4D5-73C0235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6317EAEF-ECD6-4E34-90AB-09500F81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5B0905CA-DB87-46F9-A2BF-39DD1884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EE6EB02C-4911-41DF-A521-A5463328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6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CB14F7AB-AB64-4427-9979-516CC50A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3E1BACC9-656A-4CC3-A36D-D89212B2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Původce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32132127-E7CC-4DEE-B889-4E8398E2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Zjisti, kdo obsah vytvořil a jaký má vztah k tvrzení. Má něco prodat nebo pouze informuje?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CE66CC8D-ECF5-4F3C-9423-6496910B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46CB0656-1AD6-4BC0-A45A-D8D5763A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Původní zdroj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49DC8E6A-4CAF-4A03-95A3-EB452E16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Nespoléhej na přepis. Dohledávej studii, data, dokument nebo vyjádření, ze kterého tvrzení vychází.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E8626F07-512E-4533-8939-F09D884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59EBAB3D-581F-41EF-BF98-04F19167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Podklady a působení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144A48B5-679F-4BDF-BD18-40D0E974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Porovnej metodu, omezení a nezávislé zdroje. Sleduj také emoce a výzvu k akci.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370DCD0B-6574-4B01-9F9F-ACFE5728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5EB03F4B-7595-4F52-A513-9A67E359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 rychlý tip. Jde o postup, který lze vysvětlit a zopakovat.</a:t>
            </a:r>
          </a:p>
        </p:txBody>
      </p:sp>
    </p:spTree>
    <p:extLst>
      <p:ext uri="{BB962C8B-B14F-4D97-AF65-F5344CB8AC3E}">
        <p14:creationId xmlns:p14="http://schemas.microsoft.com/office/powerpoint/2010/main" val="1561438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00344BD5-64FA-456A-B169-89520219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11–42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FA91C3FB-171F-4415-8DA5-E716FB5A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47317B25-E769-4C43-BB08-F9C72BA4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18443248-30EC-41BF-B038-3A7E4896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765C4DA3-B404-4AF1-B9F9-95AA761C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6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425FC0A5-6186-4663-A79F-1F083A1E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9CE4755D-5DFE-48E8-9FC4-13A30F1E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Zdroj A.html, Zdroj B.html, Zdroj C.html ze složky Podklady k aktivitám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2BCC4DEB-5EF5-4779-BF86-807893BB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ACA8C593-2E8B-4DCD-854F-AC69291A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68DF0447-0BE0-482F-8D22-FA3BDBE9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Otevři zdroj A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C9613C8C-F6EC-4596-98BC-739CF3D2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Zapiš, čemu chce článek, abys věřil, a k jaké akci tě vede.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50CDCDD6-8936-444A-A4B0-D23E2889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C6B00E24-AA10-459F-8986-97251465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AFCA92C0-E724-4414-B444-58B7BA84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A, B a C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2C263F70-8E34-4D9F-B737-E1AE0DD0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Dohledávej původní tvrzení, velikost vzorku, metodu, výsledek a omezení.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4007EE07-D3CD-4099-9F76-60EC01E4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A0253E5A-9F48-423D-AB4B-95268C6A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0B3FF9F1-F46E-466E-8A6C-D07B0B4E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Napiš nový titulek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EBD0A3AD-347B-4929-BC1A-F56B7BA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Formuluj závěr, který odpovídá skutečné síle podkladů a přiznává nejistotu.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10E95A0E-29E8-4E80-912C-C4BF78F9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B13A77EF-5835-4136-A461-A356DC9A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Protokol 5P, opravený titulek a závěr s vyjádřenou mírou jistoty.</a:t>
            </a:r>
          </a:p>
        </p:txBody>
      </p:sp>
    </p:spTree>
    <p:extLst>
      <p:ext uri="{BB962C8B-B14F-4D97-AF65-F5344CB8AC3E}">
        <p14:creationId xmlns:p14="http://schemas.microsoft.com/office/powerpoint/2010/main" val="55792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C840B1BB-A9DD-407A-B5A7-77CC43B0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62ED8B38-B59A-4CB5-96B9-9565B5B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62547E96-CE11-4916-BD27-9CE9BEF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7087D53A-CE4F-4BB1-9D96-A14E4419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D90215EA-4A45-421F-A717-6B712AB5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6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81957630-DFD3-4E71-ADD3-6DC3AE8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E2A9E35A-948E-436C-9F33-B4E65B61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92B2BBD3-1A9D-4D45-8396-E8D2B865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3431712C-0D5C-4FF0-9FAA-4975462D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dohledá původní zdroj, uvede omezení studie a odliší data od obchodního tvrzení.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B995AF9B-F3B2-4BAE-B1A8-F385A32C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CA5035F9-5E78-4186-B7B0-04263926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982329A2-A82A-487E-9B5D-1B72C9A2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2355D9D5-4AD4-4686-9DA8-D0715939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Kdo obsah vytvořil a jaký má vztah k tvrzení?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4922D270-E9E1-4E51-A3C8-6808A11D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D3F6D113-DAD5-4CB8-9BDB-B174525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C2757805-75BE-435B-AEEB-A026B2AC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DC601F57-77A4-484E-9A07-1CBBC06B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Kde je původní studie a co skutečně měřila?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2DE968BA-CD05-4AF0-AC5E-D113CCA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E54E77E9-78ED-456A-AE4C-868E76E2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CBA94DBE-D9BF-405D-AF96-81858F7C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AFA9C3CB-C5B9-4F12-9B04-B2762465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Která část titulku jde dál než dostupná data?</a:t>
            </a:r>
          </a:p>
        </p:txBody>
      </p:sp>
    </p:spTree>
    <p:extLst>
      <p:ext uri="{BB962C8B-B14F-4D97-AF65-F5344CB8AC3E}">
        <p14:creationId xmlns:p14="http://schemas.microsoft.com/office/powerpoint/2010/main" val="1690190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A44436AA-7862-4018-B622-94C860D3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39–42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75A21099-B177-4091-82D3-B470D22E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D2FA7D1-7885-48B3-B71E-9E9539B7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37066CBF-7F81-48C6-A345-1AC17B0A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B569238E-4357-48C1-A914-DC118DE1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6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763B07AE-2F6E-461B-829E-47B00751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F31B3AAB-16A4-4856-B3F3-26AFBB79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Původce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405E7ACE-2C91-43EB-A84D-1355D002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A je komerční web prodávající playlist, B univerzitní komunikace, C původní fiktivní odborná studie.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FCAF8F35-049C-42AD-9FF0-EC6E8DE1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Původní zdroj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56C99570-8031-4756-B4B8-4CCD27E8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Zdroj C s popisem metody, dat a omezení.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4EC0C141-EE3E-4C6E-880B-7EFCDD14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Podklady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3971408A-4826-496E-BA85-F5A15901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32 účastníků, tři podmínky a tři krátké úlohy; rozdíl se projevil pouze v jedné úloze.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24B2D132-BD15-4CB4-95AA-F6B93104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DD326692-5D8A-452F-84AE-F753F80D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E4319035-428C-4AA4-A81B-D5F52E2B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„Profesionální vzhled znamená důvěryhodnost.“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A9FA7F82-7BED-4469-8B83-13706EF1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Design je pouze signál; rozhodují původ, podklady, transparentnost a nezávislé potvrzení.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9C90347D-CE78-4B0D-85C6-FFBA71EF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 úvodnímu rozhodnutí. Co bys teď změnil — a proč?</a:t>
            </a:r>
          </a:p>
        </p:txBody>
      </p:sp>
    </p:spTree>
    <p:extLst>
      <p:ext uri="{BB962C8B-B14F-4D97-AF65-F5344CB8AC3E}">
        <p14:creationId xmlns:p14="http://schemas.microsoft.com/office/powerpoint/2010/main" val="1214176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FD18ED99-3520-4472-B24B-B342B888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E17E3294-D637-434A-AE78-0FE6E15F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HODINA 6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940BA581-A3BA-4E71-85CE-210DFFF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5C86D7B7-27ED-46F0-B002-D3AAECC1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Který jeden detail ze zdroje C nejvíce změnil tvé hodnocení titulku A a proč?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08D97AE9-15F7-4415-93AF-CE4D4AC2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C27496D2-82C1-41B5-AE7C-45B3F02A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B622E1A7-8EAB-4ADC-8518-4379AA63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B86B16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17430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Karel Hlas</dc:creator>
  <cp:lastModifiedBy>Karel Hlas</cp:lastModifiedBy>
  <dc:title>Presentation</dc:title>
  <dcterms:created xsi:type="dcterms:W3CDTF">2026-07-24T00:00:00Z</dcterms:created>
  <dcterms:modified xsi:type="dcterms:W3CDTF">2026-07-24T00:00:00Z</dcterms:modified>
  <dc:description/>
</cp:coreProperties>
</file>