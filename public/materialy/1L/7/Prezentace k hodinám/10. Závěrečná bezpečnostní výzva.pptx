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a26c33f10440e2" /><Relationship Type="http://schemas.openxmlformats.org/officeDocument/2006/relationships/extended-properties" Target="/docProps/app.xml" Id="R9ad459098d8f4e12" /><Relationship Type="http://schemas.openxmlformats.org/officeDocument/2006/relationships/officeDocument" Target="/ppt/presentation.xml" Id="R50fe5e6f2b0847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19910494754633"/>
  </p:sldMasterIdLst>
  <p:notesMasterIdLst>
    <p:notesMasterId xmlns:r="http://schemas.openxmlformats.org/officeDocument/2006/relationships" r:id="Rcaf1e230299c4238"/>
  </p:notesMasterIdLst>
  <p:sldIdLst>
    <p:sldId xmlns:r="http://schemas.openxmlformats.org/officeDocument/2006/relationships" id="256" r:id="R0bcae1fdd5bd4c6d"/>
    <p:sldId xmlns:r="http://schemas.openxmlformats.org/officeDocument/2006/relationships" id="257" r:id="R6676ddae5b4041e4"/>
    <p:sldId xmlns:r="http://schemas.openxmlformats.org/officeDocument/2006/relationships" id="258" r:id="R6535fee557f945a6"/>
    <p:sldId xmlns:r="http://schemas.openxmlformats.org/officeDocument/2006/relationships" id="259" r:id="Rf134b30905bf418f"/>
    <p:sldId xmlns:r="http://schemas.openxmlformats.org/officeDocument/2006/relationships" id="260" r:id="Rf5470d0237df456e"/>
    <p:sldId xmlns:r="http://schemas.openxmlformats.org/officeDocument/2006/relationships" id="261" r:id="Rd60b51ef99304907"/>
    <p:sldId xmlns:r="http://schemas.openxmlformats.org/officeDocument/2006/relationships" id="262" r:id="Reb35717baaec429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04ee6bdb91434e" /><Relationship Type="http://schemas.openxmlformats.org/officeDocument/2006/relationships/slideMaster" Target="/ppt/slideMasters/slideMaster1.xml" Id="R6b19910494754633" /><Relationship Type="http://schemas.openxmlformats.org/officeDocument/2006/relationships/notesMaster" Target="/ppt/notesMasters/notesMaster1.xml" Id="Rcaf1e230299c4238" /><Relationship Type="http://schemas.openxmlformats.org/officeDocument/2006/relationships/presProps" Target="/ppt/presProps.xml" Id="R47ca14cb3fac42dc" /><Relationship Type="http://schemas.openxmlformats.org/officeDocument/2006/relationships/tableStyles" Target="/ppt/tableStyles.xml" Id="R03d38532f3534deb" /><Relationship Type="http://schemas.openxmlformats.org/officeDocument/2006/relationships/slide" Target="/ppt/slides/slide1.xml" Id="R0bcae1fdd5bd4c6d" /><Relationship Type="http://schemas.openxmlformats.org/officeDocument/2006/relationships/slide" Target="/ppt/slides/slide2.xml" Id="R6676ddae5b4041e4" /><Relationship Type="http://schemas.openxmlformats.org/officeDocument/2006/relationships/slide" Target="/ppt/slides/slide3.xml" Id="R6535fee557f945a6" /><Relationship Type="http://schemas.openxmlformats.org/officeDocument/2006/relationships/slide" Target="/ppt/slides/slide4.xml" Id="Rf134b30905bf418f" /><Relationship Type="http://schemas.openxmlformats.org/officeDocument/2006/relationships/slide" Target="/ppt/slides/slide5.xml" Id="Rf5470d0237df456e" /><Relationship Type="http://schemas.openxmlformats.org/officeDocument/2006/relationships/slide" Target="/ppt/slides/slide6.xml" Id="Rd60b51ef99304907" /><Relationship Type="http://schemas.openxmlformats.org/officeDocument/2006/relationships/slide" Target="/ppt/slides/slide7.xml" Id="Reb35717baaec42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c35201bd7040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49d4a7bc694e8c" /><Relationship Type="http://schemas.openxmlformats.org/officeDocument/2006/relationships/notesMaster" Target="/ppt/notesMasters/notesMaster1.xml" Id="Rfff9dfbbd05b4c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a16eaec31b45f3" /><Relationship Type="http://schemas.openxmlformats.org/officeDocument/2006/relationships/notesMaster" Target="/ppt/notesMasters/notesMaster1.xml" Id="Rc8af8183bd104d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646552f3d94b89" /><Relationship Type="http://schemas.openxmlformats.org/officeDocument/2006/relationships/notesMaster" Target="/ppt/notesMasters/notesMaster1.xml" Id="R1a379be0622442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ed4193bde148a1" /><Relationship Type="http://schemas.openxmlformats.org/officeDocument/2006/relationships/notesMaster" Target="/ppt/notesMasters/notesMaster1.xml" Id="R971a55d73d7842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d31849574b47f5" /><Relationship Type="http://schemas.openxmlformats.org/officeDocument/2006/relationships/notesMaster" Target="/ppt/notesMasters/notesMaster1.xml" Id="R5f2e8a0309b84e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87eacafc284c78" /><Relationship Type="http://schemas.openxmlformats.org/officeDocument/2006/relationships/notesMaster" Target="/ppt/notesMasters/notesMaster1.xml" Id="R2436a00b2f674b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cb6ea18d8742dc" /><Relationship Type="http://schemas.openxmlformats.org/officeDocument/2006/relationships/notesMaster" Target="/ppt/notesMasters/notesMaster1.xml" Id="R3474c9871a2f49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 týmu stanoví priority při kombinovaném incidentu a následně samostatně prokáže zvládnutí celého bloku.</a:t>
            </a:r>
          </a:p>
          <a:p xmlns:a="http://schemas.openxmlformats.org/drawingml/2006/main">
            <a:r>
              <a:t>Soubory: Incident mediálního klubu.html, Testy A a B.docx, pracovní sešit V4</a:t>
            </a:r>
          </a:p>
          <a:p xmlns:a="http://schemas.openxmlformats.org/drawingml/2006/main">
            <a:r>
              <a:t>Výstup: Týmový akční plán k incidentu, individuální test a závěrečné sebehodnocení.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Zadání a role.</a:t>
            </a:r>
          </a:p>
          <a:p xmlns:a="http://schemas.openxmlformats.org/drawingml/2006/main">
            <a:r>
              <a:t>Postup učitele: Ověř porozumění situaci, ale nenaznačuj pořadí řešení.</a:t>
            </a:r>
          </a:p>
          <a:p xmlns:a="http://schemas.openxmlformats.org/drawingml/2006/main">
            <a:r>
              <a:t>Otázka pro studenty: Účet, nepravdivý příspěvek a osobní údaje: co řešit nejdřív?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5–20 minut.</a:t>
            </a:r>
          </a:p>
          <a:p xmlns:a="http://schemas.openxmlformats.org/drawingml/2006/main">
            <a:r>
              <a:t>Činnost: Analýza dashboardu.</a:t>
            </a:r>
          </a:p>
          <a:p xmlns:a="http://schemas.openxmlformats.org/drawingml/2006/main">
            <a:r>
              <a:t>Postup učitele: Týmy řeší účet, příspěvek, soukromí, důkazy a autorská práva.</a:t>
            </a:r>
          </a:p>
          <a:p xmlns:a="http://schemas.openxmlformats.org/drawingml/2006/main">
            <a:r>
              <a:t>Klíčové závěry: První reakce: Nahlásit incident, omezit přístup, zabezpečit účet a uchovat pouze nezbytné důkazy. | Účty: Změnit hesla všech služeb se stejným heslem, zrušit neznámé relace, zkontrolovat obnovu a zapnout 2FA. | Příspěvek: Ověřit tvrzení, odstranit nebo opravit nepravdivý obsah, transparentně informovat publikum a uchovat záznam.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Incident mediálního klubu.html, Testy A a B.docx, pracovní sešit V4</a:t>
            </a:r>
          </a:p>
          <a:p xmlns:a="http://schemas.openxmlformats.org/drawingml/2006/main">
            <a:r>
              <a:t>5–20 min – Analýza dashboardu: Týmy řeší účet, příspěvek, soukromí, důkazy a autorská práva.</a:t>
            </a:r>
          </a:p>
          <a:p xmlns:a="http://schemas.openxmlformats.org/drawingml/2006/main">
            <a:r>
              <a:t>20–25 min – Akční plán: Nech týmy seřadit pět prvních kroků a označit vlastníka každého kroku.</a:t>
            </a:r>
          </a:p>
          <a:p xmlns:a="http://schemas.openxmlformats.org/drawingml/2006/main">
            <a:r>
              <a:t>25–37 min – Individuální test A/B: Studenti pracují bez pracovního sešitu a bez týmové pomoci.</a:t>
            </a:r>
          </a:p>
          <a:p xmlns:a="http://schemas.openxmlformats.org/drawingml/2006/main">
            <a:r>
              <a:t>Požadovaný výstup: Týmový akční plán k incidentu, individuální test a závěrečné sebehodnocení.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Tým nejprve omezí škodu a zabezpečí účty; jednotlivec v testu získá podle zvolené hranice alespoň 45 %.</a:t>
            </a:r>
          </a:p>
          <a:p xmlns:a="http://schemas.openxmlformats.org/drawingml/2006/main">
            <a:r>
              <a:t>Vodicí otázky: Který krok musí proběhnout dřív, aby se škoda dále nezvětšovala? | Které důkazy je vhodné uchovat a které citlivé údaje nesmíme dále šířit? | Jaká změna procesu zabrání opakování, i když člověk znovu udělá chybu?</a:t>
            </a:r>
          </a:p>
          <a:p xmlns:a="http://schemas.openxmlformats.org/drawingml/2006/main">
            <a:r>
              <a:t>Podpora: Nabídni pět nadpisů stanovišť, ale ne pořadí kroků; tým pod ně třídí zjištění z 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 prevence.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První reakce: Nahlásit incident, omezit přístup, zabezpečit účet a uchovat pouze nezbytné důkazy. | Účty: Změnit hesla všech služeb se stejným heslem, zrušit neznámé relace, zkontrolovat obnovu a zapnout 2FA. | Příspěvek: Ověřit tvrzení, odstranit nebo opravit nepravdivý obsah, transparentně informovat publikum a uchovat záznam. | Soukromí: Odstranit zveřejněné osobní údaje, informovat dotčené osoby a školu a upravit schvalovací proces. | Autorská práva: Ověřit licenci hudby; použít vlastní nebo řádně licencovaný obsah s požadovaným uvedením. | Prevence: Unikátní hesla, 2FA, více správců s omezenými rolemi, schvalování příspěvků a známý ohlašovací kanál.</a:t>
            </a:r>
          </a:p>
          <a:p xmlns:a="http://schemas.openxmlformats.org/drawingml/2006/main">
            <a:r>
              <a:t>Časté chyby a intervence: Tým nejprve píše veřejné vysvětlení. → Nejdřív zastav další škodu a obnov kontrolu nad účtem. | Důkaz se přeposílá celé třídě. → Uchovej minimum v řízeném kanálu; další šíření může zvyšovat újmu a porušovat soukromí. | Tým řeší pouze phishing. → Dashboard kombinuje zabezpečení účtu, ověřování informací, soukromí i autorská práva.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jednu změnu procesu, která sníží dopad budoucí lidské chyby, a jedno téma, které si potřebuješ procvičit.</a:t>
            </a:r>
          </a:p>
          <a:p xmlns:a="http://schemas.openxmlformats.org/drawingml/2006/main">
            <a:r>
              <a:t>Podpora: Nabídni pět nadpisů stanovišť, ale ne pořadí kroků; tým pod ně třídí zjištění z 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 prevence.</a:t>
            </a:r>
          </a:p>
          <a:p xmlns:a="http://schemas.openxmlformats.org/drawingml/2006/main">
            <a:r>
              <a:t>Když technika selže: Dashboard je offline. Pokud nefunguje prohlížeč, použij časovou osu a popis incidentu z pracovního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27177d62b4a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d01d5163744f22" /><Relationship Type="http://schemas.openxmlformats.org/officeDocument/2006/relationships/slideLayout" Target="/ppt/slideLayouts/slideLayout1.xml" Id="Rc623025f95ff40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23025f95ff40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ebf8b59f24b03" /><Relationship Type="http://schemas.openxmlformats.org/officeDocument/2006/relationships/notesSlide" Target="/ppt/notesSlides/notesSlide1.xml" Id="R93c9343bb5474e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682b17d7c4c9d" /><Relationship Type="http://schemas.openxmlformats.org/officeDocument/2006/relationships/image" Target="/ppt/media/image.png" Id="Ra7bd17be55dd4e65" /><Relationship Type="http://schemas.openxmlformats.org/officeDocument/2006/relationships/notesSlide" Target="/ppt/notesSlides/notesSlide2.xml" Id="R2b56cec4eac348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75ddc6faa4961" /><Relationship Type="http://schemas.openxmlformats.org/officeDocument/2006/relationships/notesSlide" Target="/ppt/notesSlides/notesSlide3.xml" Id="R4fa8d30c65ca4b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cf4763a834e2c" /><Relationship Type="http://schemas.openxmlformats.org/officeDocument/2006/relationships/notesSlide" Target="/ppt/notesSlides/notesSlide4.xml" Id="Rb6133ade985f43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18af3633c4bc4" /><Relationship Type="http://schemas.openxmlformats.org/officeDocument/2006/relationships/notesSlide" Target="/ppt/notesSlides/notesSlide5.xml" Id="Rbec2408bbaa048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8316098ad40f0" /><Relationship Type="http://schemas.openxmlformats.org/officeDocument/2006/relationships/notesSlide" Target="/ppt/notesSlides/notesSlide6.xml" Id="R80d0c152027d4b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6f57300374818" /><Relationship Type="http://schemas.openxmlformats.org/officeDocument/2006/relationships/notesSlide" Target="/ppt/notesSlides/notesSlide7.xml" Id="Rc3bff491435a4d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E544F64A-C98F-4C20-A504-7EFF0CCF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1266E09-4B48-4156-9184-D6AFC357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31927E90-895E-4346-9FEB-D05ABAE9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4852D78-1EF8-49FE-91BF-2242169B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Závěrečná bezpečnostní výzva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561AC3AE-3834-4942-B28E-40F88E4A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 týmu stanoví priority při kombinovaném incidentu a následně samostatně prokáže zvládnutí celého bloku.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3AB16CF5-05AC-40A4-B780-EC2BD0C2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9D8BB0C2-1674-43CF-92B6-31FD6EE9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0974BDEB-8A23-4EC7-8D36-D8F2AD8D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497745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0422CD7-AB90-43BA-BA26-B64A99CC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F08857F-D96E-4159-A173-0BC04769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E9E2E309-9C94-44E7-AB71-3015BE4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559C95E-98EF-4F99-BF79-BF7C39D3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6945472-2D86-4368-B6AF-4F100267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7E403F6A-DF5A-4311-A66C-B8BCF62B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d17be55dd4e65"/>
          <a:srcRect xmlns:a="http://schemas.openxmlformats.org/drawingml/2006/main" l="0" t="10959" r="0" b="109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192E619-6A03-4F8D-9DB1-C57105C4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Účet, nepravdivý příspěvek a osobní údaje: co řešit nejdřív?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6DA7628A-9C2A-44CD-8499-286EE6E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4007192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D4B5746-89F8-421F-BE15-B3607C51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PŘED STARTEM · ROZDĚLTE ROLE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BBD6CE3-642E-42BE-81A6-30CD507C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3D5E3BF-D037-4AC7-801C-CA928D69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571B5BE-3DD2-40A3-B1D1-B393563F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DF396AF-3951-44D3-96F2-E4535747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A233DDB8-74B8-42FF-A5B1-F01A4246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08730A4-BDE3-4FBC-98B0-C9FC1C7E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 a přístup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D08DFD0-0FF0-4D5C-92CE-B1465C26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které účty a relace jsou zasažené, co se změnilo a kdo má oprávnění zasáhnout.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42E6AD8-D268-4F49-B05C-2B063841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A300DB7-5D90-4465-B383-1E1AA7A5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Obsah a soukromí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DF4E92E8-576C-46B8-A17B-6C8CAA46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nepravdivý obsah, zveřejněné osobní údaje a důkazy, které je nutné uchovat.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D488A8D1-237D-4D9A-953F-00941D07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9EFF877-9A82-419D-96B2-0BB814E3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Práva a prevence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2E71C506-9149-4F50-A9E2-19FAF268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Prověř licenci použitého obsahu a proces, který měl incidentu zabránit nebo omezit jeho dopad.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909ECB9-9418-4634-88D5-CC2CDC4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F0C3ACD7-E78F-4DC3-AC84-01757EEF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367933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BDEA80F-28F6-4B14-94DC-317F7BB4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5–37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029477-7A1D-4ED7-9AF5-CC1ADF9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3D8B4B38-5130-48E8-8EA9-94D91D3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4F731AE7-0FB6-45B1-B274-0043AD11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003B8D4-6323-4520-9C45-FDA4E0ED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6A4D120B-A3BB-4F38-8F61-A4463BBC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A4803E4D-922A-4274-8B92-1B556BA4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Incident mediálního klubu.html, Testy A a B.docx,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D3E9673E-C102-4314-A740-40499F11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493E909F-FEBE-4C08-BA9E-8F7EB7F9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0D70C6F-226E-45C1-A867-4CCBADF5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dashboard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CBB0695-835B-4AAE-963E-72C5FCE2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Najdi problém u účtu, příspěvku, soukromí, důkazů a autorských práv.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8043BED-60CD-45CB-952C-E19EBD0D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298004A3-5C6F-4594-85FF-9A7107DB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0A5428F-93A0-4DE0-9047-2A2EDBBF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pět kroků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0D920C16-D4FE-47D9-818F-02EB8ABC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Začni omezením škody a obnovením kontroly. Každému kroku přiřaď vlastníka.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6924FE9-6C4B-4BB6-ACD5-2E4FF2E2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9F7C55AF-5DDE-42C0-B712-26EA8BAF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2BB55FF0-7CFC-430D-959E-B5C75823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Vyplň individuální test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7B95FA0-E027-4A6B-9A27-A835F79D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 odevzdání týmového plánu pracuj bez sešitu a bez pomoci skupiny.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5F1EAB63-85CB-4A86-9FF8-3757CDAA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314E590B-AE40-40A3-B74A-3B6751DA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Týmový akční plán k incidentu, individuální test a závěrečné sebehodnocení.</a:t>
            </a:r>
          </a:p>
        </p:txBody>
      </p:sp>
    </p:spTree>
    <p:extLst>
      <p:ext uri="{BB962C8B-B14F-4D97-AF65-F5344CB8AC3E}">
        <p14:creationId xmlns:p14="http://schemas.microsoft.com/office/powerpoint/2010/main" val="6568671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C8C6142-5B0A-4CD7-A995-557DC5E1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CC78614-689C-41D0-9184-42412C8F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5906C71-FBF6-4265-9675-94CBB9A7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883652A-63D7-45F2-B380-497374C8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220308F-516E-415F-BB95-09E9FBAC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58ABB948-11F5-4CAB-99A8-7B311316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2B75723-8733-4A4E-92BA-78CAF030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9F4295B-7459-44BF-B5E3-40F79E7A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F2AA6518-F89B-4499-B6AB-4E5ED94B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Tým nejprve omezí škodu a zabezpečí účty; jednotlivec v testu získá podle zvolené hranice alespoň 45 %.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F1E0A4C9-D166-4385-B16B-20FC14C2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5F8B9C9-47B2-4394-BC6C-833A5100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C52B5202-1C0D-436A-9D90-239C422C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E4839B94-DC6E-4105-9750-7DAD4E6C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krok musí proběhnout dřív, aby se škoda dále nezvětšovala?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8519909-EEB4-4779-BFD8-C038D442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598A755-D312-4344-B3F4-3A1F8E09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6A10AA37-78A4-48CD-A393-AB9473BF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23B45FF-8A4B-44D8-AC39-4AB91A2A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důkazy je vhodné uchovat a které citlivé údaje nesmíme dále šířit?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8B85813C-846D-408F-AE17-3276B668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2138DDD-C113-4CAF-9727-E92F4428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542FDB75-6990-42F6-9071-12F4FA7E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8070FC01-8431-474E-A68F-68161093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Jaká změna procesu zabrání opakování, i když člověk znovu udělá chybu?</a:t>
            </a:r>
          </a:p>
        </p:txBody>
      </p:sp>
    </p:spTree>
    <p:extLst>
      <p:ext uri="{BB962C8B-B14F-4D97-AF65-F5344CB8AC3E}">
        <p14:creationId xmlns:p14="http://schemas.microsoft.com/office/powerpoint/2010/main" val="8503835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F33FC58-221A-4B1A-8B61-6F5F2D20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37–42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7F88950-6C94-4AC8-866C-D312ED01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E16DD083-FEA8-4EF5-8B81-014BC0F1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2373572-8004-4BF8-9EBA-F91855C3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890F97-2051-4871-B0E3-8E64442B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9555B79C-177D-48A5-A20D-C89A662F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DAD926E0-3A1A-4C9B-A5E3-A9AB83A0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První reakce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1BA56DBC-7465-474D-ABC3-0FC1F68C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Nahlásit incident, omezit přístup, zabezpečit účet a uchovat pouze nezbytné důkazy.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DA368E70-8F07-46FB-A1D8-F3549B21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Účty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DC90468-C54E-437E-B0E7-473C2D3D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Změnit hesla všech služeb se stejným heslem, zrušit neznámé relace, zkontrolovat obnovu a zapnout 2FA.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EF3C1D6E-073F-449C-8D3D-898E1617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Příspěvek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7B5FD7A0-1849-4B38-BC5C-C6CFC0BD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tvrzení, odstranit nebo opravit nepravdivý obsah, transparentně informovat publikum a uchovat záznam.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18B2772-A475-4386-9B24-30255A5E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26BF05D-FB62-4CD3-B98C-BA4DB8CC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80F41AB-0648-4FE1-9F94-B404D791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 nejprve píše veřejné vysvětlení.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D886D7FD-2F49-4C07-A1CF-93C4D339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Nejdřív zastavte další škodu a obnovte kontrolu nad účtem.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E4BD6EF1-F7D1-4139-AA16-9CD7053B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541984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905A611-AA73-4F94-8ED6-30F9E9C3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2D60C48-E114-4B32-857B-4BA43A2A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F8FBE191-D912-4355-BCFC-D1FA08FB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9CDFFCD6-AF25-435E-A04F-044CF0CA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jednu změnu procesu, která sníží dopad budoucí lidské chyby, a jedno téma, které si potřebuješ procvičit.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70959B45-66BE-4102-B93C-0CA9C94F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A5F5BEA-D4FA-4F80-9CF5-21C94FF6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0F9B697-13A1-4003-A08C-E4AA4B7D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25508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