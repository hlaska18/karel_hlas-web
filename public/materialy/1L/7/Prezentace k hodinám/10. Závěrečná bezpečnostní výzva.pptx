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a26c33f10440e2" /><Relationship Type="http://schemas.openxmlformats.org/officeDocument/2006/relationships/extended-properties" Target="/docProps/app.xml" Id="R9ad459098d8f4e12" /><Relationship Type="http://schemas.openxmlformats.org/officeDocument/2006/relationships/officeDocument" Target="/ppt/presentation.xml" Id="R50fe5e6f2b0847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19910494754633"/>
  </p:sldMasterIdLst>
  <p:notesMasterIdLst>
    <p:notesMasterId xmlns:r="http://schemas.openxmlformats.org/officeDocument/2006/relationships" r:id="Rcaf1e230299c4238"/>
  </p:notesMasterIdLst>
  <p:sldIdLst>
    <p:sldId xmlns:r="http://schemas.openxmlformats.org/officeDocument/2006/relationships" id="256" r:id="R0bcae1fdd5bd4c6d"/>
    <p:sldId xmlns:r="http://schemas.openxmlformats.org/officeDocument/2006/relationships" id="257" r:id="R6676ddae5b4041e4"/>
    <p:sldId xmlns:r="http://schemas.openxmlformats.org/officeDocument/2006/relationships" id="258" r:id="R6535fee557f945a6"/>
    <p:sldId xmlns:r="http://schemas.openxmlformats.org/officeDocument/2006/relationships" id="259" r:id="Rf134b30905bf418f"/>
    <p:sldId xmlns:r="http://schemas.openxmlformats.org/officeDocument/2006/relationships" id="260" r:id="Rf5470d0237df456e"/>
    <p:sldId xmlns:r="http://schemas.openxmlformats.org/officeDocument/2006/relationships" id="261" r:id="Rd60b51ef99304907"/>
    <p:sldId xmlns:r="http://schemas.openxmlformats.org/officeDocument/2006/relationships" id="262" r:id="Reb35717baaec429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04ee6bdb91434e" /><Relationship Type="http://schemas.openxmlformats.org/officeDocument/2006/relationships/slideMaster" Target="/ppt/slideMasters/slideMaster1.xml" Id="R6b19910494754633" /><Relationship Type="http://schemas.openxmlformats.org/officeDocument/2006/relationships/notesMaster" Target="/ppt/notesMasters/notesMaster1.xml" Id="Rcaf1e230299c4238" /><Relationship Type="http://schemas.openxmlformats.org/officeDocument/2006/relationships/presProps" Target="/ppt/presProps.xml" Id="R47ca14cb3fac42dc" /><Relationship Type="http://schemas.openxmlformats.org/officeDocument/2006/relationships/tableStyles" Target="/ppt/tableStyles.xml" Id="R03d38532f3534deb" /><Relationship Type="http://schemas.openxmlformats.org/officeDocument/2006/relationships/slide" Target="/ppt/slides/slide1.xml" Id="R0bcae1fdd5bd4c6d" /><Relationship Type="http://schemas.openxmlformats.org/officeDocument/2006/relationships/slide" Target="/ppt/slides/slide2.xml" Id="R6676ddae5b4041e4" /><Relationship Type="http://schemas.openxmlformats.org/officeDocument/2006/relationships/slide" Target="/ppt/slides/slide3.xml" Id="R6535fee557f945a6" /><Relationship Type="http://schemas.openxmlformats.org/officeDocument/2006/relationships/slide" Target="/ppt/slides/slide4.xml" Id="Rf134b30905bf418f" /><Relationship Type="http://schemas.openxmlformats.org/officeDocument/2006/relationships/slide" Target="/ppt/slides/slide5.xml" Id="Rf5470d0237df456e" /><Relationship Type="http://schemas.openxmlformats.org/officeDocument/2006/relationships/slide" Target="/ppt/slides/slide6.xml" Id="Rd60b51ef99304907" /><Relationship Type="http://schemas.openxmlformats.org/officeDocument/2006/relationships/slide" Target="/ppt/slides/slide7.xml" Id="Reb35717baaec42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c35201bd7040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49d4a7bc694e8c" /><Relationship Type="http://schemas.openxmlformats.org/officeDocument/2006/relationships/notesMaster" Target="/ppt/notesMasters/notesMaster1.xml" Id="Rfff9dfbbd05b4c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a16eaec31b45f3" /><Relationship Type="http://schemas.openxmlformats.org/officeDocument/2006/relationships/notesMaster" Target="/ppt/notesMasters/notesMaster1.xml" Id="Rc8af8183bd104d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646552f3d94b89" /><Relationship Type="http://schemas.openxmlformats.org/officeDocument/2006/relationships/notesMaster" Target="/ppt/notesMasters/notesMaster1.xml" Id="R1a379be0622442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ed4193bde148a1" /><Relationship Type="http://schemas.openxmlformats.org/officeDocument/2006/relationships/notesMaster" Target="/ppt/notesMasters/notesMaster1.xml" Id="R971a55d73d7842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d31849574b47f5" /><Relationship Type="http://schemas.openxmlformats.org/officeDocument/2006/relationships/notesMaster" Target="/ppt/notesMasters/notesMaster1.xml" Id="R5f2e8a0309b84e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f87eacafc284c78" /><Relationship Type="http://schemas.openxmlformats.org/officeDocument/2006/relationships/notesMaster" Target="/ppt/notesMasters/notesMaster1.xml" Id="R2436a00b2f674b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cb6ea18d8742dc" /><Relationship Type="http://schemas.openxmlformats.org/officeDocument/2006/relationships/notesMaster" Target="/ppt/notesMasters/notesMaster1.xml" Id="R3474c9871a2f49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Výukový cíl: Student v týmu stanoví priority při kombinovaném incidentu a následně samostatně prokáže zvládnutí celého bloku.</a:t>
            </a:r>
          </a:p>
          <a:p xmlns:a="http://schemas.openxmlformats.org/drawingml/2006/main">
            <a:r>
              <a:t>Soubory: 10. Incident mediálního klubu.html, Testy A a B.docx, pracovní sešit V4</a:t>
            </a:r>
          </a:p>
          <a:p xmlns:a="http://schemas.openxmlformats.org/drawingml/2006/main">
            <a:r>
              <a:t>Výstup: Týmový akční plán k incidentu, individuální test a závěrečné sebehodnocení.</a:t>
            </a:r>
          </a:p>
          <a:p xmlns:a="http://schemas.openxmlformats.org/drawingml/2006/main">
            <a:r>
              <a:t>Před otevřením dalšího snímku stručně uveď téma a nech studenty připravit pracovní soubory.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Čas: 0–5 minut.</a:t>
            </a:r>
          </a:p>
          <a:p xmlns:a="http://schemas.openxmlformats.org/drawingml/2006/main">
            <a:r>
              <a:t>Činnost: Zadání a role.</a:t>
            </a:r>
          </a:p>
          <a:p xmlns:a="http://schemas.openxmlformats.org/drawingml/2006/main">
            <a:r>
              <a:t>Postup učitele: Ověř porozumění situaci, ale nenaznačuj pořadí řešení.</a:t>
            </a:r>
          </a:p>
          <a:p xmlns:a="http://schemas.openxmlformats.org/drawingml/2006/main">
            <a:r>
              <a:t>Otázka pro studenty: Účet, nepravdivý příspěvek a osobní údaje: co řešit nejdřív?</a:t>
            </a:r>
          </a:p>
          <a:p xmlns:a="http://schemas.openxmlformats.org/drawingml/2006/main">
            <a:r>
              <a:t>Neprozrazuj správnou odpověď. Cílem je zachytit počáteční úsudek, ke kterému se třída vrátí při reflexi.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Čas: 5–20 minut.</a:t>
            </a:r>
          </a:p>
          <a:p xmlns:a="http://schemas.openxmlformats.org/drawingml/2006/main">
            <a:r>
              <a:t>Činnost: Analýza dashboardu.</a:t>
            </a:r>
          </a:p>
          <a:p xmlns:a="http://schemas.openxmlformats.org/drawingml/2006/main">
            <a:r>
              <a:t>Postup učitele: Týmy řeší účet, příspěvek, soukromí, důkazy a autorská práva.</a:t>
            </a:r>
          </a:p>
          <a:p xmlns:a="http://schemas.openxmlformats.org/drawingml/2006/main">
            <a:r>
              <a:t>Klíčové závěry: První reakce: Nahlásit incident, omezit přístup, zabezpečit účet a uchovat pouze nezbytné důkazy. | Účty: Změnit hesla všech služeb se stejným heslem, zrušit neznámé relace, zkontrolovat obnovu a zapnout 2FA. | Příspěvek: Ověřit tvrzení, odstranit nebo opravit nepravdivý obsah, transparentně informovat publikum a uchovat záznam.</a:t>
            </a:r>
          </a:p>
          <a:p xmlns:a="http://schemas.openxmlformats.org/drawingml/2006/main">
            <a:r>
              <a:t>Nech studenty doplnit příklad ke každému bodu. Přechod k aktivitě proveď otázkou: Jak tyto tři body použijeme na dnešní soubor?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Hlavní aktivita využívá: 10. Incident mediálního klubu.html, Testy A a B.docx, pracovní sešit V4</a:t>
            </a:r>
          </a:p>
          <a:p xmlns:a="http://schemas.openxmlformats.org/drawingml/2006/main">
            <a:r>
              <a:t>5–20 min – Analýza dashboardu: Týmy řeší účet, příspěvek, soukromí, důkazy a autorská práva.</a:t>
            </a:r>
          </a:p>
          <a:p xmlns:a="http://schemas.openxmlformats.org/drawingml/2006/main">
            <a:r>
              <a:t>20–25 min – Akční plán: Nech týmy seřadit pět prvních kroků a označit vlastníka každého kroku.</a:t>
            </a:r>
          </a:p>
          <a:p xmlns:a="http://schemas.openxmlformats.org/drawingml/2006/main">
            <a:r>
              <a:t>25–37 min – Individuální test A/B: Studenti pracují bez pracovního sešitu a bez týmové pomoci.</a:t>
            </a:r>
          </a:p>
          <a:p xmlns:a="http://schemas.openxmlformats.org/drawingml/2006/main">
            <a:r>
              <a:t>Požadovaný výstup: Týmový akční plán k incidentu, individuální test a závěrečné sebehodnocení.</a:t>
            </a:r>
          </a:p>
          <a:p xmlns:a="http://schemas.openxmlformats.org/drawingml/2006/main">
            <a:r>
              <a:t>Během práce nepřebírej myš za studenta. Pomáhej otázkami z dalšího snímku a žádej, aby každé rozhodnutí opřel o konkrétní znak nebo zdroj.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Kritérium úspěchu: Tým nejprve omezí škodu a zabezpečí účty; jednotlivec v testu získá podle zvolené hranice alespoň 45 %.</a:t>
            </a:r>
          </a:p>
          <a:p xmlns:a="http://schemas.openxmlformats.org/drawingml/2006/main">
            <a:r>
              <a:t>Vodicí otázky: Který krok musí proběhnout dřív, aby se škoda dále nezvětšovala? | Které důkazy je vhodné uchovat a které citlivé údaje nesmíme dále šířit? | Jaká změna procesu zabrání opakování, i když člověk znovu udělá chybu?</a:t>
            </a:r>
          </a:p>
          <a:p xmlns:a="http://schemas.openxmlformats.org/drawingml/2006/main">
            <a:r>
              <a:t>Podpora: Nabídni pět nadpisů stanovišť, ale ne pořadí kroků; tým pod ně třídí zjištění z dashboardu.</a:t>
            </a:r>
          </a:p>
          <a:p xmlns:a="http://schemas.openxmlformats.org/drawingml/2006/main">
            <a:r>
              <a:t>Rozšíření: Tým sestaví krátké hlášení incidentu pro vedení školy: co se stalo, dopad, provedené kroky a prevence.</a:t>
            </a:r>
          </a:p>
          <a:p xmlns:a="http://schemas.openxmlformats.org/drawingml/2006/main">
            <a:r>
              <a:t>Pro rychlou mezikontrolu nech dvojice vyměnit výstup a označit jeden dobře doložený bod a jednu otázku, která ještě zůstává.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Očekávané závěry: První reakce: Nahlásit incident, omezit přístup, zabezpečit účet a uchovat pouze nezbytné důkazy. | Účty: Změnit hesla všech služeb se stejným heslem, zrušit neznámé relace, zkontrolovat obnovu a zapnout 2FA. | Příspěvek: Ověřit tvrzení, odstranit nebo opravit nepravdivý obsah, transparentně informovat publikum a uchovat záznam. | Soukromí: Odstranit zveřejněné osobní údaje, informovat dotčené osoby a školu a upravit schvalovací proces. | Autorská práva: Ověřit licenci hudby; použít vlastní nebo řádně licencovaný obsah s požadovaným uvedením. | Prevence: Unikátní hesla, 2FA, více správců s omezenými rolemi, schvalování příspěvků a známý ohlašovací kanál.</a:t>
            </a:r>
          </a:p>
          <a:p xmlns:a="http://schemas.openxmlformats.org/drawingml/2006/main">
            <a:r>
              <a:t>Časté chyby a intervence: Tým nejprve píše veřejné vysvětlení. → Nejdřív zastav další škodu a obnov kontrolu nad účtem. | Důkaz se přeposílá celé třídě. → Uchovej minimum v řízeném kanálu; další šíření může zvyšovat újmu a porušovat soukromí. | Tým řeší pouze phishing. → Dashboard kombinuje zabezpečení účtu, ověřování informací, soukromí i autorská práva.</a:t>
            </a:r>
          </a:p>
          <a:p xmlns:a="http://schemas.openxmlformats.org/drawingml/2006/main">
            <a:r>
              <a:t>Nečti celý klíč. Vyber dva studentské postupy, které vedou k odlišným závěrům, a nech třídu určit, který je lépe podložený.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Exit ticket: Napiš jednu změnu procesu, která sníží dopad budoucí lidské chyby, a jedno téma, které si potřebuješ procvičit.</a:t>
            </a:r>
          </a:p>
          <a:p xmlns:a="http://schemas.openxmlformats.org/drawingml/2006/main">
            <a:r>
              <a:t>Podpora: Nabídni pět nadpisů stanovišť, ale ne pořadí kroků; tým pod ně třídí zjištění z dashboardu.</a:t>
            </a:r>
          </a:p>
          <a:p xmlns:a="http://schemas.openxmlformats.org/drawingml/2006/main">
            <a:r>
              <a:t>Rozšíření: Tým sestaví krátké hlášení incidentu pro vedení školy: co se stalo, dopad, provedené kroky a prevence.</a:t>
            </a:r>
          </a:p>
          <a:p xmlns:a="http://schemas.openxmlformats.org/drawingml/2006/main">
            <a:r>
              <a:t>Když technika selže: Dashboard je offline. Pokud nefunguje prohlížeč, použij časovou osu a popis incidentu z pracovního sešitu.</a:t>
            </a:r>
          </a:p>
          <a:p xmlns:a="http://schemas.openxmlformats.org/drawingml/2006/main">
            <a:r>
              <a:t>Vyber způsob odevzdání předem. Odpověď použij jako diagnostiku pro začátek další hodiny; nehodnoť pouze formální správnost, ale konkrétnost a zdůvodnění.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e27177d62b4a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d01d5163744f22" /><Relationship Type="http://schemas.openxmlformats.org/officeDocument/2006/relationships/slideLayout" Target="/ppt/slideLayouts/slideLayout1.xml" Id="Rc623025f95ff40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23025f95ff40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febf8b59f24b03" /><Relationship Type="http://schemas.openxmlformats.org/officeDocument/2006/relationships/notesSlide" Target="/ppt/notesSlides/notesSlide1.xml" Id="R93c9343bb5474e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0682b17d7c4c9d" /><Relationship Type="http://schemas.openxmlformats.org/officeDocument/2006/relationships/image" Target="/ppt/media/image.png" Id="Ra7bd17be55dd4e65" /><Relationship Type="http://schemas.openxmlformats.org/officeDocument/2006/relationships/notesSlide" Target="/ppt/notesSlides/notesSlide2.xml" Id="R2b56cec4eac348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475ddc6faa4961" /><Relationship Type="http://schemas.openxmlformats.org/officeDocument/2006/relationships/notesSlide" Target="/ppt/notesSlides/notesSlide3.xml" Id="R4fa8d30c65ca4b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fcf4763a834e2c" /><Relationship Type="http://schemas.openxmlformats.org/officeDocument/2006/relationships/notesSlide" Target="/ppt/notesSlides/notesSlide4.xml" Id="Rb6133ade985f43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18af3633c4bc4" /><Relationship Type="http://schemas.openxmlformats.org/officeDocument/2006/relationships/notesSlide" Target="/ppt/notesSlides/notesSlide5.xml" Id="Rbec2408bbaa048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d8316098ad40f0" /><Relationship Type="http://schemas.openxmlformats.org/officeDocument/2006/relationships/notesSlide" Target="/ppt/notesSlides/notesSlide6.xml" Id="R80d0c152027d4b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56f57300374818" /><Relationship Type="http://schemas.openxmlformats.org/officeDocument/2006/relationships/notesSlide" Target="/ppt/notesSlides/notesSlide7.xml" Id="Rc3bff491435a4d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">
            <a:extLst xmlns:a="http://schemas.openxmlformats.org/drawingml/2006/main">
              <a:ext uri="{FF2B5EF4-FFF2-40B4-BE49-F238E27FC236}">
                <a16:creationId xmlns:a16="http://schemas.microsoft.com/office/drawing/2014/main" id="{E544F64A-C98F-4C20-A504-7EFF0CCF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2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54-48">
            <a:extLst xmlns:a="http://schemas.openxmlformats.org/drawingml/2006/main">
              <a:ext uri="{FF2B5EF4-FFF2-40B4-BE49-F238E27FC236}">
                <a16:creationId xmlns:a16="http://schemas.microsoft.com/office/drawing/2014/main" id="{91266E09-4B48-4156-9184-D6AFC357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2C2C"/>
                </a:solidFill>
                <a:latin typeface="Arial"/>
                <a:ea typeface="Arial"/>
                <a:cs typeface="Arial"/>
              </a:defRPr>
            </a:pPr>
            <a:r>
              <a:t>HODINA 10 / 10</a:t>
            </a:r>
          </a:p>
        </p:txBody>
      </p:sp>
      <p:sp>
        <p:nvSpPr>
          <p:cNvPr id="3" name="text-870-48">
            <a:extLst xmlns:a="http://schemas.openxmlformats.org/drawingml/2006/main">
              <a:ext uri="{FF2B5EF4-FFF2-40B4-BE49-F238E27FC236}">
                <a16:creationId xmlns:a16="http://schemas.microsoft.com/office/drawing/2014/main" id="{31927E90-895E-4346-9FEB-D05ABAE9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7200"/>
            <a:ext cx="3429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INTERNET, BEZPEČNOST
A PRÁCE S INFORMACEMI</a:t>
            </a:r>
          </a:p>
        </p:txBody>
      </p:sp>
      <p:sp>
        <p:nvSpPr>
          <p:cNvPr id="4" name="text-54-255">
            <a:extLst xmlns:a="http://schemas.openxmlformats.org/drawingml/2006/main">
              <a:ext uri="{FF2B5EF4-FFF2-40B4-BE49-F238E27FC236}">
                <a16:creationId xmlns:a16="http://schemas.microsoft.com/office/drawing/2014/main" id="{04852D78-1EF8-49FE-91BF-2242169B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28875"/>
            <a:ext cx="10715625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Závěrečná bezpečnostní výzva</a:t>
            </a:r>
          </a:p>
        </p:txBody>
      </p:sp>
      <p:sp>
        <p:nvSpPr>
          <p:cNvPr id="5" name="text-56-506">
            <a:extLst xmlns:a="http://schemas.openxmlformats.org/drawingml/2006/main">
              <a:ext uri="{FF2B5EF4-FFF2-40B4-BE49-F238E27FC236}">
                <a16:creationId xmlns:a16="http://schemas.microsoft.com/office/drawing/2014/main" id="{561AC3AE-3834-4942-B28E-40F88E4A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9650"/>
            <a:ext cx="8191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Student v týmu stanoví priority při kombinovaném incidentu a následně samostatně prokáže zvládnutí celého bloku.</a:t>
            </a:r>
          </a:p>
        </p:txBody>
      </p:sp>
      <p:sp>
        <p:nvSpPr>
          <p:cNvPr id="6" name="lesson-number">
            <a:extLst xmlns:a="http://schemas.openxmlformats.org/drawingml/2006/main">
              <a:ext uri="{FF2B5EF4-FFF2-40B4-BE49-F238E27FC236}">
                <a16:creationId xmlns:a16="http://schemas.microsoft.com/office/drawing/2014/main" id="{3AB16CF5-05AC-40A4-B780-EC2BD0C2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819650"/>
            <a:ext cx="11811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9B2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1065-524">
            <a:extLst xmlns:a="http://schemas.openxmlformats.org/drawingml/2006/main">
              <a:ext uri="{FF2B5EF4-FFF2-40B4-BE49-F238E27FC236}">
                <a16:creationId xmlns:a16="http://schemas.microsoft.com/office/drawing/2014/main" id="{9D8BB0C2-1674-43CF-92B6-31FD6EE9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991100"/>
            <a:ext cx="11811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  <p:sp>
        <p:nvSpPr>
          <p:cNvPr id="8" name="text-1065-603">
            <a:extLst xmlns:a="http://schemas.openxmlformats.org/drawingml/2006/main">
              <a:ext uri="{FF2B5EF4-FFF2-40B4-BE49-F238E27FC236}">
                <a16:creationId xmlns:a16="http://schemas.microsoft.com/office/drawing/2014/main" id="{0974BDEB-8A23-4EC7-8D36-D8F2AD8D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743575"/>
            <a:ext cx="1181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45 MIN</a:t>
            </a:r>
          </a:p>
        </p:txBody>
      </p:sp>
    </p:spTree>
    <p:extLst>
      <p:ext uri="{BB962C8B-B14F-4D97-AF65-F5344CB8AC3E}">
        <p14:creationId xmlns:p14="http://schemas.microsoft.com/office/powerpoint/2010/main" val="4497745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20422CD7-AB90-43BA-BA26-B64A99CC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B2C2C"/>
                </a:solidFill>
                <a:latin typeface="Arial"/>
                <a:ea typeface="Arial"/>
                <a:cs typeface="Arial"/>
              </a:defRPr>
            </a:pPr>
            <a:r>
              <a:t>0–5 MIN · ÚVOD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6F08857F-D96E-4159-A173-0BC04769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Začni vlastním rozhodnutím</a:t>
            </a:r>
          </a:p>
        </p:txBody>
      </p:sp>
      <p:sp>
        <p:nvSpPr>
          <p:cNvPr id="3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E9E2E309-9C94-44E7-AB71-3015BE49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2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E559C95E-98EF-4F99-BF79-BF7C39D3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 · BEZPEČNOST · INFORMACE</a:t>
            </a:r>
          </a:p>
        </p:txBody>
      </p:sp>
      <p:sp>
        <p:nvSpPr>
          <p:cNvPr id="5" name="text-1050-672">
            <a:extLst xmlns:a="http://schemas.openxmlformats.org/drawingml/2006/main">
              <a:ext uri="{FF2B5EF4-FFF2-40B4-BE49-F238E27FC236}">
                <a16:creationId xmlns:a16="http://schemas.microsoft.com/office/drawing/2014/main" id="{E6945472-2D86-4368-B6AF-4F100267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00800"/>
            <a:ext cx="18002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HODINA 10  /  2</a:t>
            </a:r>
          </a:p>
        </p:txBody>
      </p:sp>
      <p:sp>
        <p:nvSpPr>
          <p:cNvPr id="6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7E403F6A-DF5A-4311-A66C-B8BCF62B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33525"/>
            <a:ext cx="5562600" cy="4343400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C9"/>
            </a:solidFill>
            <a:prstDash val="solid"/>
          </a:ln>
        </p:spPr>
      </p:sp>
      <p:pic>
        <p:nvPicPr>
          <p:cNvPr id="16" name="activity-preview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bd17be55dd4e65"/>
          <a:srcRect xmlns:a="http://schemas.openxmlformats.org/drawingml/2006/main" l="0" t="10959" r="0" b="109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8875" y="1533525"/>
            <a:ext cx="5562600" cy="4343400"/>
          </a:xfrm>
          <a:prstGeom xmlns:a="http://schemas.openxmlformats.org/drawingml/2006/main" prst="roundRect">
            <a:avLst/>
          </a:prstGeom>
        </p:spPr>
      </p:pic>
      <p:sp>
        <p:nvSpPr>
          <p:cNvPr id="8" name="text-41-188">
            <a:extLst xmlns:a="http://schemas.openxmlformats.org/drawingml/2006/main">
              <a:ext uri="{FF2B5EF4-FFF2-40B4-BE49-F238E27FC236}">
                <a16:creationId xmlns:a16="http://schemas.microsoft.com/office/drawing/2014/main" id="{5192E619-6A03-4F8D-9DB1-C57105C4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90700"/>
            <a:ext cx="5238750" cy="2038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Účet, nepravdivý příspěvek a osobní údaje: co řešit nejdřív?</a:t>
            </a:r>
          </a:p>
        </p:txBody>
      </p:sp>
      <p:sp>
        <p:nvSpPr>
          <p:cNvPr id="9" name="text-41-444">
            <a:extLst xmlns:a="http://schemas.openxmlformats.org/drawingml/2006/main">
              <a:ext uri="{FF2B5EF4-FFF2-40B4-BE49-F238E27FC236}">
                <a16:creationId xmlns:a16="http://schemas.microsoft.com/office/drawing/2014/main" id="{6DA7628A-9C2A-44CD-8499-286EE6E5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29100"/>
            <a:ext cx="4953000" cy="1285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1  Rozhodni sám
2  Zapiš konkrétní důvod
3  Porovnej ve dvojici</a:t>
            </a:r>
          </a:p>
        </p:txBody>
      </p:sp>
    </p:spTree>
    <p:extLst>
      <p:ext uri="{BB962C8B-B14F-4D97-AF65-F5344CB8AC3E}">
        <p14:creationId xmlns:p14="http://schemas.microsoft.com/office/powerpoint/2010/main" val="14007192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6D4B5746-89F8-421F-BE15-B3607C51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B2C2C"/>
                </a:solidFill>
                <a:latin typeface="Arial"/>
                <a:ea typeface="Arial"/>
                <a:cs typeface="Arial"/>
              </a:defRPr>
            </a:pPr>
            <a:r>
              <a:t>PŘED STARTEM · ROZDĚLTE ROLE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8BBD6CE3-642E-42BE-81A6-30CD507C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Tři opěrné body pro rozhodování</a:t>
            </a:r>
          </a:p>
        </p:txBody>
      </p:sp>
      <p:sp>
        <p:nvSpPr>
          <p:cNvPr id="3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A3D5E3BF-D037-4AC7-801C-CA928D69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2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B571B5BE-3DD2-40A3-B1D1-B393563F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 · BEZPEČNOST · INFORMACE</a:t>
            </a:r>
          </a:p>
        </p:txBody>
      </p:sp>
      <p:sp>
        <p:nvSpPr>
          <p:cNvPr id="5" name="text-1050-672">
            <a:extLst xmlns:a="http://schemas.openxmlformats.org/drawingml/2006/main">
              <a:ext uri="{FF2B5EF4-FFF2-40B4-BE49-F238E27FC236}">
                <a16:creationId xmlns:a16="http://schemas.microsoft.com/office/drawing/2014/main" id="{9DF396AF-3951-44D3-96F2-E4535747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00800"/>
            <a:ext cx="18002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HODINA 10  /  3</a:t>
            </a:r>
          </a:p>
        </p:txBody>
      </p:sp>
      <p:sp>
        <p:nvSpPr>
          <p:cNvPr id="6" name="text-41-179">
            <a:extLst xmlns:a="http://schemas.openxmlformats.org/drawingml/2006/main">
              <a:ext uri="{FF2B5EF4-FFF2-40B4-BE49-F238E27FC236}">
                <a16:creationId xmlns:a16="http://schemas.microsoft.com/office/drawing/2014/main" id="{A233DDB8-74B8-42FF-A5B1-F01A4246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04975"/>
            <a:ext cx="857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9B2C2C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7" name="text-41-274">
            <a:extLst xmlns:a="http://schemas.openxmlformats.org/drawingml/2006/main">
              <a:ext uri="{FF2B5EF4-FFF2-40B4-BE49-F238E27FC236}">
                <a16:creationId xmlns:a16="http://schemas.microsoft.com/office/drawing/2014/main" id="{008730A4-BDE3-4FBC-98B0-C9FC1C7E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09850"/>
            <a:ext cx="3238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Účet a přístup</a:t>
            </a:r>
          </a:p>
        </p:txBody>
      </p:sp>
      <p:sp>
        <p:nvSpPr>
          <p:cNvPr id="8" name="text-41-362">
            <a:extLst xmlns:a="http://schemas.openxmlformats.org/drawingml/2006/main">
              <a:ext uri="{FF2B5EF4-FFF2-40B4-BE49-F238E27FC236}">
                <a16:creationId xmlns:a16="http://schemas.microsoft.com/office/drawing/2014/main" id="{CD08DFD0-0FF0-4D5C-92CE-B1465C26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48050"/>
            <a:ext cx="323850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Zjisti, které účty a relace jsou zasažené, co se změnilo a kdo má oprávnění zasáhnout.</a:t>
            </a:r>
          </a:p>
        </p:txBody>
      </p:sp>
      <p:sp>
        <p:nvSpPr>
          <p:cNvPr id="9" name="text-453-179">
            <a:extLst xmlns:a="http://schemas.openxmlformats.org/drawingml/2006/main">
              <a:ext uri="{FF2B5EF4-FFF2-40B4-BE49-F238E27FC236}">
                <a16:creationId xmlns:a16="http://schemas.microsoft.com/office/drawing/2014/main" id="{642E6AD8-D268-4F49-B05C-2B063841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704975"/>
            <a:ext cx="857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9B2C2C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0" name="text-453-274">
            <a:extLst xmlns:a="http://schemas.openxmlformats.org/drawingml/2006/main">
              <a:ext uri="{FF2B5EF4-FFF2-40B4-BE49-F238E27FC236}">
                <a16:creationId xmlns:a16="http://schemas.microsoft.com/office/drawing/2014/main" id="{4A300DB7-5D90-4465-B383-1E1AA7A5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09850"/>
            <a:ext cx="3238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Obsah a soukromí</a:t>
            </a:r>
          </a:p>
        </p:txBody>
      </p:sp>
      <p:sp>
        <p:nvSpPr>
          <p:cNvPr id="11" name="text-453-362">
            <a:extLst xmlns:a="http://schemas.openxmlformats.org/drawingml/2006/main">
              <a:ext uri="{FF2B5EF4-FFF2-40B4-BE49-F238E27FC236}">
                <a16:creationId xmlns:a16="http://schemas.microsoft.com/office/drawing/2014/main" id="{DF4E92E8-576C-46B8-A17B-6C8CAA46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448050"/>
            <a:ext cx="323850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Odděl nepravdivý obsah, zveřejněné osobní údaje a důkazy, které je nutné uchovat.</a:t>
            </a:r>
          </a:p>
        </p:txBody>
      </p:sp>
      <p:sp>
        <p:nvSpPr>
          <p:cNvPr id="12" name="text-865-179">
            <a:extLst xmlns:a="http://schemas.openxmlformats.org/drawingml/2006/main">
              <a:ext uri="{FF2B5EF4-FFF2-40B4-BE49-F238E27FC236}">
                <a16:creationId xmlns:a16="http://schemas.microsoft.com/office/drawing/2014/main" id="{D488A8D1-237D-4D9A-953F-00941D07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04975"/>
            <a:ext cx="857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9B2C2C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3" name="text-865-274">
            <a:extLst xmlns:a="http://schemas.openxmlformats.org/drawingml/2006/main">
              <a:ext uri="{FF2B5EF4-FFF2-40B4-BE49-F238E27FC236}">
                <a16:creationId xmlns:a16="http://schemas.microsoft.com/office/drawing/2014/main" id="{E9EFF877-9A82-419D-96B2-0BB814E3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09850"/>
            <a:ext cx="3238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Práva a prevence</a:t>
            </a:r>
          </a:p>
        </p:txBody>
      </p:sp>
      <p:sp>
        <p:nvSpPr>
          <p:cNvPr id="14" name="text-865-362">
            <a:extLst xmlns:a="http://schemas.openxmlformats.org/drawingml/2006/main">
              <a:ext uri="{FF2B5EF4-FFF2-40B4-BE49-F238E27FC236}">
                <a16:creationId xmlns:a16="http://schemas.microsoft.com/office/drawing/2014/main" id="{2E71C506-9149-4F50-A9E2-19FAF268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48050"/>
            <a:ext cx="323850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Prověř licenci použitého obsahu a proces, který měl incidentu zabránit nebo omezit jeho dopad.</a:t>
            </a:r>
          </a:p>
        </p:txBody>
      </p:sp>
      <p:sp>
        <p:nvSpPr>
          <p:cNvPr id="15" name="key-line">
            <a:extLst xmlns:a="http://schemas.openxmlformats.org/drawingml/2006/main">
              <a:ext uri="{FF2B5EF4-FFF2-40B4-BE49-F238E27FC236}">
                <a16:creationId xmlns:a16="http://schemas.microsoft.com/office/drawing/2014/main" id="{0909ECB9-9418-4634-88D5-CC2CDC40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14975"/>
            <a:ext cx="11410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2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41-600">
            <a:extLst xmlns:a="http://schemas.openxmlformats.org/drawingml/2006/main">
              <a:ext uri="{FF2B5EF4-FFF2-40B4-BE49-F238E27FC236}">
                <a16:creationId xmlns:a16="http://schemas.microsoft.com/office/drawing/2014/main" id="{F0C3ACD7-E78F-4DC3-AC84-01757EEF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715000"/>
            <a:ext cx="11410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Nejde o rychlý tip. Jde o postup, který lze vysvětlit a zopakovat.</a:t>
            </a:r>
          </a:p>
        </p:txBody>
      </p:sp>
    </p:spTree>
    <p:extLst>
      <p:ext uri="{BB962C8B-B14F-4D97-AF65-F5344CB8AC3E}">
        <p14:creationId xmlns:p14="http://schemas.microsoft.com/office/powerpoint/2010/main" val="15367933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7BDEA80F-28F6-4B14-94DC-317F7BB4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B2C2C"/>
                </a:solidFill>
                <a:latin typeface="Arial"/>
                <a:ea typeface="Arial"/>
                <a:cs typeface="Arial"/>
              </a:defRPr>
            </a:pPr>
            <a:r>
              <a:t>5–37 MIN · PRÁCE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DF029477-7A1D-4ED7-9AF5-CC1ADF90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Hlavní počítačová aktivita</a:t>
            </a:r>
          </a:p>
        </p:txBody>
      </p:sp>
      <p:sp>
        <p:nvSpPr>
          <p:cNvPr id="3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3D8B4B38-5130-48E8-8EA9-94D91D34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2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4F731AE7-0FB6-45B1-B274-0043AD1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 · BEZPEČNOST · INFORMACE</a:t>
            </a:r>
          </a:p>
        </p:txBody>
      </p:sp>
      <p:sp>
        <p:nvSpPr>
          <p:cNvPr id="5" name="text-1050-672">
            <a:extLst xmlns:a="http://schemas.openxmlformats.org/drawingml/2006/main">
              <a:ext uri="{FF2B5EF4-FFF2-40B4-BE49-F238E27FC236}">
                <a16:creationId xmlns:a16="http://schemas.microsoft.com/office/drawing/2014/main" id="{7003B8D4-6323-4520-9C45-FDA4E0ED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00800"/>
            <a:ext cx="18002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HODINA 10  /  4</a:t>
            </a:r>
          </a:p>
        </p:txBody>
      </p:sp>
      <p:sp>
        <p:nvSpPr>
          <p:cNvPr id="6" name="text-41-165">
            <a:extLst xmlns:a="http://schemas.openxmlformats.org/drawingml/2006/main">
              <a:ext uri="{FF2B5EF4-FFF2-40B4-BE49-F238E27FC236}">
                <a16:creationId xmlns:a16="http://schemas.microsoft.com/office/drawing/2014/main" id="{6A4D120B-A3BB-4F38-8F61-A4463BBC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71625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B2C2C"/>
                </a:solidFill>
                <a:latin typeface="Arial"/>
                <a:ea typeface="Arial"/>
                <a:cs typeface="Arial"/>
              </a:defRPr>
            </a:pPr>
            <a:r>
              <a:t>OTEVŘI</a:t>
            </a:r>
          </a:p>
        </p:txBody>
      </p:sp>
      <p:sp>
        <p:nvSpPr>
          <p:cNvPr id="7" name="text-41-202">
            <a:extLst xmlns:a="http://schemas.openxmlformats.org/drawingml/2006/main">
              <a:ext uri="{FF2B5EF4-FFF2-40B4-BE49-F238E27FC236}">
                <a16:creationId xmlns:a16="http://schemas.microsoft.com/office/drawing/2014/main" id="{A4803E4D-922A-4274-8B92-1B556BA4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24050"/>
            <a:ext cx="11049000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10. Incident mediálního klubu.html, Testy A a B.docx, digitální pracovní sešit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D3E9673E-C102-4314-A740-40499F11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771775"/>
            <a:ext cx="35623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63-313">
            <a:extLst xmlns:a="http://schemas.openxmlformats.org/drawingml/2006/main">
              <a:ext uri="{FF2B5EF4-FFF2-40B4-BE49-F238E27FC236}">
                <a16:creationId xmlns:a16="http://schemas.microsoft.com/office/drawing/2014/main" id="{493E909F-FEBE-4C08-BA9E-8F7EB7F9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981325"/>
            <a:ext cx="552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9B2C2C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10" name="text-63-372">
            <a:extLst xmlns:a="http://schemas.openxmlformats.org/drawingml/2006/main">
              <a:ext uri="{FF2B5EF4-FFF2-40B4-BE49-F238E27FC236}">
                <a16:creationId xmlns:a16="http://schemas.microsoft.com/office/drawing/2014/main" id="{C0D70C6F-226E-45C1-A867-4CCBADF5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543300"/>
            <a:ext cx="3143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Analyzuj dashboard</a:t>
            </a:r>
          </a:p>
        </p:txBody>
      </p:sp>
      <p:sp>
        <p:nvSpPr>
          <p:cNvPr id="11" name="text-63-449">
            <a:extLst xmlns:a="http://schemas.openxmlformats.org/drawingml/2006/main">
              <a:ext uri="{FF2B5EF4-FFF2-40B4-BE49-F238E27FC236}">
                <a16:creationId xmlns:a16="http://schemas.microsoft.com/office/drawing/2014/main" id="{1CBB0695-835B-4AAE-963E-72C5FCE2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276725"/>
            <a:ext cx="31432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Najdi problém u účtu, příspěvku, soukromí, důkazů a autorských práv.</a:t>
            </a:r>
          </a:p>
        </p:txBody>
      </p:sp>
      <p:sp>
        <p:nvSpPr>
          <p:cNvPr id="12" name="step-2">
            <a:extLst xmlns:a="http://schemas.openxmlformats.org/drawingml/2006/main">
              <a:ext uri="{FF2B5EF4-FFF2-40B4-BE49-F238E27FC236}">
                <a16:creationId xmlns:a16="http://schemas.microsoft.com/office/drawing/2014/main" id="{68043BED-60CD-45CB-952C-E19EBD0D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71775"/>
            <a:ext cx="35623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2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475-313">
            <a:extLst xmlns:a="http://schemas.openxmlformats.org/drawingml/2006/main">
              <a:ext uri="{FF2B5EF4-FFF2-40B4-BE49-F238E27FC236}">
                <a16:creationId xmlns:a16="http://schemas.microsoft.com/office/drawing/2014/main" id="{298004A3-5C6F-4594-85FF-9A7107DB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81325"/>
            <a:ext cx="552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9B2C2C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4" name="text-475-372">
            <a:extLst xmlns:a="http://schemas.openxmlformats.org/drawingml/2006/main">
              <a:ext uri="{FF2B5EF4-FFF2-40B4-BE49-F238E27FC236}">
                <a16:creationId xmlns:a16="http://schemas.microsoft.com/office/drawing/2014/main" id="{D0A5428F-93A0-4DE0-9047-2A2EDBBF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43300"/>
            <a:ext cx="3143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Seřaď pět kroků</a:t>
            </a:r>
          </a:p>
        </p:txBody>
      </p:sp>
      <p:sp>
        <p:nvSpPr>
          <p:cNvPr id="15" name="text-475-449">
            <a:extLst xmlns:a="http://schemas.openxmlformats.org/drawingml/2006/main">
              <a:ext uri="{FF2B5EF4-FFF2-40B4-BE49-F238E27FC236}">
                <a16:creationId xmlns:a16="http://schemas.microsoft.com/office/drawing/2014/main" id="{0D920C16-D4FE-47D9-818F-02EB8ABC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276725"/>
            <a:ext cx="31432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Začni omezením škody a obnovením kontroly. Každému kroku přiřaď vlastníka.</a:t>
            </a:r>
          </a:p>
        </p:txBody>
      </p:sp>
      <p:sp>
        <p:nvSpPr>
          <p:cNvPr id="16" name="step-3">
            <a:extLst xmlns:a="http://schemas.openxmlformats.org/drawingml/2006/main">
              <a:ext uri="{FF2B5EF4-FFF2-40B4-BE49-F238E27FC236}">
                <a16:creationId xmlns:a16="http://schemas.microsoft.com/office/drawing/2014/main" id="{F6924FE9-6C4B-4BB6-ACD5-2E4FF2E2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71775"/>
            <a:ext cx="35623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887-313">
            <a:extLst xmlns:a="http://schemas.openxmlformats.org/drawingml/2006/main">
              <a:ext uri="{FF2B5EF4-FFF2-40B4-BE49-F238E27FC236}">
                <a16:creationId xmlns:a16="http://schemas.microsoft.com/office/drawing/2014/main" id="{9F7C55AF-5DDE-42C0-B712-26EA8BAF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981325"/>
            <a:ext cx="552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9B2C2C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8" name="text-887-372">
            <a:extLst xmlns:a="http://schemas.openxmlformats.org/drawingml/2006/main">
              <a:ext uri="{FF2B5EF4-FFF2-40B4-BE49-F238E27FC236}">
                <a16:creationId xmlns:a16="http://schemas.microsoft.com/office/drawing/2014/main" id="{2BB55FF0-7CFC-430D-959E-B5C75823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543300"/>
            <a:ext cx="3143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Vyplň individuální test</a:t>
            </a:r>
          </a:p>
        </p:txBody>
      </p:sp>
      <p:sp>
        <p:nvSpPr>
          <p:cNvPr id="19" name="text-887-449">
            <a:extLst xmlns:a="http://schemas.openxmlformats.org/drawingml/2006/main">
              <a:ext uri="{FF2B5EF4-FFF2-40B4-BE49-F238E27FC236}">
                <a16:creationId xmlns:a16="http://schemas.microsoft.com/office/drawing/2014/main" id="{A7B95FA0-E027-4A6B-9A27-A835F79D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276725"/>
            <a:ext cx="31432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Po odevzdání týmového plánu pracuj bez sešitu a bez pomoci skupiny.</a:t>
            </a:r>
          </a:p>
        </p:txBody>
      </p:sp>
      <p:sp>
        <p:nvSpPr>
          <p:cNvPr id="20" name="text-41-585">
            <a:extLst xmlns:a="http://schemas.openxmlformats.org/drawingml/2006/main">
              <a:ext uri="{FF2B5EF4-FFF2-40B4-BE49-F238E27FC236}">
                <a16:creationId xmlns:a16="http://schemas.microsoft.com/office/drawing/2014/main" id="{5F1EAB63-85CB-4A86-9FF8-3757CDAA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72125"/>
            <a:ext cx="1524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B2C2C"/>
                </a:solidFill>
                <a:latin typeface="Arial"/>
                <a:ea typeface="Arial"/>
                <a:cs typeface="Arial"/>
              </a:defRPr>
            </a:pPr>
            <a:r>
              <a:t>ODEVZDEJ</a:t>
            </a:r>
          </a:p>
        </p:txBody>
      </p:sp>
      <p:sp>
        <p:nvSpPr>
          <p:cNvPr id="21" name="text-201-581">
            <a:extLst xmlns:a="http://schemas.openxmlformats.org/drawingml/2006/main">
              <a:ext uri="{FF2B5EF4-FFF2-40B4-BE49-F238E27FC236}">
                <a16:creationId xmlns:a16="http://schemas.microsoft.com/office/drawing/2014/main" id="{314E590B-AE40-40A3-B74A-3B6751DA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534025"/>
            <a:ext cx="9886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Týmový akční plán k incidentu, individuální test a závěrečné sebehodnocení.</a:t>
            </a:r>
          </a:p>
        </p:txBody>
      </p:sp>
    </p:spTree>
    <p:extLst>
      <p:ext uri="{BB962C8B-B14F-4D97-AF65-F5344CB8AC3E}">
        <p14:creationId xmlns:p14="http://schemas.microsoft.com/office/powerpoint/2010/main" val="6568671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FC8C6142-5B0A-4CD7-A995-557DC5E1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B2C2C"/>
                </a:solidFill>
                <a:latin typeface="Arial"/>
                <a:ea typeface="Arial"/>
                <a:cs typeface="Arial"/>
              </a:defRPr>
            </a:pPr>
            <a:r>
              <a:t>PRŮBĚŽNÁ KONTROLA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ACC78614-689C-41D0-9184-42412C8F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Než práci odevzdáš, ověř čtyři věci</a:t>
            </a:r>
          </a:p>
        </p:txBody>
      </p:sp>
      <p:sp>
        <p:nvSpPr>
          <p:cNvPr id="3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C5906C71-FBF6-4265-9675-94CBB9A7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2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E883652A-63D7-45F2-B380-497374C8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 · BEZPEČNOST · INFORMACE</a:t>
            </a:r>
          </a:p>
        </p:txBody>
      </p:sp>
      <p:sp>
        <p:nvSpPr>
          <p:cNvPr id="5" name="text-1050-672">
            <a:extLst xmlns:a="http://schemas.openxmlformats.org/drawingml/2006/main">
              <a:ext uri="{FF2B5EF4-FFF2-40B4-BE49-F238E27FC236}">
                <a16:creationId xmlns:a16="http://schemas.microsoft.com/office/drawing/2014/main" id="{2220308F-516E-415F-BB95-09E9FBAC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00800"/>
            <a:ext cx="18002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HODINA 10  /  5</a:t>
            </a:r>
          </a:p>
        </p:txBody>
      </p:sp>
      <p:sp>
        <p:nvSpPr>
          <p:cNvPr id="6" name="check-1">
            <a:extLst xmlns:a="http://schemas.openxmlformats.org/drawingml/2006/main">
              <a:ext uri="{FF2B5EF4-FFF2-40B4-BE49-F238E27FC236}">
                <a16:creationId xmlns:a16="http://schemas.microsoft.com/office/drawing/2014/main" id="{58ABB948-11F5-4CAB-99A8-7B311316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95450"/>
            <a:ext cx="5543550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2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65-205">
            <a:extLst xmlns:a="http://schemas.openxmlformats.org/drawingml/2006/main">
              <a:ext uri="{FF2B5EF4-FFF2-40B4-BE49-F238E27FC236}">
                <a16:creationId xmlns:a16="http://schemas.microsoft.com/office/drawing/2014/main" id="{42B75723-8733-4A4E-92BA-78CAF030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42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9B2C2C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8" name="text-125-206">
            <a:extLst xmlns:a="http://schemas.openxmlformats.org/drawingml/2006/main">
              <a:ext uri="{FF2B5EF4-FFF2-40B4-BE49-F238E27FC236}">
                <a16:creationId xmlns:a16="http://schemas.microsoft.com/office/drawing/2014/main" id="{89F4295B-7459-44BF-B5E3-40F79E7A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962150"/>
            <a:ext cx="438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Výsledek</a:t>
            </a:r>
          </a:p>
        </p:txBody>
      </p:sp>
      <p:sp>
        <p:nvSpPr>
          <p:cNvPr id="9" name="text-125-255">
            <a:extLst xmlns:a="http://schemas.openxmlformats.org/drawingml/2006/main">
              <a:ext uri="{FF2B5EF4-FFF2-40B4-BE49-F238E27FC236}">
                <a16:creationId xmlns:a16="http://schemas.microsoft.com/office/drawing/2014/main" id="{F2AA6518-F89B-4499-B6AB-4E5ED94B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28875"/>
            <a:ext cx="438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Tým nejprve omezí škodu a zabezpečí účty; jednotlivec v testu získá podle zvolené hranice alespoň 45 %.</a:t>
            </a:r>
          </a:p>
        </p:txBody>
      </p:sp>
      <p:sp>
        <p:nvSpPr>
          <p:cNvPr id="10" name="check-2">
            <a:extLst xmlns:a="http://schemas.openxmlformats.org/drawingml/2006/main">
              <a:ext uri="{FF2B5EF4-FFF2-40B4-BE49-F238E27FC236}">
                <a16:creationId xmlns:a16="http://schemas.microsoft.com/office/drawing/2014/main" id="{F1E0A4C9-D166-4385-B16B-20FC14C2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695450"/>
            <a:ext cx="5543550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681-205">
            <a:extLst xmlns:a="http://schemas.openxmlformats.org/drawingml/2006/main">
              <a:ext uri="{FF2B5EF4-FFF2-40B4-BE49-F238E27FC236}">
                <a16:creationId xmlns:a16="http://schemas.microsoft.com/office/drawing/2014/main" id="{25F8B9C9-47B2-4394-BC6C-833A5100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952625"/>
            <a:ext cx="42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9B2C2C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2" name="text-741-206">
            <a:extLst xmlns:a="http://schemas.openxmlformats.org/drawingml/2006/main">
              <a:ext uri="{FF2B5EF4-FFF2-40B4-BE49-F238E27FC236}">
                <a16:creationId xmlns:a16="http://schemas.microsoft.com/office/drawing/2014/main" id="{C52B5202-1C0D-436A-9D90-239C422C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962150"/>
            <a:ext cx="438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Důvod</a:t>
            </a:r>
          </a:p>
        </p:txBody>
      </p:sp>
      <p:sp>
        <p:nvSpPr>
          <p:cNvPr id="13" name="text-741-255">
            <a:extLst xmlns:a="http://schemas.openxmlformats.org/drawingml/2006/main">
              <a:ext uri="{FF2B5EF4-FFF2-40B4-BE49-F238E27FC236}">
                <a16:creationId xmlns:a16="http://schemas.microsoft.com/office/drawing/2014/main" id="{E4839B94-DC6E-4105-9750-7DAD4E6C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428875"/>
            <a:ext cx="438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Který krok musí proběhnout dřív, aby se škoda dále nezvětšovala?</a:t>
            </a:r>
          </a:p>
        </p:txBody>
      </p:sp>
      <p:sp>
        <p:nvSpPr>
          <p:cNvPr id="14" name="check-3">
            <a:extLst xmlns:a="http://schemas.openxmlformats.org/drawingml/2006/main">
              <a:ext uri="{FF2B5EF4-FFF2-40B4-BE49-F238E27FC236}">
                <a16:creationId xmlns:a16="http://schemas.microsoft.com/office/drawing/2014/main" id="{B8519909-EEB4-4779-BFD8-C038D442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81425"/>
            <a:ext cx="5543550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65-424">
            <a:extLst xmlns:a="http://schemas.openxmlformats.org/drawingml/2006/main">
              <a:ext uri="{FF2B5EF4-FFF2-40B4-BE49-F238E27FC236}">
                <a16:creationId xmlns:a16="http://schemas.microsoft.com/office/drawing/2014/main" id="{E598A755-D312-4344-B3F4-3A1F8E09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38600"/>
            <a:ext cx="42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9B2C2C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6" name="text-125-425">
            <a:extLst xmlns:a="http://schemas.openxmlformats.org/drawingml/2006/main">
              <a:ext uri="{FF2B5EF4-FFF2-40B4-BE49-F238E27FC236}">
                <a16:creationId xmlns:a16="http://schemas.microsoft.com/office/drawing/2014/main" id="{6A10AA37-78A4-48CD-A393-AB9473BF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48125"/>
            <a:ext cx="438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Ověření</a:t>
            </a:r>
          </a:p>
        </p:txBody>
      </p:sp>
      <p:sp>
        <p:nvSpPr>
          <p:cNvPr id="17" name="text-125-474">
            <a:extLst xmlns:a="http://schemas.openxmlformats.org/drawingml/2006/main">
              <a:ext uri="{FF2B5EF4-FFF2-40B4-BE49-F238E27FC236}">
                <a16:creationId xmlns:a16="http://schemas.microsoft.com/office/drawing/2014/main" id="{A23B45FF-8A4B-44D8-AC39-4AB91A2A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14850"/>
            <a:ext cx="438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Které důkazy je vhodné uchovat a které citlivé údaje nesmíme dále šířit?</a:t>
            </a:r>
          </a:p>
        </p:txBody>
      </p:sp>
      <p:sp>
        <p:nvSpPr>
          <p:cNvPr id="18" name="check-4">
            <a:extLst xmlns:a="http://schemas.openxmlformats.org/drawingml/2006/main">
              <a:ext uri="{FF2B5EF4-FFF2-40B4-BE49-F238E27FC236}">
                <a16:creationId xmlns:a16="http://schemas.microsoft.com/office/drawing/2014/main" id="{8B85813C-846D-408F-AE17-3276B668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81425"/>
            <a:ext cx="5543550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681-424">
            <a:extLst xmlns:a="http://schemas.openxmlformats.org/drawingml/2006/main">
              <a:ext uri="{FF2B5EF4-FFF2-40B4-BE49-F238E27FC236}">
                <a16:creationId xmlns:a16="http://schemas.microsoft.com/office/drawing/2014/main" id="{12138DDD-C113-4CAF-9727-E92F4428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038600"/>
            <a:ext cx="42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9B2C2C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20" name="text-741-425">
            <a:extLst xmlns:a="http://schemas.openxmlformats.org/drawingml/2006/main">
              <a:ext uri="{FF2B5EF4-FFF2-40B4-BE49-F238E27FC236}">
                <a16:creationId xmlns:a16="http://schemas.microsoft.com/office/drawing/2014/main" id="{542FDB75-6990-42F6-9071-12F4FA7E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048125"/>
            <a:ext cx="438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Bezpečný krok</a:t>
            </a:r>
          </a:p>
        </p:txBody>
      </p:sp>
      <p:sp>
        <p:nvSpPr>
          <p:cNvPr id="21" name="text-741-474">
            <a:extLst xmlns:a="http://schemas.openxmlformats.org/drawingml/2006/main">
              <a:ext uri="{FF2B5EF4-FFF2-40B4-BE49-F238E27FC236}">
                <a16:creationId xmlns:a16="http://schemas.microsoft.com/office/drawing/2014/main" id="{8070FC01-8431-474E-A68F-68161093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514850"/>
            <a:ext cx="438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Jaká změna procesu zabrání opakování, i když člověk znovu udělá chybu?</a:t>
            </a:r>
          </a:p>
        </p:txBody>
      </p:sp>
    </p:spTree>
    <p:extLst>
      <p:ext uri="{BB962C8B-B14F-4D97-AF65-F5344CB8AC3E}">
        <p14:creationId xmlns:p14="http://schemas.microsoft.com/office/powerpoint/2010/main" val="8503835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BF33FC58-221A-4B1A-8B61-6F5F2D20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B2C2C"/>
                </a:solidFill>
                <a:latin typeface="Arial"/>
                <a:ea typeface="Arial"/>
                <a:cs typeface="Arial"/>
              </a:defRPr>
            </a:pPr>
            <a:r>
              <a:t>37–42 MIN · SPOLEČNĚ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F7F88950-6C94-4AC8-866C-D312ED01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Co by měla dobrá odpověď obsahovat</a:t>
            </a:r>
          </a:p>
        </p:txBody>
      </p:sp>
      <p:sp>
        <p:nvSpPr>
          <p:cNvPr id="3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E16DD083-FEA8-4EF5-8B81-014BC0F1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2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12373572-8004-4BF8-9EBA-F91855C3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INTERNET · BEZPEČNOST · INFORMACE</a:t>
            </a:r>
          </a:p>
        </p:txBody>
      </p:sp>
      <p:sp>
        <p:nvSpPr>
          <p:cNvPr id="5" name="text-1050-672">
            <a:extLst xmlns:a="http://schemas.openxmlformats.org/drawingml/2006/main">
              <a:ext uri="{FF2B5EF4-FFF2-40B4-BE49-F238E27FC236}">
                <a16:creationId xmlns:a16="http://schemas.microsoft.com/office/drawing/2014/main" id="{07890F97-2051-4871-B0E3-8E64442B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00800"/>
            <a:ext cx="18002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HODINA 10  /  6</a:t>
            </a:r>
          </a:p>
        </p:txBody>
      </p:sp>
      <p:sp>
        <p:nvSpPr>
          <p:cNvPr id="6" name="text-41-171">
            <a:extLst xmlns:a="http://schemas.openxmlformats.org/drawingml/2006/main">
              <a:ext uri="{FF2B5EF4-FFF2-40B4-BE49-F238E27FC236}">
                <a16:creationId xmlns:a16="http://schemas.microsoft.com/office/drawing/2014/main" id="{9555B79C-177D-48A5-A20D-C89A662F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28775"/>
            <a:ext cx="504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2C2C"/>
                </a:solidFill>
                <a:latin typeface="Arial"/>
                <a:ea typeface="Arial"/>
                <a:cs typeface="Arial"/>
              </a:defRPr>
            </a:pPr>
            <a:r>
              <a:t>PODLOŽENÝ ZÁVĚR</a:t>
            </a:r>
          </a:p>
        </p:txBody>
      </p:sp>
      <p:sp>
        <p:nvSpPr>
          <p:cNvPr id="7" name="text-41-224">
            <a:extLst xmlns:a="http://schemas.openxmlformats.org/drawingml/2006/main">
              <a:ext uri="{FF2B5EF4-FFF2-40B4-BE49-F238E27FC236}">
                <a16:creationId xmlns:a16="http://schemas.microsoft.com/office/drawing/2014/main" id="{DAD926E0-3A1A-4C9B-A5E3-A9AB83A0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3360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První reakce</a:t>
            </a:r>
          </a:p>
        </p:txBody>
      </p:sp>
      <p:sp>
        <p:nvSpPr>
          <p:cNvPr id="8" name="text-264-224">
            <a:extLst xmlns:a="http://schemas.openxmlformats.org/drawingml/2006/main">
              <a:ext uri="{FF2B5EF4-FFF2-40B4-BE49-F238E27FC236}">
                <a16:creationId xmlns:a16="http://schemas.microsoft.com/office/drawing/2014/main" id="{1BA56DBC-7465-474D-ABC3-0FC1F68C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133600"/>
            <a:ext cx="3238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Nahlásit incident, omezit přístup, zabezpečit účet a uchovat pouze nezbytné důkazy.</a:t>
            </a:r>
          </a:p>
        </p:txBody>
      </p:sp>
      <p:sp>
        <p:nvSpPr>
          <p:cNvPr id="9" name="text-41-336">
            <a:extLst xmlns:a="http://schemas.openxmlformats.org/drawingml/2006/main">
              <a:ext uri="{FF2B5EF4-FFF2-40B4-BE49-F238E27FC236}">
                <a16:creationId xmlns:a16="http://schemas.microsoft.com/office/drawing/2014/main" id="{DA368E70-8F07-46FB-A1D8-F3549B21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0040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Účty</a:t>
            </a:r>
          </a:p>
        </p:txBody>
      </p:sp>
      <p:sp>
        <p:nvSpPr>
          <p:cNvPr id="10" name="text-264-336">
            <a:extLst xmlns:a="http://schemas.openxmlformats.org/drawingml/2006/main">
              <a:ext uri="{FF2B5EF4-FFF2-40B4-BE49-F238E27FC236}">
                <a16:creationId xmlns:a16="http://schemas.microsoft.com/office/drawing/2014/main" id="{EDC90468-C54E-437E-B0E7-473C2D3D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200400"/>
            <a:ext cx="3238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Změnit hesla všech služeb se stejným heslem, zrušit neznámé relace, zkontrolovat obnovu a zapnout 2FA.</a:t>
            </a:r>
          </a:p>
        </p:txBody>
      </p:sp>
      <p:sp>
        <p:nvSpPr>
          <p:cNvPr id="11" name="text-41-448">
            <a:extLst xmlns:a="http://schemas.openxmlformats.org/drawingml/2006/main">
              <a:ext uri="{FF2B5EF4-FFF2-40B4-BE49-F238E27FC236}">
                <a16:creationId xmlns:a16="http://schemas.microsoft.com/office/drawing/2014/main" id="{EF3C1D6E-073F-449C-8D3D-898E1617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6720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Příspěvek</a:t>
            </a:r>
          </a:p>
        </p:txBody>
      </p:sp>
      <p:sp>
        <p:nvSpPr>
          <p:cNvPr id="12" name="text-264-448">
            <a:extLst xmlns:a="http://schemas.openxmlformats.org/drawingml/2006/main">
              <a:ext uri="{FF2B5EF4-FFF2-40B4-BE49-F238E27FC236}">
                <a16:creationId xmlns:a16="http://schemas.microsoft.com/office/drawing/2014/main" id="{7B5FD7A0-1849-4B38-BC5C-C6CFC0BD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267200"/>
            <a:ext cx="3238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Ověřit tvrzení, odstranit nebo opravit nepravdivý obsah, transparentně informovat publikum a uchovat záznam.</a:t>
            </a:r>
          </a:p>
        </p:txBody>
      </p:sp>
      <p:sp>
        <p:nvSpPr>
          <p:cNvPr id="13" name="misconception-panel">
            <a:extLst xmlns:a="http://schemas.openxmlformats.org/drawingml/2006/main">
              <a:ext uri="{FF2B5EF4-FFF2-40B4-BE49-F238E27FC236}">
                <a16:creationId xmlns:a16="http://schemas.microsoft.com/office/drawing/2014/main" id="{218B2772-A475-4386-9B24-30255A5E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628775"/>
            <a:ext cx="55435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2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691-203">
            <a:extLst xmlns:a="http://schemas.openxmlformats.org/drawingml/2006/main">
              <a:ext uri="{FF2B5EF4-FFF2-40B4-BE49-F238E27FC236}">
                <a16:creationId xmlns:a16="http://schemas.microsoft.com/office/drawing/2014/main" id="{C26BF05D-FB62-4CD3-B98C-BA4DB8CC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933575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2C2C"/>
                </a:solidFill>
                <a:latin typeface="Arial"/>
                <a:ea typeface="Arial"/>
                <a:cs typeface="Arial"/>
              </a:defRPr>
            </a:pPr>
            <a:r>
              <a:t>POZOR NA ZKRATKU</a:t>
            </a:r>
          </a:p>
        </p:txBody>
      </p:sp>
      <p:sp>
        <p:nvSpPr>
          <p:cNvPr id="15" name="text-691-263">
            <a:extLst xmlns:a="http://schemas.openxmlformats.org/drawingml/2006/main">
              <a:ext uri="{FF2B5EF4-FFF2-40B4-BE49-F238E27FC236}">
                <a16:creationId xmlns:a16="http://schemas.microsoft.com/office/drawing/2014/main" id="{E80F41AB-0648-4FE1-9F94-B404D791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505075"/>
            <a:ext cx="4667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Tým nejprve píše veřejné vysvětlení.</a:t>
            </a:r>
          </a:p>
        </p:txBody>
      </p:sp>
      <p:sp>
        <p:nvSpPr>
          <p:cNvPr id="16" name="text-691-382">
            <a:extLst xmlns:a="http://schemas.openxmlformats.org/drawingml/2006/main">
              <a:ext uri="{FF2B5EF4-FFF2-40B4-BE49-F238E27FC236}">
                <a16:creationId xmlns:a16="http://schemas.microsoft.com/office/drawing/2014/main" id="{D886D7FD-2F49-4C07-A1CF-93C4D339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638550"/>
            <a:ext cx="46672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Nejdřív zastavte další škodu a obnovte kontrolu nad účtem.</a:t>
            </a:r>
          </a:p>
        </p:txBody>
      </p:sp>
      <p:sp>
        <p:nvSpPr>
          <p:cNvPr id="17" name="text-41-576">
            <a:extLst xmlns:a="http://schemas.openxmlformats.org/drawingml/2006/main">
              <a:ext uri="{FF2B5EF4-FFF2-40B4-BE49-F238E27FC236}">
                <a16:creationId xmlns:a16="http://schemas.microsoft.com/office/drawing/2014/main" id="{E4BD6EF1-F7D1-4139-AA16-9CD7053B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86400"/>
            <a:ext cx="11410950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Vrať se k úvodnímu rozhodnutí. Co bys teď změnil — a proč?</a:t>
            </a:r>
          </a:p>
        </p:txBody>
      </p:sp>
    </p:spTree>
    <p:extLst>
      <p:ext uri="{BB962C8B-B14F-4D97-AF65-F5344CB8AC3E}">
        <p14:creationId xmlns:p14="http://schemas.microsoft.com/office/powerpoint/2010/main" val="15419844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">
            <a:extLst xmlns:a="http://schemas.openxmlformats.org/drawingml/2006/main">
              <a:ext uri="{FF2B5EF4-FFF2-40B4-BE49-F238E27FC236}">
                <a16:creationId xmlns:a16="http://schemas.microsoft.com/office/drawing/2014/main" id="{3905A611-AA73-4F94-8ED6-30F9E9C3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2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54-48">
            <a:extLst xmlns:a="http://schemas.openxmlformats.org/drawingml/2006/main">
              <a:ext uri="{FF2B5EF4-FFF2-40B4-BE49-F238E27FC236}">
                <a16:creationId xmlns:a16="http://schemas.microsoft.com/office/drawing/2014/main" id="{12D60C48-E114-4B32-857B-4BA43A2A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2C2C"/>
                </a:solidFill>
                <a:latin typeface="Arial"/>
                <a:ea typeface="Arial"/>
                <a:cs typeface="Arial"/>
              </a:defRPr>
            </a:pPr>
            <a:r>
              <a:t>HODINA 10 · POSLEDNÍ 3 MINUTY</a:t>
            </a:r>
          </a:p>
        </p:txBody>
      </p:sp>
      <p:sp>
        <p:nvSpPr>
          <p:cNvPr id="3" name="text-54-154">
            <a:extLst xmlns:a="http://schemas.openxmlformats.org/drawingml/2006/main">
              <a:ext uri="{FF2B5EF4-FFF2-40B4-BE49-F238E27FC236}">
                <a16:creationId xmlns:a16="http://schemas.microsoft.com/office/drawing/2014/main" id="{F8FBE191-D912-4355-BCFC-D1FA08FB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5810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Exit ticket</a:t>
            </a:r>
          </a:p>
        </p:txBody>
      </p:sp>
      <p:sp>
        <p:nvSpPr>
          <p:cNvPr id="4" name="text-54-278">
            <a:extLst xmlns:a="http://schemas.openxmlformats.org/drawingml/2006/main">
              <a:ext uri="{FF2B5EF4-FFF2-40B4-BE49-F238E27FC236}">
                <a16:creationId xmlns:a16="http://schemas.microsoft.com/office/drawing/2014/main" id="{9CDFFCD6-AF25-435E-A04F-044CF0CA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1047750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Napiš jednu změnu procesu, která sníží dopad budoucí lidské chyby, a jedno téma, které si potřebuješ procvičit.</a:t>
            </a:r>
          </a:p>
        </p:txBody>
      </p:sp>
      <p:sp>
        <p:nvSpPr>
          <p:cNvPr id="5" name="exit-line">
            <a:extLst xmlns:a="http://schemas.openxmlformats.org/drawingml/2006/main">
              <a:ext uri="{FF2B5EF4-FFF2-40B4-BE49-F238E27FC236}">
                <a16:creationId xmlns:a16="http://schemas.microsoft.com/office/drawing/2014/main" id="{70959B45-66BE-4102-B93C-0CA9C94F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2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4-544">
            <a:extLst xmlns:a="http://schemas.openxmlformats.org/drawingml/2006/main">
              <a:ext uri="{FF2B5EF4-FFF2-40B4-BE49-F238E27FC236}">
                <a16:creationId xmlns:a16="http://schemas.microsoft.com/office/drawing/2014/main" id="{6A5F5BEA-D4FA-4F80-9CF5-21C94FF6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81600"/>
            <a:ext cx="914400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863"/>
                </a:solidFill>
                <a:latin typeface="Arial"/>
                <a:ea typeface="Arial"/>
                <a:cs typeface="Arial"/>
              </a:defRPr>
            </a:pPr>
            <a:r>
              <a:t>Odpověz samostatně jednou až třemi větami. Uveď konkrétní krok nebo důvod.</a:t>
            </a:r>
          </a:p>
        </p:txBody>
      </p:sp>
      <p:sp>
        <p:nvSpPr>
          <p:cNvPr id="7" name="text-1070-548">
            <a:extLst xmlns:a="http://schemas.openxmlformats.org/drawingml/2006/main">
              <a:ext uri="{FF2B5EF4-FFF2-40B4-BE49-F238E27FC236}">
                <a16:creationId xmlns:a16="http://schemas.microsoft.com/office/drawing/2014/main" id="{F0F9B697-13A1-4003-A08C-E4AA4B7D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19700"/>
            <a:ext cx="8953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300" b="1">
                <a:solidFill>
                  <a:srgbClr val="9B2C2C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255085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Karel Hlas</dc:creator>
  <cp:lastModifiedBy>Karel Hlas</cp:lastModifiedBy>
  <dc:title>Presentation</dc:title>
  <dcterms:created xsi:type="dcterms:W3CDTF">2026-07-24T00:00:00Z</dcterms:created>
  <dcterms:modified xsi:type="dcterms:W3CDTF">2026-07-24T00:00:00Z</dcterms:modified>
  <dc:description/>
</cp:coreProperties>
</file>