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3ae346db0b46e6" /><Relationship Type="http://schemas.openxmlformats.org/officeDocument/2006/relationships/extended-properties" Target="/docProps/app.xml" Id="R478f299549b3425c" /><Relationship Type="http://schemas.openxmlformats.org/officeDocument/2006/relationships/officeDocument" Target="/ppt/presentation.xml" Id="Ra8bf3cd6c61b40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a9690e7f04d11"/>
  </p:sldMasterIdLst>
  <p:notesMasterIdLst>
    <p:notesMasterId xmlns:r="http://schemas.openxmlformats.org/officeDocument/2006/relationships" r:id="R5a6459bef3f64f57"/>
  </p:notesMasterIdLst>
  <p:sldIdLst>
    <p:sldId xmlns:r="http://schemas.openxmlformats.org/officeDocument/2006/relationships" id="256" r:id="R0d12f2e703864480"/>
    <p:sldId xmlns:r="http://schemas.openxmlformats.org/officeDocument/2006/relationships" id="257" r:id="Rd667ca029f694a02"/>
    <p:sldId xmlns:r="http://schemas.openxmlformats.org/officeDocument/2006/relationships" id="258" r:id="R82a378af54594773"/>
    <p:sldId xmlns:r="http://schemas.openxmlformats.org/officeDocument/2006/relationships" id="259" r:id="R9f55ff7601364ced"/>
    <p:sldId xmlns:r="http://schemas.openxmlformats.org/officeDocument/2006/relationships" id="260" r:id="R10e5f6c58d774f4a"/>
    <p:sldId xmlns:r="http://schemas.openxmlformats.org/officeDocument/2006/relationships" id="261" r:id="R4eac9f9617ed4dc6"/>
    <p:sldId xmlns:r="http://schemas.openxmlformats.org/officeDocument/2006/relationships" id="262" r:id="Red1330cda44a42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fbd5f22a44941" /><Relationship Type="http://schemas.openxmlformats.org/officeDocument/2006/relationships/slideMaster" Target="/ppt/slideMasters/slideMaster1.xml" Id="Ra27a9690e7f04d11" /><Relationship Type="http://schemas.openxmlformats.org/officeDocument/2006/relationships/notesMaster" Target="/ppt/notesMasters/notesMaster1.xml" Id="R5a6459bef3f64f57" /><Relationship Type="http://schemas.openxmlformats.org/officeDocument/2006/relationships/presProps" Target="/ppt/presProps.xml" Id="Refd0366cac234ad1" /><Relationship Type="http://schemas.openxmlformats.org/officeDocument/2006/relationships/tableStyles" Target="/ppt/tableStyles.xml" Id="Raacfc7f4b2d24214" /><Relationship Type="http://schemas.openxmlformats.org/officeDocument/2006/relationships/slide" Target="/ppt/slides/slide1.xml" Id="R0d12f2e703864480" /><Relationship Type="http://schemas.openxmlformats.org/officeDocument/2006/relationships/slide" Target="/ppt/slides/slide2.xml" Id="Rd667ca029f694a02" /><Relationship Type="http://schemas.openxmlformats.org/officeDocument/2006/relationships/slide" Target="/ppt/slides/slide3.xml" Id="R82a378af54594773" /><Relationship Type="http://schemas.openxmlformats.org/officeDocument/2006/relationships/slide" Target="/ppt/slides/slide4.xml" Id="R9f55ff7601364ced" /><Relationship Type="http://schemas.openxmlformats.org/officeDocument/2006/relationships/slide" Target="/ppt/slides/slide5.xml" Id="R10e5f6c58d774f4a" /><Relationship Type="http://schemas.openxmlformats.org/officeDocument/2006/relationships/slide" Target="/ppt/slides/slide6.xml" Id="R4eac9f9617ed4dc6" /><Relationship Type="http://schemas.openxmlformats.org/officeDocument/2006/relationships/slide" Target="/ppt/slides/slide7.xml" Id="Red1330cda44a42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89974e9d23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ac275138c48ce" /><Relationship Type="http://schemas.openxmlformats.org/officeDocument/2006/relationships/notesMaster" Target="/ppt/notesMasters/notesMaster1.xml" Id="R36c447d30ea2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07a62b434e40b4" /><Relationship Type="http://schemas.openxmlformats.org/officeDocument/2006/relationships/notesMaster" Target="/ppt/notesMasters/notesMaster1.xml" Id="Rc872fef97d09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97bfe3050846de" /><Relationship Type="http://schemas.openxmlformats.org/officeDocument/2006/relationships/notesMaster" Target="/ppt/notesMasters/notesMaster1.xml" Id="Rde173c567f65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f3df54b8b74e58" /><Relationship Type="http://schemas.openxmlformats.org/officeDocument/2006/relationships/notesMaster" Target="/ppt/notesMasters/notesMaster1.xml" Id="Rcc5d3ea1e2a0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40358299644d6b" /><Relationship Type="http://schemas.openxmlformats.org/officeDocument/2006/relationships/notesMaster" Target="/ppt/notesMasters/notesMaster1.xml" Id="R75bbd0c1e7fd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99d331a7e6408c" /><Relationship Type="http://schemas.openxmlformats.org/officeDocument/2006/relationships/notesMaster" Target="/ppt/notesMasters/notesMaster1.xml" Id="Rb8b7adabc3d347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562817df1c44b7" /><Relationship Type="http://schemas.openxmlformats.org/officeDocument/2006/relationships/notesMaster" Target="/ppt/notesMasters/notesMaster1.xml" Id="R74a3b5cee70b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analyzuje realistickou schránku, rozpozná phishing, smishing, QR podvod a rizikovou přílohu a stanoví reakci po chybě.</a:t>
            </a:r>
          </a:p>
          <a:p xmlns:a="http://schemas.openxmlformats.org/drawingml/2006/main">
            <a:r>
              <a:t>Soubory: 3. Podezřelá schránka.html z balíčku V2, digitální pracovní sešit</a:t>
            </a:r>
          </a:p>
          <a:p xmlns:a="http://schemas.openxmlformats.org/drawingml/2006/main">
            <a:r>
              <a:t>Výstup: Analýza šesti zpráv a seřazený postup po zadání hesla do podvodného formuláře.</a:t>
            </a:r>
          </a:p>
          <a:p xmlns:a="http://schemas.openxmlformats.org/drawingml/2006/main">
            <a:r>
              <a:t>Před otevřením dalšího snímku stručně uveď téma a nech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První dojem ze schránky.</a:t>
            </a:r>
          </a:p>
          <a:p xmlns:a="http://schemas.openxmlformats.org/drawingml/2006/main">
            <a:r>
              <a:t>Postup učitele: Studenti označí jednu zprávu k přednostní kontrole bez otevření detailu.</a:t>
            </a:r>
          </a:p>
          <a:p xmlns:a="http://schemas.openxmlformats.org/drawingml/2006/main">
            <a:r>
              <a:t>Otázka pro studenty: Kterou zprávu ve schránce zkontroluješ jako první?</a:t>
            </a:r>
          </a:p>
          <a:p xmlns:a="http://schemas.openxmlformats.org/drawingml/2006/main">
            <a:r>
              <a:t>Neprozrazuj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5–10 minut.</a:t>
            </a:r>
          </a:p>
          <a:p xmlns:a="http://schemas.openxmlformats.org/drawingml/2006/main">
            <a:r>
              <a:t>Činnost: Pět kontrolních otázek.</a:t>
            </a:r>
          </a:p>
          <a:p xmlns:a="http://schemas.openxmlformats.org/drawingml/2006/main">
            <a:r>
              <a:t>Postup učitele: Kdo píše? Odkud? Proč teď? Co chce? Jak to ověřím jinak?</a:t>
            </a:r>
          </a:p>
          <a:p xmlns:a="http://schemas.openxmlformats.org/drawingml/2006/main">
            <a:r>
              <a:t>Klíčové závěry: A – ověření účtu: Phishing: cizí doména, hrozba blokace, časový tlak a žádost o přihlášení. | B – zásilka: Smishing: nečekaná drobná platba a cizí doména; stav ověřit přímo u dopravce. | C – změna učebny: Pravděpodobně běžná zpráva v důvěryhodném školním systému; při pochybnostech ověřit rozvrh.</a:t>
            </a:r>
          </a:p>
          <a:p xmlns:a="http://schemas.openxmlformats.org/drawingml/2006/main">
            <a:r>
              <a:t>Nech studenty doplnit příklad ke každému bodu. Přechod k aktivitě proveď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3. Podezřelá schránka.html z balíčku V2, digitální pracovní sešit</a:t>
            </a:r>
          </a:p>
          <a:p xmlns:a="http://schemas.openxmlformats.org/drawingml/2006/main">
            <a:r>
              <a:t>10–28 min – Analýza šesti zpráv: Skupiny otevírají detaily a zapisují znaky, cíl útočníka a reakci.</a:t>
            </a:r>
          </a:p>
          <a:p xmlns:a="http://schemas.openxmlformats.org/drawingml/2006/main">
            <a:r>
              <a:t>28–35 min – Porovnání s legitimní zprávou: Ukaž, že samotný odkaz či bezchybný jazyk nerozhoduje.</a:t>
            </a:r>
          </a:p>
          <a:p xmlns:a="http://schemas.openxmlformats.org/drawingml/2006/main">
            <a:r>
              <a:t>35–42 min – Reakce po kompromitaci: Nech studenty seřadit kroky podle omezení další škody.</a:t>
            </a:r>
          </a:p>
          <a:p xmlns:a="http://schemas.openxmlformats.org/drawingml/2006/main">
            <a:r>
              <a:t>Požadovaný výstup: Analýza šesti zpráv a seřazený postup po zadání hesla do podvodného formuláře.</a:t>
            </a:r>
          </a:p>
          <a:p xmlns:a="http://schemas.openxmlformats.org/drawingml/2006/main">
            <a:r>
              <a:t>Během práce nepřebírej myš za studenta. Pomáhej otázkami z dalšího snímku a žádej,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u každé zprávy uvede nejméně dva znaky a bezpečnou reakci; nespoléhá pouze na pravopis.</a:t>
            </a:r>
          </a:p>
          <a:p xmlns:a="http://schemas.openxmlformats.org/drawingml/2006/main">
            <a:r>
              <a:t>Vodicí otázky: Shoduje se zobrazované jméno s adresou a doménou odesílatele? | Požaduje zpráva akci, kterou lze provést v oficiální aplikaci bez jejího odkazu? | Co uděláš jako první, pokud už byly údaje zadány?</a:t>
            </a:r>
          </a:p>
          <a:p xmlns:a="http://schemas.openxmlformats.org/drawingml/2006/main">
            <a:r>
              <a:t>Podpora: Rozděl zprávy mezi skupiny a použij společnou šablonu: znak – možné riziko – bezpečná reakce.</a:t>
            </a:r>
          </a:p>
          <a:p xmlns:a="http://schemas.openxmlformats.org/drawingml/2006/main">
            <a:r>
              <a:t>Rozšíření: Studenti sestaví pravidlo, které zachytí více typů podvodu, ale neoznačí automaticky každou zprávu s odkazem.</a:t>
            </a:r>
          </a:p>
          <a:p xmlns:a="http://schemas.openxmlformats.org/drawingml/2006/main">
            <a:r>
              <a:t>Pro rychlou mezikontrolu nech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A – ověření účtu: Phishing: cizí doména, hrozba blokace, časový tlak a žádost o přihlášení. | B – zásilka: Smishing: nečekaná drobná platba a cizí doména; stav ověřit přímo u dopravce. | C – změna učebny: Pravděpodobně běžná zpráva v důvěryhodném školním systému; při pochybnostech ověřit rozvrh. | D – QR kód: QR phishing; přelepený kód nepoužívat, zvolit oficiální aplikaci nebo ručně známou adresu. | E – podpora: Sociální inženýrství; neinstalovat vzdálený přístup a hovor ukončit. | F – faktura: Riziková makra v neočekávaném XLSM; přílohu neotevírat a ověřit dodavatele jiným kanálem.</a:t>
            </a:r>
          </a:p>
          <a:p xmlns:a="http://schemas.openxmlformats.org/drawingml/2006/main">
            <a:r>
              <a:t>Časté chyby a intervence: „Podvod poznám podle chyb v češtině.“ → Moderní podvod může být bezchybný; vrať se ke kontextu, doméně a požadované akci. | „Když jsem klikl, je pozdě.“ → Zdůrazni rychlé nahlášení, změnu hesla z důvěryhodného zařízení a zrušení relací. | „Stačí zprávu smazat.“ → Po zadání údajů je nutné zabezpečit účet a zkontrolovat obnovu, 2FA a opakovaná hesla.</a:t>
            </a:r>
          </a:p>
          <a:p xmlns:a="http://schemas.openxmlformats.org/drawingml/2006/main">
            <a:r>
              <a:t>Nečti celý klíč. Vyber dva studentské postupy, které vedou k odlišným závěrům, a nech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Napiš tři první kroky po zadání hesla na falešné stránce v pořadí.</a:t>
            </a:r>
          </a:p>
          <a:p xmlns:a="http://schemas.openxmlformats.org/drawingml/2006/main">
            <a:r>
              <a:t>Podpora: Rozděl zprávy mezi skupiny a použij společnou šablonu: znak – možné riziko – bezpečná reakce.</a:t>
            </a:r>
          </a:p>
          <a:p xmlns:a="http://schemas.openxmlformats.org/drawingml/2006/main">
            <a:r>
              <a:t>Rozšíření: Studenti sestaví pravidlo, které zachytí více typů podvodu, ale neoznačí automaticky každou zprávu s odkazem.</a:t>
            </a:r>
          </a:p>
          <a:p xmlns:a="http://schemas.openxmlformats.org/drawingml/2006/main">
            <a:r>
              <a:t>Když technika selže: Texty všech šesti situací jsou v pracovním sešitu; při problému s HTML je lze analyzovat bez prohlížeče.</a:t>
            </a:r>
          </a:p>
          <a:p xmlns:a="http://schemas.openxmlformats.org/drawingml/2006/main">
            <a:r>
              <a:t>Vyber způsob odevzdání předem. Odpověď použij jako diagnostiku pro začátek další hodiny; nehodnoť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29a2d6000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907b302b744905" /><Relationship Type="http://schemas.openxmlformats.org/officeDocument/2006/relationships/slideLayout" Target="/ppt/slideLayouts/slideLayout1.xml" Id="R640535c75a0d4b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535c75a0d4b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ab92848546bd" /><Relationship Type="http://schemas.openxmlformats.org/officeDocument/2006/relationships/notesSlide" Target="/ppt/notesSlides/notesSlide1.xml" Id="Rbb5210017ecc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1682bb6ed4bb9" /><Relationship Type="http://schemas.openxmlformats.org/officeDocument/2006/relationships/image" Target="/ppt/media/image.png" Id="R7239032fe97e449e" /><Relationship Type="http://schemas.openxmlformats.org/officeDocument/2006/relationships/notesSlide" Target="/ppt/notesSlides/notesSlide2.xml" Id="R369d47879c9c4c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7a65b7af244e4" /><Relationship Type="http://schemas.openxmlformats.org/officeDocument/2006/relationships/notesSlide" Target="/ppt/notesSlides/notesSlide3.xml" Id="R78a8469c1a7b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2c439872641fb" /><Relationship Type="http://schemas.openxmlformats.org/officeDocument/2006/relationships/notesSlide" Target="/ppt/notesSlides/notesSlide4.xml" Id="R64b15931cdb3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54132e0b146ad" /><Relationship Type="http://schemas.openxmlformats.org/officeDocument/2006/relationships/notesSlide" Target="/ppt/notesSlides/notesSlide5.xml" Id="R3a974fd910d2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62dc174f4d2d" /><Relationship Type="http://schemas.openxmlformats.org/officeDocument/2006/relationships/notesSlide" Target="/ppt/notesSlides/notesSlide6.xml" Id="R88407bdb6e05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c981dd634884" /><Relationship Type="http://schemas.openxmlformats.org/officeDocument/2006/relationships/notesSlide" Target="/ppt/notesSlides/notesSlide7.xml" Id="R9dbb75bb58f042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CB26069-A176-4CCA-B1F7-E8126F0B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D35F29D1-BF0A-4C69-845E-114A5BC8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HODINA 3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F768421A-5CAD-4B02-9E7C-BFBAB05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CFE811B6-2E89-40D5-9C4F-997A925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Kybernetické hrozby a phishing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D111AE1D-B1BC-4D3E-8BAA-D85B3CD8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analyzuje realistickou schránku, rozpozná phishing, smishing, QR podvod a rizikovou přílohu a stanoví reakci po chybě.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FEF0D778-0DF3-4470-BB71-E112CECE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0DF47BD5-6CC8-4622-A8B0-A762C41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544F9780-99D4-47AF-8178-70073EF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594889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33323AC-E16E-488A-9576-F6981A0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6FA432B-E8B2-4923-A163-2D32D57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07E98EF-E83D-41F3-8A88-9C9A973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CF60772-2051-4645-8337-A009575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A2EBAECA-0EAE-4577-BAC0-1A2F426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3  /  2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B460F041-5D3A-4937-B4D4-56CDA86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pic>
        <p:nvPicPr>
          <p:cNvPr id="16" name="activity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9032fe97e449e"/>
          <a:srcRect xmlns:a="http://schemas.openxmlformats.org/drawingml/2006/main" l="5531" t="0" r="55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/>
          </a:prstGeom>
        </p:spPr>
      </p:pic>
      <p:sp>
        <p:nvSpPr>
          <p:cNvPr id="8" name="text-41-188">
            <a:extLst xmlns:a="http://schemas.openxmlformats.org/drawingml/2006/main">
              <a:ext uri="{FF2B5EF4-FFF2-40B4-BE49-F238E27FC236}">
                <a16:creationId xmlns:a16="http://schemas.microsoft.com/office/drawing/2014/main" id="{50B27597-AD8B-412D-85B6-3D89023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3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Kterou zprávu ve schránce zkontroluješ jako první?</a:t>
            </a:r>
          </a:p>
        </p:txBody>
      </p:sp>
      <p:sp>
        <p:nvSpPr>
          <p:cNvPr id="9" name="text-41-444">
            <a:extLst xmlns:a="http://schemas.openxmlformats.org/drawingml/2006/main">
              <a:ext uri="{FF2B5EF4-FFF2-40B4-BE49-F238E27FC236}">
                <a16:creationId xmlns:a16="http://schemas.microsoft.com/office/drawing/2014/main" id="{2761BB72-D492-4FE6-B24C-D6E267C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4953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1  Rozhodni sám
2  Zapiš konkrétní důvod
3  Porovnej ve dvojici</a:t>
            </a:r>
          </a:p>
        </p:txBody>
      </p:sp>
    </p:spTree>
    <p:extLst>
      <p:ext uri="{BB962C8B-B14F-4D97-AF65-F5344CB8AC3E}">
        <p14:creationId xmlns:p14="http://schemas.microsoft.com/office/powerpoint/2010/main" val="1058612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C268E88B-8D5F-4F01-8302-1335B85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5–10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1F2907E-8FFF-4C64-90EB-73CA4837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1E6F793-AE84-4E77-A02C-53F48D0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06E701F-1718-43D7-B58B-3BE7C2A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A20CB95B-8151-404A-BAC4-0A2DEEA1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3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5930C871-8D90-478A-8D59-6B10CA4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E4AA0D6E-D2A5-4844-A362-1C1D818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Zastav tlak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4AC30899-96AB-472F-9D3C-8F196A6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Naléhavost, hrozba nebo nečekaná odměna mají urychlit tvé rozhodnutí. Zpomal.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69FEC491-082F-4938-B122-F7A86DDD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21C3FCD0-0A2B-4FE7-8262-4B8AA566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Prověř doménu a akci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339B8257-9213-4149-A91F-CFBB1712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Zobrazované jméno nestačí. Sleduj adresu, doménu, přílohu a to, co zpráva požaduje.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80F38E3D-8E74-4A99-AE4E-7832DA5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B40A6D5C-7791-4484-81F2-5901093E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 jinou cestou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DEBA18A3-F873-4BD2-919D-FDA74DAB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Otevři oficiální aplikaci nebo ručně známou adresu. Nepoužívej odkaz či QR kód ze zprávy.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55F10850-1B6B-4822-8833-745E8287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8C3898A3-4EC0-45AF-8A98-BAD883F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44612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BA6A34D-3550-4A36-AF9A-57AF1343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10–42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15DC508-0CFA-406C-B2BB-5CD6CA3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2F7DE53-2775-415D-A28E-4EDE0E4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C545FF9C-88F3-4E3B-9BF7-0BD6D36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95C0FEA2-0609-4510-8CBE-36849E31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3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356E426F-24CA-4A95-8A9F-062E63C0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3AF0CA2A-F01F-4759-A26D-8A65700E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3. Podezřelá schránka.html ze složky Podklady k aktivitám,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249396E-F55F-4101-AFB3-D8A644FA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091726EF-0B73-4ECC-B5A6-B6E0239B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1AD8E078-3DDA-40A2-AF0A-D1C5889C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Označ varovné znaky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1DA8859A-AFB8-4ED1-8395-968982D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 každé zprávy najdi nejméně dva konkrétní znaky — nespoléhej jen na pravopis.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66048DE0-B26A-4E65-9479-4338030C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52644FD7-9A04-4EF7-B701-5553FE63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8D04DD0C-FD6D-43FB-B60A-AF4A9B7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Urči cíl útočníka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C9D30D6C-D900-4DCE-B939-FA7B0C1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Napiš, co po tobě zpráva chce a jaká škoda by mohla následovat.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9F842C77-EA1A-42C9-8874-8740A093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7FB48035-A779-4432-942C-1C5AA2A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FFC9C3E7-A0DA-42AF-B615-0315AEC6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Seřaď reakci po chybě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A8048DF3-B3DB-4894-9C1F-AC38D46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Navrhni první kroky po zadání hesla: nahlásit, zabezpečit účet, zrušit relace.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48A46A08-00B9-41B7-B45E-FFD3D04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805C679F-7A4F-4601-93D7-3DBDE76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Analýza šesti zpráv a seřazený postup po zadání hesla do podvodného formuláře.</a:t>
            </a:r>
          </a:p>
        </p:txBody>
      </p:sp>
    </p:spTree>
    <p:extLst>
      <p:ext uri="{BB962C8B-B14F-4D97-AF65-F5344CB8AC3E}">
        <p14:creationId xmlns:p14="http://schemas.microsoft.com/office/powerpoint/2010/main" val="1902817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A98C35F-F2E1-435E-B70D-BBBC1B9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4F3CAC78-1F68-46CF-BFFE-7D2FBB62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DEF01332-0BEC-44DD-8D8C-EF3516A0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433D970-B853-401F-ABFB-E53C6F2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B23B8AED-10BC-4E5C-90AB-B6400F9D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3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438DBAB5-AA8C-492E-9163-E5AA132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656A238F-7AD7-41C4-A288-A05534D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0AB37657-6A0E-4E90-9904-D3748AD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826C7EFC-3599-45F4-90BF-D18540F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u každé zprávy uvede nejméně dva znaky a bezpečnou reakci; nespoléhá pouze na pravopis.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7149316B-1AE8-464B-98FD-12328D77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C4D84264-33E0-4155-83F6-8F217460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0EBC61AC-6B30-49CA-BCBD-F1F9343E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F654795D-0A77-47EB-9361-745BFC0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Shoduje se zobrazované jméno s adresou a doménou odesílatele?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3270B615-067D-4209-A614-5A5CF7A5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E21F6AC3-6F72-4D9B-BB6C-6D0DD92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EFC19C6A-34EF-4D2B-883D-C562923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A58A66A7-E99A-46CA-B5D8-B920A8E2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Požaduje zpráva akci, kterou lze provést v oficiální aplikaci bez jejího odkazu?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96D18A88-B3E4-4282-806B-E49640AA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1A05E815-E315-4295-8D63-6CF4EB11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84E2D939-3DD3-4C67-BCCE-D303D7AD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70801B48-E2B5-49B5-9838-664A3D0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Co uděláš jako první, pokud už byly údaje zadány?</a:t>
            </a:r>
          </a:p>
        </p:txBody>
      </p:sp>
    </p:spTree>
    <p:extLst>
      <p:ext uri="{BB962C8B-B14F-4D97-AF65-F5344CB8AC3E}">
        <p14:creationId xmlns:p14="http://schemas.microsoft.com/office/powerpoint/2010/main" val="1194420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2959894-65DB-452C-B338-B41E290F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35–42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9BC23F9-C622-4A08-96D8-C8473441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A4BA702-0FEC-44B6-B744-60F3CAE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5D15429-3BA9-4229-A38F-78C9096B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432121C2-8172-4F91-982C-7BDEE73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3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B2F3C2E7-3D26-4CA7-9D89-A19EE045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62B5D1FD-C0EB-4897-8483-4DB62CA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 – ověření účtu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B823A239-0756-4B65-8461-65752F70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Phishing: cizí doména, hrozba blokace, časový tlak a žádost o přihlášení.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0B0B6E88-F418-41CF-B9FB-6E07C23A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 – zásilka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E73231BA-F0D9-49B7-98E4-00DFD8B8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Smishing: nečekaná drobná platba a cizí doména; stav ověřit přímo u dopravce.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084A2330-8310-44D6-AD0D-4692CA02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 – změna učebny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ED909257-2313-4688-8CCC-53A42AAC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Pravděpodobně běžná zpráva v důvěryhodném školním systému; při pochybnostech ověřit rozvrh.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B0778E70-9DEA-4B76-B906-2EC0D1DD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67CE55F9-5570-4F96-9611-D6108BA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3D19FA0C-2D23-483E-93D9-9C9586E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„Podvod poznám podle chyb v češtině.“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04A99FA9-914E-4328-8AB3-73045FF0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Moderní podvod může být bezchybný; vraťte se ke kontextu, doméně a požadované akci.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AD92ED91-A902-424C-B364-75744DA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520743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9AA6590-7FEE-4B49-BEED-81E9D2E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244931CA-CB49-4981-8D49-BDAE13D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HODINA 3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1A618692-2EBC-4BCC-92B6-3929E41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03D0E832-7F0B-4707-84E4-103BA9AC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tři první kroky po zadání hesla na falešné stránce v pořadí.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66255D3A-AF6C-43CD-A004-8074F25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2ABA3EAF-F4CE-4B97-9D0A-82DD91AF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FEE9BB7A-E6DF-4998-A897-1261719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C43A3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3686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Karel Hlas</dc:creator>
  <cp:lastModifiedBy>Karel Hlas</cp:lastModifiedBy>
  <dc:title>Presentation</dc:title>
  <dcterms:created xsi:type="dcterms:W3CDTF">2026-07-24T00:00:00Z</dcterms:created>
  <dcterms:modified xsi:type="dcterms:W3CDTF">2026-07-24T00:00:00Z</dcterms:modified>
  <dc:description/>
</cp:coreProperties>
</file>