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90e513d3714346" /><Relationship Type="http://schemas.openxmlformats.org/officeDocument/2006/relationships/extended-properties" Target="/docProps/app.xml" Id="Rdb088d2c73d14d61" /><Relationship Type="http://schemas.openxmlformats.org/officeDocument/2006/relationships/officeDocument" Target="/ppt/presentation.xml" Id="Reb4d119098d54d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6377d3bab24425"/>
  </p:sldMasterIdLst>
  <p:notesMasterIdLst>
    <p:notesMasterId xmlns:r="http://schemas.openxmlformats.org/officeDocument/2006/relationships" r:id="Rc36b03a4814a435c"/>
  </p:notesMasterIdLst>
  <p:sldIdLst>
    <p:sldId xmlns:r="http://schemas.openxmlformats.org/officeDocument/2006/relationships" id="256" r:id="R1bccf4e802714fac"/>
    <p:sldId xmlns:r="http://schemas.openxmlformats.org/officeDocument/2006/relationships" id="257" r:id="R12ee285913f44a33"/>
    <p:sldId xmlns:r="http://schemas.openxmlformats.org/officeDocument/2006/relationships" id="258" r:id="R5ccbcfeb627642e5"/>
    <p:sldId xmlns:r="http://schemas.openxmlformats.org/officeDocument/2006/relationships" id="259" r:id="R1ae27953656a44db"/>
    <p:sldId xmlns:r="http://schemas.openxmlformats.org/officeDocument/2006/relationships" id="260" r:id="Re064feff58cb410a"/>
    <p:sldId xmlns:r="http://schemas.openxmlformats.org/officeDocument/2006/relationships" id="261" r:id="R8ad3078d6a9f44a5"/>
    <p:sldId xmlns:r="http://schemas.openxmlformats.org/officeDocument/2006/relationships" id="262" r:id="R5c79c51b738f4a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a1628cc3704a49" /><Relationship Type="http://schemas.openxmlformats.org/officeDocument/2006/relationships/slideMaster" Target="/ppt/slideMasters/slideMaster1.xml" Id="R986377d3bab24425" /><Relationship Type="http://schemas.openxmlformats.org/officeDocument/2006/relationships/notesMaster" Target="/ppt/notesMasters/notesMaster1.xml" Id="Rc36b03a4814a435c" /><Relationship Type="http://schemas.openxmlformats.org/officeDocument/2006/relationships/presProps" Target="/ppt/presProps.xml" Id="R661b923c4fd44901" /><Relationship Type="http://schemas.openxmlformats.org/officeDocument/2006/relationships/tableStyles" Target="/ppt/tableStyles.xml" Id="Rec8015a3821e4c5a" /><Relationship Type="http://schemas.openxmlformats.org/officeDocument/2006/relationships/slide" Target="/ppt/slides/slide1.xml" Id="R1bccf4e802714fac" /><Relationship Type="http://schemas.openxmlformats.org/officeDocument/2006/relationships/slide" Target="/ppt/slides/slide2.xml" Id="R12ee285913f44a33" /><Relationship Type="http://schemas.openxmlformats.org/officeDocument/2006/relationships/slide" Target="/ppt/slides/slide3.xml" Id="R5ccbcfeb627642e5" /><Relationship Type="http://schemas.openxmlformats.org/officeDocument/2006/relationships/slide" Target="/ppt/slides/slide4.xml" Id="R1ae27953656a44db" /><Relationship Type="http://schemas.openxmlformats.org/officeDocument/2006/relationships/slide" Target="/ppt/slides/slide5.xml" Id="Re064feff58cb410a" /><Relationship Type="http://schemas.openxmlformats.org/officeDocument/2006/relationships/slide" Target="/ppt/slides/slide6.xml" Id="R8ad3078d6a9f44a5" /><Relationship Type="http://schemas.openxmlformats.org/officeDocument/2006/relationships/slide" Target="/ppt/slides/slide7.xml" Id="R5c79c51b738f4a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e0cc7453c34f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e0c2bf754a4cba" /><Relationship Type="http://schemas.openxmlformats.org/officeDocument/2006/relationships/notesMaster" Target="/ppt/notesMasters/notesMaster1.xml" Id="R82539c08d5bd40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540338a1704989" /><Relationship Type="http://schemas.openxmlformats.org/officeDocument/2006/relationships/notesMaster" Target="/ppt/notesMasters/notesMaster1.xml" Id="R7a2aff0baa464f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9c474421154c68" /><Relationship Type="http://schemas.openxmlformats.org/officeDocument/2006/relationships/notesMaster" Target="/ppt/notesMasters/notesMaster1.xml" Id="Rfb1d265221634f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cf127b2d2c4fb2" /><Relationship Type="http://schemas.openxmlformats.org/officeDocument/2006/relationships/notesMaster" Target="/ppt/notesMasters/notesMaster1.xml" Id="R5ec3ab4feeef41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c3eee400874646" /><Relationship Type="http://schemas.openxmlformats.org/officeDocument/2006/relationships/notesMaster" Target="/ppt/notesMasters/notesMaster1.xml" Id="R72a2ca70ae0040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3c5e9664884b80" /><Relationship Type="http://schemas.openxmlformats.org/officeDocument/2006/relationships/notesMaster" Target="/ppt/notesMasters/notesMaster1.xml" Id="R0c77d89167d943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8a79de58754c6b" /><Relationship Type="http://schemas.openxmlformats.org/officeDocument/2006/relationships/notesMaster" Target="/ppt/notesMasters/notesMaster1.xml" Id="R32c8f283667949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Cíl: Popíšu tokenovou predikci a vysvětlím, jak kontext a teplota ovlivňují vznik odpovědi.</a:t>
            </a:r>
          </a:p>
          <a:p xmlns:a="http://schemas.openxmlformats.org/drawingml/2006/main">
            <a:r>
              <a:t>Podklady: 1. Laboratoř fungování AI.html, 2. Tokeny a predikce.txt</a:t>
            </a:r>
          </a:p>
          <a:p xmlns:a="http://schemas.openxmlformats.org/drawingml/2006/main">
            <a:r>
              <a:t>Výstup: Tři zdokumentované predikční běhy a schéma smyčky tvorby dalšího tokenu.</a:t>
            </a:r>
          </a:p>
          <a:p xmlns:a="http://schemas.openxmlformats.org/drawingml/2006/main">
            <a:r>
              <a:t>Před začátkem ověřte, že studenti mají otevřený digitální pracovní sešit a potřebné soubory.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0–6 minut.</a:t>
            </a:r>
          </a:p>
          <a:p xmlns:a="http://schemas.openxmlformats.org/drawingml/2006/main">
            <a:r>
              <a:t>Postup: Studenti doplní stejnou větu a společně pojmenují, z čeho při volbě vycházeli.</a:t>
            </a:r>
          </a:p>
          <a:p xmlns:a="http://schemas.openxmlformats.org/drawingml/2006/main">
            <a:r>
              <a:t>Úvodní otázka: Doplň větu „Na zastávce čekám na…“ Jak se odhad změní po přidání kontextu?</a:t>
            </a:r>
          </a:p>
          <a:p xmlns:a="http://schemas.openxmlformats.org/drawingml/2006/main">
            <a:r>
              <a:t>Neprozrazujte odpověď. Cílem je zachytit počáteční model studenta, ke kterému se vrátí při reflexi.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6–14 minut.</a:t>
            </a:r>
          </a:p>
          <a:p xmlns:a="http://schemas.openxmlformats.org/drawingml/2006/main">
            <a:r>
              <a:t>Postup: Ukažte, že model nevytahuje hotovou odpověď, ale pokračuje po částech.</a:t>
            </a:r>
          </a:p>
          <a:p xmlns:a="http://schemas.openxmlformats.org/drawingml/2006/main">
            <a:r>
              <a:t>Klíčové body: Tokeny: Text je rozdělen na menší části; token nemusí být celé slovo ani jeden znak. | Predikce: Model opakovaně odhaduje pravděpodobné pokračování podle dostupného kontextu. | Kontext a teplota: Kontext mění pravděpodobnosti; teplota v simulaci mění pestrost výběru, ne pravdivost.</a:t>
            </a:r>
          </a:p>
          <a:p xmlns:a="http://schemas.openxmlformats.org/drawingml/2006/main">
            <a:r>
              <a:t>Po každém pojmu vyžádejte jeden příklad a jeden protipříklad. Vysvětlení má používat způsob fungování, ne značku nástroje.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Podklady: 1. Laboratoř fungování AI.html, 2. Tokeny a predikce.txt</a:t>
            </a:r>
          </a:p>
          <a:p xmlns:a="http://schemas.openxmlformats.org/drawingml/2006/main">
            <a:r>
              <a:t>1. V souboru 2. Tokeny a predikce.txt navrhni rozdělení tří ukázek na tokeny.</a:t>
            </a:r>
          </a:p>
          <a:p xmlns:a="http://schemas.openxmlformats.org/drawingml/2006/main">
            <a:r>
              <a:t>2. V laboratoři porovnej predikci se stručným a přesným doplňujícím kontextem.</a:t>
            </a:r>
          </a:p>
          <a:p xmlns:a="http://schemas.openxmlformats.org/drawingml/2006/main">
            <a:r>
              <a:t>3. Proveď běh s nízkou a vysokou teplotou a jeden běh s rozporným kontextem.</a:t>
            </a:r>
          </a:p>
          <a:p xmlns:a="http://schemas.openxmlformats.org/drawingml/2006/main">
            <a:r>
              <a:t>4. Nakresli smyčku kontext → pravděpodobnosti → výběr tokenu → nový kontext.</a:t>
            </a:r>
          </a:p>
          <a:p xmlns:a="http://schemas.openxmlformats.org/drawingml/2006/main">
            <a:r>
              <a:t>Požadovaný výstup: Tři zdokumentované predikční běhy a schéma smyčky tvorby dalšího tokenu.</a:t>
            </a:r>
          </a:p>
          <a:p xmlns:a="http://schemas.openxmlformats.org/drawingml/2006/main">
            <a:r>
              <a:t>Během práce pomáhejte otázkami, nepřebírejte myš ani tvorbu promptu. Vyžadujte průběžné ukládání výstupů a lidských rozhodnutí.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Kritérium: Student popíše opakovanou predikci dalšího tokenu, správně vysvětlí roli kontextu a nespojuje teplotu s pravdivostí.</a:t>
            </a:r>
          </a:p>
          <a:p xmlns:a="http://schemas.openxmlformats.org/drawingml/2006/main">
            <a:r>
              <a:t>Vodicí otázky: Jak konkrétní věta v kontextu změnila rozdělení? | Co se po výběru tokenu přidá do nového kontextu? | Co tato simulace zjednodušuje oproti skutečnému modelu?</a:t>
            </a:r>
          </a:p>
          <a:p xmlns:a="http://schemas.openxmlformats.org/drawingml/2006/main">
            <a:r>
              <a:t>Podpora: Nabídněte předkreslené schéma smyčky a nechte doplnit pouze klíčová slova.</a:t>
            </a:r>
          </a:p>
          <a:p xmlns:a="http://schemas.openxmlformats.org/drawingml/2006/main">
            <a:r>
              <a:t>Rozšíření: Vysvětli, proč stejný prompt nemusí vždy vést ke zcela shodné odpovědi.</a:t>
            </a:r>
          </a:p>
          <a:p xmlns:a="http://schemas.openxmlformats.org/drawingml/2006/main">
            <a:r>
              <a:t>Proveďte rychlou párovou kontrolu: jeden dobře doložený bod a jedna konkrétní otázka k dopracování.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Token: Jednotka textu zpracovávaná modelem; hranice se nemusí shodovat se slovy. | Další token: Model vytvoří rozdělení pravděpodobností a vybere pokračování. | Kontext: Upřesňuje situaci a mění pravděpodobnost možných pokračování.</a:t>
            </a:r>
          </a:p>
          <a:p xmlns:a="http://schemas.openxmlformats.org/drawingml/2006/main">
            <a:r>
              <a:t>Časté omyly: „Model vyhledá hotovou větu.“ → Nechte studenty krokovat vznik odpovědi token po tokenu. | „Vyšší teplota znamená přesnější fakta.“ → Zdůrazněte, že ovlivňuje pestrost výběru, ne externí ověření.</a:t>
            </a:r>
          </a:p>
          <a:p xmlns:a="http://schemas.openxmlformats.org/drawingml/2006/main">
            <a:r>
              <a:t>Nečtěte řešení slovo od slova. Porovnejte dva studentské postupy a nechte třídu určit, který má lepší důkazy nebo jasnější lidské rozhodnutí.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Co model udělá bezprostředně poté, co vybere jeden další token?</a:t>
            </a:r>
          </a:p>
          <a:p xmlns:a="http://schemas.openxmlformats.org/drawingml/2006/main">
            <a:r>
              <a:t>Když technika selže: Učitel promítne tři připravená rozdělení a studenti další token vybírají losem.</a:t>
            </a:r>
          </a:p>
          <a:p xmlns:a="http://schemas.openxmlformats.org/drawingml/2006/main">
            <a:r>
              <a:t>Odpovědi použijte jako diagnostiku pro začátek další hodiny. U hodiny 3 navazuje diagnostická brána; u hodiny 6 jde o součást závěrečné reflexe.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da4115d4042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f480bafcbe4da5" /><Relationship Type="http://schemas.openxmlformats.org/officeDocument/2006/relationships/slideLayout" Target="/ppt/slideLayouts/slideLayout1.xml" Id="Rf4cd5dd916ab44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cd5dd916ab44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4095d66374a0d" /><Relationship Type="http://schemas.openxmlformats.org/officeDocument/2006/relationships/notesSlide" Target="/ppt/notesSlides/notesSlide1.xml" Id="R2578af6e48d445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e0ebcf1eb4cae" /><Relationship Type="http://schemas.openxmlformats.org/officeDocument/2006/relationships/notesSlide" Target="/ppt/notesSlides/notesSlide2.xml" Id="Re4d8d19c0d2d46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3fe8992bc4a00" /><Relationship Type="http://schemas.openxmlformats.org/officeDocument/2006/relationships/notesSlide" Target="/ppt/notesSlides/notesSlide3.xml" Id="R6b637857d5144c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f4e954bff4008" /><Relationship Type="http://schemas.openxmlformats.org/officeDocument/2006/relationships/notesSlide" Target="/ppt/notesSlides/notesSlide4.xml" Id="Rc8b5d66e0bdb4e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5ece5eea34c64" /><Relationship Type="http://schemas.openxmlformats.org/officeDocument/2006/relationships/notesSlide" Target="/ppt/notesSlides/notesSlide5.xml" Id="R722422e9979c4f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d09ad44194027" /><Relationship Type="http://schemas.openxmlformats.org/officeDocument/2006/relationships/notesSlide" Target="/ppt/notesSlides/notesSlide6.xml" Id="Rc17a7a222ef447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de971d6f24471" /><Relationship Type="http://schemas.openxmlformats.org/officeDocument/2006/relationships/notesSlide" Target="/ppt/notesSlides/notesSlide7.xml" Id="Rdbcb346bcbab4e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01ED74E3-6037-4739-85BC-6D7C5460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7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C8EDB94B-7357-4A7F-8183-C4DE26B1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HODINA 2 / 6</a:t>
            </a:r>
          </a:p>
        </p:txBody>
      </p:sp>
      <p:sp>
        <p:nvSpPr>
          <p:cNvPr id="3" name="text-842-48">
            <a:extLst xmlns:a="http://schemas.openxmlformats.org/drawingml/2006/main">
              <a:ext uri="{FF2B5EF4-FFF2-40B4-BE49-F238E27FC236}">
                <a16:creationId xmlns:a16="http://schemas.microsoft.com/office/drawing/2014/main" id="{EFA50F72-A0D0-4785-9920-54764637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"/>
            <a:ext cx="33051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JAK AI FUNGUJE</a:t>
            </a:r>
          </a:p>
        </p:txBody>
      </p:sp>
      <p:sp>
        <p:nvSpPr>
          <p:cNvPr id="4" name="text-54-245">
            <a:extLst xmlns:a="http://schemas.openxmlformats.org/drawingml/2006/main">
              <a:ext uri="{FF2B5EF4-FFF2-40B4-BE49-F238E27FC236}">
                <a16:creationId xmlns:a16="http://schemas.microsoft.com/office/drawing/2014/main" id="{4C616CC1-AD79-4A9E-B18E-E236EF4D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105727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Jak jazykový model tvoří odpověď</a:t>
            </a:r>
          </a:p>
        </p:txBody>
      </p:sp>
      <p:sp>
        <p:nvSpPr>
          <p:cNvPr id="5" name="text-56-505">
            <a:extLst xmlns:a="http://schemas.openxmlformats.org/drawingml/2006/main">
              <a:ext uri="{FF2B5EF4-FFF2-40B4-BE49-F238E27FC236}">
                <a16:creationId xmlns:a16="http://schemas.microsoft.com/office/drawing/2014/main" id="{5C654083-8E69-4C9E-BD0A-C5DC3F42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809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Popíšu tokenovou predikci a vysvětlím, jak kontext a teplota ovlivňují vznik odpovědi.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AD57301C-2B91-4FAA-8EC8-3B10B9DE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76250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2B67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5-519">
            <a:extLst xmlns:a="http://schemas.openxmlformats.org/drawingml/2006/main">
              <a:ext uri="{FF2B5EF4-FFF2-40B4-BE49-F238E27FC236}">
                <a16:creationId xmlns:a16="http://schemas.microsoft.com/office/drawing/2014/main" id="{D415CB41-5CFF-46E4-882F-74BCF4D2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43475"/>
            <a:ext cx="1181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8" name="text-1065-596">
            <a:extLst xmlns:a="http://schemas.openxmlformats.org/drawingml/2006/main">
              <a:ext uri="{FF2B5EF4-FFF2-40B4-BE49-F238E27FC236}">
                <a16:creationId xmlns:a16="http://schemas.microsoft.com/office/drawing/2014/main" id="{70CC750D-2A24-4D76-B3BA-61D5C67F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6769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</p:spTree>
    <p:extLst>
      <p:ext uri="{BB962C8B-B14F-4D97-AF65-F5344CB8AC3E}">
        <p14:creationId xmlns:p14="http://schemas.microsoft.com/office/powerpoint/2010/main" val="1490809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2AEC9B9C-632B-40C6-9360-E4908658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0–6 MIN · START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88B04376-D071-4C31-8978-AB437A45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úsudkem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911D670B-F0F3-435C-866A-A03A2E48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7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FD979565-0094-48EF-85FC-E65DB065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A1B51496-D9FB-4811-B739-A21CC37E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2  /  2</a:t>
            </a:r>
          </a:p>
        </p:txBody>
      </p:sp>
      <p:sp>
        <p:nvSpPr>
          <p:cNvPr id="6" name="text-41-183">
            <a:extLst xmlns:a="http://schemas.openxmlformats.org/drawingml/2006/main">
              <a:ext uri="{FF2B5EF4-FFF2-40B4-BE49-F238E27FC236}">
                <a16:creationId xmlns:a16="http://schemas.microsoft.com/office/drawing/2014/main" id="{9ACFFBE1-F4BC-476F-B7C3-13FD9231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906125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Doplň větu „Na zastávce čekám na…“ Jak se odhad změní po přidání kontextu?</a:t>
            </a:r>
          </a:p>
        </p:txBody>
      </p:sp>
      <p:sp>
        <p:nvSpPr>
          <p:cNvPr id="7" name="hook-panel">
            <a:extLst xmlns:a="http://schemas.openxmlformats.org/drawingml/2006/main">
              <a:ext uri="{FF2B5EF4-FFF2-40B4-BE49-F238E27FC236}">
                <a16:creationId xmlns:a16="http://schemas.microsoft.com/office/drawing/2014/main" id="{91A79B94-CC6B-4B1F-AE4E-E5D46C16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00525"/>
            <a:ext cx="114109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8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9-473">
            <a:extLst xmlns:a="http://schemas.openxmlformats.org/drawingml/2006/main">
              <a:ext uri="{FF2B5EF4-FFF2-40B4-BE49-F238E27FC236}">
                <a16:creationId xmlns:a16="http://schemas.microsoft.com/office/drawing/2014/main" id="{F5185E20-1C51-4BCE-8680-7FDD2263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text-121-472">
            <a:extLst xmlns:a="http://schemas.openxmlformats.org/drawingml/2006/main">
              <a:ext uri="{FF2B5EF4-FFF2-40B4-BE49-F238E27FC236}">
                <a16:creationId xmlns:a16="http://schemas.microsoft.com/office/drawing/2014/main" id="{2E07DA9E-1E90-4EE3-B58A-1F8FEEF6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95800"/>
            <a:ext cx="24765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Rozhodni sám</a:t>
            </a:r>
          </a:p>
        </p:txBody>
      </p:sp>
      <p:sp>
        <p:nvSpPr>
          <p:cNvPr id="10" name="text-121-518">
            <a:extLst xmlns:a="http://schemas.openxmlformats.org/drawingml/2006/main">
              <a:ext uri="{FF2B5EF4-FFF2-40B4-BE49-F238E27FC236}">
                <a16:creationId xmlns:a16="http://schemas.microsoft.com/office/drawing/2014/main" id="{4ED2C943-CF83-4449-84FC-C4BD937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933950"/>
            <a:ext cx="2476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Zapiš konkrétní důvod.</a:t>
            </a:r>
          </a:p>
        </p:txBody>
      </p:sp>
      <p:sp>
        <p:nvSpPr>
          <p:cNvPr id="11" name="text-459-473">
            <a:extLst xmlns:a="http://schemas.openxmlformats.org/drawingml/2006/main">
              <a:ext uri="{FF2B5EF4-FFF2-40B4-BE49-F238E27FC236}">
                <a16:creationId xmlns:a16="http://schemas.microsoft.com/office/drawing/2014/main" id="{9A88F740-C7A0-4C54-B10A-C18243A9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2" name="text-511-472">
            <a:extLst xmlns:a="http://schemas.openxmlformats.org/drawingml/2006/main">
              <a:ext uri="{FF2B5EF4-FFF2-40B4-BE49-F238E27FC236}">
                <a16:creationId xmlns:a16="http://schemas.microsoft.com/office/drawing/2014/main" id="{65740BB9-D240-421C-B7BD-AE77568D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95800"/>
            <a:ext cx="29527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Porovnej ve dvojici</a:t>
            </a:r>
          </a:p>
        </p:txBody>
      </p:sp>
      <p:sp>
        <p:nvSpPr>
          <p:cNvPr id="13" name="text-511-518">
            <a:extLst xmlns:a="http://schemas.openxmlformats.org/drawingml/2006/main">
              <a:ext uri="{FF2B5EF4-FFF2-40B4-BE49-F238E27FC236}">
                <a16:creationId xmlns:a16="http://schemas.microsoft.com/office/drawing/2014/main" id="{E22182FA-8E16-4F0A-AF39-5A3EDCBF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933950"/>
            <a:ext cx="2952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Najděte bod neshody.</a:t>
            </a:r>
          </a:p>
        </p:txBody>
      </p:sp>
      <p:sp>
        <p:nvSpPr>
          <p:cNvPr id="14" name="text-900-473">
            <a:extLst xmlns:a="http://schemas.openxmlformats.org/drawingml/2006/main">
              <a:ext uri="{FF2B5EF4-FFF2-40B4-BE49-F238E27FC236}">
                <a16:creationId xmlns:a16="http://schemas.microsoft.com/office/drawing/2014/main" id="{8221C08D-6C33-43D7-94FC-2377F6CA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5" name="text-952-472">
            <a:extLst xmlns:a="http://schemas.openxmlformats.org/drawingml/2006/main">
              <a:ext uri="{FF2B5EF4-FFF2-40B4-BE49-F238E27FC236}">
                <a16:creationId xmlns:a16="http://schemas.microsoft.com/office/drawing/2014/main" id="{607C99E1-D76F-4265-AB75-680D51A2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3812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Připrav obhajobu</a:t>
            </a:r>
          </a:p>
        </p:txBody>
      </p:sp>
      <p:sp>
        <p:nvSpPr>
          <p:cNvPr id="16" name="text-952-518">
            <a:extLst xmlns:a="http://schemas.openxmlformats.org/drawingml/2006/main">
              <a:ext uri="{FF2B5EF4-FFF2-40B4-BE49-F238E27FC236}">
                <a16:creationId xmlns:a16="http://schemas.microsoft.com/office/drawing/2014/main" id="{8AE55A8E-EA36-42CC-8CBD-592D1667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33950"/>
            <a:ext cx="23812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Co by změnilo volbu?</a:t>
            </a:r>
          </a:p>
        </p:txBody>
      </p:sp>
    </p:spTree>
    <p:extLst>
      <p:ext uri="{BB962C8B-B14F-4D97-AF65-F5344CB8AC3E}">
        <p14:creationId xmlns:p14="http://schemas.microsoft.com/office/powerpoint/2010/main" val="1730147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4E8B1612-57C0-44FF-BCCF-B05E01EE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6–14 MIN · MINIMUM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D2325CA3-76B3-455C-9094-DFDEE9BE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C934EEFB-E24B-47EF-904D-D59CBC08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7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AE4390FF-8DDF-4F04-949F-F1CC639C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F611F0B3-DF15-4510-A9E5-08FFEAF7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2  /  3</a:t>
            </a:r>
          </a:p>
        </p:txBody>
      </p:sp>
      <p:sp>
        <p:nvSpPr>
          <p:cNvPr id="6" name="text-41-175">
            <a:extLst xmlns:a="http://schemas.openxmlformats.org/drawingml/2006/main">
              <a:ext uri="{FF2B5EF4-FFF2-40B4-BE49-F238E27FC236}">
                <a16:creationId xmlns:a16="http://schemas.microsoft.com/office/drawing/2014/main" id="{441BCD44-0340-4266-BC58-6559DDC7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65">
            <a:extLst xmlns:a="http://schemas.openxmlformats.org/drawingml/2006/main">
              <a:ext uri="{FF2B5EF4-FFF2-40B4-BE49-F238E27FC236}">
                <a16:creationId xmlns:a16="http://schemas.microsoft.com/office/drawing/2014/main" id="{23DB6358-2DE6-4716-AA8F-FEB5B7D8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Tokeny</a:t>
            </a:r>
          </a:p>
        </p:txBody>
      </p:sp>
      <p:sp>
        <p:nvSpPr>
          <p:cNvPr id="8" name="text-41-356">
            <a:extLst xmlns:a="http://schemas.openxmlformats.org/drawingml/2006/main">
              <a:ext uri="{FF2B5EF4-FFF2-40B4-BE49-F238E27FC236}">
                <a16:creationId xmlns:a16="http://schemas.microsoft.com/office/drawing/2014/main" id="{8C60ED6D-8B6A-44AE-A5D5-CB80AB69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Text je rozdělen na menší části; token nemusí být celé slovo ani jeden znak.</a:t>
            </a:r>
          </a:p>
        </p:txBody>
      </p:sp>
      <p:sp>
        <p:nvSpPr>
          <p:cNvPr id="9" name="text-453-175">
            <a:extLst xmlns:a="http://schemas.openxmlformats.org/drawingml/2006/main">
              <a:ext uri="{FF2B5EF4-FFF2-40B4-BE49-F238E27FC236}">
                <a16:creationId xmlns:a16="http://schemas.microsoft.com/office/drawing/2014/main" id="{2362A41F-53C5-4EAA-AE3F-9B828A8C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65">
            <a:extLst xmlns:a="http://schemas.openxmlformats.org/drawingml/2006/main">
              <a:ext uri="{FF2B5EF4-FFF2-40B4-BE49-F238E27FC236}">
                <a16:creationId xmlns:a16="http://schemas.microsoft.com/office/drawing/2014/main" id="{2416DB07-45B0-4B9C-87D2-A3EF7724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Predikce</a:t>
            </a:r>
          </a:p>
        </p:txBody>
      </p:sp>
      <p:sp>
        <p:nvSpPr>
          <p:cNvPr id="11" name="text-453-356">
            <a:extLst xmlns:a="http://schemas.openxmlformats.org/drawingml/2006/main">
              <a:ext uri="{FF2B5EF4-FFF2-40B4-BE49-F238E27FC236}">
                <a16:creationId xmlns:a16="http://schemas.microsoft.com/office/drawing/2014/main" id="{CE018166-D746-4F15-B111-B66E726C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Model opakovaně odhaduje pravděpodobné pokračování podle dostupného kontextu.</a:t>
            </a:r>
          </a:p>
        </p:txBody>
      </p:sp>
      <p:sp>
        <p:nvSpPr>
          <p:cNvPr id="12" name="text-865-175">
            <a:extLst xmlns:a="http://schemas.openxmlformats.org/drawingml/2006/main">
              <a:ext uri="{FF2B5EF4-FFF2-40B4-BE49-F238E27FC236}">
                <a16:creationId xmlns:a16="http://schemas.microsoft.com/office/drawing/2014/main" id="{AF1FEE3B-7ADF-42FE-88D1-BF0F7D73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65">
            <a:extLst xmlns:a="http://schemas.openxmlformats.org/drawingml/2006/main">
              <a:ext uri="{FF2B5EF4-FFF2-40B4-BE49-F238E27FC236}">
                <a16:creationId xmlns:a16="http://schemas.microsoft.com/office/drawing/2014/main" id="{A62C1420-A401-4151-A659-6FFC0FB2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Kontext a teplota</a:t>
            </a:r>
          </a:p>
        </p:txBody>
      </p:sp>
      <p:sp>
        <p:nvSpPr>
          <p:cNvPr id="14" name="text-865-356">
            <a:extLst xmlns:a="http://schemas.openxmlformats.org/drawingml/2006/main">
              <a:ext uri="{FF2B5EF4-FFF2-40B4-BE49-F238E27FC236}">
                <a16:creationId xmlns:a16="http://schemas.microsoft.com/office/drawing/2014/main" id="{B8C02FC5-4416-4A6C-823D-D2465534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Kontext mění pravděpodobnosti; teplota v simulaci mění pestrost výběru, ne pravdivost.</a:t>
            </a:r>
          </a:p>
        </p:txBody>
      </p:sp>
      <p:sp>
        <p:nvSpPr>
          <p:cNvPr id="15" name="key-rule">
            <a:extLst xmlns:a="http://schemas.openxmlformats.org/drawingml/2006/main">
              <a:ext uri="{FF2B5EF4-FFF2-40B4-BE49-F238E27FC236}">
                <a16:creationId xmlns:a16="http://schemas.microsoft.com/office/drawing/2014/main" id="{40136A4A-44DD-4ACC-8174-8E61BC68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673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7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1-595">
            <a:extLst xmlns:a="http://schemas.openxmlformats.org/drawingml/2006/main">
              <a:ext uri="{FF2B5EF4-FFF2-40B4-BE49-F238E27FC236}">
                <a16:creationId xmlns:a16="http://schemas.microsoft.com/office/drawing/2014/main" id="{8C756310-78E3-4C93-96A1-9E0BDC3D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67375"/>
            <a:ext cx="114109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Kontext → pravděpodobnosti → další token → nový kontext.</a:t>
            </a:r>
          </a:p>
        </p:txBody>
      </p:sp>
    </p:spTree>
    <p:extLst>
      <p:ext uri="{BB962C8B-B14F-4D97-AF65-F5344CB8AC3E}">
        <p14:creationId xmlns:p14="http://schemas.microsoft.com/office/powerpoint/2010/main" val="823150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3D6FC91A-DBF8-4D67-9EA0-9E17E794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PRÁCE · PODLE METODIKY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95F6F85B-DA53-4E92-8C9D-A5E7BC53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19CBE2EB-F4C8-43AB-894B-DB8792E6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7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EC209EAA-2F27-4379-A734-10B9EA2B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53B2E6F9-C4D5-437D-8E4C-0AEDB5D7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2  /  4</a:t>
            </a:r>
          </a:p>
        </p:txBody>
      </p:sp>
      <p:sp>
        <p:nvSpPr>
          <p:cNvPr id="6" name="text-41-158">
            <a:extLst xmlns:a="http://schemas.openxmlformats.org/drawingml/2006/main">
              <a:ext uri="{FF2B5EF4-FFF2-40B4-BE49-F238E27FC236}">
                <a16:creationId xmlns:a16="http://schemas.microsoft.com/office/drawing/2014/main" id="{03DB967F-A975-4002-A677-6A0CDD26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38112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195">
            <a:extLst xmlns:a="http://schemas.openxmlformats.org/drawingml/2006/main">
              <a:ext uri="{FF2B5EF4-FFF2-40B4-BE49-F238E27FC236}">
                <a16:creationId xmlns:a16="http://schemas.microsoft.com/office/drawing/2014/main" id="{5C514DA8-C750-4667-8AC9-8FD6D956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57375"/>
            <a:ext cx="110490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1. Laboratoř fungování AI.html · 2. Tokeny a predikce.txt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67E396F7-649A-4A0F-A965-74C2E960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28900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2-296">
            <a:extLst xmlns:a="http://schemas.openxmlformats.org/drawingml/2006/main">
              <a:ext uri="{FF2B5EF4-FFF2-40B4-BE49-F238E27FC236}">
                <a16:creationId xmlns:a16="http://schemas.microsoft.com/office/drawing/2014/main" id="{36199571-37B0-4AF3-9C68-0BF81936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130-297">
            <a:extLst xmlns:a="http://schemas.openxmlformats.org/drawingml/2006/main">
              <a:ext uri="{FF2B5EF4-FFF2-40B4-BE49-F238E27FC236}">
                <a16:creationId xmlns:a16="http://schemas.microsoft.com/office/drawing/2014/main" id="{940D25FE-26B7-4C9F-83F9-BEB7A9F9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28925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 souboru 2. Tokeny a predikce.txt navrhni rozdělení tří ukázek na tokeny.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99894FD0-459E-4FD7-8404-180E0968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28900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E8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678-296">
            <a:extLst xmlns:a="http://schemas.openxmlformats.org/drawingml/2006/main">
              <a:ext uri="{FF2B5EF4-FFF2-40B4-BE49-F238E27FC236}">
                <a16:creationId xmlns:a16="http://schemas.microsoft.com/office/drawing/2014/main" id="{668044CF-2F6B-4EA1-8323-EA6B512E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text-746-297">
            <a:extLst xmlns:a="http://schemas.openxmlformats.org/drawingml/2006/main">
              <a:ext uri="{FF2B5EF4-FFF2-40B4-BE49-F238E27FC236}">
                <a16:creationId xmlns:a16="http://schemas.microsoft.com/office/drawing/2014/main" id="{D8FE55DA-17DA-4645-98B9-2D9F5CCA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28925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 laboratoři porovnej predikci se stručným a přesným doplňujícím kontextem.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BE46FEBE-DA31-49E1-A9BA-3CF74709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62425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2-457">
            <a:extLst xmlns:a="http://schemas.openxmlformats.org/drawingml/2006/main">
              <a:ext uri="{FF2B5EF4-FFF2-40B4-BE49-F238E27FC236}">
                <a16:creationId xmlns:a16="http://schemas.microsoft.com/office/drawing/2014/main" id="{B823A311-50C5-4558-94DF-FBB1A69B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text-130-458">
            <a:extLst xmlns:a="http://schemas.openxmlformats.org/drawingml/2006/main">
              <a:ext uri="{FF2B5EF4-FFF2-40B4-BE49-F238E27FC236}">
                <a16:creationId xmlns:a16="http://schemas.microsoft.com/office/drawing/2014/main" id="{9391A2CC-E32F-4D93-8047-D4233EC7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Proveď běh s nízkou a vysokou teplotou a jeden běh s rozporným kontextem.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DC00EB18-C89F-44EA-92A0-8AE71220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62425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678-457">
            <a:extLst xmlns:a="http://schemas.openxmlformats.org/drawingml/2006/main">
              <a:ext uri="{FF2B5EF4-FFF2-40B4-BE49-F238E27FC236}">
                <a16:creationId xmlns:a16="http://schemas.microsoft.com/office/drawing/2014/main" id="{FC50E05E-719C-42F0-8435-2DCCFE20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text-746-458">
            <a:extLst xmlns:a="http://schemas.openxmlformats.org/drawingml/2006/main">
              <a:ext uri="{FF2B5EF4-FFF2-40B4-BE49-F238E27FC236}">
                <a16:creationId xmlns:a16="http://schemas.microsoft.com/office/drawing/2014/main" id="{18DAD382-FCEC-4B95-85B9-FAC3BD5A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62450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Nakresli smyčku kontext → pravděpodobnosti → výběr tokenu → nový kontext.</a:t>
            </a:r>
          </a:p>
        </p:txBody>
      </p:sp>
    </p:spTree>
    <p:extLst>
      <p:ext uri="{BB962C8B-B14F-4D97-AF65-F5344CB8AC3E}">
        <p14:creationId xmlns:p14="http://schemas.microsoft.com/office/powerpoint/2010/main" val="594696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FE031871-A819-4712-9FFD-480203F5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886E404C-2230-40FE-B798-3F1ED832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5353942C-C9BD-4A4B-8FBB-1BEE616E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7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35CE33E4-9D33-46B6-9833-20523B5B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9FED05FD-76A8-48FB-A57A-8C9515DB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2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6F6DC752-BECA-400C-B4AF-1538384C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8592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8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4-202">
            <a:extLst xmlns:a="http://schemas.openxmlformats.org/drawingml/2006/main">
              <a:ext uri="{FF2B5EF4-FFF2-40B4-BE49-F238E27FC236}">
                <a16:creationId xmlns:a16="http://schemas.microsoft.com/office/drawing/2014/main" id="{2041855B-8C47-444E-8DAA-2A8ED257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3-203">
            <a:extLst xmlns:a="http://schemas.openxmlformats.org/drawingml/2006/main">
              <a:ext uri="{FF2B5EF4-FFF2-40B4-BE49-F238E27FC236}">
                <a16:creationId xmlns:a16="http://schemas.microsoft.com/office/drawing/2014/main" id="{62B0C31F-B6DE-4337-BE27-A4100A4F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3357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Cíl</a:t>
            </a:r>
          </a:p>
        </p:txBody>
      </p:sp>
      <p:sp>
        <p:nvSpPr>
          <p:cNvPr id="9" name="text-123-253">
            <a:extLst xmlns:a="http://schemas.openxmlformats.org/drawingml/2006/main">
              <a:ext uri="{FF2B5EF4-FFF2-40B4-BE49-F238E27FC236}">
                <a16:creationId xmlns:a16="http://schemas.microsoft.com/office/drawing/2014/main" id="{80FA9E2E-8E13-45A6-BA70-316BD490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40982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Student popíše opakovanou predikci dalšího tokenu, správně vysvětlí roli kontextu a nespojuje teplotu s pravdivostí.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8F5F74B3-346C-47DB-84D3-30845D0B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8592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0-202">
            <a:extLst xmlns:a="http://schemas.openxmlformats.org/drawingml/2006/main">
              <a:ext uri="{FF2B5EF4-FFF2-40B4-BE49-F238E27FC236}">
                <a16:creationId xmlns:a16="http://schemas.microsoft.com/office/drawing/2014/main" id="{738015FD-4BFF-495A-80E3-65980F07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39-203">
            <a:extLst xmlns:a="http://schemas.openxmlformats.org/drawingml/2006/main">
              <a:ext uri="{FF2B5EF4-FFF2-40B4-BE49-F238E27FC236}">
                <a16:creationId xmlns:a16="http://schemas.microsoft.com/office/drawing/2014/main" id="{BDA64800-97B8-4591-87A4-FC682023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3357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39-253">
            <a:extLst xmlns:a="http://schemas.openxmlformats.org/drawingml/2006/main">
              <a:ext uri="{FF2B5EF4-FFF2-40B4-BE49-F238E27FC236}">
                <a16:creationId xmlns:a16="http://schemas.microsoft.com/office/drawing/2014/main" id="{8F415D32-937E-41B9-868D-F70F9A16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0982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Jak konkrétní věta v kontextu změnila rozdělení?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A422AD96-B693-4608-85B0-8C153CEA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6237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4-420">
            <a:extLst xmlns:a="http://schemas.openxmlformats.org/drawingml/2006/main">
              <a:ext uri="{FF2B5EF4-FFF2-40B4-BE49-F238E27FC236}">
                <a16:creationId xmlns:a16="http://schemas.microsoft.com/office/drawing/2014/main" id="{CC4BD4EF-66F1-4C8D-A096-7F7F7113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3-421">
            <a:extLst xmlns:a="http://schemas.openxmlformats.org/drawingml/2006/main">
              <a:ext uri="{FF2B5EF4-FFF2-40B4-BE49-F238E27FC236}">
                <a16:creationId xmlns:a16="http://schemas.microsoft.com/office/drawing/2014/main" id="{E4B11801-946C-4EC8-A366-133D6E6E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1002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3-471">
            <a:extLst xmlns:a="http://schemas.openxmlformats.org/drawingml/2006/main">
              <a:ext uri="{FF2B5EF4-FFF2-40B4-BE49-F238E27FC236}">
                <a16:creationId xmlns:a16="http://schemas.microsoft.com/office/drawing/2014/main" id="{8660AB6A-CF4D-4425-9206-D13FD6AE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8627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Co se po výběru tokenu přidá do nového kontextu?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5640591D-9FED-4A92-8EED-4BABDF3C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6237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80-420">
            <a:extLst xmlns:a="http://schemas.openxmlformats.org/drawingml/2006/main">
              <a:ext uri="{FF2B5EF4-FFF2-40B4-BE49-F238E27FC236}">
                <a16:creationId xmlns:a16="http://schemas.microsoft.com/office/drawing/2014/main" id="{650D2EAB-83FF-4500-B0B4-97CBC418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39-421">
            <a:extLst xmlns:a="http://schemas.openxmlformats.org/drawingml/2006/main">
              <a:ext uri="{FF2B5EF4-FFF2-40B4-BE49-F238E27FC236}">
                <a16:creationId xmlns:a16="http://schemas.microsoft.com/office/drawing/2014/main" id="{984C265D-3706-4043-8F57-AA809528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01002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Odpovědnost</a:t>
            </a:r>
          </a:p>
        </p:txBody>
      </p:sp>
      <p:sp>
        <p:nvSpPr>
          <p:cNvPr id="21" name="text-739-471">
            <a:extLst xmlns:a="http://schemas.openxmlformats.org/drawingml/2006/main">
              <a:ext uri="{FF2B5EF4-FFF2-40B4-BE49-F238E27FC236}">
                <a16:creationId xmlns:a16="http://schemas.microsoft.com/office/drawing/2014/main" id="{EA97BD89-4F7D-416B-ACCD-F53C515A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48627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Co tato simulace zjednodušuje oproti skutečnému modelu?</a:t>
            </a:r>
          </a:p>
        </p:txBody>
      </p:sp>
    </p:spTree>
    <p:extLst>
      <p:ext uri="{BB962C8B-B14F-4D97-AF65-F5344CB8AC3E}">
        <p14:creationId xmlns:p14="http://schemas.microsoft.com/office/powerpoint/2010/main" val="216953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FFA2D35B-9DBE-40CA-A28A-7FA17582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37–42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B2053F7C-3D5E-47E9-80BE-0FA24B6B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má být ve výsledku vidět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5BAEE2B0-7F69-464C-A2AA-9698CCF7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7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C1A253E1-72B4-4A19-8282-B443C277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204EBD62-CB57-4784-98DE-D67AD2EC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2  /  6</a:t>
            </a:r>
          </a:p>
        </p:txBody>
      </p:sp>
      <p:sp>
        <p:nvSpPr>
          <p:cNvPr id="6" name="text-41-188">
            <a:extLst xmlns:a="http://schemas.openxmlformats.org/drawingml/2006/main">
              <a:ext uri="{FF2B5EF4-FFF2-40B4-BE49-F238E27FC236}">
                <a16:creationId xmlns:a16="http://schemas.microsoft.com/office/drawing/2014/main" id="{11AA0318-AA1E-4C15-92C2-B4D9F2FC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Token</a:t>
            </a:r>
          </a:p>
        </p:txBody>
      </p:sp>
      <p:sp>
        <p:nvSpPr>
          <p:cNvPr id="7" name="text-260-188">
            <a:extLst xmlns:a="http://schemas.openxmlformats.org/drawingml/2006/main">
              <a:ext uri="{FF2B5EF4-FFF2-40B4-BE49-F238E27FC236}">
                <a16:creationId xmlns:a16="http://schemas.microsoft.com/office/drawing/2014/main" id="{5B88BBD2-23A9-468A-B878-FE5843D5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90700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Jednotka textu zpracovávaná modelem; hranice se nemusí shodovat se slovy.</a:t>
            </a:r>
          </a:p>
        </p:txBody>
      </p:sp>
      <p:sp>
        <p:nvSpPr>
          <p:cNvPr id="8" name="text-41-303">
            <a:extLst xmlns:a="http://schemas.openxmlformats.org/drawingml/2006/main">
              <a:ext uri="{FF2B5EF4-FFF2-40B4-BE49-F238E27FC236}">
                <a16:creationId xmlns:a16="http://schemas.microsoft.com/office/drawing/2014/main" id="{84EE0A7C-E626-4435-801D-22F78011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86075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Další token</a:t>
            </a:r>
          </a:p>
        </p:txBody>
      </p:sp>
      <p:sp>
        <p:nvSpPr>
          <p:cNvPr id="9" name="text-260-303">
            <a:extLst xmlns:a="http://schemas.openxmlformats.org/drawingml/2006/main">
              <a:ext uri="{FF2B5EF4-FFF2-40B4-BE49-F238E27FC236}">
                <a16:creationId xmlns:a16="http://schemas.microsoft.com/office/drawing/2014/main" id="{2DFB2D57-9BC8-4AB9-94F8-B9E03C33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86075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Model vytvoří rozdělení pravděpodobností a vybere pokračování.</a:t>
            </a:r>
          </a:p>
        </p:txBody>
      </p:sp>
      <p:sp>
        <p:nvSpPr>
          <p:cNvPr id="10" name="text-41-418">
            <a:extLst xmlns:a="http://schemas.openxmlformats.org/drawingml/2006/main">
              <a:ext uri="{FF2B5EF4-FFF2-40B4-BE49-F238E27FC236}">
                <a16:creationId xmlns:a16="http://schemas.microsoft.com/office/drawing/2014/main" id="{86839952-DB8A-4E21-8494-D88C865D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81450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Kontext</a:t>
            </a:r>
          </a:p>
        </p:txBody>
      </p:sp>
      <p:sp>
        <p:nvSpPr>
          <p:cNvPr id="11" name="text-260-418">
            <a:extLst xmlns:a="http://schemas.openxmlformats.org/drawingml/2006/main">
              <a:ext uri="{FF2B5EF4-FFF2-40B4-BE49-F238E27FC236}">
                <a16:creationId xmlns:a16="http://schemas.microsoft.com/office/drawing/2014/main" id="{53613BF8-5195-46BC-9FC6-1FB10CE2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81450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Upřesňuje situaci a mění pravděpodobnost možných pokračování.</a:t>
            </a:r>
          </a:p>
        </p:txBody>
      </p:sp>
      <p:sp>
        <p:nvSpPr>
          <p:cNvPr id="12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24C91AF2-E87F-4BD8-9656-63AE3B6C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8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690-205">
            <a:extLst xmlns:a="http://schemas.openxmlformats.org/drawingml/2006/main">
              <a:ext uri="{FF2B5EF4-FFF2-40B4-BE49-F238E27FC236}">
                <a16:creationId xmlns:a16="http://schemas.microsoft.com/office/drawing/2014/main" id="{12EC041B-0FF2-4A3A-8819-8A7A41DE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4" name="text-690-265">
            <a:extLst xmlns:a="http://schemas.openxmlformats.org/drawingml/2006/main">
              <a:ext uri="{FF2B5EF4-FFF2-40B4-BE49-F238E27FC236}">
                <a16:creationId xmlns:a16="http://schemas.microsoft.com/office/drawing/2014/main" id="{AFAC361A-4926-47EB-A859-B2EF8291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686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„Model vyhledá hotovou větu.“</a:t>
            </a:r>
          </a:p>
        </p:txBody>
      </p:sp>
      <p:sp>
        <p:nvSpPr>
          <p:cNvPr id="15" name="text-690-389">
            <a:extLst xmlns:a="http://schemas.openxmlformats.org/drawingml/2006/main">
              <a:ext uri="{FF2B5EF4-FFF2-40B4-BE49-F238E27FC236}">
                <a16:creationId xmlns:a16="http://schemas.microsoft.com/office/drawing/2014/main" id="{6E906369-9E6C-469F-92AD-6A457EF1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4686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Nechte studenty krokovat vznik odpovědi token po tokenu.</a:t>
            </a:r>
          </a:p>
        </p:txBody>
      </p:sp>
      <p:sp>
        <p:nvSpPr>
          <p:cNvPr id="16" name="text-41-575">
            <a:extLst xmlns:a="http://schemas.openxmlformats.org/drawingml/2006/main">
              <a:ext uri="{FF2B5EF4-FFF2-40B4-BE49-F238E27FC236}">
                <a16:creationId xmlns:a16="http://schemas.microsoft.com/office/drawing/2014/main" id="{AB6F3680-A5B7-422F-9124-3573E4B6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10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 úvodní odpovědi. Co bys teď změnil/a — a proč?</a:t>
            </a:r>
          </a:p>
        </p:txBody>
      </p:sp>
    </p:spTree>
    <p:extLst>
      <p:ext uri="{BB962C8B-B14F-4D97-AF65-F5344CB8AC3E}">
        <p14:creationId xmlns:p14="http://schemas.microsoft.com/office/powerpoint/2010/main" val="19991553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1CC0E433-D2A5-4EED-8EE3-13489B68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7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7EA93CF4-D08B-4753-AC94-786FB034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HODINA 2 · POSLEDNÍ 3 MINUTY</a:t>
            </a:r>
          </a:p>
        </p:txBody>
      </p:sp>
      <p:sp>
        <p:nvSpPr>
          <p:cNvPr id="3" name="text-54-151">
            <a:extLst xmlns:a="http://schemas.openxmlformats.org/drawingml/2006/main">
              <a:ext uri="{FF2B5EF4-FFF2-40B4-BE49-F238E27FC236}">
                <a16:creationId xmlns:a16="http://schemas.microsoft.com/office/drawing/2014/main" id="{4C2B0185-4CC1-476F-84AA-416C8C23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6191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59BF45A4-61C7-4CC8-A6D9-C1CE6179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model udělá bezprostředně poté, co vybere jeden další token?</a:t>
            </a:r>
          </a:p>
        </p:txBody>
      </p:sp>
      <p:sp>
        <p:nvSpPr>
          <p:cNvPr id="5" name="exit-rule">
            <a:extLst xmlns:a="http://schemas.openxmlformats.org/drawingml/2006/main">
              <a:ext uri="{FF2B5EF4-FFF2-40B4-BE49-F238E27FC236}">
                <a16:creationId xmlns:a16="http://schemas.microsoft.com/office/drawing/2014/main" id="{3CF10D9F-A6E5-40B4-8D62-64028064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7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4-545">
            <a:extLst xmlns:a="http://schemas.openxmlformats.org/drawingml/2006/main">
              <a:ext uri="{FF2B5EF4-FFF2-40B4-BE49-F238E27FC236}">
                <a16:creationId xmlns:a16="http://schemas.microsoft.com/office/drawing/2014/main" id="{55BC0415-3640-4335-89BA-DC79295E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9096375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důvod nebo krok.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AB0D78A1-2D69-4C7F-A36D-B78212FD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2B67B2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4663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2026-07-24T15:48:06.5080000Z</dcterms:created>
  <dcterms:modified xsi:type="dcterms:W3CDTF">2026-07-24T15:48:06.5080000Z</dcterms:modified>
</coreProperties>
</file>