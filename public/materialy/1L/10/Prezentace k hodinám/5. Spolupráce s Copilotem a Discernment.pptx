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d8d75e14f9e47a4" Type="http://schemas.openxmlformats.org/package/2006/relationships/metadata/core-properties" Target="docProps/core.xml"/><Relationship Id="R5df49c8c94d64896" Type="http://schemas.openxmlformats.org/officeDocument/2006/relationships/officeDocument" Target="ppt/presentation.xml"/><Relationship Id="Rb285fe147af04b0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905e92ac184563"/>
  </p:sldMasterIdLst>
  <p:notesMasterIdLst>
    <p:notesMasterId xmlns:r="http://schemas.openxmlformats.org/officeDocument/2006/relationships" r:id="Rc694505b255242af"/>
  </p:notesMasterIdLst>
  <p:sldIdLst>
    <p:sldId xmlns:r="http://schemas.openxmlformats.org/officeDocument/2006/relationships" id="256" r:id="Rea20bed48657453d"/>
    <p:sldId xmlns:r="http://schemas.openxmlformats.org/officeDocument/2006/relationships" id="257" r:id="R1ad31782e1884eef"/>
    <p:sldId xmlns:r="http://schemas.openxmlformats.org/officeDocument/2006/relationships" id="258" r:id="R56f1fe58bef441d1"/>
    <p:sldId xmlns:r="http://schemas.openxmlformats.org/officeDocument/2006/relationships" id="259" r:id="R8daf5ecc2f664747"/>
    <p:sldId xmlns:r="http://schemas.openxmlformats.org/officeDocument/2006/relationships" id="260" r:id="R9193793be91f4f75"/>
    <p:sldId xmlns:r="http://schemas.openxmlformats.org/officeDocument/2006/relationships" id="261" r:id="Rdb9c000df34d424f"/>
    <p:sldId xmlns:r="http://schemas.openxmlformats.org/officeDocument/2006/relationships" id="262" r:id="R93117695a2a741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ad31782e1884eef" Type="http://schemas.openxmlformats.org/officeDocument/2006/relationships/slide" Target="slides/slide2.xml"/><Relationship Id="R3c8aa509179d402d" Type="http://schemas.openxmlformats.org/officeDocument/2006/relationships/presProps" Target="presProps.xml"/><Relationship Id="R56f1fe58bef441d1" Type="http://schemas.openxmlformats.org/officeDocument/2006/relationships/slide" Target="slides/slide3.xml"/><Relationship Id="R7d905e92ac184563" Type="http://schemas.openxmlformats.org/officeDocument/2006/relationships/slideMaster" Target="slideMasters/slideMaster1.xml"/><Relationship Id="R8daf5ecc2f664747" Type="http://schemas.openxmlformats.org/officeDocument/2006/relationships/slide" Target="slides/slide4.xml"/><Relationship Id="R9193793be91f4f75" Type="http://schemas.openxmlformats.org/officeDocument/2006/relationships/slide" Target="slides/slide5.xml"/><Relationship Id="R93117695a2a74120" Type="http://schemas.openxmlformats.org/officeDocument/2006/relationships/slide" Target="slides/slide7.xml"/><Relationship Id="Rb4f99580795d4629" Type="http://schemas.openxmlformats.org/officeDocument/2006/relationships/theme" Target="theme/theme1.xml"/><Relationship Id="Rb90c462571cd4abd" Type="http://schemas.openxmlformats.org/officeDocument/2006/relationships/tableStyles" Target="tableStyles.xml"/><Relationship Id="Rc694505b255242af" Type="http://schemas.openxmlformats.org/officeDocument/2006/relationships/notesMaster" Target="notesMasters/notesMaster1.xml"/><Relationship Id="Rdb9c000df34d424f" Type="http://schemas.openxmlformats.org/officeDocument/2006/relationships/slide" Target="slides/slide6.xml"/><Relationship Id="Rea20bed48657453d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98c606f29080476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e0f542e52d246bc" Type="http://schemas.openxmlformats.org/officeDocument/2006/relationships/slide" Target="../slides/slide1.xml"/><Relationship Id="Rdc291c5f1daf459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eeaa54ab83ed4344" Type="http://schemas.openxmlformats.org/officeDocument/2006/relationships/slide" Target="../slides/slide2.xml"/><Relationship Id="Rfd99ad1501974d5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7d9431ecd6d4641" Type="http://schemas.openxmlformats.org/officeDocument/2006/relationships/notesMaster" Target="../notesMasters/notesMaster1.xml"/><Relationship Id="R492144a4f9ad4ae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3b17a088ddc437e" Type="http://schemas.openxmlformats.org/officeDocument/2006/relationships/notesMaster" Target="../notesMasters/notesMaster1.xml"/><Relationship Id="R85cb4bed1bb342e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11c56851b3845cb" Type="http://schemas.openxmlformats.org/officeDocument/2006/relationships/notesMaster" Target="../notesMasters/notesMaster1.xml"/><Relationship Id="R844dd2252f64449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c25f27ad72ab4115" Type="http://schemas.openxmlformats.org/officeDocument/2006/relationships/slide" Target="../slides/slide6.xml"/><Relationship Id="Rf62d3b52489c461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f30cb7c9d6c4bba" Type="http://schemas.openxmlformats.org/officeDocument/2006/relationships/slide" Target="../slides/slide7.xml"/><Relationship Id="R5bd564a3993b49f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Cíl: Vedu iterativní práci nad dodaným zdrojem a kriticky posoudím fakta, logiku, relevanci a omezení výstupu.</a:t>
            </a:r>
          </a:p>
          <a:p xmlns:a="http://schemas.openxmlformats.org/drawingml/2006/main">
            <a:r>
              <a:t>Podklady: 5. Zdrojový balíček - rekuperace.txt, 5. Výstup k opravě.txt, 5. Výstupy k posouzení.txt</a:t>
            </a:r>
          </a:p>
          <a:p xmlns:a="http://schemas.openxmlformats.org/drawingml/2006/main">
            <a:r>
              <a:t>Výstup: Informační karta založená na zdroji, dvě cílené iterace a audit dvou klíčových tvrzení.</a:t>
            </a:r>
          </a:p>
          <a:p xmlns:a="http://schemas.openxmlformats.org/drawingml/2006/main">
            <a:r>
              <a:t>Před začátkem ověř, že studenti mají otevřený digitální pracovní sešit a potřebné soubory.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Řekni nahlas (cca 20 s): Učíme se postup, ne jedno tlačítko. Copilot je ukázka, protože ho škola poskytuje; stejný postup funguje i v jiném AI asistentovi. Podrobnosti pro učitele: příloha Přenesení hodin 4–6 na jiný AI nástroj.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0–6 minut.</a:t>
            </a:r>
          </a:p>
          <a:p xmlns:a="http://schemas.openxmlformats.org/drawingml/2006/main">
            <a:r>
              <a:t>Postup: Studenti ze zdroje odvodí fakta, omezení a pravidla výsledné karty.</a:t>
            </a:r>
          </a:p>
          <a:p xmlns:a="http://schemas.openxmlformats.org/drawingml/2006/main">
            <a:r>
              <a:t>Úvodní otázka: Jak zabránit tomu, aby Copilot doplnil chybějící fakta z vlastní „paměti“?</a:t>
            </a:r>
          </a:p>
          <a:p xmlns:a="http://schemas.openxmlformats.org/drawingml/2006/main">
            <a:r>
              <a:t>Neprozrazuj odpověď. Cílem je zachytit počáteční model studenta, ke kterému se vrátí při reflexi.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6–12 minut.</a:t>
            </a:r>
          </a:p>
          <a:p xmlns:a="http://schemas.openxmlformats.org/drawingml/2006/main">
            <a:r>
              <a:t>Postup: Předveď požadavek pracovat pouze ze zdroje a přiznat chybějící informaci.</a:t>
            </a:r>
          </a:p>
          <a:p xmlns:a="http://schemas.openxmlformats.org/drawingml/2006/main">
            <a:r>
              <a:t>Klíčové body: Ukotvení: AI má pracovat z konkrétního podkladu a přiznat, co v něm není. | Discernment: Člověk hodnotí proces i výstup podle faktů, logiky, relevance, zdrojů a účelu. | Důkaz změny: Anotovaný log ukazuje problém, lidský zásah, změnu výstupu a zbylé riziko.</a:t>
            </a:r>
          </a:p>
          <a:p xmlns:a="http://schemas.openxmlformats.org/drawingml/2006/main">
            <a:r>
              <a:t>Po každém pojmu vyžádej jeden příklad a jeden protipříklad. Vysvětlení má používat způsob fungování, ne značku nástroje.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Podklady: 5. Zdrojový balíček - rekuperace.txt, 5. Výstup k opravě.txt, 5. Výstupy k posouzení.txt</a:t>
            </a:r>
          </a:p>
          <a:p xmlns:a="http://schemas.openxmlformats.org/drawingml/2006/main">
            <a:r>
              <a:t>1. Přečti 5. Zdrojový balíček - rekuperace.txt a stanov pět kritérií výsledné karty.</a:t>
            </a:r>
          </a:p>
          <a:p xmlns:a="http://schemas.openxmlformats.org/drawingml/2006/main">
            <a:r>
              <a:t>2. V Copilotu vytvoř první návrh pouze z dodaného zdroje a označ informace, které v něm chybí.</a:t>
            </a:r>
          </a:p>
          <a:p xmlns:a="http://schemas.openxmlformats.org/drawingml/2006/main">
            <a:r>
              <a:t>3. Porovnej výstup se soubory 5. Výstup k opravě.txt a 5. Výstupy k posouzení.txt a proveď dvě cílené iterace.</a:t>
            </a:r>
          </a:p>
          <a:p xmlns:a="http://schemas.openxmlformats.org/drawingml/2006/main">
            <a:r>
              <a:t>4. Ověř dvě nejdůležitější věty proti zdroji a do logu napiš problém → zásah → změna → zbylé riziko.</a:t>
            </a:r>
          </a:p>
          <a:p xmlns:a="http://schemas.openxmlformats.org/drawingml/2006/main">
            <a:r>
              <a:t>Požadovaný výstup: Informační karta založená na zdroji, dvě cílené iterace a audit dvou klíčových tvrzení.</a:t>
            </a:r>
          </a:p>
          <a:p xmlns:a="http://schemas.openxmlformats.org/drawingml/2006/main">
            <a:r>
              <a:t>Během práce pomáhej otázkami, nepřebírej myš ani tvorbu promptu. Vyžaduj průběžné ukládání výstupů a lidských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Kritérium: Každé věcné tvrzení je dohledatelné ve zdroji nebo označené jako nejisté a revize reagují na konkrétní důkazy.</a:t>
            </a:r>
          </a:p>
          <a:p xmlns:a="http://schemas.openxmlformats.org/drawingml/2006/main">
            <a:r>
              <a:t>Vodicí otázky: Kde přesně ve zdroji má toto tvrzení oporu? | Který lidský zásah přinesl největší věcnou změnu? | Co musí být označeno jako nejisté nebo odstraněno?</a:t>
            </a:r>
          </a:p>
          <a:p xmlns:a="http://schemas.openxmlformats.org/drawingml/2006/main">
            <a:r>
              <a:t>Podpora: Nabídni tabulku problém – nový prompt – změna – opora ve zdroji.</a:t>
            </a:r>
          </a:p>
          <a:p xmlns:a="http://schemas.openxmlformats.org/drawingml/2006/main">
            <a:r>
              <a:t>Rozšíření: Vytvoř variantu pro jiné publikum a ověř, že se při změně stylu nezměnila fakta.</a:t>
            </a:r>
          </a:p>
          <a:p xmlns:a="http://schemas.openxmlformats.org/drawingml/2006/main">
            <a:r>
              <a:t>Proveď rychlou párovou kontrolu: jeden dobře doložený bod a jedna konkrétní otázka k dopracování.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Oporu: Tvrzení lze přímo spojit s konkrétní částí dodaného zdroje. | Mezeru: Informace, která ve zdroji není, nesmí být prezentována jako jeho fakt. | Revizi: Další prompt reaguje na diagnostikovaný problém a má kontrolovatelný cíl.</a:t>
            </a:r>
          </a:p>
          <a:p xmlns:a="http://schemas.openxmlformats.org/drawingml/2006/main">
            <a:r>
              <a:t>Časté omyly: „Přepiš to lépe.“ → Žádej přesnou diagnózu vady: údaj, logika, publikum, formát nebo tón. | „Když je text hezký a má odkazy, je ověřený.“ → Kontroluj existenci zdroje i to, zda opravdu podporuje konkrétní tvrzení.</a:t>
            </a:r>
          </a:p>
          <a:p xmlns:a="http://schemas.openxmlformats.org/drawingml/2006/main">
            <a:r>
              <a:t>Nečti řešení slovo od slova. Porovnej dva studentské postupy a nech třídu určit, který má lepší důkazy nebo jasnější lidské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Jak poznáš, že se další iterací opravila věcná opora, a ne jen styl textu?</a:t>
            </a:r>
          </a:p>
          <a:p xmlns:a="http://schemas.openxmlformats.org/drawingml/2006/main">
            <a:r>
              <a:t>Když technika selže: Studenti revidují připravený výstup a formulují opravy jako prompty bez přístupu k Copilotu.</a:t>
            </a:r>
          </a:p>
          <a:p xmlns:a="http://schemas.openxmlformats.org/drawingml/2006/main">
            <a:r>
              <a:t>Odpovědi použij jako diagnostiku pro začátek další hodiny. U hodiny 3 navazuje diagnostická brána; u hodiny 6 jde o součást závěrečné reflexe.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7a9d5cfd79c478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a4ebb108a6b4748" Type="http://schemas.openxmlformats.org/officeDocument/2006/relationships/slideLayout" Target="../slideLayouts/slideLayout1.xml"/><Relationship Id="R59eed955961c46e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4ebb108a6b47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c2f3b2f94f1d4768" Type="http://schemas.openxmlformats.org/officeDocument/2006/relationships/slideLayout" Target="../slideLayouts/slideLayout1.xml"/><Relationship Id="Re23f4d370ed149c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82835990b3ae444c" Type="http://schemas.openxmlformats.org/officeDocument/2006/relationships/notesSlide" Target="../notesSlides/notesSlide2.xml"/><Relationship Id="Ra791577354f54ea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2074152ec4c401f" Type="http://schemas.openxmlformats.org/officeDocument/2006/relationships/slideLayout" Target="../slideLayouts/slideLayout1.xml"/><Relationship Id="Rab00badf23fb423f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5f180f74e7d40a4" Type="http://schemas.openxmlformats.org/officeDocument/2006/relationships/slideLayout" Target="../slideLayouts/slideLayout1.xml"/><Relationship Id="R5ec79ef27a5746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8dd7f5b1c72f46dc" Type="http://schemas.openxmlformats.org/officeDocument/2006/relationships/slideLayout" Target="../slideLayouts/slideLayout1.xml"/><Relationship Id="R9ebe2f39d783457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42bfcce28974005" Type="http://schemas.openxmlformats.org/officeDocument/2006/relationships/notesSlide" Target="../notesSlides/notesSlide6.xml"/><Relationship Id="Rd6a148ba209d4e2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c04aa8084c1c43b9" Type="http://schemas.openxmlformats.org/officeDocument/2006/relationships/slideLayout" Target="../slideLayouts/slideLayout1.xml"/><Relationship Id="Rc9f523b6cbd94200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389F506-6452-44BF-ABFE-F845487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B68130A7-7736-4B53-BBC8-4169ADAF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HODINA 5 / 6</a:t>
            </a:r>
          </a:p>
        </p:txBody>
      </p:sp>
      <p:sp>
        <p:nvSpPr>
          <p:cNvPr id="3" name="text-842-48">
            <a:extLst xmlns:a="http://schemas.openxmlformats.org/drawingml/2006/main">
              <a:ext uri="{FF2B5EF4-FFF2-40B4-BE49-F238E27FC236}">
                <a16:creationId xmlns:a16="http://schemas.microsoft.com/office/drawing/2014/main" id="{4669FF64-24CB-4FE9-BCAD-36DBF7EF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"/>
            <a:ext cx="3305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AI FLUENCY</a:t>
            </a:r>
          </a:p>
        </p:txBody>
      </p:sp>
      <p:sp>
        <p:nvSpPr>
          <p:cNvPr id="4" name="text-54-245">
            <a:extLst xmlns:a="http://schemas.openxmlformats.org/drawingml/2006/main">
              <a:ext uri="{FF2B5EF4-FFF2-40B4-BE49-F238E27FC236}">
                <a16:creationId xmlns:a16="http://schemas.microsoft.com/office/drawing/2014/main" id="{9CD94A8D-E7E9-4AED-B5BF-E429853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05727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Spolupráce s Copilotem a Discernment</a:t>
            </a:r>
          </a:p>
        </p:txBody>
      </p:sp>
      <p:sp>
        <p:nvSpPr>
          <p:cNvPr id="5" name="text-56-505">
            <a:extLst xmlns:a="http://schemas.openxmlformats.org/drawingml/2006/main">
              <a:ext uri="{FF2B5EF4-FFF2-40B4-BE49-F238E27FC236}">
                <a16:creationId xmlns:a16="http://schemas.microsoft.com/office/drawing/2014/main" id="{78184C7A-E04F-415E-BBBD-121C8D86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809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Vedu iterativní práci nad dodaným zdrojem a kriticky posoudím fakta, logiku, relevanci a omezení výstupu.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26CCB9FA-42FC-44BF-A377-FF0E8E8A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76250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B7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19">
            <a:extLst xmlns:a="http://schemas.openxmlformats.org/drawingml/2006/main">
              <a:ext uri="{FF2B5EF4-FFF2-40B4-BE49-F238E27FC236}">
                <a16:creationId xmlns:a16="http://schemas.microsoft.com/office/drawing/2014/main" id="{F7A3FAC0-7921-4EDB-A7C9-B1F0240C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43475"/>
            <a:ext cx="1181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8" name="text-1065-596">
            <a:extLst xmlns:a="http://schemas.openxmlformats.org/drawingml/2006/main">
              <a:ext uri="{FF2B5EF4-FFF2-40B4-BE49-F238E27FC236}">
                <a16:creationId xmlns:a16="http://schemas.microsoft.com/office/drawing/2014/main" id="{6B3DDA67-0F50-4F60-BE58-50C0C525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769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  <p:sp>
        <p:nvSpPr>
          <p:cNvPr id="16" name="text-41-595">
            <a:extLst xmlns:a="http://schemas.openxmlformats.org/drawingml/2006/main">
              <a:ext uri="{FF2B5EF4-FFF2-40B4-BE49-F238E27FC236}">
                <a16:creationId xmlns:a16="http://schemas.microsoft.com/office/drawing/2014/main" id="{E2E0E07D-B3D1-452B-AB0A-42380F72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06440"/>
            <a:ext cx="941832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Učíme se postup, ne jedno tlačítko. Copilot je tady jako ukázka — stejný postup zvládneš i v jiném AI asistentovi.</a:t>
            </a:r>
          </a:p>
        </p:txBody>
      </p:sp>
    </p:spTree>
    <p:extLst>
      <p:ext uri="{BB962C8B-B14F-4D97-AF65-F5344CB8AC3E}">
        <p14:creationId xmlns:p14="http://schemas.microsoft.com/office/powerpoint/2010/main" val="2003328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25D9738E-3F7C-4330-9037-CBA7174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0–6 MIN · START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7F4C46E3-2D7F-45AE-8B0B-7BA7E5BE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úsudkem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E5CADB4-05F5-4317-B771-049C6F16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B53D59D6-A94B-42A4-A02A-84C751D7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1AF597CD-FBE9-4F9C-AEF0-4AB55FEF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5  /  2</a:t>
            </a:r>
          </a:p>
        </p:txBody>
      </p:sp>
      <p:sp>
        <p:nvSpPr>
          <p:cNvPr id="6" name="text-41-183">
            <a:extLst xmlns:a="http://schemas.openxmlformats.org/drawingml/2006/main">
              <a:ext uri="{FF2B5EF4-FFF2-40B4-BE49-F238E27FC236}">
                <a16:creationId xmlns:a16="http://schemas.microsoft.com/office/drawing/2014/main" id="{A2010515-0BAF-449B-8D03-9F857C8A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906125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Jak zabránit tomu, aby Copilot doplnil chybějící fakta z vlastní „paměti“?</a:t>
            </a:r>
          </a:p>
        </p:txBody>
      </p:sp>
      <p:sp>
        <p:nvSpPr>
          <p:cNvPr id="7" name="hook-panel">
            <a:extLst xmlns:a="http://schemas.openxmlformats.org/drawingml/2006/main">
              <a:ext uri="{FF2B5EF4-FFF2-40B4-BE49-F238E27FC236}">
                <a16:creationId xmlns:a16="http://schemas.microsoft.com/office/drawing/2014/main" id="{13BBFADD-6E19-42A6-8BBD-74A395D0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00525"/>
            <a:ext cx="11410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9-473">
            <a:extLst xmlns:a="http://schemas.openxmlformats.org/drawingml/2006/main">
              <a:ext uri="{FF2B5EF4-FFF2-40B4-BE49-F238E27FC236}">
                <a16:creationId xmlns:a16="http://schemas.microsoft.com/office/drawing/2014/main" id="{3AE70604-A550-4C72-8F2B-7730787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text-121-472">
            <a:extLst xmlns:a="http://schemas.openxmlformats.org/drawingml/2006/main">
              <a:ext uri="{FF2B5EF4-FFF2-40B4-BE49-F238E27FC236}">
                <a16:creationId xmlns:a16="http://schemas.microsoft.com/office/drawing/2014/main" id="{376ED494-44F1-4D64-9D09-58A0B7D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95800"/>
            <a:ext cx="2476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10" name="text-121-518">
            <a:extLst xmlns:a="http://schemas.openxmlformats.org/drawingml/2006/main">
              <a:ext uri="{FF2B5EF4-FFF2-40B4-BE49-F238E27FC236}">
                <a16:creationId xmlns:a16="http://schemas.microsoft.com/office/drawing/2014/main" id="{9A87F777-EEBE-454F-A363-018CBBD1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33950"/>
            <a:ext cx="2476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Zapiš konkrétní důvod.</a:t>
            </a:r>
          </a:p>
        </p:txBody>
      </p:sp>
      <p:sp>
        <p:nvSpPr>
          <p:cNvPr id="11" name="text-459-473">
            <a:extLst xmlns:a="http://schemas.openxmlformats.org/drawingml/2006/main">
              <a:ext uri="{FF2B5EF4-FFF2-40B4-BE49-F238E27FC236}">
                <a16:creationId xmlns:a16="http://schemas.microsoft.com/office/drawing/2014/main" id="{196D4A36-2B4F-4224-B652-AD85E0F6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text-511-472">
            <a:extLst xmlns:a="http://schemas.openxmlformats.org/drawingml/2006/main">
              <a:ext uri="{FF2B5EF4-FFF2-40B4-BE49-F238E27FC236}">
                <a16:creationId xmlns:a16="http://schemas.microsoft.com/office/drawing/2014/main" id="{7B70000A-7EC1-42C7-8D73-9341B21B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95800"/>
            <a:ext cx="29527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3" name="text-511-518">
            <a:extLst xmlns:a="http://schemas.openxmlformats.org/drawingml/2006/main">
              <a:ext uri="{FF2B5EF4-FFF2-40B4-BE49-F238E27FC236}">
                <a16:creationId xmlns:a16="http://schemas.microsoft.com/office/drawing/2014/main" id="{826A2468-CE12-47B5-BB20-47253D35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933950"/>
            <a:ext cx="2952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Najděte bod neshody.</a:t>
            </a:r>
          </a:p>
        </p:txBody>
      </p:sp>
      <p:sp>
        <p:nvSpPr>
          <p:cNvPr id="14" name="text-900-473">
            <a:extLst xmlns:a="http://schemas.openxmlformats.org/drawingml/2006/main">
              <a:ext uri="{FF2B5EF4-FFF2-40B4-BE49-F238E27FC236}">
                <a16:creationId xmlns:a16="http://schemas.microsoft.com/office/drawing/2014/main" id="{D1EB9FE6-77C5-4280-9D27-852E3D68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5" name="text-952-472">
            <a:extLst xmlns:a="http://schemas.openxmlformats.org/drawingml/2006/main">
              <a:ext uri="{FF2B5EF4-FFF2-40B4-BE49-F238E27FC236}">
                <a16:creationId xmlns:a16="http://schemas.microsoft.com/office/drawing/2014/main" id="{871FBAC4-F2A6-42EB-833B-4CF439D8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3812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6" name="text-952-518">
            <a:extLst xmlns:a="http://schemas.openxmlformats.org/drawingml/2006/main">
              <a:ext uri="{FF2B5EF4-FFF2-40B4-BE49-F238E27FC236}">
                <a16:creationId xmlns:a16="http://schemas.microsoft.com/office/drawing/2014/main" id="{5EF400CD-25BD-41BB-81CF-1AD9786B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33950"/>
            <a:ext cx="2381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Co by změnilo volbu?</a:t>
            </a:r>
          </a:p>
        </p:txBody>
      </p:sp>
    </p:spTree>
    <p:extLst>
      <p:ext uri="{BB962C8B-B14F-4D97-AF65-F5344CB8AC3E}">
        <p14:creationId xmlns:p14="http://schemas.microsoft.com/office/powerpoint/2010/main" val="934195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3978649E-11A7-4FF0-A00A-D3B3D980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6–12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3FC8344A-BB08-408D-BBCD-347F996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8C13CF49-5B63-451D-A256-50EAA799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1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A590A73B-758F-49F6-BE93-BAB72412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5DD7D07D-5A58-4097-B947-BF299CA1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5  /  3</a:t>
            </a:r>
          </a:p>
        </p:txBody>
      </p:sp>
      <p:sp>
        <p:nvSpPr>
          <p:cNvPr id="6" name="text-41-175">
            <a:extLst xmlns:a="http://schemas.openxmlformats.org/drawingml/2006/main">
              <a:ext uri="{FF2B5EF4-FFF2-40B4-BE49-F238E27FC236}">
                <a16:creationId xmlns:a16="http://schemas.microsoft.com/office/drawing/2014/main" id="{EDC04E72-063C-4D17-A45C-6EAA1997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65">
            <a:extLst xmlns:a="http://schemas.openxmlformats.org/drawingml/2006/main">
              <a:ext uri="{FF2B5EF4-FFF2-40B4-BE49-F238E27FC236}">
                <a16:creationId xmlns:a16="http://schemas.microsoft.com/office/drawing/2014/main" id="{7D09D281-68E0-4489-8CBE-53EC8D98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Ukotvení</a:t>
            </a:r>
          </a:p>
        </p:txBody>
      </p:sp>
      <p:sp>
        <p:nvSpPr>
          <p:cNvPr id="8" name="text-41-356">
            <a:extLst xmlns:a="http://schemas.openxmlformats.org/drawingml/2006/main">
              <a:ext uri="{FF2B5EF4-FFF2-40B4-BE49-F238E27FC236}">
                <a16:creationId xmlns:a16="http://schemas.microsoft.com/office/drawing/2014/main" id="{ADDEEF57-BB54-492E-BCE4-3C2602D1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AI má pracovat z konkrétního podkladu a přiznat, co v něm není.</a:t>
            </a:r>
          </a:p>
        </p:txBody>
      </p:sp>
      <p:sp>
        <p:nvSpPr>
          <p:cNvPr id="9" name="text-453-175">
            <a:extLst xmlns:a="http://schemas.openxmlformats.org/drawingml/2006/main">
              <a:ext uri="{FF2B5EF4-FFF2-40B4-BE49-F238E27FC236}">
                <a16:creationId xmlns:a16="http://schemas.microsoft.com/office/drawing/2014/main" id="{40A21A92-734B-4B4D-AB8F-7BF2E599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65">
            <a:extLst xmlns:a="http://schemas.openxmlformats.org/drawingml/2006/main">
              <a:ext uri="{FF2B5EF4-FFF2-40B4-BE49-F238E27FC236}">
                <a16:creationId xmlns:a16="http://schemas.microsoft.com/office/drawing/2014/main" id="{B9AB6E6E-4E20-46AC-B276-7B72153E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Discernment</a:t>
            </a:r>
          </a:p>
        </p:txBody>
      </p:sp>
      <p:sp>
        <p:nvSpPr>
          <p:cNvPr id="11" name="text-453-356">
            <a:extLst xmlns:a="http://schemas.openxmlformats.org/drawingml/2006/main">
              <a:ext uri="{FF2B5EF4-FFF2-40B4-BE49-F238E27FC236}">
                <a16:creationId xmlns:a16="http://schemas.microsoft.com/office/drawing/2014/main" id="{D071D2BA-A354-4F2D-90BD-455AFE69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Člověk hodnotí proces i výstup podle faktů, logiky, relevance, zdrojů a účelu.</a:t>
            </a:r>
          </a:p>
        </p:txBody>
      </p:sp>
      <p:sp>
        <p:nvSpPr>
          <p:cNvPr id="12" name="text-865-175">
            <a:extLst xmlns:a="http://schemas.openxmlformats.org/drawingml/2006/main">
              <a:ext uri="{FF2B5EF4-FFF2-40B4-BE49-F238E27FC236}">
                <a16:creationId xmlns:a16="http://schemas.microsoft.com/office/drawing/2014/main" id="{236CD299-44C1-4A4C-9A8B-E202362C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65">
            <a:extLst xmlns:a="http://schemas.openxmlformats.org/drawingml/2006/main">
              <a:ext uri="{FF2B5EF4-FFF2-40B4-BE49-F238E27FC236}">
                <a16:creationId xmlns:a16="http://schemas.microsoft.com/office/drawing/2014/main" id="{199AE929-4779-4C34-A5EA-25CD44B3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Důkaz změny</a:t>
            </a:r>
          </a:p>
        </p:txBody>
      </p:sp>
      <p:sp>
        <p:nvSpPr>
          <p:cNvPr id="14" name="text-865-356">
            <a:extLst xmlns:a="http://schemas.openxmlformats.org/drawingml/2006/main">
              <a:ext uri="{FF2B5EF4-FFF2-40B4-BE49-F238E27FC236}">
                <a16:creationId xmlns:a16="http://schemas.microsoft.com/office/drawing/2014/main" id="{95C9ECBB-2601-45E7-AAE5-2415AF9A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Anotovaný log ukazuje problém, lidský zásah, změnu výstupu a zbylé riziko.</a:t>
            </a:r>
          </a:p>
        </p:txBody>
      </p:sp>
      <p:sp>
        <p:nvSpPr>
          <p:cNvPr id="15" name="key-rule">
            <a:extLst xmlns:a="http://schemas.openxmlformats.org/drawingml/2006/main">
              <a:ext uri="{FF2B5EF4-FFF2-40B4-BE49-F238E27FC236}">
                <a16:creationId xmlns:a16="http://schemas.microsoft.com/office/drawing/2014/main" id="{7153C735-6254-40C6-B51C-CF97151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1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text-41-595">
            <a:extLst xmlns:a="http://schemas.openxmlformats.org/drawingml/2006/main">
              <a:ext uri="{FF2B5EF4-FFF2-40B4-BE49-F238E27FC236}">
                <a16:creationId xmlns:a16="http://schemas.microsoft.com/office/drawing/2014/main" id="{E2E0E07D-B3D1-452B-AB0A-42380F72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67375"/>
            <a:ext cx="114109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AI rozšiřuje možnosti; lidský úsudek určuje cíl, kontrolu a použití.</a:t>
            </a:r>
          </a:p>
        </p:txBody>
      </p:sp>
    </p:spTree>
    <p:extLst>
      <p:ext uri="{BB962C8B-B14F-4D97-AF65-F5344CB8AC3E}">
        <p14:creationId xmlns:p14="http://schemas.microsoft.com/office/powerpoint/2010/main" val="594576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AED33BC2-F011-462F-9007-82AF7AE9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PRÁCE · PODLE METODIKY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EB17D592-98D1-4F34-9651-B3A5D03A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A2BAD7F5-E6C3-4225-8635-28FD7E81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7527653C-BDC7-45F8-93DE-5B096155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2F1A6D08-B64D-4B89-852E-2F7A9D91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5  /  4</a:t>
            </a:r>
          </a:p>
        </p:txBody>
      </p:sp>
      <p:sp>
        <p:nvSpPr>
          <p:cNvPr id="6" name="text-41-158">
            <a:extLst xmlns:a="http://schemas.openxmlformats.org/drawingml/2006/main">
              <a:ext uri="{FF2B5EF4-FFF2-40B4-BE49-F238E27FC236}">
                <a16:creationId xmlns:a16="http://schemas.microsoft.com/office/drawing/2014/main" id="{6BE9CBEB-3D20-461D-8749-CFD4C52C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3811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195">
            <a:extLst xmlns:a="http://schemas.openxmlformats.org/drawingml/2006/main">
              <a:ext uri="{FF2B5EF4-FFF2-40B4-BE49-F238E27FC236}">
                <a16:creationId xmlns:a16="http://schemas.microsoft.com/office/drawing/2014/main" id="{1FE035EF-54CF-4ACE-B7C2-C1792086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57375"/>
            <a:ext cx="110490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5. Zdrojový balíček - rekuperace.txt · 5. Výstup k opravě.txt · 5. Výstupy k posouzení.txt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8C9B86FA-7685-4E0C-8385-45E897EC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2-296">
            <a:extLst xmlns:a="http://schemas.openxmlformats.org/drawingml/2006/main">
              <a:ext uri="{FF2B5EF4-FFF2-40B4-BE49-F238E27FC236}">
                <a16:creationId xmlns:a16="http://schemas.microsoft.com/office/drawing/2014/main" id="{F2CE2A92-7E87-4377-AAC0-F302E87C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130-297">
            <a:extLst xmlns:a="http://schemas.openxmlformats.org/drawingml/2006/main">
              <a:ext uri="{FF2B5EF4-FFF2-40B4-BE49-F238E27FC236}">
                <a16:creationId xmlns:a16="http://schemas.microsoft.com/office/drawing/2014/main" id="{44D3755E-F9C6-4EF3-9333-4C6A193D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Přečti 5. Zdrojový balíček - rekuperace.txt a stanov pět kritérií výsledné karty.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04F3F32F-2C21-44CD-B8B3-DDAD6F8F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78-296">
            <a:extLst xmlns:a="http://schemas.openxmlformats.org/drawingml/2006/main">
              <a:ext uri="{FF2B5EF4-FFF2-40B4-BE49-F238E27FC236}">
                <a16:creationId xmlns:a16="http://schemas.microsoft.com/office/drawing/2014/main" id="{96201236-97C4-411D-AD7E-AA64355C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text-746-297">
            <a:extLst xmlns:a="http://schemas.openxmlformats.org/drawingml/2006/main">
              <a:ext uri="{FF2B5EF4-FFF2-40B4-BE49-F238E27FC236}">
                <a16:creationId xmlns:a16="http://schemas.microsoft.com/office/drawing/2014/main" id="{3301689D-EE67-4B3D-BC66-987CF3AE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 Copilotu vytvoř první návrh pouze z dodaného zdroje a označ informace, které v něm chybí.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B4B7DC5D-1E81-4ACA-A840-EB7F3613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2-457">
            <a:extLst xmlns:a="http://schemas.openxmlformats.org/drawingml/2006/main">
              <a:ext uri="{FF2B5EF4-FFF2-40B4-BE49-F238E27FC236}">
                <a16:creationId xmlns:a16="http://schemas.microsoft.com/office/drawing/2014/main" id="{50604B52-9193-4354-AA39-BF2F5DBD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text-130-458">
            <a:extLst xmlns:a="http://schemas.openxmlformats.org/drawingml/2006/main">
              <a:ext uri="{FF2B5EF4-FFF2-40B4-BE49-F238E27FC236}">
                <a16:creationId xmlns:a16="http://schemas.microsoft.com/office/drawing/2014/main" id="{CC1FB5E5-BF3A-431D-B738-5BA1C109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Porovnej výstup se soubory 5. Výstup k opravě.txt a 5. Výstupy k posouzení.txt a proveď dvě cílené iterace.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D8695E55-7260-4CBF-8615-2BC1037C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78-457">
            <a:extLst xmlns:a="http://schemas.openxmlformats.org/drawingml/2006/main">
              <a:ext uri="{FF2B5EF4-FFF2-40B4-BE49-F238E27FC236}">
                <a16:creationId xmlns:a16="http://schemas.microsoft.com/office/drawing/2014/main" id="{1DBC6D9E-6379-4930-A085-CF74BC29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text-746-458">
            <a:extLst xmlns:a="http://schemas.openxmlformats.org/drawingml/2006/main">
              <a:ext uri="{FF2B5EF4-FFF2-40B4-BE49-F238E27FC236}">
                <a16:creationId xmlns:a16="http://schemas.microsoft.com/office/drawing/2014/main" id="{4F5D7952-544C-45A7-A90F-21D1B629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 dvě nejdůležitější věty proti zdroji a do logu napiš problém → zásah → změna → zbylé riziko.</a:t>
            </a:r>
          </a:p>
        </p:txBody>
      </p:sp>
    </p:spTree>
    <p:extLst>
      <p:ext uri="{BB962C8B-B14F-4D97-AF65-F5344CB8AC3E}">
        <p14:creationId xmlns:p14="http://schemas.microsoft.com/office/powerpoint/2010/main" val="1945143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59B1B281-C36A-4EA3-9C37-ACD65D17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1E7A7E38-94A3-4DD5-B2CC-A6ADC2CA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82DF402E-9539-4A29-9EF7-501B0699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EA776DC9-6A49-428B-BAA8-D2930CBD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93FE5E1E-0CEA-414B-8EA0-00105729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5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E98CE8B6-FD02-4A57-8021-77B6E8AE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4-202">
            <a:extLst xmlns:a="http://schemas.openxmlformats.org/drawingml/2006/main">
              <a:ext uri="{FF2B5EF4-FFF2-40B4-BE49-F238E27FC236}">
                <a16:creationId xmlns:a16="http://schemas.microsoft.com/office/drawing/2014/main" id="{A7DD31D1-4B6A-490B-9760-E86C44D0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3-203">
            <a:extLst xmlns:a="http://schemas.openxmlformats.org/drawingml/2006/main">
              <a:ext uri="{FF2B5EF4-FFF2-40B4-BE49-F238E27FC236}">
                <a16:creationId xmlns:a16="http://schemas.microsoft.com/office/drawing/2014/main" id="{C70CBE1D-7DFC-4562-8409-BBAC910B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Cíl</a:t>
            </a:r>
          </a:p>
        </p:txBody>
      </p:sp>
      <p:sp>
        <p:nvSpPr>
          <p:cNvPr id="9" name="text-123-253">
            <a:extLst xmlns:a="http://schemas.openxmlformats.org/drawingml/2006/main">
              <a:ext uri="{FF2B5EF4-FFF2-40B4-BE49-F238E27FC236}">
                <a16:creationId xmlns:a16="http://schemas.microsoft.com/office/drawing/2014/main" id="{AF3EEF77-D7AA-4D3E-A873-059653F1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Každé věcné tvrzení je dohledatelné ve zdroji nebo označené jako nejisté a revize reagují na konkrétní důkazy.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CFEE5923-8007-4F3A-BB53-8A9A644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0-202">
            <a:extLst xmlns:a="http://schemas.openxmlformats.org/drawingml/2006/main">
              <a:ext uri="{FF2B5EF4-FFF2-40B4-BE49-F238E27FC236}">
                <a16:creationId xmlns:a16="http://schemas.microsoft.com/office/drawing/2014/main" id="{BA9D1E7B-EABD-4F9A-A6AF-4E72B1CC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39-203">
            <a:extLst xmlns:a="http://schemas.openxmlformats.org/drawingml/2006/main">
              <a:ext uri="{FF2B5EF4-FFF2-40B4-BE49-F238E27FC236}">
                <a16:creationId xmlns:a16="http://schemas.microsoft.com/office/drawing/2014/main" id="{853374C0-393A-4EBD-9ED2-4CDEF4C1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39-253">
            <a:extLst xmlns:a="http://schemas.openxmlformats.org/drawingml/2006/main">
              <a:ext uri="{FF2B5EF4-FFF2-40B4-BE49-F238E27FC236}">
                <a16:creationId xmlns:a16="http://schemas.microsoft.com/office/drawing/2014/main" id="{1D2EE30E-4952-44D1-AEBD-0577479B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Kde přesně ve zdroji má toto tvrzení oporu?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E7985B03-3B30-4EA9-B8F1-10049F99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4-420">
            <a:extLst xmlns:a="http://schemas.openxmlformats.org/drawingml/2006/main">
              <a:ext uri="{FF2B5EF4-FFF2-40B4-BE49-F238E27FC236}">
                <a16:creationId xmlns:a16="http://schemas.microsoft.com/office/drawing/2014/main" id="{B5E65140-4513-4AC8-B2CE-21857A2D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3-421">
            <a:extLst xmlns:a="http://schemas.openxmlformats.org/drawingml/2006/main">
              <a:ext uri="{FF2B5EF4-FFF2-40B4-BE49-F238E27FC236}">
                <a16:creationId xmlns:a16="http://schemas.microsoft.com/office/drawing/2014/main" id="{5499C414-F526-4E1A-96D8-88D26A01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3-471">
            <a:extLst xmlns:a="http://schemas.openxmlformats.org/drawingml/2006/main">
              <a:ext uri="{FF2B5EF4-FFF2-40B4-BE49-F238E27FC236}">
                <a16:creationId xmlns:a16="http://schemas.microsoft.com/office/drawing/2014/main" id="{87BE73D6-7C18-493F-BF53-A7C72053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Který lidský zásah přinesl největší věcnou změnu?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1CE5ABB2-52C7-40F3-870C-43E2F3D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0-420">
            <a:extLst xmlns:a="http://schemas.openxmlformats.org/drawingml/2006/main">
              <a:ext uri="{FF2B5EF4-FFF2-40B4-BE49-F238E27FC236}">
                <a16:creationId xmlns:a16="http://schemas.microsoft.com/office/drawing/2014/main" id="{0EED9DDC-ADD5-49DE-8744-ADB0EB63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39-421">
            <a:extLst xmlns:a="http://schemas.openxmlformats.org/drawingml/2006/main">
              <a:ext uri="{FF2B5EF4-FFF2-40B4-BE49-F238E27FC236}">
                <a16:creationId xmlns:a16="http://schemas.microsoft.com/office/drawing/2014/main" id="{34683536-7A7D-4229-B3E7-B917C237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Odpovědnost</a:t>
            </a:r>
          </a:p>
        </p:txBody>
      </p:sp>
      <p:sp>
        <p:nvSpPr>
          <p:cNvPr id="21" name="text-739-471">
            <a:extLst xmlns:a="http://schemas.openxmlformats.org/drawingml/2006/main">
              <a:ext uri="{FF2B5EF4-FFF2-40B4-BE49-F238E27FC236}">
                <a16:creationId xmlns:a16="http://schemas.microsoft.com/office/drawing/2014/main" id="{02950CC6-0E59-4387-9E19-F8960757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Co musí být označeno jako nejisté nebo odstraněno?</a:t>
            </a:r>
          </a:p>
        </p:txBody>
      </p:sp>
    </p:spTree>
    <p:extLst>
      <p:ext uri="{BB962C8B-B14F-4D97-AF65-F5344CB8AC3E}">
        <p14:creationId xmlns:p14="http://schemas.microsoft.com/office/powerpoint/2010/main" val="1531019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13CB77E1-CA88-4B9C-BAEA-E571F139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36–41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05836FD4-B08D-418F-BEB8-E0E150A1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má být ve výsledku vidět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477F4BC5-C683-41B7-AD10-CDA0E180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1C4007DB-3206-4F95-A1A1-B6C81B5A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B7EE2036-F902-4D09-96BA-265ACD23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5  /  6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8E8F1398-1354-4268-A486-820C02BB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Oporu</a:t>
            </a:r>
          </a:p>
        </p:txBody>
      </p:sp>
      <p:sp>
        <p:nvSpPr>
          <p:cNvPr id="7" name="text-260-188">
            <a:extLst xmlns:a="http://schemas.openxmlformats.org/drawingml/2006/main">
              <a:ext uri="{FF2B5EF4-FFF2-40B4-BE49-F238E27FC236}">
                <a16:creationId xmlns:a16="http://schemas.microsoft.com/office/drawing/2014/main" id="{742842C8-BB39-4BB3-934D-0B3AE440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Tvrzení lze přímo spojit s konkrétní částí dodaného zdroje.</a:t>
            </a:r>
          </a:p>
        </p:txBody>
      </p:sp>
      <p:sp>
        <p:nvSpPr>
          <p:cNvPr id="8" name="text-41-303">
            <a:extLst xmlns:a="http://schemas.openxmlformats.org/drawingml/2006/main">
              <a:ext uri="{FF2B5EF4-FFF2-40B4-BE49-F238E27FC236}">
                <a16:creationId xmlns:a16="http://schemas.microsoft.com/office/drawing/2014/main" id="{AC88EB35-B7F7-4C9A-83BC-0D27BB2C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86075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Mezeru</a:t>
            </a:r>
          </a:p>
        </p:txBody>
      </p:sp>
      <p:sp>
        <p:nvSpPr>
          <p:cNvPr id="9" name="text-260-303">
            <a:extLst xmlns:a="http://schemas.openxmlformats.org/drawingml/2006/main">
              <a:ext uri="{FF2B5EF4-FFF2-40B4-BE49-F238E27FC236}">
                <a16:creationId xmlns:a16="http://schemas.microsoft.com/office/drawing/2014/main" id="{0E028944-CA73-474A-BA79-B9F322A5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86075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Informace, která ve zdroji není, nesmí být prezentována jako jeho fakt.</a:t>
            </a:r>
          </a:p>
        </p:txBody>
      </p:sp>
      <p:sp>
        <p:nvSpPr>
          <p:cNvPr id="10" name="text-41-418">
            <a:extLst xmlns:a="http://schemas.openxmlformats.org/drawingml/2006/main">
              <a:ext uri="{FF2B5EF4-FFF2-40B4-BE49-F238E27FC236}">
                <a16:creationId xmlns:a16="http://schemas.microsoft.com/office/drawing/2014/main" id="{454296EE-FD2C-46DF-8E71-6BAEF6C6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8145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Revizi</a:t>
            </a:r>
          </a:p>
        </p:txBody>
      </p:sp>
      <p:sp>
        <p:nvSpPr>
          <p:cNvPr id="11" name="text-260-418">
            <a:extLst xmlns:a="http://schemas.openxmlformats.org/drawingml/2006/main">
              <a:ext uri="{FF2B5EF4-FFF2-40B4-BE49-F238E27FC236}">
                <a16:creationId xmlns:a16="http://schemas.microsoft.com/office/drawing/2014/main" id="{8E726D1A-78B7-42CA-8FF4-74F6C64B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Další prompt reaguje na diagnostikovaný problém a má kontrolovatelný cíl.</a:t>
            </a:r>
          </a:p>
        </p:txBody>
      </p:sp>
      <p:sp>
        <p:nvSpPr>
          <p:cNvPr id="12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590564B3-DBA8-4FE7-8422-AB35B434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90-205">
            <a:extLst xmlns:a="http://schemas.openxmlformats.org/drawingml/2006/main">
              <a:ext uri="{FF2B5EF4-FFF2-40B4-BE49-F238E27FC236}">
                <a16:creationId xmlns:a16="http://schemas.microsoft.com/office/drawing/2014/main" id="{9B98A66B-DE5D-469F-B9F6-221F785D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4" name="text-690-265">
            <a:extLst xmlns:a="http://schemas.openxmlformats.org/drawingml/2006/main">
              <a:ext uri="{FF2B5EF4-FFF2-40B4-BE49-F238E27FC236}">
                <a16:creationId xmlns:a16="http://schemas.microsoft.com/office/drawing/2014/main" id="{279910FB-5D68-4938-9459-60920313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68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„Přepiš to lépe.“</a:t>
            </a:r>
          </a:p>
        </p:txBody>
      </p:sp>
      <p:sp>
        <p:nvSpPr>
          <p:cNvPr id="15" name="text-690-389">
            <a:extLst xmlns:a="http://schemas.openxmlformats.org/drawingml/2006/main">
              <a:ext uri="{FF2B5EF4-FFF2-40B4-BE49-F238E27FC236}">
                <a16:creationId xmlns:a16="http://schemas.microsoft.com/office/drawing/2014/main" id="{AA84FA24-9FAB-4CB0-A5D5-912024F1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686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Žádejte přesnou diagnózu vady: údaj, logika, publikum, formát nebo tón.</a:t>
            </a:r>
          </a:p>
        </p:txBody>
      </p:sp>
      <p:sp>
        <p:nvSpPr>
          <p:cNvPr id="16" name="text-41-575">
            <a:extLst xmlns:a="http://schemas.openxmlformats.org/drawingml/2006/main">
              <a:ext uri="{FF2B5EF4-FFF2-40B4-BE49-F238E27FC236}">
                <a16:creationId xmlns:a16="http://schemas.microsoft.com/office/drawing/2014/main" id="{F321089A-4EEF-4276-9095-D1E89E75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10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 odpovědi. Co bys teď změnil/a — a proč?</a:t>
            </a:r>
          </a:p>
        </p:txBody>
      </p:sp>
    </p:spTree>
    <p:extLst>
      <p:ext uri="{BB962C8B-B14F-4D97-AF65-F5344CB8AC3E}">
        <p14:creationId xmlns:p14="http://schemas.microsoft.com/office/powerpoint/2010/main" val="2048279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12339216-DFA3-4683-A434-B1AB1FAF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FF1C7B10-5CDC-4868-8D7F-AE11A6EC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HODINA 5 · POSLEDNÍ 3 MINUTY</a:t>
            </a:r>
          </a:p>
        </p:txBody>
      </p:sp>
      <p:sp>
        <p:nvSpPr>
          <p:cNvPr id="3" name="text-54-151">
            <a:extLst xmlns:a="http://schemas.openxmlformats.org/drawingml/2006/main">
              <a:ext uri="{FF2B5EF4-FFF2-40B4-BE49-F238E27FC236}">
                <a16:creationId xmlns:a16="http://schemas.microsoft.com/office/drawing/2014/main" id="{F786FC1C-53AA-45CE-811F-E11AF56E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619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FCC78601-6039-43B8-B342-519CE907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Jak poznáš, že se další iterací opravila věcná opora, a ne jen styl textu?</a:t>
            </a:r>
          </a:p>
        </p:txBody>
      </p:sp>
      <p:sp>
        <p:nvSpPr>
          <p:cNvPr id="5" name="exit-rule">
            <a:extLst xmlns:a="http://schemas.openxmlformats.org/drawingml/2006/main">
              <a:ext uri="{FF2B5EF4-FFF2-40B4-BE49-F238E27FC236}">
                <a16:creationId xmlns:a16="http://schemas.microsoft.com/office/drawing/2014/main" id="{FB3BEE2B-B55E-4828-85C5-5667ABB8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5">
            <a:extLst xmlns:a="http://schemas.openxmlformats.org/drawingml/2006/main">
              <a:ext uri="{FF2B5EF4-FFF2-40B4-BE49-F238E27FC236}">
                <a16:creationId xmlns:a16="http://schemas.microsoft.com/office/drawing/2014/main" id="{7F5D1D09-9A61-4D68-99BC-104460E9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909637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důvod nebo krok.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4D148376-F7A2-48E1-88A4-5CAC7606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B7641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3419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Karel Hlas</dc:creator>
  <lastModifiedBy>Walnut Exporter</lastModifiedBy>
  <dc:title>Presentation</dc:title>
  <dcterms:created xsi:type="dcterms:W3CDTF">2026-07-24T15:48:09.7720000Z</dcterms:created>
  <dcterms:modified xsi:type="dcterms:W3CDTF">2026-07-24T15:48:09.7720000Z</dcterms:modified>
</coreProperties>
</file>