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e38843f044746" /><Relationship Type="http://schemas.openxmlformats.org/officeDocument/2006/relationships/extended-properties" Target="/docProps/app.xml" Id="R4e5266c7a55349ad" /><Relationship Type="http://schemas.openxmlformats.org/officeDocument/2006/relationships/officeDocument" Target="/ppt/presentation.xml" Id="R5e5a0e3ea76147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070ab1bc14235"/>
  </p:sldMasterIdLst>
  <p:notesMasterIdLst>
    <p:notesMasterId xmlns:r="http://schemas.openxmlformats.org/officeDocument/2006/relationships" r:id="R1beabb33a96d43bc"/>
  </p:notesMasterIdLst>
  <p:sldIdLst>
    <p:sldId xmlns:r="http://schemas.openxmlformats.org/officeDocument/2006/relationships" id="256" r:id="Rd593778c812a4a30"/>
    <p:sldId xmlns:r="http://schemas.openxmlformats.org/officeDocument/2006/relationships" id="257" r:id="R603d6eac78a54351"/>
    <p:sldId xmlns:r="http://schemas.openxmlformats.org/officeDocument/2006/relationships" id="258" r:id="R96cd6fabfd294bb6"/>
    <p:sldId xmlns:r="http://schemas.openxmlformats.org/officeDocument/2006/relationships" id="259" r:id="Rd4dd603988f74aa6"/>
    <p:sldId xmlns:r="http://schemas.openxmlformats.org/officeDocument/2006/relationships" id="260" r:id="R1e45ac9ee8b1489c"/>
    <p:sldId xmlns:r="http://schemas.openxmlformats.org/officeDocument/2006/relationships" id="261" r:id="R6f619b7cf5a446c8"/>
    <p:sldId xmlns:r="http://schemas.openxmlformats.org/officeDocument/2006/relationships" id="262" r:id="Rf9f6761d03da48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074acb1738433e" /><Relationship Type="http://schemas.openxmlformats.org/officeDocument/2006/relationships/slideMaster" Target="/ppt/slideMasters/slideMaster1.xml" Id="R7da070ab1bc14235" /><Relationship Type="http://schemas.openxmlformats.org/officeDocument/2006/relationships/notesMaster" Target="/ppt/notesMasters/notesMaster1.xml" Id="R1beabb33a96d43bc" /><Relationship Type="http://schemas.openxmlformats.org/officeDocument/2006/relationships/presProps" Target="/ppt/presProps.xml" Id="R1ea4990809ec42c3" /><Relationship Type="http://schemas.openxmlformats.org/officeDocument/2006/relationships/tableStyles" Target="/ppt/tableStyles.xml" Id="R3a18e5ed930d4e48" /><Relationship Type="http://schemas.openxmlformats.org/officeDocument/2006/relationships/slide" Target="/ppt/slides/slide1.xml" Id="Rd593778c812a4a30" /><Relationship Type="http://schemas.openxmlformats.org/officeDocument/2006/relationships/slide" Target="/ppt/slides/slide2.xml" Id="R603d6eac78a54351" /><Relationship Type="http://schemas.openxmlformats.org/officeDocument/2006/relationships/slide" Target="/ppt/slides/slide3.xml" Id="R96cd6fabfd294bb6" /><Relationship Type="http://schemas.openxmlformats.org/officeDocument/2006/relationships/slide" Target="/ppt/slides/slide4.xml" Id="Rd4dd603988f74aa6" /><Relationship Type="http://schemas.openxmlformats.org/officeDocument/2006/relationships/slide" Target="/ppt/slides/slide5.xml" Id="R1e45ac9ee8b1489c" /><Relationship Type="http://schemas.openxmlformats.org/officeDocument/2006/relationships/slide" Target="/ppt/slides/slide6.xml" Id="R6f619b7cf5a446c8" /><Relationship Type="http://schemas.openxmlformats.org/officeDocument/2006/relationships/slide" Target="/ppt/slides/slide7.xml" Id="Rf9f6761d03da48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82d4ab5b8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c482533b4c4a62" /><Relationship Type="http://schemas.openxmlformats.org/officeDocument/2006/relationships/notesMaster" Target="/ppt/notesMasters/notesMaster1.xml" Id="Rf2530dfb82494f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7782126dc04ab7" /><Relationship Type="http://schemas.openxmlformats.org/officeDocument/2006/relationships/notesMaster" Target="/ppt/notesMasters/notesMaster1.xml" Id="Rfe22dbbb17f4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6a7f08b2d4dd1" /><Relationship Type="http://schemas.openxmlformats.org/officeDocument/2006/relationships/notesMaster" Target="/ppt/notesMasters/notesMaster1.xml" Id="R9c1e7b486bda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aad417a658422f" /><Relationship Type="http://schemas.openxmlformats.org/officeDocument/2006/relationships/notesMaster" Target="/ppt/notesMasters/notesMaster1.xml" Id="Re16b18d943bf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63f5dc5f7141d0" /><Relationship Type="http://schemas.openxmlformats.org/officeDocument/2006/relationships/notesMaster" Target="/ppt/notesMasters/notesMaster1.xml" Id="R119d7b230f8e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c38b42aef47b8" /><Relationship Type="http://schemas.openxmlformats.org/officeDocument/2006/relationships/notesMaster" Target="/ppt/notesMasters/notesMaster1.xml" Id="Rda1069f4f7ab42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3fb095c974187" /><Relationship Type="http://schemas.openxmlformats.org/officeDocument/2006/relationships/notesMaster" Target="/ppt/notesMasters/notesMaster1.xml" Id="R62f2f6e5df904c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Cíl: Rozpoznám halucinaci, zkreslení, chybějící kontext a zastaralost a zvolím konkrétní ověření.</a:t>
            </a:r>
          </a:p>
          <a:p xmlns:a="http://schemas.openxmlformats.org/drawingml/2006/main">
            <a:r>
              <a:t>Podklady: 1. Laboratoř fungování AI.html, 3. Odpovědi k ověření.txt</a:t>
            </a:r>
          </a:p>
          <a:p xmlns:a="http://schemas.openxmlformats.org/drawingml/2006/main">
            <a:r>
              <a:t>Výstup: Audit čtyř odpovědí a úspěšně dokončená diagnostická brána.</a:t>
            </a:r>
          </a:p>
          <a:p xmlns:a="http://schemas.openxmlformats.org/drawingml/2006/main">
            <a:r>
              <a:t>Před začátkem ověřte, že studenti mají otevřený digitální pracovní sešit a potřebné soubory.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0–5 minut.</a:t>
            </a:r>
          </a:p>
          <a:p xmlns:a="http://schemas.openxmlformats.org/drawingml/2006/main">
            <a:r>
              <a:t>Postup: Porovnejte dvě stejně sebejisté odpovědi, z nichž pouze jedna má věcnou oporu.</a:t>
            </a:r>
          </a:p>
          <a:p xmlns:a="http://schemas.openxmlformats.org/drawingml/2006/main">
            <a:r>
              <a:t>Úvodní otázka: Může být sebejistě napsaná odpověď úplně vymyšlená?</a:t>
            </a:r>
          </a:p>
          <a:p xmlns:a="http://schemas.openxmlformats.org/drawingml/2006/main">
            <a:r>
              <a:t>Neprozrazujte odpověď. Cílem je zachytit počáteční model studenta, ke kterému se vrátí při reflexi.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Čas: 5–13 minut.</a:t>
            </a:r>
          </a:p>
          <a:p xmlns:a="http://schemas.openxmlformats.org/drawingml/2006/main">
            <a:r>
              <a:t>Postup: Vymezte halucinaci, bias, chybějící kontext a zastaralost.</a:t>
            </a:r>
          </a:p>
          <a:p xmlns:a="http://schemas.openxmlformats.org/drawingml/2006/main">
            <a:r>
              <a:t>Klíčové body: Halucinace: Plynulý výstup může obsahovat vymyšlený údaj, citaci nebo souvislost. | Zkreslení a mezery: Model může přebírat nerovnováhu dat nebo chybovat kvůli chybějícímu kontextu. | Ověření: Důležitá tvrzení kontroluje člověk ve vhodném primárním nebo důvěryhodném zdroji.</a:t>
            </a:r>
          </a:p>
          <a:p xmlns:a="http://schemas.openxmlformats.org/drawingml/2006/main">
            <a:r>
              <a:t>Po každém pojmu vyžádejte jeden příklad a jeden protipříklad. Vysvětlení má používat způsob fungování, ne značku nástroje.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Podklady: 1. Laboratoř fungování AI.html, 3. Odpovědi k ověření.txt</a:t>
            </a:r>
          </a:p>
          <a:p xmlns:a="http://schemas.openxmlformats.org/drawingml/2006/main">
            <a:r>
              <a:t>1. V souboru 3. Odpovědi k ověření.txt zvýrazni přesná ověřitelná tvrzení.</a:t>
            </a:r>
          </a:p>
          <a:p xmlns:a="http://schemas.openxmlformats.org/drawingml/2006/main">
            <a:r>
              <a:t>2. Přiřaď riziko: halucinace, zkreslení, chybějící kontext nebo zastaralost.</a:t>
            </a:r>
          </a:p>
          <a:p xmlns:a="http://schemas.openxmlformats.org/drawingml/2006/main">
            <a:r>
              <a:t>3. U každé ukázky napiš konkrétní zdroj a postup ověření; obecné „na internetu“ nestačí.</a:t>
            </a:r>
          </a:p>
          <a:p xmlns:a="http://schemas.openxmlformats.org/drawingml/2006/main">
            <a:r>
              <a:t>4. Dokonči v laboratoři audit chyb a diagnostickou bránu; podle výsledku zopakuj označený modul.</a:t>
            </a:r>
          </a:p>
          <a:p xmlns:a="http://schemas.openxmlformats.org/drawingml/2006/main">
            <a:r>
              <a:t>Požadovaný výstup: Audit čtyř odpovědí a úspěšně dokončená diagnostická brána.</a:t>
            </a:r>
          </a:p>
          <a:p xmlns:a="http://schemas.openxmlformats.org/drawingml/2006/main">
            <a:r>
              <a:t>Během práce pomáhejte otázkami, nepřebírejte myš ani tvorbu promptu. Vyžadujte průběžné ukládání výstupů a lidských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Kritérium: Student oddělí přesvědčivý styl od důkazu, pojmenuje hlavní riziko a navrhne konkrétní externí ověření.</a:t>
            </a:r>
          </a:p>
          <a:p xmlns:a="http://schemas.openxmlformats.org/drawingml/2006/main">
            <a:r>
              <a:t>Vodicí otázky: Která část odpovědi je ověřitelné tvrzení? | Jaký zdroj má k tomuto tvrzení nejblíže? | Jak bude znít poctivý závěr, pokud důkaz nenajdeme?</a:t>
            </a:r>
          </a:p>
          <a:p xmlns:a="http://schemas.openxmlformats.org/drawingml/2006/main">
            <a:r>
              <a:t>Podpora: Nabídněte mapu typ tvrzení → vhodný zdroj → kontrolní otázka.</a:t>
            </a:r>
          </a:p>
          <a:p xmlns:a="http://schemas.openxmlformats.org/drawingml/2006/main">
            <a:r>
              <a:t>Rozšíření: Rozliš na jedné odpovědi chybu faktickou, logickou a hodnotovou.</a:t>
            </a:r>
          </a:p>
          <a:p xmlns:a="http://schemas.openxmlformats.org/drawingml/2006/main">
            <a:r>
              <a:t>Proveďte rychlou párovou kontrolu: jeden dobře doložený bod a jedna konkrétní otázka k dopracování.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Očekávané závěry: Halucinace: Vymyšlený nebo nepodložený obsah může znít zcela přesvědčivě. | Bias: Systematické zkreslení může vzniknout v datech, zadání i použití výstupu. | Ověření: Kontrola konkrétního tvrzení u zdroje, který má k informaci kompetenci.</a:t>
            </a:r>
          </a:p>
          <a:p xmlns:a="http://schemas.openxmlformats.org/drawingml/2006/main">
            <a:r>
              <a:t>Časté omyly: „Když AI uvede zdroj, zdroj existuje.“ → Kontrolujte autora, název, odkaz i to, zda zdroj tvrzení skutečně podporuje. | „Stačí zeptat se AI, jestli si je jistá.“ → Sebehodnocení modelu nenahrazuje externí důkaz.</a:t>
            </a:r>
          </a:p>
          <a:p xmlns:a="http://schemas.openxmlformats.org/drawingml/2006/main">
            <a:r>
              <a:t>Nečtěte řešení slovo od slova. Porovnejte dva studentské postupy a nechte třídu určit, který má lepší důkazy nebo jasnější lidské rozhodnutí.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Uveď jeden znak, který může odpověď dělat přesvědčivou, ale sám nedokazuje její pravdivost.</a:t>
            </a:r>
          </a:p>
          <a:p xmlns:a="http://schemas.openxmlformats.org/drawingml/2006/main">
            <a:r>
              <a:t>Když technika selže: Audit i diagnostickou bránu lze provést z pracovního sešitu bez přístupu k webu.</a:t>
            </a:r>
          </a:p>
          <a:p xmlns:a="http://schemas.openxmlformats.org/drawingml/2006/main">
            <a:r>
              <a:t>Odpovědi použijte jako diagnostiku pro začátek další hodiny. U hodiny 3 navazuje diagnostická brána; u hodiny 6 jde o součást závěrečné reflexe.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1.2_AI_Fluency_Summary.pdf</a:t>
            </a:r>
          </a:p>
          <a:p xmlns:a="http://schemas.openxmlformats.org/drawingml/2006/main">
            <a:r>
              <a:t>AI_Fluency_Key_Terminology_Cheat_Sheet.pdf</a:t>
            </a:r>
          </a:p>
          <a:p xmlns:a="http://schemas.openxmlformats.org/drawingml/2006/main">
            <a:r>
              <a:t>Assignment_component_guide.pdf</a:t>
            </a:r>
          </a:p>
          <a:p xmlns:a="http://schemas.openxmlformats.org/drawingml/2006/main">
            <a:r>
              <a:t>UNESCO, AI competency framework for students: https://www.unesco.org/en/articles/ai-competency-framework-students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d062d3d97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8accc6116e45d9" /><Relationship Type="http://schemas.openxmlformats.org/officeDocument/2006/relationships/slideLayout" Target="/ppt/slideLayouts/slideLayout1.xml" Id="R9f048683dd2f42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048683dd2f42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9cd13cf7348eb" /><Relationship Type="http://schemas.openxmlformats.org/officeDocument/2006/relationships/notesSlide" Target="/ppt/notesSlides/notesSlide1.xml" Id="R568bb8eda25a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42609179640b7" /><Relationship Type="http://schemas.openxmlformats.org/officeDocument/2006/relationships/notesSlide" Target="/ppt/notesSlides/notesSlide2.xml" Id="Rb7fa6c7ce2544b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7fa7316244dab" /><Relationship Type="http://schemas.openxmlformats.org/officeDocument/2006/relationships/notesSlide" Target="/ppt/notesSlides/notesSlide3.xml" Id="R366a3ce026ff4e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8f41166224d71" /><Relationship Type="http://schemas.openxmlformats.org/officeDocument/2006/relationships/notesSlide" Target="/ppt/notesSlides/notesSlide4.xml" Id="R7525cbc012dc41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d9b20fb994feb" /><Relationship Type="http://schemas.openxmlformats.org/officeDocument/2006/relationships/notesSlide" Target="/ppt/notesSlides/notesSlide5.xml" Id="R4aeaee7591ba47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e7b22c6514198" /><Relationship Type="http://schemas.openxmlformats.org/officeDocument/2006/relationships/notesSlide" Target="/ppt/notesSlides/notesSlide6.xml" Id="R3edc8f2cb548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0a0d6a3474541" /><Relationship Type="http://schemas.openxmlformats.org/officeDocument/2006/relationships/notesSlide" Target="/ppt/notesSlides/notesSlide7.xml" Id="R530cbf25a6d347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F8C0663C-7B75-42AD-87BD-FA0BEDDF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52A96F8F-B581-4AEA-B410-88BF8312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HODINA 3 / 6</a:t>
            </a:r>
          </a:p>
        </p:txBody>
      </p:sp>
      <p:sp>
        <p:nvSpPr>
          <p:cNvPr id="3" name="text-842-48">
            <a:extLst xmlns:a="http://schemas.openxmlformats.org/drawingml/2006/main">
              <a:ext uri="{FF2B5EF4-FFF2-40B4-BE49-F238E27FC236}">
                <a16:creationId xmlns:a16="http://schemas.microsoft.com/office/drawing/2014/main" id="{6FE95640-0140-434A-8AC8-064E75F2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"/>
            <a:ext cx="33051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 AI FUNGUJE</a:t>
            </a:r>
          </a:p>
        </p:txBody>
      </p:sp>
      <p:sp>
        <p:nvSpPr>
          <p:cNvPr id="4" name="text-54-245">
            <a:extLst xmlns:a="http://schemas.openxmlformats.org/drawingml/2006/main">
              <a:ext uri="{FF2B5EF4-FFF2-40B4-BE49-F238E27FC236}">
                <a16:creationId xmlns:a16="http://schemas.microsoft.com/office/drawing/2014/main" id="{7ABC506F-69B2-45BB-ADA9-60DB1283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057275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Proč AI chybuje a jak informace ověřovat</a:t>
            </a:r>
          </a:p>
        </p:txBody>
      </p:sp>
      <p:sp>
        <p:nvSpPr>
          <p:cNvPr id="5" name="text-56-505">
            <a:extLst xmlns:a="http://schemas.openxmlformats.org/drawingml/2006/main">
              <a:ext uri="{FF2B5EF4-FFF2-40B4-BE49-F238E27FC236}">
                <a16:creationId xmlns:a16="http://schemas.microsoft.com/office/drawing/2014/main" id="{CB4BB5A9-AC0A-41F6-A8B1-F881614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8096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Rozpoznám halucinaci, zkreslení, chybějící kontext a zastaralost a zvolím konkrétní ověření.</a:t>
            </a:r>
          </a:p>
        </p:txBody>
      </p:sp>
      <p:sp>
        <p:nvSpPr>
          <p:cNvPr id="6" name="lesson-number">
            <a:extLst xmlns:a="http://schemas.openxmlformats.org/drawingml/2006/main">
              <a:ext uri="{FF2B5EF4-FFF2-40B4-BE49-F238E27FC236}">
                <a16:creationId xmlns:a16="http://schemas.microsoft.com/office/drawing/2014/main" id="{E6D87970-B953-45E6-9461-94E10C94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62500"/>
            <a:ext cx="1181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65-519">
            <a:extLst xmlns:a="http://schemas.openxmlformats.org/drawingml/2006/main">
              <a:ext uri="{FF2B5EF4-FFF2-40B4-BE49-F238E27FC236}">
                <a16:creationId xmlns:a16="http://schemas.microsoft.com/office/drawing/2014/main" id="{F2C0EF30-8E9C-4391-80B4-30C02AA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43475"/>
            <a:ext cx="1181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8" name="text-1065-596">
            <a:extLst xmlns:a="http://schemas.openxmlformats.org/drawingml/2006/main">
              <a:ext uri="{FF2B5EF4-FFF2-40B4-BE49-F238E27FC236}">
                <a16:creationId xmlns:a16="http://schemas.microsoft.com/office/drawing/2014/main" id="{6740901F-9DE1-47B8-8359-1D9C19A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769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45 MIN</a:t>
            </a:r>
          </a:p>
        </p:txBody>
      </p:sp>
    </p:spTree>
    <p:extLst>
      <p:ext uri="{BB962C8B-B14F-4D97-AF65-F5344CB8AC3E}">
        <p14:creationId xmlns:p14="http://schemas.microsoft.com/office/powerpoint/2010/main" val="1203867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EF2DCD20-9B49-45E0-8BDE-7184C7B2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0–5 MIN · START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22A35F5B-0729-495B-B2F9-3B165B0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Začni vlastním úsudkem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620AAB1-9D4F-4979-8EAB-31C21E2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5D349096-484D-464A-A344-EC3D0AC9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55C0CBAC-B9F8-4368-9269-1757176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3  /  2</a:t>
            </a:r>
          </a:p>
        </p:txBody>
      </p:sp>
      <p:sp>
        <p:nvSpPr>
          <p:cNvPr id="6" name="text-41-183">
            <a:extLst xmlns:a="http://schemas.openxmlformats.org/drawingml/2006/main">
              <a:ext uri="{FF2B5EF4-FFF2-40B4-BE49-F238E27FC236}">
                <a16:creationId xmlns:a16="http://schemas.microsoft.com/office/drawing/2014/main" id="{072E6435-B94B-4087-8D5F-1738A2D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906125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Může být sebejistě napsaná odpověď úplně vymyšlená?</a:t>
            </a:r>
          </a:p>
        </p:txBody>
      </p:sp>
      <p:sp>
        <p:nvSpPr>
          <p:cNvPr id="7" name="hook-panel">
            <a:extLst xmlns:a="http://schemas.openxmlformats.org/drawingml/2006/main">
              <a:ext uri="{FF2B5EF4-FFF2-40B4-BE49-F238E27FC236}">
                <a16:creationId xmlns:a16="http://schemas.microsoft.com/office/drawing/2014/main" id="{0D9AD0B0-1DA9-426D-B12D-7609B5E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11410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9-473">
            <a:extLst xmlns:a="http://schemas.openxmlformats.org/drawingml/2006/main">
              <a:ext uri="{FF2B5EF4-FFF2-40B4-BE49-F238E27FC236}">
                <a16:creationId xmlns:a16="http://schemas.microsoft.com/office/drawing/2014/main" id="{AB85B057-BAD3-4576-82ED-9230747D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121-472">
            <a:extLst xmlns:a="http://schemas.openxmlformats.org/drawingml/2006/main">
              <a:ext uri="{FF2B5EF4-FFF2-40B4-BE49-F238E27FC236}">
                <a16:creationId xmlns:a16="http://schemas.microsoft.com/office/drawing/2014/main" id="{DB5DB28F-9C83-4580-B2F4-809CD21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476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Rozhodni sám</a:t>
            </a:r>
          </a:p>
        </p:txBody>
      </p:sp>
      <p:sp>
        <p:nvSpPr>
          <p:cNvPr id="10" name="text-121-518">
            <a:extLst xmlns:a="http://schemas.openxmlformats.org/drawingml/2006/main">
              <a:ext uri="{FF2B5EF4-FFF2-40B4-BE49-F238E27FC236}">
                <a16:creationId xmlns:a16="http://schemas.microsoft.com/office/drawing/2014/main" id="{0D32F3AA-992B-449A-97E8-B439AFC2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33950"/>
            <a:ext cx="24765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Zapiš konkrétní důvod.</a:t>
            </a:r>
          </a:p>
        </p:txBody>
      </p:sp>
      <p:sp>
        <p:nvSpPr>
          <p:cNvPr id="11" name="text-459-473">
            <a:extLst xmlns:a="http://schemas.openxmlformats.org/drawingml/2006/main">
              <a:ext uri="{FF2B5EF4-FFF2-40B4-BE49-F238E27FC236}">
                <a16:creationId xmlns:a16="http://schemas.microsoft.com/office/drawing/2014/main" id="{9ACD6FBE-9620-4F83-8121-F9E4D297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511-472">
            <a:extLst xmlns:a="http://schemas.openxmlformats.org/drawingml/2006/main">
              <a:ext uri="{FF2B5EF4-FFF2-40B4-BE49-F238E27FC236}">
                <a16:creationId xmlns:a16="http://schemas.microsoft.com/office/drawing/2014/main" id="{411D2910-D0B7-4419-8C5B-ABE6B78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9527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Porovnej ve dvojici</a:t>
            </a:r>
          </a:p>
        </p:txBody>
      </p:sp>
      <p:sp>
        <p:nvSpPr>
          <p:cNvPr id="13" name="text-511-518">
            <a:extLst xmlns:a="http://schemas.openxmlformats.org/drawingml/2006/main">
              <a:ext uri="{FF2B5EF4-FFF2-40B4-BE49-F238E27FC236}">
                <a16:creationId xmlns:a16="http://schemas.microsoft.com/office/drawing/2014/main" id="{45D5C2A2-1B30-40B0-9B55-D97FE20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933950"/>
            <a:ext cx="2952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Najděte bod neshody.</a:t>
            </a:r>
          </a:p>
        </p:txBody>
      </p:sp>
      <p:sp>
        <p:nvSpPr>
          <p:cNvPr id="14" name="text-900-473">
            <a:extLst xmlns:a="http://schemas.openxmlformats.org/drawingml/2006/main">
              <a:ext uri="{FF2B5EF4-FFF2-40B4-BE49-F238E27FC236}">
                <a16:creationId xmlns:a16="http://schemas.microsoft.com/office/drawing/2014/main" id="{8ABCE9C2-025F-466B-BBA2-1DC114BB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42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5" name="text-952-472">
            <a:extLst xmlns:a="http://schemas.openxmlformats.org/drawingml/2006/main">
              <a:ext uri="{FF2B5EF4-FFF2-40B4-BE49-F238E27FC236}">
                <a16:creationId xmlns:a16="http://schemas.microsoft.com/office/drawing/2014/main" id="{822B6A62-B072-48D9-8EA6-6AD48FFC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95800"/>
            <a:ext cx="238125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Připrav obhajobu</a:t>
            </a:r>
          </a:p>
        </p:txBody>
      </p:sp>
      <p:sp>
        <p:nvSpPr>
          <p:cNvPr id="16" name="text-952-518">
            <a:extLst xmlns:a="http://schemas.openxmlformats.org/drawingml/2006/main">
              <a:ext uri="{FF2B5EF4-FFF2-40B4-BE49-F238E27FC236}">
                <a16:creationId xmlns:a16="http://schemas.microsoft.com/office/drawing/2014/main" id="{CF12656D-5A38-498D-94E0-7658C57E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23812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Co by změnilo volbu?</a:t>
            </a:r>
          </a:p>
        </p:txBody>
      </p:sp>
    </p:spTree>
    <p:extLst>
      <p:ext uri="{BB962C8B-B14F-4D97-AF65-F5344CB8AC3E}">
        <p14:creationId xmlns:p14="http://schemas.microsoft.com/office/powerpoint/2010/main" val="504311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0B9EA34F-7486-4BF4-9FEB-25766080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5–13 MIN · MINIMUM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35403CE9-23F8-42C4-9E1A-93388671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Tři opěrné body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E91C6FA-11EB-4E3B-87E9-8DF3D44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61935F70-5C6E-4498-B547-5F56F097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F87A3556-6DDB-45A9-8D94-63C6C73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3  /  3</a:t>
            </a:r>
          </a:p>
        </p:txBody>
      </p:sp>
      <p:sp>
        <p:nvSpPr>
          <p:cNvPr id="6" name="text-41-175">
            <a:extLst xmlns:a="http://schemas.openxmlformats.org/drawingml/2006/main">
              <a:ext uri="{FF2B5EF4-FFF2-40B4-BE49-F238E27FC236}">
                <a16:creationId xmlns:a16="http://schemas.microsoft.com/office/drawing/2014/main" id="{342DF619-8681-4936-9862-ADD27796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text-41-265">
            <a:extLst xmlns:a="http://schemas.openxmlformats.org/drawingml/2006/main">
              <a:ext uri="{FF2B5EF4-FFF2-40B4-BE49-F238E27FC236}">
                <a16:creationId xmlns:a16="http://schemas.microsoft.com/office/drawing/2014/main" id="{F5FC7465-161F-4CB1-BBC6-65D3DC1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Halucinace</a:t>
            </a:r>
          </a:p>
        </p:txBody>
      </p:sp>
      <p:sp>
        <p:nvSpPr>
          <p:cNvPr id="8" name="text-41-356">
            <a:extLst xmlns:a="http://schemas.openxmlformats.org/drawingml/2006/main">
              <a:ext uri="{FF2B5EF4-FFF2-40B4-BE49-F238E27FC236}">
                <a16:creationId xmlns:a16="http://schemas.microsoft.com/office/drawing/2014/main" id="{63E38B64-C651-4225-8B6B-2E83D10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Plynulý výstup může obsahovat vymyšlený údaj, citaci nebo souvislost.</a:t>
            </a:r>
          </a:p>
        </p:txBody>
      </p:sp>
      <p:sp>
        <p:nvSpPr>
          <p:cNvPr id="9" name="text-453-175">
            <a:extLst xmlns:a="http://schemas.openxmlformats.org/drawingml/2006/main">
              <a:ext uri="{FF2B5EF4-FFF2-40B4-BE49-F238E27FC236}">
                <a16:creationId xmlns:a16="http://schemas.microsoft.com/office/drawing/2014/main" id="{FF8C82A3-2D3F-4B91-94AD-64F6AF00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text-453-265">
            <a:extLst xmlns:a="http://schemas.openxmlformats.org/drawingml/2006/main">
              <a:ext uri="{FF2B5EF4-FFF2-40B4-BE49-F238E27FC236}">
                <a16:creationId xmlns:a16="http://schemas.microsoft.com/office/drawing/2014/main" id="{820138D1-1A2D-4E56-9E89-B0DB77FB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Zkreslení a mezery</a:t>
            </a:r>
          </a:p>
        </p:txBody>
      </p:sp>
      <p:sp>
        <p:nvSpPr>
          <p:cNvPr id="11" name="text-453-356">
            <a:extLst xmlns:a="http://schemas.openxmlformats.org/drawingml/2006/main">
              <a:ext uri="{FF2B5EF4-FFF2-40B4-BE49-F238E27FC236}">
                <a16:creationId xmlns:a16="http://schemas.microsoft.com/office/drawing/2014/main" id="{EF3588CB-7A7B-4178-9EB6-CD2D5AB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Model může přebírat nerovnováhu dat nebo chybovat kvůli chybějícímu kontextu.</a:t>
            </a:r>
          </a:p>
        </p:txBody>
      </p:sp>
      <p:sp>
        <p:nvSpPr>
          <p:cNvPr id="12" name="text-865-175">
            <a:extLst xmlns:a="http://schemas.openxmlformats.org/drawingml/2006/main">
              <a:ext uri="{FF2B5EF4-FFF2-40B4-BE49-F238E27FC236}">
                <a16:creationId xmlns:a16="http://schemas.microsoft.com/office/drawing/2014/main" id="{E0A1E612-FEB7-4E69-ADEB-60759B2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text-865-265">
            <a:extLst xmlns:a="http://schemas.openxmlformats.org/drawingml/2006/main">
              <a:ext uri="{FF2B5EF4-FFF2-40B4-BE49-F238E27FC236}">
                <a16:creationId xmlns:a16="http://schemas.microsoft.com/office/drawing/2014/main" id="{FE034E9C-9F16-48CE-941F-4FB6F3B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2861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4" name="text-865-356">
            <a:extLst xmlns:a="http://schemas.openxmlformats.org/drawingml/2006/main">
              <a:ext uri="{FF2B5EF4-FFF2-40B4-BE49-F238E27FC236}">
                <a16:creationId xmlns:a16="http://schemas.microsoft.com/office/drawing/2014/main" id="{CF5D4988-345F-4CB7-A79D-78CFEF58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3286125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Důležitá tvrzení kontroluje člověk ve vhodném primárním nebo důvěryhodném zdroji.</a:t>
            </a:r>
          </a:p>
        </p:txBody>
      </p:sp>
      <p:sp>
        <p:nvSpPr>
          <p:cNvPr id="15" name="key-rule">
            <a:extLst xmlns:a="http://schemas.openxmlformats.org/drawingml/2006/main">
              <a:ext uri="{FF2B5EF4-FFF2-40B4-BE49-F238E27FC236}">
                <a16:creationId xmlns:a16="http://schemas.microsoft.com/office/drawing/2014/main" id="{0A99D6B7-0617-4C7D-A04F-BDDCA5B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67350"/>
            <a:ext cx="11410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1-595">
            <a:extLst xmlns:a="http://schemas.openxmlformats.org/drawingml/2006/main">
              <a:ext uri="{FF2B5EF4-FFF2-40B4-BE49-F238E27FC236}">
                <a16:creationId xmlns:a16="http://schemas.microsoft.com/office/drawing/2014/main" id="{104E580B-DC4A-45AE-9D3D-262EABD9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14109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Model může být užitečný a zároveň omylný. Výstup není důkaz.</a:t>
            </a:r>
          </a:p>
        </p:txBody>
      </p:sp>
    </p:spTree>
    <p:extLst>
      <p:ext uri="{BB962C8B-B14F-4D97-AF65-F5344CB8AC3E}">
        <p14:creationId xmlns:p14="http://schemas.microsoft.com/office/powerpoint/2010/main" val="1712958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DF803011-1AAA-48CD-B150-D8989345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PRÁCE · PODLE METODIKY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B55DF83B-8683-4D65-8731-7BABF130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Hlavní počítačová aktivita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463E1439-900C-42E9-947E-E7BE717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DAA1782C-8FF5-4F3D-8BC7-FE9242D8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74E2DA13-1462-4D44-A489-8D66AF9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3  /  4</a:t>
            </a:r>
          </a:p>
        </p:txBody>
      </p:sp>
      <p:sp>
        <p:nvSpPr>
          <p:cNvPr id="6" name="text-41-158">
            <a:extLst xmlns:a="http://schemas.openxmlformats.org/drawingml/2006/main">
              <a:ext uri="{FF2B5EF4-FFF2-40B4-BE49-F238E27FC236}">
                <a16:creationId xmlns:a16="http://schemas.microsoft.com/office/drawing/2014/main" id="{90BF677A-1E67-4BF8-9205-85CF27E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3811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OTEVŘI</a:t>
            </a:r>
          </a:p>
        </p:txBody>
      </p:sp>
      <p:sp>
        <p:nvSpPr>
          <p:cNvPr id="7" name="text-41-195">
            <a:extLst xmlns:a="http://schemas.openxmlformats.org/drawingml/2006/main">
              <a:ext uri="{FF2B5EF4-FFF2-40B4-BE49-F238E27FC236}">
                <a16:creationId xmlns:a16="http://schemas.microsoft.com/office/drawing/2014/main" id="{74B96525-6ADD-49D8-85E1-11B04066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57375"/>
            <a:ext cx="11049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1. Laboratoř fungování AI.html · 3. Odpovědi k ověření.txt</a:t>
            </a:r>
          </a:p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3A10CF5C-3615-4DFC-8F13-CEFFB337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2-296">
            <a:extLst xmlns:a="http://schemas.openxmlformats.org/drawingml/2006/main">
              <a:ext uri="{FF2B5EF4-FFF2-40B4-BE49-F238E27FC236}">
                <a16:creationId xmlns:a16="http://schemas.microsoft.com/office/drawing/2014/main" id="{D8021A82-3AC6-407E-AB12-0B74282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-130-297">
            <a:extLst xmlns:a="http://schemas.openxmlformats.org/drawingml/2006/main">
              <a:ext uri="{FF2B5EF4-FFF2-40B4-BE49-F238E27FC236}">
                <a16:creationId xmlns:a16="http://schemas.microsoft.com/office/drawing/2014/main" id="{63140126-5C4E-4066-AB11-A0CD22F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 souboru 3. Odpovědi k ověření.txt zvýrazni přesná ověřitelná tvrzení.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4693A479-6F2A-4F5B-AA7D-38F7E3E2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678-296">
            <a:extLst xmlns:a="http://schemas.openxmlformats.org/drawingml/2006/main">
              <a:ext uri="{FF2B5EF4-FFF2-40B4-BE49-F238E27FC236}">
                <a16:creationId xmlns:a16="http://schemas.microsoft.com/office/drawing/2014/main" id="{E736A41D-BCE3-4B0B-B037-86F00A6C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-746-297">
            <a:extLst xmlns:a="http://schemas.openxmlformats.org/drawingml/2006/main">
              <a:ext uri="{FF2B5EF4-FFF2-40B4-BE49-F238E27FC236}">
                <a16:creationId xmlns:a16="http://schemas.microsoft.com/office/drawing/2014/main" id="{BD274A85-E84E-494B-AC63-7183006D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28925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Přiřaď riziko: halucinace, zkreslení, chybějící kontext nebo zastaralost.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7D28D346-D4CD-4CB8-A836-C89ED05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2-457">
            <a:extLst xmlns:a="http://schemas.openxmlformats.org/drawingml/2006/main">
              <a:ext uri="{FF2B5EF4-FFF2-40B4-BE49-F238E27FC236}">
                <a16:creationId xmlns:a16="http://schemas.microsoft.com/office/drawing/2014/main" id="{8CDE280E-D1B8-4ECD-8EA2-030AD3B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-130-458">
            <a:extLst xmlns:a="http://schemas.openxmlformats.org/drawingml/2006/main">
              <a:ext uri="{FF2B5EF4-FFF2-40B4-BE49-F238E27FC236}">
                <a16:creationId xmlns:a16="http://schemas.microsoft.com/office/drawing/2014/main" id="{0CA9B909-D41C-4DDA-A78D-EADD417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 každé ukázky napiš konkrétní zdroj a postup ověření; obecné „na internetu“ nestačí.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EE6A7451-8206-4EA0-84F7-966B2B33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62425"/>
            <a:ext cx="5543550" cy="1247775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678-457">
            <a:extLst xmlns:a="http://schemas.openxmlformats.org/drawingml/2006/main">
              <a:ext uri="{FF2B5EF4-FFF2-40B4-BE49-F238E27FC236}">
                <a16:creationId xmlns:a16="http://schemas.microsoft.com/office/drawing/2014/main" id="{5377B0D3-0327-464F-8EAA-98F9DBD1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5238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-746-458">
            <a:extLst xmlns:a="http://schemas.openxmlformats.org/drawingml/2006/main">
              <a:ext uri="{FF2B5EF4-FFF2-40B4-BE49-F238E27FC236}">
                <a16:creationId xmlns:a16="http://schemas.microsoft.com/office/drawing/2014/main" id="{B8FC0468-C291-44DB-AD19-D9E10FC4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44386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Dokonči v laboratoři audit chyb a diagnostickou bránu; podle výsledku zopakuj označený modul.</a:t>
            </a:r>
          </a:p>
        </p:txBody>
      </p:sp>
    </p:spTree>
    <p:extLst>
      <p:ext uri="{BB962C8B-B14F-4D97-AF65-F5344CB8AC3E}">
        <p14:creationId xmlns:p14="http://schemas.microsoft.com/office/powerpoint/2010/main" val="1737660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117DD072-B551-4A52-AC01-D166440D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PRŮBĚŽNÁ KONTROLA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610D9183-6BD9-46EE-9BB2-14AA7349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Než odevzdáš, ověř čtyři věci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B85E13C-6B77-495F-9D69-75AF57C9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92F938D0-D2AC-4705-A449-17504FA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F1A58AE2-2B92-4566-8A5A-15DAB359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3  /  5</a:t>
            </a:r>
          </a:p>
        </p:txBody>
      </p:sp>
      <p:sp>
        <p:nvSpPr>
          <p:cNvPr id="6" name="check-1">
            <a:extLst xmlns:a="http://schemas.openxmlformats.org/drawingml/2006/main">
              <a:ext uri="{FF2B5EF4-FFF2-40B4-BE49-F238E27FC236}">
                <a16:creationId xmlns:a16="http://schemas.microsoft.com/office/drawing/2014/main" id="{D341D2C5-9014-4472-9DAA-71384D97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4-202">
            <a:extLst xmlns:a="http://schemas.openxmlformats.org/drawingml/2006/main">
              <a:ext uri="{FF2B5EF4-FFF2-40B4-BE49-F238E27FC236}">
                <a16:creationId xmlns:a16="http://schemas.microsoft.com/office/drawing/2014/main" id="{CC7A1E6E-523C-4A93-8B31-5958AA03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text-123-203">
            <a:extLst xmlns:a="http://schemas.openxmlformats.org/drawingml/2006/main">
              <a:ext uri="{FF2B5EF4-FFF2-40B4-BE49-F238E27FC236}">
                <a16:creationId xmlns:a16="http://schemas.microsoft.com/office/drawing/2014/main" id="{5606CDEF-A2E2-45AD-8629-0679F36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Cíl</a:t>
            </a:r>
          </a:p>
        </p:txBody>
      </p:sp>
      <p:sp>
        <p:nvSpPr>
          <p:cNvPr id="9" name="text-123-253">
            <a:extLst xmlns:a="http://schemas.openxmlformats.org/drawingml/2006/main">
              <a:ext uri="{FF2B5EF4-FFF2-40B4-BE49-F238E27FC236}">
                <a16:creationId xmlns:a16="http://schemas.microsoft.com/office/drawing/2014/main" id="{77A16E4D-8038-4396-A693-EE0F9D72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Student oddělí přesvědčivý styl od důkazu, pojmenuje hlavní riziko a navrhne konkrétní externí ověření.</a:t>
            </a:r>
          </a:p>
        </p:txBody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172A22BB-F6E3-4FAD-A222-DBB67B9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8592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80-202">
            <a:extLst xmlns:a="http://schemas.openxmlformats.org/drawingml/2006/main">
              <a:ext uri="{FF2B5EF4-FFF2-40B4-BE49-F238E27FC236}">
                <a16:creationId xmlns:a16="http://schemas.microsoft.com/office/drawing/2014/main" id="{B5C49CBD-EB7E-4AAF-A6CC-6F0AA871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text-739-203">
            <a:extLst xmlns:a="http://schemas.openxmlformats.org/drawingml/2006/main">
              <a:ext uri="{FF2B5EF4-FFF2-40B4-BE49-F238E27FC236}">
                <a16:creationId xmlns:a16="http://schemas.microsoft.com/office/drawing/2014/main" id="{F313A6DC-FF9F-452B-93FC-03D66D2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3357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Důvod</a:t>
            </a:r>
          </a:p>
        </p:txBody>
      </p:sp>
      <p:sp>
        <p:nvSpPr>
          <p:cNvPr id="13" name="text-739-253">
            <a:extLst xmlns:a="http://schemas.openxmlformats.org/drawingml/2006/main">
              <a:ext uri="{FF2B5EF4-FFF2-40B4-BE49-F238E27FC236}">
                <a16:creationId xmlns:a16="http://schemas.microsoft.com/office/drawing/2014/main" id="{C68B5E8F-A04A-4C66-8C48-0FA2E410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0982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Která část odpovědi je ověřitelné tvrzení?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705673C1-13D1-4808-95BB-6AA4BEAF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-420">
            <a:extLst xmlns:a="http://schemas.openxmlformats.org/drawingml/2006/main">
              <a:ext uri="{FF2B5EF4-FFF2-40B4-BE49-F238E27FC236}">
                <a16:creationId xmlns:a16="http://schemas.microsoft.com/office/drawing/2014/main" id="{1F01D450-D3F0-4844-8306-D54A9C24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6" name="text-123-421">
            <a:extLst xmlns:a="http://schemas.openxmlformats.org/drawingml/2006/main">
              <a:ext uri="{FF2B5EF4-FFF2-40B4-BE49-F238E27FC236}">
                <a16:creationId xmlns:a16="http://schemas.microsoft.com/office/drawing/2014/main" id="{6469EDE8-D065-42EC-85B7-9BA65CA8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7" name="text-123-471">
            <a:extLst xmlns:a="http://schemas.openxmlformats.org/drawingml/2006/main">
              <a:ext uri="{FF2B5EF4-FFF2-40B4-BE49-F238E27FC236}">
                <a16:creationId xmlns:a16="http://schemas.microsoft.com/office/drawing/2014/main" id="{C1E444CA-66EE-43C6-A434-A541864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Jaký zdroj má k tomuto tvrzení nejblíže?</a:t>
            </a:r>
          </a:p>
        </p:txBody>
      </p:sp>
      <p:sp>
        <p:nvSpPr>
          <p:cNvPr id="18" name="check-4">
            <a:extLst xmlns:a="http://schemas.openxmlformats.org/drawingml/2006/main">
              <a:ext uri="{FF2B5EF4-FFF2-40B4-BE49-F238E27FC236}">
                <a16:creationId xmlns:a16="http://schemas.microsoft.com/office/drawing/2014/main" id="{CF12A656-598B-4026-B73D-F9A4AA26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5435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0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80-420">
            <a:extLst xmlns:a="http://schemas.openxmlformats.org/drawingml/2006/main">
              <a:ext uri="{FF2B5EF4-FFF2-40B4-BE49-F238E27FC236}">
                <a16:creationId xmlns:a16="http://schemas.microsoft.com/office/drawing/2014/main" id="{9935C282-39D7-4F9C-9DEE-8594BD44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text-739-421">
            <a:extLst xmlns:a="http://schemas.openxmlformats.org/drawingml/2006/main">
              <a:ext uri="{FF2B5EF4-FFF2-40B4-BE49-F238E27FC236}">
                <a16:creationId xmlns:a16="http://schemas.microsoft.com/office/drawing/2014/main" id="{EF9F687E-0058-475D-B576-531E66B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010025"/>
            <a:ext cx="4438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Odpovědnost</a:t>
            </a:r>
          </a:p>
        </p:txBody>
      </p:sp>
      <p:sp>
        <p:nvSpPr>
          <p:cNvPr id="21" name="text-739-471">
            <a:extLst xmlns:a="http://schemas.openxmlformats.org/drawingml/2006/main">
              <a:ext uri="{FF2B5EF4-FFF2-40B4-BE49-F238E27FC236}">
                <a16:creationId xmlns:a16="http://schemas.microsoft.com/office/drawing/2014/main" id="{8539BDE8-7CD1-4DE9-9C65-6084362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86275"/>
            <a:ext cx="44386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Jak bude znít poctivý závěr, pokud důkaz nenajdeme?</a:t>
            </a:r>
          </a:p>
        </p:txBody>
      </p:sp>
    </p:spTree>
    <p:extLst>
      <p:ext uri="{BB962C8B-B14F-4D97-AF65-F5344CB8AC3E}">
        <p14:creationId xmlns:p14="http://schemas.microsoft.com/office/powerpoint/2010/main" val="732486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41-34">
            <a:extLst xmlns:a="http://schemas.openxmlformats.org/drawingml/2006/main">
              <a:ext uri="{FF2B5EF4-FFF2-40B4-BE49-F238E27FC236}">
                <a16:creationId xmlns:a16="http://schemas.microsoft.com/office/drawing/2014/main" id="{6330685B-1C2F-4308-B315-1C9EFC4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34–42 MIN · SPOLEČNĚ</a:t>
            </a:r>
          </a:p>
        </p:txBody>
      </p:sp>
      <p:sp>
        <p:nvSpPr>
          <p:cNvPr id="2" name="text-41-73">
            <a:extLst xmlns:a="http://schemas.openxmlformats.org/drawingml/2006/main">
              <a:ext uri="{FF2B5EF4-FFF2-40B4-BE49-F238E27FC236}">
                <a16:creationId xmlns:a16="http://schemas.microsoft.com/office/drawing/2014/main" id="{939A9451-142F-44BD-8962-10916818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95325"/>
            <a:ext cx="114109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Co má být ve výsledku vidět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EB9EFB7-FCA0-4D78-A76E-BD1D22C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7697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1-672">
            <a:extLst xmlns:a="http://schemas.openxmlformats.org/drawingml/2006/main">
              <a:ext uri="{FF2B5EF4-FFF2-40B4-BE49-F238E27FC236}">
                <a16:creationId xmlns:a16="http://schemas.microsoft.com/office/drawing/2014/main" id="{745C21EC-95A1-4B6A-B49D-243D746F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400800"/>
            <a:ext cx="571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UMĚLÁ INTELIGENCE · OD PRINCIPŮ K POUŽITÍ</a:t>
            </a:r>
          </a:p>
        </p:txBody>
      </p:sp>
      <p:sp>
        <p:nvSpPr>
          <p:cNvPr id="5" name="text-1040-672">
            <a:extLst xmlns:a="http://schemas.openxmlformats.org/drawingml/2006/main">
              <a:ext uri="{FF2B5EF4-FFF2-40B4-BE49-F238E27FC236}">
                <a16:creationId xmlns:a16="http://schemas.microsoft.com/office/drawing/2014/main" id="{3EB527E2-0E09-4FE8-A96B-F6989A4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00800"/>
            <a:ext cx="18954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HODINA 3  /  6</a:t>
            </a:r>
          </a:p>
        </p:txBody>
      </p:sp>
      <p:sp>
        <p:nvSpPr>
          <p:cNvPr id="6" name="text-41-188">
            <a:extLst xmlns:a="http://schemas.openxmlformats.org/drawingml/2006/main">
              <a:ext uri="{FF2B5EF4-FFF2-40B4-BE49-F238E27FC236}">
                <a16:creationId xmlns:a16="http://schemas.microsoft.com/office/drawing/2014/main" id="{24C652D3-7FDE-45F9-9682-AD50C2FE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Halucinace</a:t>
            </a:r>
          </a:p>
        </p:txBody>
      </p:sp>
      <p:sp>
        <p:nvSpPr>
          <p:cNvPr id="7" name="text-260-188">
            <a:extLst xmlns:a="http://schemas.openxmlformats.org/drawingml/2006/main">
              <a:ext uri="{FF2B5EF4-FFF2-40B4-BE49-F238E27FC236}">
                <a16:creationId xmlns:a16="http://schemas.microsoft.com/office/drawing/2014/main" id="{8652AB7E-0B90-4EC7-BB7E-D702856C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Vymyšlený nebo nepodložený obsah může znít zcela přesvědčivě.</a:t>
            </a:r>
          </a:p>
        </p:txBody>
      </p:sp>
      <p:sp>
        <p:nvSpPr>
          <p:cNvPr id="8" name="text-41-303">
            <a:extLst xmlns:a="http://schemas.openxmlformats.org/drawingml/2006/main">
              <a:ext uri="{FF2B5EF4-FFF2-40B4-BE49-F238E27FC236}">
                <a16:creationId xmlns:a16="http://schemas.microsoft.com/office/drawing/2014/main" id="{EC2B0E0A-1C55-46C9-A9E3-053C7058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86075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Bias</a:t>
            </a:r>
          </a:p>
        </p:txBody>
      </p:sp>
      <p:sp>
        <p:nvSpPr>
          <p:cNvPr id="9" name="text-260-303">
            <a:extLst xmlns:a="http://schemas.openxmlformats.org/drawingml/2006/main">
              <a:ext uri="{FF2B5EF4-FFF2-40B4-BE49-F238E27FC236}">
                <a16:creationId xmlns:a16="http://schemas.microsoft.com/office/drawing/2014/main" id="{BB4840BE-1868-4E8F-9700-0C1ACFB7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86075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Systematické zkreslení může vzniknout v datech, zadání i použití výstupu.</a:t>
            </a:r>
          </a:p>
        </p:txBody>
      </p:sp>
      <p:sp>
        <p:nvSpPr>
          <p:cNvPr id="10" name="text-41-418">
            <a:extLst xmlns:a="http://schemas.openxmlformats.org/drawingml/2006/main">
              <a:ext uri="{FF2B5EF4-FFF2-40B4-BE49-F238E27FC236}">
                <a16:creationId xmlns:a16="http://schemas.microsoft.com/office/drawing/2014/main" id="{F1F6D9D9-52EB-48E1-B973-5C7C7D9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1952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Ověření</a:t>
            </a:r>
          </a:p>
        </p:txBody>
      </p:sp>
      <p:sp>
        <p:nvSpPr>
          <p:cNvPr id="11" name="text-260-418">
            <a:extLst xmlns:a="http://schemas.openxmlformats.org/drawingml/2006/main">
              <a:ext uri="{FF2B5EF4-FFF2-40B4-BE49-F238E27FC236}">
                <a16:creationId xmlns:a16="http://schemas.microsoft.com/office/drawing/2014/main" id="{659D151B-8B4F-47E4-B601-E85EB26E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3333750" cy="771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Kontrola konkrétního tvrzení u zdroje, který má k informaci kompetenci.</a:t>
            </a:r>
          </a:p>
        </p:txBody>
      </p:sp>
      <p:sp>
        <p:nvSpPr>
          <p:cNvPr id="12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08F93B46-98D0-4DD3-A62B-1F8B59C6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28775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90-205">
            <a:extLst xmlns:a="http://schemas.openxmlformats.org/drawingml/2006/main">
              <a:ext uri="{FF2B5EF4-FFF2-40B4-BE49-F238E27FC236}">
                <a16:creationId xmlns:a16="http://schemas.microsoft.com/office/drawing/2014/main" id="{9DE59F7D-E771-4CB7-8C06-2AA13C5E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POZOR NA ZKRATKU</a:t>
            </a:r>
          </a:p>
        </p:txBody>
      </p:sp>
      <p:sp>
        <p:nvSpPr>
          <p:cNvPr id="14" name="text-690-265">
            <a:extLst xmlns:a="http://schemas.openxmlformats.org/drawingml/2006/main">
              <a:ext uri="{FF2B5EF4-FFF2-40B4-BE49-F238E27FC236}">
                <a16:creationId xmlns:a16="http://schemas.microsoft.com/office/drawing/2014/main" id="{ABF00B37-D664-4288-A1CC-8D8781D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„Když AI uvede zdroj, zdroj existuje.“</a:t>
            </a:r>
          </a:p>
        </p:txBody>
      </p:sp>
      <p:sp>
        <p:nvSpPr>
          <p:cNvPr id="15" name="text-690-389">
            <a:extLst xmlns:a="http://schemas.openxmlformats.org/drawingml/2006/main">
              <a:ext uri="{FF2B5EF4-FFF2-40B4-BE49-F238E27FC236}">
                <a16:creationId xmlns:a16="http://schemas.microsoft.com/office/drawing/2014/main" id="{BFEA38A0-EA30-46DE-BF77-048491B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686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Kontrolujte autora, název, odkaz i to, zda zdroj tvrzení skutečně podporuje.</a:t>
            </a:r>
          </a:p>
        </p:txBody>
      </p:sp>
      <p:sp>
        <p:nvSpPr>
          <p:cNvPr id="16" name="text-41-575">
            <a:extLst xmlns:a="http://schemas.openxmlformats.org/drawingml/2006/main">
              <a:ext uri="{FF2B5EF4-FFF2-40B4-BE49-F238E27FC236}">
                <a16:creationId xmlns:a16="http://schemas.microsoft.com/office/drawing/2014/main" id="{EDA3953E-66EC-4772-80F3-D75AA3C5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10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Vrať se k úvodní odpovědi. Co bys teď změnil/a — a proč?</a:t>
            </a:r>
          </a:p>
        </p:txBody>
      </p:sp>
    </p:spTree>
    <p:extLst>
      <p:ext uri="{BB962C8B-B14F-4D97-AF65-F5344CB8AC3E}">
        <p14:creationId xmlns:p14="http://schemas.microsoft.com/office/powerpoint/2010/main" val="929703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rail">
            <a:extLst xmlns:a="http://schemas.openxmlformats.org/drawingml/2006/main">
              <a:ext uri="{FF2B5EF4-FFF2-40B4-BE49-F238E27FC236}">
                <a16:creationId xmlns:a16="http://schemas.microsoft.com/office/drawing/2014/main" id="{6BD27092-60B7-4953-B21F-670E1DFD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54-48">
            <a:extLst xmlns:a="http://schemas.openxmlformats.org/drawingml/2006/main">
              <a:ext uri="{FF2B5EF4-FFF2-40B4-BE49-F238E27FC236}">
                <a16:creationId xmlns:a16="http://schemas.microsoft.com/office/drawing/2014/main" id="{3FD39281-4B20-47BE-B1DA-1C948CF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HODINA 3 · POSLEDNÍ 3 MINUTY</a:t>
            </a:r>
          </a:p>
        </p:txBody>
      </p:sp>
      <p:sp>
        <p:nvSpPr>
          <p:cNvPr id="3" name="text-54-151">
            <a:extLst xmlns:a="http://schemas.openxmlformats.org/drawingml/2006/main">
              <a:ext uri="{FF2B5EF4-FFF2-40B4-BE49-F238E27FC236}">
                <a16:creationId xmlns:a16="http://schemas.microsoft.com/office/drawing/2014/main" id="{F2D04BDE-6F1E-4AE0-B409-2BC568AF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61912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Exit ticket</a:t>
            </a:r>
          </a:p>
        </p:txBody>
      </p:sp>
      <p:sp>
        <p:nvSpPr>
          <p:cNvPr id="4" name="text-54-278">
            <a:extLst xmlns:a="http://schemas.openxmlformats.org/drawingml/2006/main">
              <a:ext uri="{FF2B5EF4-FFF2-40B4-BE49-F238E27FC236}">
                <a16:creationId xmlns:a16="http://schemas.microsoft.com/office/drawing/2014/main" id="{5F01B6BE-6D14-4E0A-B7B0-ECD16B5C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047750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E"/>
                </a:solidFill>
                <a:latin typeface="Arial"/>
                <a:ea typeface="Arial"/>
                <a:cs typeface="Arial"/>
              </a:defRPr>
            </a:pPr>
            <a:r>
              <a:t>Uveď jeden znak, který může odpověď dělat přesvědčivou, ale sám nedokazuje její pravdivost.</a:t>
            </a:r>
          </a:p>
        </p:txBody>
      </p:sp>
      <p:sp>
        <p:nvSpPr>
          <p:cNvPr id="5" name="exit-rule">
            <a:extLst xmlns:a="http://schemas.openxmlformats.org/drawingml/2006/main">
              <a:ext uri="{FF2B5EF4-FFF2-40B4-BE49-F238E27FC236}">
                <a16:creationId xmlns:a16="http://schemas.microsoft.com/office/drawing/2014/main" id="{894D3EFC-ADF6-42F4-B9BF-C588999E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4-545">
            <a:extLst xmlns:a="http://schemas.openxmlformats.org/drawingml/2006/main">
              <a:ext uri="{FF2B5EF4-FFF2-40B4-BE49-F238E27FC236}">
                <a16:creationId xmlns:a16="http://schemas.microsoft.com/office/drawing/2014/main" id="{A933D11C-838A-4A06-A17D-E49AE33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9096375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965"/>
                </a:solidFill>
                <a:latin typeface="Arial"/>
                <a:ea typeface="Arial"/>
                <a:cs typeface="Arial"/>
              </a:defRPr>
            </a:pPr>
            <a:r>
              <a:t>Odpověz samostatně jednou až třemi větami. Uveď konkrétní důvod nebo krok.</a:t>
            </a:r>
          </a:p>
        </p:txBody>
      </p:sp>
      <p:sp>
        <p:nvSpPr>
          <p:cNvPr id="7" name="text-1070-548">
            <a:extLst xmlns:a="http://schemas.openxmlformats.org/drawingml/2006/main">
              <a:ext uri="{FF2B5EF4-FFF2-40B4-BE49-F238E27FC236}">
                <a16:creationId xmlns:a16="http://schemas.microsoft.com/office/drawing/2014/main" id="{62753C8C-34B3-4307-95B8-0454665C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895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6A48B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0684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Karel Hlas</dc:creator>
  <lastModifiedBy>Walnut Exporter</lastModifiedBy>
  <dc:title>Presentation</dc:title>
  <dcterms:created xsi:type="dcterms:W3CDTF">2026-07-24T15:48:07.6110000Z</dcterms:created>
  <dcterms:modified xsi:type="dcterms:W3CDTF">2026-07-24T15:48:07.6110000Z</dcterms:modified>
</coreProperties>
</file>