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ce38843f044746" /><Relationship Type="http://schemas.openxmlformats.org/officeDocument/2006/relationships/extended-properties" Target="/docProps/app.xml" Id="R4e5266c7a55349ad" /><Relationship Type="http://schemas.openxmlformats.org/officeDocument/2006/relationships/officeDocument" Target="/ppt/presentation.xml" Id="R5e5a0e3ea76147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a070ab1bc14235"/>
  </p:sldMasterIdLst>
  <p:notesMasterIdLst>
    <p:notesMasterId xmlns:r="http://schemas.openxmlformats.org/officeDocument/2006/relationships" r:id="R1beabb33a96d43bc"/>
  </p:notesMasterIdLst>
  <p:sldIdLst>
    <p:sldId xmlns:r="http://schemas.openxmlformats.org/officeDocument/2006/relationships" id="256" r:id="Rd593778c812a4a30"/>
    <p:sldId xmlns:r="http://schemas.openxmlformats.org/officeDocument/2006/relationships" id="257" r:id="R603d6eac78a54351"/>
    <p:sldId xmlns:r="http://schemas.openxmlformats.org/officeDocument/2006/relationships" id="258" r:id="R96cd6fabfd294bb6"/>
    <p:sldId xmlns:r="http://schemas.openxmlformats.org/officeDocument/2006/relationships" id="259" r:id="Rd4dd603988f74aa6"/>
    <p:sldId xmlns:r="http://schemas.openxmlformats.org/officeDocument/2006/relationships" id="260" r:id="R1e45ac9ee8b1489c"/>
    <p:sldId xmlns:r="http://schemas.openxmlformats.org/officeDocument/2006/relationships" id="261" r:id="R6f619b7cf5a446c8"/>
    <p:sldId xmlns:r="http://schemas.openxmlformats.org/officeDocument/2006/relationships" id="262" r:id="Rf9f6761d03da48b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074acb1738433e" /><Relationship Type="http://schemas.openxmlformats.org/officeDocument/2006/relationships/slideMaster" Target="/ppt/slideMasters/slideMaster1.xml" Id="R7da070ab1bc14235" /><Relationship Type="http://schemas.openxmlformats.org/officeDocument/2006/relationships/notesMaster" Target="/ppt/notesMasters/notesMaster1.xml" Id="R1beabb33a96d43bc" /><Relationship Type="http://schemas.openxmlformats.org/officeDocument/2006/relationships/presProps" Target="/ppt/presProps.xml" Id="R1ea4990809ec42c3" /><Relationship Type="http://schemas.openxmlformats.org/officeDocument/2006/relationships/tableStyles" Target="/ppt/tableStyles.xml" Id="R3a18e5ed930d4e48" /><Relationship Type="http://schemas.openxmlformats.org/officeDocument/2006/relationships/slide" Target="/ppt/slides/slide1.xml" Id="Rd593778c812a4a30" /><Relationship Type="http://schemas.openxmlformats.org/officeDocument/2006/relationships/slide" Target="/ppt/slides/slide2.xml" Id="R603d6eac78a54351" /><Relationship Type="http://schemas.openxmlformats.org/officeDocument/2006/relationships/slide" Target="/ppt/slides/slide3.xml" Id="R96cd6fabfd294bb6" /><Relationship Type="http://schemas.openxmlformats.org/officeDocument/2006/relationships/slide" Target="/ppt/slides/slide4.xml" Id="Rd4dd603988f74aa6" /><Relationship Type="http://schemas.openxmlformats.org/officeDocument/2006/relationships/slide" Target="/ppt/slides/slide5.xml" Id="R1e45ac9ee8b1489c" /><Relationship Type="http://schemas.openxmlformats.org/officeDocument/2006/relationships/slide" Target="/ppt/slides/slide6.xml" Id="R6f619b7cf5a446c8" /><Relationship Type="http://schemas.openxmlformats.org/officeDocument/2006/relationships/slide" Target="/ppt/slides/slide7.xml" Id="Rf9f6761d03da48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682d4ab5b841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c482533b4c4a62" /><Relationship Type="http://schemas.openxmlformats.org/officeDocument/2006/relationships/notesMaster" Target="/ppt/notesMasters/notesMaster1.xml" Id="Rf2530dfb82494f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7782126dc04ab7" /><Relationship Type="http://schemas.openxmlformats.org/officeDocument/2006/relationships/notesMaster" Target="/ppt/notesMasters/notesMaster1.xml" Id="Rfe22dbbb17f448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76a7f08b2d4dd1" /><Relationship Type="http://schemas.openxmlformats.org/officeDocument/2006/relationships/notesMaster" Target="/ppt/notesMasters/notesMaster1.xml" Id="R9c1e7b486bda4d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aad417a658422f" /><Relationship Type="http://schemas.openxmlformats.org/officeDocument/2006/relationships/notesMaster" Target="/ppt/notesMasters/notesMaster1.xml" Id="Re16b18d943bf43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63f5dc5f7141d0" /><Relationship Type="http://schemas.openxmlformats.org/officeDocument/2006/relationships/notesMaster" Target="/ppt/notesMasters/notesMaster1.xml" Id="R119d7b230f8e4a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4c38b42aef47b8" /><Relationship Type="http://schemas.openxmlformats.org/officeDocument/2006/relationships/notesMaster" Target="/ppt/notesMasters/notesMaster1.xml" Id="Rda1069f4f7ab42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23fb095c974187" /><Relationship Type="http://schemas.openxmlformats.org/officeDocument/2006/relationships/notesMaster" Target="/ppt/notesMasters/notesMaster1.xml" Id="R62f2f6e5df904c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Rozpoznám halucinaci, zkreslení, chybějící kontext a zastaralost a zvolím konkrétní ověření.</a:t>
            </a:r>
          </a:p>
          <a:p xmlns:a="http://schemas.openxmlformats.org/drawingml/2006/main">
            <a:r>
              <a:t>Podklady: 1. Laboratoř fungování AI.html, 3. Odpovědi k ověření.txt</a:t>
            </a:r>
          </a:p>
          <a:p xmlns:a="http://schemas.openxmlformats.org/drawingml/2006/main">
            <a:r>
              <a:t>Výstup: Audit čtyř odpovědí a úspěšně dokončená diagnostická brána.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Postup: Porovnejte dvě stejně sebejisté odpovědi, z nichž pouze jedna má věcnou oporu.</a:t>
            </a:r>
          </a:p>
          <a:p xmlns:a="http://schemas.openxmlformats.org/drawingml/2006/main">
            <a:r>
              <a:t>Úvodní otázka: Může být sebejistě napsaná odpověď úplně vymyšlená?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5–13 minut.</a:t>
            </a:r>
          </a:p>
          <a:p xmlns:a="http://schemas.openxmlformats.org/drawingml/2006/main">
            <a:r>
              <a:t>Postup: Vymezte halucinaci, bias, chybějící kontext a zastaralost.</a:t>
            </a:r>
          </a:p>
          <a:p xmlns:a="http://schemas.openxmlformats.org/drawingml/2006/main">
            <a:r>
              <a:t>Klíčové body: Halucinace: Plynulý výstup může obsahovat vymyšlený údaj, citaci nebo souvislost. | Zkreslení a mezery: Model může přebírat nerovnováhu dat nebo chybovat kvůli chybějícímu kontextu. | Ověření: Důležitá tvrzení kontroluje člověk ve vhodném primárním nebo důvěryhodném zdroji.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1. Laboratoř fungování AI.html, 3. Odpovědi k ověření.txt</a:t>
            </a:r>
          </a:p>
          <a:p xmlns:a="http://schemas.openxmlformats.org/drawingml/2006/main">
            <a:r>
              <a:t>1. V souboru 3. Odpovědi k ověření.txt zvýrazni přesná ověřitelná tvrzení.</a:t>
            </a:r>
          </a:p>
          <a:p xmlns:a="http://schemas.openxmlformats.org/drawingml/2006/main">
            <a:r>
              <a:t>2. Přiřaď riziko: halucinace, zkreslení, chybějící kontext nebo zastaralost.</a:t>
            </a:r>
          </a:p>
          <a:p xmlns:a="http://schemas.openxmlformats.org/drawingml/2006/main">
            <a:r>
              <a:t>3. U každé ukázky napiš konkrétní zdroj a postup ověření; obecné „na internetu“ nestačí.</a:t>
            </a:r>
          </a:p>
          <a:p xmlns:a="http://schemas.openxmlformats.org/drawingml/2006/main">
            <a:r>
              <a:t>4. Dokonči v laboratoři audit chyb a diagnostickou bránu; podle výsledku zopakuj označený modul.</a:t>
            </a:r>
          </a:p>
          <a:p xmlns:a="http://schemas.openxmlformats.org/drawingml/2006/main">
            <a:r>
              <a:t>Požadovaný výstup: Audit čtyř odpovědí a úspěšně dokončená diagnostická brána.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oddělí přesvědčivý styl od důkazu, pojmenuje hlavní riziko a navrhne konkrétní externí ověření.</a:t>
            </a:r>
          </a:p>
          <a:p xmlns:a="http://schemas.openxmlformats.org/drawingml/2006/main">
            <a:r>
              <a:t>Vodicí otázky: Která část odpovědi je ověřitelné tvrzení? | Jaký zdroj má k tomuto tvrzení nejblíže? | Jak bude znít poctivý závěr, pokud důkaz nenajdeme?</a:t>
            </a:r>
          </a:p>
          <a:p xmlns:a="http://schemas.openxmlformats.org/drawingml/2006/main">
            <a:r>
              <a:t>Podpora: Nabídněte mapu typ tvrzení → vhodný zdroj → kontrolní otázka.</a:t>
            </a:r>
          </a:p>
          <a:p xmlns:a="http://schemas.openxmlformats.org/drawingml/2006/main">
            <a:r>
              <a:t>Rozšíření: Rozliš na jedné odpovědi chybu faktickou, logickou a hodnotovou.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Halucinace: Vymyšlený nebo nepodložený obsah může znít zcela přesvědčivě. | Bias: Systematické zkreslení může vzniknout v datech, zadání i použití výstupu. | Ověření: Kontrola konkrétního tvrzení u zdroje, který má k informaci kompetenci.</a:t>
            </a:r>
          </a:p>
          <a:p xmlns:a="http://schemas.openxmlformats.org/drawingml/2006/main">
            <a:r>
              <a:t>Časté omyly: „Když AI uvede zdroj, zdroj existuje.“ → Kontrolujte autora, název, odkaz i to, zda zdroj tvrzení skutečně podporuje. | „Stačí zeptat se AI, jestli si je jistá.“ → Sebehodnocení modelu nenahrazuje externí důkaz.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jeden znak, který může odpověď dělat přesvědčivou, ale sám nedokazuje její pravdivost.</a:t>
            </a:r>
          </a:p>
          <a:p xmlns:a="http://schemas.openxmlformats.org/drawingml/2006/main">
            <a:r>
              <a:t>Když technika selže: Audit i diagnostickou bránu lze provést z pracovního sešitu bez přístupu k webu.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7d062d3d9741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8accc6116e45d9" /><Relationship Type="http://schemas.openxmlformats.org/officeDocument/2006/relationships/slideLayout" Target="/ppt/slideLayouts/slideLayout1.xml" Id="R9f048683dd2f42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048683dd2f42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9cd13cf7348eb" /><Relationship Type="http://schemas.openxmlformats.org/officeDocument/2006/relationships/notesSlide" Target="/ppt/notesSlides/notesSlide1.xml" Id="R568bb8eda25a4d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042609179640b7" /><Relationship Type="http://schemas.openxmlformats.org/officeDocument/2006/relationships/notesSlide" Target="/ppt/notesSlides/notesSlide2.xml" Id="Rb7fa6c7ce2544b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a7fa7316244dab" /><Relationship Type="http://schemas.openxmlformats.org/officeDocument/2006/relationships/notesSlide" Target="/ppt/notesSlides/notesSlide3.xml" Id="R366a3ce026ff4e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8f41166224d71" /><Relationship Type="http://schemas.openxmlformats.org/officeDocument/2006/relationships/notesSlide" Target="/ppt/notesSlides/notesSlide4.xml" Id="R7525cbc012dc41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d9b20fb994feb" /><Relationship Type="http://schemas.openxmlformats.org/officeDocument/2006/relationships/notesSlide" Target="/ppt/notesSlides/notesSlide5.xml" Id="R4aeaee7591ba47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9e7b22c6514198" /><Relationship Type="http://schemas.openxmlformats.org/officeDocument/2006/relationships/notesSlide" Target="/ppt/notesSlides/notesSlide6.xml" Id="R3edc8f2cb54847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0a0d6a3474541" /><Relationship Type="http://schemas.openxmlformats.org/officeDocument/2006/relationships/notesSlide" Target="/ppt/notesSlides/notesSlide7.xml" Id="R530cbf25a6d347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8C0663C-7B75-42AD-87BD-FA0BEDDF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52A96F8F-B581-4AEA-B410-88BF8312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HODINA 3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6FE95640-0140-434A-8AC8-064E75F2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AI FUNGUJE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7ABC506F-69B2-45BB-ADA9-60DB1283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Proč AI chybuje a jak informace ověřovat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CB4BB5A9-AC0A-41F6-A8B1-F881614C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Rozpoznám halucinaci, zkreslení, chybějící kontext a zastaralost a zvolím konkrétní ověření.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E6D87970-B953-45E6-9461-94E10C94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F2C0EF30-8E9C-4391-80B4-30C02AAE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6740901F-9DE1-47B8-8359-1D9C19A4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2038674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F2DCD20-9B49-45E0-8BDE-7184C7B2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0–5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2A35F5B-0729-495B-B2F9-3B165B03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620AAB1-9D4F-4979-8EAB-31C21E2A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D349096-484D-464A-A344-EC3D0AC9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55C0CBAC-B9F8-4368-9269-1757176E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072E6435-B94B-4087-8D5F-1738A2D2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Může být sebejistě napsaná odpověď úplně vymyšlená?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0D9AD0B0-1DA9-426D-B12D-7609B5E8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AB85B057-BAD3-4576-82ED-9230747D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DB5DB28F-9C83-4580-B2F4-809CD213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0D32F3AA-992B-449A-97E8-B439AFC2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9ACD6FBE-9620-4F83-8121-F9E4D297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411D2910-D0B7-4419-8C5B-ABE6B785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45D5C2A2-1B30-40B0-9B55-D97FE20A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8ABCE9C2-025F-466B-BBA2-1DC114BB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822B6A62-B072-48D9-8EA6-6AD48FFC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CF12656D-5A38-498D-94E0-7658C57E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5043111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B9EA34F-7486-4BF4-9FEB-25766080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5–13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5403CE9-23F8-42C4-9E1A-93388671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EE91C6FA-11EB-4E3B-87E9-8DF3D44F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1935F70-5C6E-4498-B547-5F56F097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87A3556-6DDB-45A9-8D94-63C6C73F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342DF619-8681-4936-9862-ADD27796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F5FC7465-161F-4CB1-BBC6-65D3DC1A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Halucinace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63E38B64-C651-4225-8B6B-2E83D10A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Plynulý výstup může obsahovat vymyšlený údaj, citaci nebo souvislost.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FF8C82A3-2D3F-4B91-94AD-64F6AF00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820138D1-1A2D-4E56-9E89-B0DB77FB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Zkreslení a mezery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EF3588CB-7A7B-4178-9EB6-CD2D5AB3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může přebírat nerovnováhu dat nebo chybovat kvůli chybějícímu kontextu.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E0A1E612-FEB7-4E69-ADEB-60759B2E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FE034E9C-9F16-48CE-941F-4FB6F3B8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CF5D4988-345F-4CB7-A79D-78CFEF58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Důležitá tvrzení kontroluje člověk ve vhodném primárním nebo důvěryhodném zdroji.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0A99D6B7-0617-4C7D-A04F-BDDCA5B5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104E580B-DC4A-45AE-9D3D-262EABD9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může být užitečný a zároveň omylný. Výstup není důkaz.</a:t>
            </a:r>
          </a:p>
        </p:txBody>
      </p:sp>
    </p:spTree>
    <p:extLst>
      <p:ext uri="{BB962C8B-B14F-4D97-AF65-F5344CB8AC3E}">
        <p14:creationId xmlns:p14="http://schemas.microsoft.com/office/powerpoint/2010/main" val="17129585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DF803011-1AAA-48CD-B150-D8989345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55DF83B-8683-4D65-8731-7BABF130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63E1439-900C-42E9-947E-E7BE7174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AA1782C-8FF5-4F3D-8BC7-FE9242D8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74E2DA13-1462-4D44-A489-8D66AF97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90BF677A-1E67-4BF8-9205-85CF27E5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74B96525-6ADD-49D8-85E1-11B04066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1. Laboratoř fungování AI.html · 3. Odpovědi k ověření.txt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3A10CF5C-3615-4DFC-8F13-CEFFB337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D8021A82-3AC6-407E-AB12-0B7428277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63140126-5C4E-4066-AB11-A0CD22FA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3. Odpovědi k ověření.txt zvýrazni přesná ověřitelná tvrzení.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4693A479-6F2A-4F5B-AA7D-38F7E3E2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E736A41D-BCE3-4B0B-B037-86F00A6C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BD274A85-E84E-494B-AC63-7183006D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Přiřaď riziko: halucinace, zkreslení, chybějící kontext nebo zastaralost.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7D28D346-D4CD-4CB8-A836-C89ED053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8CDE280E-D1B8-4ECD-8EA2-030AD3BE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0CA9B909-D41C-4DDA-A78D-EADD4171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 každé ukázky napiš konkrétní zdroj a postup ověření; obecné „na internetu“ nestačí.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EE6A7451-8206-4EA0-84F7-966B2B33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5377B0D3-0327-464F-8EAA-98F9DBD1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B8FC0468-C291-44DB-AD19-D9E10FC4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Dokonči v laboratoři audit chyb a diagnostickou bránu; podle výsledku zopakuj označený modul.</a:t>
            </a:r>
          </a:p>
        </p:txBody>
      </p:sp>
    </p:spTree>
    <p:extLst>
      <p:ext uri="{BB962C8B-B14F-4D97-AF65-F5344CB8AC3E}">
        <p14:creationId xmlns:p14="http://schemas.microsoft.com/office/powerpoint/2010/main" val="17376602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17DD072-B551-4A52-AC01-D166440D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10D9183-6BD9-46EE-9BB2-14AA7349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B85E13C-6B77-495F-9D69-75AF57C9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2F938D0-D2AC-4705-A449-17504FAA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1A58AE2-2B92-4566-8A5A-15DAB359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341D2C5-9014-4472-9DAA-71384D97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CC7A1E6E-523C-4A93-8B31-5958AA03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5606CDEF-A2E2-45AD-8629-0679F36B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77A16E4D-8038-4396-A693-EE0F9D72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oddělí přesvědčivý styl od důkazu, pojmenuje hlavní riziko a navrhne konkrétní externí ověření.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172A22BB-F6E3-4FAD-A222-DBB67B9B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B5C49CBD-EB7E-4AAF-A6CC-6F0AA871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F313A6DC-FF9F-452B-93FC-03D66D27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C68B5E8F-A04A-4C66-8C48-0FA2E410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Která část odpovědi je ověřitelné tvrzení?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705673C1-13D1-4808-95BB-6AA4BEAF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1F01D450-D3F0-4844-8306-D54A9C24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6469EDE8-D065-42EC-85B7-9BA65CA8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C1E444CA-66EE-43C6-A434-A5418645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Jaký zdroj má k tomuto tvrzení nejblíže?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CF12A656-598B-4026-B73D-F9A4AA26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9935C282-39D7-4F9C-9DEE-8594BD44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EF9F687E-0058-475D-B576-531E66B5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8539BDE8-7CD1-4DE9-9C65-6084362C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bude znít poctivý závěr, pokud důkaz nenajdeme?</a:t>
            </a:r>
          </a:p>
        </p:txBody>
      </p:sp>
    </p:spTree>
    <p:extLst>
      <p:ext uri="{BB962C8B-B14F-4D97-AF65-F5344CB8AC3E}">
        <p14:creationId xmlns:p14="http://schemas.microsoft.com/office/powerpoint/2010/main" val="7324862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330685B-1C2F-4308-B315-1C9EFC45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34–42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39A9451-142F-44BD-8962-10916818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3EB9EFB7-FCA0-4D78-A76E-BD1D22C6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45C21EC-95A1-4B6A-B49D-243D746F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3EB527E2-0E09-4FE8-A96B-F6989A49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4C652D3-7FDE-45F9-9682-AD50C2FE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Halucinace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8652AB7E-0B90-4EC7-BB7E-D702856C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Vymyšlený nebo nepodložený obsah může znít zcela přesvědčivě.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EC2B0E0A-1C55-46C9-A9E3-053C7058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Bias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BB4840BE-1868-4E8F-9700-0C1ACFB7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Systematické zkreslení může vzniknout v datech, zadání i použití výstupu.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F1F6D9D9-52EB-48E1-B973-5C7C7D96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659D151B-8B4F-47E4-B601-E85EB26E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Kontrola konkrétního tvrzení u zdroje, který má k informaci kompetenci.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08F93B46-98D0-4DD3-A62B-1F8B59C6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9DE59F7D-E771-4CB7-8C06-2AA13C5E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ABF00B37-D664-4288-A1CC-8D8781D1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„Když AI uvede zdroj, zdroj existuje.“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BFEA38A0-EA30-46DE-BF77-048491BB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Kontrolujte autora, název, odkaz i to, zda zdroj tvrzení skutečně podporuje.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EDA3953E-66EC-4772-80F3-D75AA3C5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9297031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BD27092-60B7-4953-B21F-670E1DFD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3FD39281-4B20-47BE-B1DA-1C948CF0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HODINA 3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F2D04BDE-6F1E-4AE0-B409-2BC568AF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F01B6BE-6D14-4E0A-B7B0-ECD16B5C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jeden znak, který může odpověď dělat přesvědčivou, ale sám nedokazuje její pravdivost.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894D3EFC-ADF6-42F4-B9BF-C588999E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A933D11C-838A-4A06-A17D-E49AE33E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62753C8C-34B3-4307-95B8-0454665C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906842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2026-07-24T15:48:07.6110000Z</dcterms:created>
  <dcterms:modified xsi:type="dcterms:W3CDTF">2026-07-24T15:48:07.6110000Z</dcterms:modified>
</coreProperties>
</file>