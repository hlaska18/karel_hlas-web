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cd3976932474a1c" Type="http://schemas.openxmlformats.org/officeDocument/2006/relationships/extended-properties" Target="docProps/app.xml"/><Relationship Id="R848a55f059cf4b4f" Type="http://schemas.openxmlformats.org/package/2006/relationships/metadata/core-properties" Target="docProps/core.xml"/><Relationship Id="Rba29c5a79aa84c8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54a4980af04644"/>
  </p:sldMasterIdLst>
  <p:notesMasterIdLst>
    <p:notesMasterId xmlns:r="http://schemas.openxmlformats.org/officeDocument/2006/relationships" r:id="Re115b7258ead4a2a"/>
  </p:notesMasterIdLst>
  <p:sldIdLst>
    <p:sldId xmlns:r="http://schemas.openxmlformats.org/officeDocument/2006/relationships" id="256" r:id="R38bb3a0000d542d1"/>
    <p:sldId xmlns:r="http://schemas.openxmlformats.org/officeDocument/2006/relationships" id="257" r:id="R73619eb23c5944f3"/>
    <p:sldId xmlns:r="http://schemas.openxmlformats.org/officeDocument/2006/relationships" id="258" r:id="R209c720ed231463d"/>
    <p:sldId xmlns:r="http://schemas.openxmlformats.org/officeDocument/2006/relationships" id="259" r:id="R3946c256e9f542e9"/>
    <p:sldId xmlns:r="http://schemas.openxmlformats.org/officeDocument/2006/relationships" id="260" r:id="Rd06b9e35b1834b7e"/>
    <p:sldId xmlns:r="http://schemas.openxmlformats.org/officeDocument/2006/relationships" id="261" r:id="R82e79f423a0e4978"/>
    <p:sldId xmlns:r="http://schemas.openxmlformats.org/officeDocument/2006/relationships" id="262" r:id="R2e11c8bf7bee42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09c720ed231463d" Type="http://schemas.openxmlformats.org/officeDocument/2006/relationships/slide" Target="slides/slide3.xml"/><Relationship Id="R2554a4980af04644" Type="http://schemas.openxmlformats.org/officeDocument/2006/relationships/slideMaster" Target="slideMasters/slideMaster1.xml"/><Relationship Id="R2e11c8bf7bee42d3" Type="http://schemas.openxmlformats.org/officeDocument/2006/relationships/slide" Target="slides/slide7.xml"/><Relationship Id="R30101c96aa10488e" Type="http://schemas.openxmlformats.org/officeDocument/2006/relationships/theme" Target="theme/theme1.xml"/><Relationship Id="R36c0321a030149fb" Type="http://schemas.openxmlformats.org/officeDocument/2006/relationships/tableStyles" Target="tableStyles.xml"/><Relationship Id="R38bb3a0000d542d1" Type="http://schemas.openxmlformats.org/officeDocument/2006/relationships/slide" Target="slides/slide1.xml"/><Relationship Id="R3946c256e9f542e9" Type="http://schemas.openxmlformats.org/officeDocument/2006/relationships/slide" Target="slides/slide4.xml"/><Relationship Id="R73619eb23c5944f3" Type="http://schemas.openxmlformats.org/officeDocument/2006/relationships/slide" Target="slides/slide2.xml"/><Relationship Id="R82e79f423a0e4978" Type="http://schemas.openxmlformats.org/officeDocument/2006/relationships/slide" Target="slides/slide6.xml"/><Relationship Id="Rd06b9e35b1834b7e" Type="http://schemas.openxmlformats.org/officeDocument/2006/relationships/slide" Target="slides/slide5.xml"/><Relationship Id="Re115b7258ead4a2a" Type="http://schemas.openxmlformats.org/officeDocument/2006/relationships/notesMaster" Target="notesMasters/notesMaster1.xml"/><Relationship Id="Rf1a217ff3658471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de525562dfb5441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52dfc0559b248fa" Type="http://schemas.openxmlformats.org/officeDocument/2006/relationships/notesMaster" Target="../notesMasters/notesMaster1.xml"/><Relationship Id="Re986040b2b544b0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5491521c5244599" Type="http://schemas.openxmlformats.org/officeDocument/2006/relationships/notesMaster" Target="../notesMasters/notesMaster1.xml"/><Relationship Id="Ra0c93d3bda074a1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c10323f4f58476d" Type="http://schemas.openxmlformats.org/officeDocument/2006/relationships/slide" Target="../slides/slide3.xml"/><Relationship Id="Re49453c187bd4ca4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91992912ccdd4d0f" Type="http://schemas.openxmlformats.org/officeDocument/2006/relationships/notesMaster" Target="../notesMasters/notesMaster1.xml"/><Relationship Id="Rf18b9dff5bf64c5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66061fe0e2a48d8" Type="http://schemas.openxmlformats.org/officeDocument/2006/relationships/slide" Target="../slides/slide5.xml"/><Relationship Id="Rcc17259384404007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bb728e0746a4d43" Type="http://schemas.openxmlformats.org/officeDocument/2006/relationships/notesMaster" Target="../notesMasters/notesMaster1.xml"/><Relationship Id="R91186d63a401493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da79554dbf2484e" Type="http://schemas.openxmlformats.org/officeDocument/2006/relationships/notesMaster" Target="../notesMasters/notesMaster1.xml"/><Relationship Id="Rea48a9f821274ee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Cíl: Rozhodnu, jakou roli má mít člověk a AI, a vytvořím prompt s cílem, kontextem, zdrojem a očekáváním.</a:t>
            </a:r>
          </a:p>
          <a:p xmlns:a="http://schemas.openxmlformats.org/drawingml/2006/main">
            <a:r>
              <a:t>Podklady: 04_delegacni_situace.csv, 04_promptova_dilna.txt</a:t>
            </a:r>
          </a:p>
          <a:p xmlns:a="http://schemas.openxmlformats.org/drawingml/2006/main">
            <a:r>
              <a:t>Výstup: Delegační plán jedné úlohy a tři verze promptu s porovnáním výstupů.</a:t>
            </a:r>
          </a:p>
          <a:p xmlns:a="http://schemas.openxmlformats.org/drawingml/2006/main">
            <a:r>
              <a:t>Před začátkem ověřte, že studenti mají otevřený digitální pracovní sešit a potřebné soubory.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Řekněte nahlas (cca 20 s): Učíme se postup, ne jedno tlačítko. Copilot je ukázka, protože ho škola poskytuje; stejný postup funguje i v jiném AI asistentovi. Podrobnosti pro učitele: příloha Přenesení hodin 4–6 na jiný AI nástroj.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0–6 minut.</a:t>
            </a:r>
          </a:p>
          <a:p xmlns:a="http://schemas.openxmlformats.org/drawingml/2006/main">
            <a:r>
              <a:t>Postup: Studenti rozhodnou o třech úlohách a pojmenují cenu špatné delegace.</a:t>
            </a:r>
          </a:p>
          <a:p xmlns:a="http://schemas.openxmlformats.org/drawingml/2006/main">
            <a:r>
              <a:t>Úvodní otázka: Když AI úkol zvládne, znamená to, že jí ho máme předat celý?</a:t>
            </a:r>
          </a:p>
          <a:p xmlns:a="http://schemas.openxmlformats.org/drawingml/2006/main">
            <a:r>
              <a:t>Neprozrazujte odpověď. Cílem je zachytit počáteční model studenta, ke kterému se vrátí při reflexi.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6–13 minut.</a:t>
            </a:r>
          </a:p>
          <a:p xmlns:a="http://schemas.openxmlformats.org/drawingml/2006/main">
            <a:r>
              <a:t>Postup: Propojte rozdělení rolí s rámcem goal, context, source, expectations.</a:t>
            </a:r>
          </a:p>
          <a:p xmlns:a="http://schemas.openxmlformats.org/drawingml/2006/main">
            <a:r>
              <a:t>Klíčové body: Delegation: Člověk vědomě určuje, co zůstane lidským úkolem a kterou část může provést AI. | Description: AI potřebuje jasný cíl, relevantní kontext, povolený zdroj a kontrolovatelná očekávání. | Iterace: Další prompt řeší konkrétně pojmenovanou slabinu, ne pouze žádá „udělej to lépe“.</a:t>
            </a:r>
          </a:p>
          <a:p xmlns:a="http://schemas.openxmlformats.org/drawingml/2006/main">
            <a:r>
              <a:t>Po každém pojmu vyžádejte jeden příklad a jeden protipříklad. Vysvětlení má používat způsob fungování, ne značku nástroje.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Podklady: 04_delegacni_situace.csv, 04_promptova_dilna.txt</a:t>
            </a:r>
          </a:p>
          <a:p xmlns:a="http://schemas.openxmlformats.org/drawingml/2006/main">
            <a:r>
              <a:t>1. V souboru 04_delegacni_situace.csv vyber jednu nízkorizikovou úlohu a rozděl role člověka a AI.</a:t>
            </a:r>
          </a:p>
          <a:p xmlns:a="http://schemas.openxmlformats.org/drawingml/2006/main">
            <a:r>
              <a:t>2. Otevři školní Copilot a spusť výchozí prompt ze souboru 04_promptova_dilna.txt.</a:t>
            </a:r>
          </a:p>
          <a:p xmlns:a="http://schemas.openxmlformats.org/drawingml/2006/main">
            <a:r>
              <a:t>3. Doplň cíl, kontext, zdroj a očekávání a spusť druhou verzi promptu.</a:t>
            </a:r>
          </a:p>
          <a:p xmlns:a="http://schemas.openxmlformats.org/drawingml/2006/main">
            <a:r>
              <a:t>4. Třetí iterací oprav jednu konkrétní slabinu a vysvětli, která změna měla největší vliv.</a:t>
            </a:r>
          </a:p>
          <a:p xmlns:a="http://schemas.openxmlformats.org/drawingml/2006/main">
            <a:r>
              <a:t>Požadovaný výstup: Delegační plán jedné úlohy a tři verze promptu s porovnáním výstupů.</a:t>
            </a:r>
          </a:p>
          <a:p xmlns:a="http://schemas.openxmlformats.org/drawingml/2006/main">
            <a:r>
              <a:t>Během práce pomáhejte otázkami, nepřebírejte myš ani tvorbu promptu. Vyžadujte průběžné ukládání výstupů a lidských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Kritérium: Student zohlední cíl učení, riziko a data; finální prompt jasně určí cíl, kontext, zdroj, formát a kritéria.</a:t>
            </a:r>
          </a:p>
          <a:p xmlns:a="http://schemas.openxmlformats.org/drawingml/2006/main">
            <a:r>
              <a:t>Vodicí otázky: Kterou dovednost má v této úloze procvičit člověk? | Má AI potřebné podklady, nebo ji nutíme mezery domýšlet? | Podle čeho poznáš, že úkol splnila?</a:t>
            </a:r>
          </a:p>
          <a:p xmlns:a="http://schemas.openxmlformats.org/drawingml/2006/main">
            <a:r>
              <a:t>Podpora: Použijte rozhodovací kartu cíl – riziko – data – ověření a doplňovací šablonu promptu.</a:t>
            </a:r>
          </a:p>
          <a:p xmlns:a="http://schemas.openxmlformats.org/drawingml/2006/main">
            <a:r>
              <a:t>Rozšíření: Navrhni dvě míry delegace stejné úlohy a porovnej jejich přínos pro učení.</a:t>
            </a:r>
          </a:p>
          <a:p xmlns:a="http://schemas.openxmlformats.org/drawingml/2006/main">
            <a:r>
              <a:t>Proveďte rychlou párovou kontrolu: jeden dobře doložený bod a jedna konkrétní otázka k dopracování.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Cíl učení: AI nemá odstranit dovednost, kterou se má student právě naučit. | Zdroj: Určuje podklady, z nichž má AI vycházet, a omezuje domýšlení chybějících faktů. | Očekávání: Definují formát, rozsah, omezení a kritéria, podle nichž výstup posoudíme.</a:t>
            </a:r>
          </a:p>
          <a:p xmlns:a="http://schemas.openxmlformats.org/drawingml/2006/main">
            <a:r>
              <a:t>Časté omyly: „Nejrychlejší postup je vždy nejlepší.“ → Vraťte volbu k cíli učení, ceně chyby a lidské odpovědnosti. | „Delší prompt je automaticky lepší.“ → Hodnoťte relevanci a jednoznačnost každé informace.</a:t>
            </a:r>
          </a:p>
          <a:p xmlns:a="http://schemas.openxmlformats.org/drawingml/2006/main">
            <a:r>
              <a:t>Nečtěte řešení slovo od slova. Porovnejte dva studentské postupy a nechte třídu určit, který má lepší důkazy nebo jasnější lidské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Kterou část školní práce bys AI záměrně nepředal/a, i kdyby ji zvládla rychleji?</a:t>
            </a:r>
          </a:p>
          <a:p xmlns:a="http://schemas.openxmlformats.org/drawingml/2006/main">
            <a:r>
              <a:t>Když technika selže: Použijte připravené modelové výstupy v pracovním sešitu a formulujte prompty bez živého Copilotu.</a:t>
            </a:r>
          </a:p>
          <a:p xmlns:a="http://schemas.openxmlformats.org/drawingml/2006/main">
            <a:r>
              <a:t>Odpovědi použijte jako diagnostiku pro začátek další hodiny. U hodiny 3 navazuje diagnostická brána; u hodiny 6 jde o součást závěrečné reflexe.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Anthropic, AI Fluency: https://www.anthropic.com/ai-fluency</a:t>
            </a:r>
          </a:p>
          <a:p xmlns:a="http://schemas.openxmlformats.org/drawingml/2006/main">
            <a:r>
              <a:t>Microsoft Support, Get started with Microsoft 365 Copilot prompts: https://support.microsoft.com/en-us/microsoft-365-copilot/get-started-writing-prompts-in-microsoft-365-copilot</a:t>
            </a:r>
          </a:p>
          <a:p xmlns:a="http://schemas.openxmlformats.org/drawingml/2006/main">
            <a:r>
              <a:t>Microsoft Support, Data protection when using Microsoft 365 Copilot Chat for work or school: https://support.microsoft.com/en-us/privacy/data-protection-when-using-microsoft-365-copilot-chat-for-work-or-school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61df925f67a471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abc5dc973cc4442" Type="http://schemas.openxmlformats.org/officeDocument/2006/relationships/slideLayout" Target="../slideLayouts/slideLayout1.xml"/><Relationship Id="Rd0c97bc4dbfa432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bc5dc973cc44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e6ef225f08749a0" Type="http://schemas.openxmlformats.org/officeDocument/2006/relationships/slideLayout" Target="../slideLayouts/slideLayout1.xml"/><Relationship Id="Rb8a6570dae4d4d4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d6f241c53b34fdc" Type="http://schemas.openxmlformats.org/officeDocument/2006/relationships/notesSlide" Target="../notesSlides/notesSlide2.xml"/><Relationship Id="Rea78ff2078e94d2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5563d6478f394b24" Type="http://schemas.openxmlformats.org/officeDocument/2006/relationships/slideLayout" Target="../slideLayouts/slideLayout1.xml"/><Relationship Id="Ra1c225f857704de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35206aeb08d4ded" Type="http://schemas.openxmlformats.org/officeDocument/2006/relationships/notesSlide" Target="../notesSlides/notesSlide4.xml"/><Relationship Id="Ra4b9b87d1c5c4eb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52f372f1d47470f" Type="http://schemas.openxmlformats.org/officeDocument/2006/relationships/slideLayout" Target="../slideLayouts/slideLayout1.xml"/><Relationship Id="Rf119cd36429c41ed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c58a8c5c365544f7" Type="http://schemas.openxmlformats.org/officeDocument/2006/relationships/notesSlide" Target="../notesSlides/notesSlide6.xml"/><Relationship Id="Re69c92518d07409d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711f5f63cf04fbb" Type="http://schemas.openxmlformats.org/officeDocument/2006/relationships/notesSlide" Target="../notesSlides/notesSlide7.xml"/><Relationship Id="R8369b85251ae4949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8CD7DDB-A4FE-41FD-9929-01D84F9D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402CC052-0151-45A3-AC4F-24901287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HODINA 4 / 6</a:t>
            </a:r>
          </a:p>
        </p:txBody>
      </p:sp>
      <p:sp>
        <p:nvSpPr>
          <p:cNvPr id="3" name="text-842-48">
            <a:extLst xmlns:a="http://schemas.openxmlformats.org/drawingml/2006/main">
              <a:ext uri="{FF2B5EF4-FFF2-40B4-BE49-F238E27FC236}">
                <a16:creationId xmlns:a16="http://schemas.microsoft.com/office/drawing/2014/main" id="{9C37FF85-C64A-436C-AEE6-0B53AA3D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"/>
            <a:ext cx="3305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AI FLUENCY</a:t>
            </a:r>
          </a:p>
        </p:txBody>
      </p:sp>
      <p:sp>
        <p:nvSpPr>
          <p:cNvPr id="4" name="text-54-245">
            <a:extLst xmlns:a="http://schemas.openxmlformats.org/drawingml/2006/main">
              <a:ext uri="{FF2B5EF4-FFF2-40B4-BE49-F238E27FC236}">
                <a16:creationId xmlns:a16="http://schemas.microsoft.com/office/drawing/2014/main" id="{4565845F-C992-48ED-A6E6-FA0CA6F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05727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Delegation a Description: co AI předat a jak ji zadat práci</a:t>
            </a:r>
          </a:p>
        </p:txBody>
      </p:sp>
      <p:sp>
        <p:nvSpPr>
          <p:cNvPr id="5" name="text-56-505">
            <a:extLst xmlns:a="http://schemas.openxmlformats.org/drawingml/2006/main">
              <a:ext uri="{FF2B5EF4-FFF2-40B4-BE49-F238E27FC236}">
                <a16:creationId xmlns:a16="http://schemas.microsoft.com/office/drawing/2014/main" id="{BB782BF2-941D-412D-86A7-388FDED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809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Rozhodnu, jakou roli má mít člověk a AI, a vytvořím prompt s cílem, kontextem, zdrojem a očekáváním.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897210D5-086D-4FB6-A855-B2CA7D0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6250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19">
            <a:extLst xmlns:a="http://schemas.openxmlformats.org/drawingml/2006/main">
              <a:ext uri="{FF2B5EF4-FFF2-40B4-BE49-F238E27FC236}">
                <a16:creationId xmlns:a16="http://schemas.microsoft.com/office/drawing/2014/main" id="{5B1ED930-9F29-490C-B7DD-0B66C3F0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43475"/>
            <a:ext cx="118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8" name="text-1065-596">
            <a:extLst xmlns:a="http://schemas.openxmlformats.org/drawingml/2006/main">
              <a:ext uri="{FF2B5EF4-FFF2-40B4-BE49-F238E27FC236}">
                <a16:creationId xmlns:a16="http://schemas.microsoft.com/office/drawing/2014/main" id="{1A98CC7E-2A92-4A05-90E9-5AE72EA6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769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E02CDC8B-43E1-4853-BD72-AA146EC1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06440"/>
            <a:ext cx="941832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Učíme se postup, ne jedno tlačítko. Copilot je tady jako ukázka — stejný postup zvládneš i v jiném AI asistentovi.</a:t>
            </a:r>
          </a:p>
        </p:txBody>
      </p:sp>
    </p:spTree>
    <p:extLst>
      <p:ext uri="{BB962C8B-B14F-4D97-AF65-F5344CB8AC3E}">
        <p14:creationId xmlns:p14="http://schemas.microsoft.com/office/powerpoint/2010/main" val="1544733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A82E0AD5-C432-4258-8142-696ACE9F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0–6 MIN · START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DDB74306-DC59-4A91-8E66-D68FEBA9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úsudkem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0367985-41C5-4614-8AD4-8E8FE869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0AB11AD3-3DEF-4C8C-92B3-D993453C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C2107F14-9ADD-4D0C-8A1F-1C9C012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4  /  2</a:t>
            </a:r>
          </a:p>
        </p:txBody>
      </p:sp>
      <p:sp>
        <p:nvSpPr>
          <p:cNvPr id="6" name="text-41-183">
            <a:extLst xmlns:a="http://schemas.openxmlformats.org/drawingml/2006/main">
              <a:ext uri="{FF2B5EF4-FFF2-40B4-BE49-F238E27FC236}">
                <a16:creationId xmlns:a16="http://schemas.microsoft.com/office/drawing/2014/main" id="{E62C92D3-E873-4D02-AD82-A1441DD8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906125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Když AI úkol zvládne, znamená to, že jí ho máme předat celý?</a:t>
            </a:r>
          </a:p>
        </p:txBody>
      </p:sp>
      <p:sp>
        <p:nvSpPr>
          <p:cNvPr id="7" name="hook-panel">
            <a:extLst xmlns:a="http://schemas.openxmlformats.org/drawingml/2006/main">
              <a:ext uri="{FF2B5EF4-FFF2-40B4-BE49-F238E27FC236}">
                <a16:creationId xmlns:a16="http://schemas.microsoft.com/office/drawing/2014/main" id="{6C35A163-2C66-49E9-B206-53405D08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11410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9-473">
            <a:extLst xmlns:a="http://schemas.openxmlformats.org/drawingml/2006/main">
              <a:ext uri="{FF2B5EF4-FFF2-40B4-BE49-F238E27FC236}">
                <a16:creationId xmlns:a16="http://schemas.microsoft.com/office/drawing/2014/main" id="{DC561F09-A06F-4F69-8B0F-6263F500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text-121-472">
            <a:extLst xmlns:a="http://schemas.openxmlformats.org/drawingml/2006/main">
              <a:ext uri="{FF2B5EF4-FFF2-40B4-BE49-F238E27FC236}">
                <a16:creationId xmlns:a16="http://schemas.microsoft.com/office/drawing/2014/main" id="{09DF0D24-127C-475A-9AA7-CBBCBB47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95800"/>
            <a:ext cx="2476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10" name="text-121-518">
            <a:extLst xmlns:a="http://schemas.openxmlformats.org/drawingml/2006/main">
              <a:ext uri="{FF2B5EF4-FFF2-40B4-BE49-F238E27FC236}">
                <a16:creationId xmlns:a16="http://schemas.microsoft.com/office/drawing/2014/main" id="{D9080DB8-66F2-4EEE-828E-2C5B3984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33950"/>
            <a:ext cx="2476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Zapiš konkrétní důvod.</a:t>
            </a:r>
          </a:p>
        </p:txBody>
      </p:sp>
      <p:sp>
        <p:nvSpPr>
          <p:cNvPr id="11" name="text-459-473">
            <a:extLst xmlns:a="http://schemas.openxmlformats.org/drawingml/2006/main">
              <a:ext uri="{FF2B5EF4-FFF2-40B4-BE49-F238E27FC236}">
                <a16:creationId xmlns:a16="http://schemas.microsoft.com/office/drawing/2014/main" id="{712C971D-5039-41D0-A27E-9731F613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text-511-472">
            <a:extLst xmlns:a="http://schemas.openxmlformats.org/drawingml/2006/main">
              <a:ext uri="{FF2B5EF4-FFF2-40B4-BE49-F238E27FC236}">
                <a16:creationId xmlns:a16="http://schemas.microsoft.com/office/drawing/2014/main" id="{7E3E49F8-76DA-4A95-8E52-3C8AC5AF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95800"/>
            <a:ext cx="29527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3" name="text-511-518">
            <a:extLst xmlns:a="http://schemas.openxmlformats.org/drawingml/2006/main">
              <a:ext uri="{FF2B5EF4-FFF2-40B4-BE49-F238E27FC236}">
                <a16:creationId xmlns:a16="http://schemas.microsoft.com/office/drawing/2014/main" id="{8220AC17-B8AC-44EE-8C41-12E329D1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33950"/>
            <a:ext cx="2952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Najděte bod neshody.</a:t>
            </a:r>
          </a:p>
        </p:txBody>
      </p:sp>
      <p:sp>
        <p:nvSpPr>
          <p:cNvPr id="14" name="text-900-473">
            <a:extLst xmlns:a="http://schemas.openxmlformats.org/drawingml/2006/main">
              <a:ext uri="{FF2B5EF4-FFF2-40B4-BE49-F238E27FC236}">
                <a16:creationId xmlns:a16="http://schemas.microsoft.com/office/drawing/2014/main" id="{AA9A0088-5A22-462D-9859-69F6590C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text-952-472">
            <a:extLst xmlns:a="http://schemas.openxmlformats.org/drawingml/2006/main">
              <a:ext uri="{FF2B5EF4-FFF2-40B4-BE49-F238E27FC236}">
                <a16:creationId xmlns:a16="http://schemas.microsoft.com/office/drawing/2014/main" id="{D62F182C-0B1B-4C37-9BF5-FE5ECF13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3812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6" name="text-952-518">
            <a:extLst xmlns:a="http://schemas.openxmlformats.org/drawingml/2006/main">
              <a:ext uri="{FF2B5EF4-FFF2-40B4-BE49-F238E27FC236}">
                <a16:creationId xmlns:a16="http://schemas.microsoft.com/office/drawing/2014/main" id="{77C83873-098D-44B6-AFF6-9D0E249F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33950"/>
            <a:ext cx="2381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by změnilo volbu?</a:t>
            </a:r>
          </a:p>
        </p:txBody>
      </p:sp>
    </p:spTree>
    <p:extLst>
      <p:ext uri="{BB962C8B-B14F-4D97-AF65-F5344CB8AC3E}">
        <p14:creationId xmlns:p14="http://schemas.microsoft.com/office/powerpoint/2010/main" val="382506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8D464544-8508-4E35-939B-C2964F18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6–13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784A6575-DEA4-439B-AF84-3D8F1C6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E12FD48-D2EE-4387-B29C-70F507EB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A790305C-E5B6-4428-B4B6-107A2B27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915A5DCA-662B-4844-AAD1-BD29135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4  /  3</a:t>
            </a:r>
          </a:p>
        </p:txBody>
      </p:sp>
      <p:sp>
        <p:nvSpPr>
          <p:cNvPr id="6" name="text-41-175">
            <a:extLst xmlns:a="http://schemas.openxmlformats.org/drawingml/2006/main">
              <a:ext uri="{FF2B5EF4-FFF2-40B4-BE49-F238E27FC236}">
                <a16:creationId xmlns:a16="http://schemas.microsoft.com/office/drawing/2014/main" id="{3DC7C7C9-F167-42E9-97A0-E79D45A0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65">
            <a:extLst xmlns:a="http://schemas.openxmlformats.org/drawingml/2006/main">
              <a:ext uri="{FF2B5EF4-FFF2-40B4-BE49-F238E27FC236}">
                <a16:creationId xmlns:a16="http://schemas.microsoft.com/office/drawing/2014/main" id="{AE0C271C-D8AC-433A-8D3A-80C3A61A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Delegation</a:t>
            </a:r>
          </a:p>
        </p:txBody>
      </p:sp>
      <p:sp>
        <p:nvSpPr>
          <p:cNvPr id="8" name="text-41-356">
            <a:extLst xmlns:a="http://schemas.openxmlformats.org/drawingml/2006/main">
              <a:ext uri="{FF2B5EF4-FFF2-40B4-BE49-F238E27FC236}">
                <a16:creationId xmlns:a16="http://schemas.microsoft.com/office/drawing/2014/main" id="{25D7BE8D-F4FB-4E7F-AEC7-04E40975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Člověk vědomě určuje, co zůstane lidským úkolem a kterou část může provést AI.</a:t>
            </a:r>
          </a:p>
        </p:txBody>
      </p:sp>
      <p:sp>
        <p:nvSpPr>
          <p:cNvPr id="9" name="text-453-175">
            <a:extLst xmlns:a="http://schemas.openxmlformats.org/drawingml/2006/main">
              <a:ext uri="{FF2B5EF4-FFF2-40B4-BE49-F238E27FC236}">
                <a16:creationId xmlns:a16="http://schemas.microsoft.com/office/drawing/2014/main" id="{DBD47399-70EF-49F1-94C8-882EBD6A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65">
            <a:extLst xmlns:a="http://schemas.openxmlformats.org/drawingml/2006/main">
              <a:ext uri="{FF2B5EF4-FFF2-40B4-BE49-F238E27FC236}">
                <a16:creationId xmlns:a16="http://schemas.microsoft.com/office/drawing/2014/main" id="{0D78B66E-6607-492A-9A13-226923EA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Description</a:t>
            </a:r>
          </a:p>
        </p:txBody>
      </p:sp>
      <p:sp>
        <p:nvSpPr>
          <p:cNvPr id="11" name="text-453-356">
            <a:extLst xmlns:a="http://schemas.openxmlformats.org/drawingml/2006/main">
              <a:ext uri="{FF2B5EF4-FFF2-40B4-BE49-F238E27FC236}">
                <a16:creationId xmlns:a16="http://schemas.microsoft.com/office/drawing/2014/main" id="{260EC254-2DD2-4193-8CF3-AC508131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AI potřebuje jasný cíl, relevantní kontext, povolený zdroj a kontrolovatelná očekávání.</a:t>
            </a:r>
          </a:p>
        </p:txBody>
      </p:sp>
      <p:sp>
        <p:nvSpPr>
          <p:cNvPr id="12" name="text-865-175">
            <a:extLst xmlns:a="http://schemas.openxmlformats.org/drawingml/2006/main">
              <a:ext uri="{FF2B5EF4-FFF2-40B4-BE49-F238E27FC236}">
                <a16:creationId xmlns:a16="http://schemas.microsoft.com/office/drawing/2014/main" id="{195800DA-7467-4430-81B9-4ABD5E1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65">
            <a:extLst xmlns:a="http://schemas.openxmlformats.org/drawingml/2006/main">
              <a:ext uri="{FF2B5EF4-FFF2-40B4-BE49-F238E27FC236}">
                <a16:creationId xmlns:a16="http://schemas.microsoft.com/office/drawing/2014/main" id="{FDD3FD15-368E-4ADC-B4C7-DEFE5CA7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Iterace</a:t>
            </a:r>
          </a:p>
        </p:txBody>
      </p:sp>
      <p:sp>
        <p:nvSpPr>
          <p:cNvPr id="14" name="text-865-356">
            <a:extLst xmlns:a="http://schemas.openxmlformats.org/drawingml/2006/main">
              <a:ext uri="{FF2B5EF4-FFF2-40B4-BE49-F238E27FC236}">
                <a16:creationId xmlns:a16="http://schemas.microsoft.com/office/drawing/2014/main" id="{DF23E260-78E7-4974-BA2C-0E278AC0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Další prompt řeší konkrétně pojmenovanou slabinu, ne pouze žádá „udělej to lépe“.</a:t>
            </a:r>
          </a:p>
        </p:txBody>
      </p:sp>
      <p:sp>
        <p:nvSpPr>
          <p:cNvPr id="15" name="key-rule">
            <a:extLst xmlns:a="http://schemas.openxmlformats.org/drawingml/2006/main">
              <a:ext uri="{FF2B5EF4-FFF2-40B4-BE49-F238E27FC236}">
                <a16:creationId xmlns:a16="http://schemas.microsoft.com/office/drawing/2014/main" id="{987511E3-58AC-423C-897D-A02E9D4C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E02CDC8B-43E1-4853-BD72-AA146EC1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67375"/>
            <a:ext cx="114109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AI rozšiřuje možnosti; lidský úsudek určuje cíl, kontrolu a použití.</a:t>
            </a:r>
          </a:p>
        </p:txBody>
      </p:sp>
    </p:spTree>
    <p:extLst>
      <p:ext uri="{BB962C8B-B14F-4D97-AF65-F5344CB8AC3E}">
        <p14:creationId xmlns:p14="http://schemas.microsoft.com/office/powerpoint/2010/main" val="594775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C8F6814F-7ED7-496B-AF8F-DD4E195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PRÁCE · PODLE METODIKY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D203FFBC-DBA0-4C8A-8F02-0964131B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69B4078-4110-497A-8930-231E84AF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A85D3F7F-5BD3-4F51-9EC0-6FF9395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E132319F-C848-4393-9FE1-2CFA0BE6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4  /  4</a:t>
            </a:r>
          </a:p>
        </p:txBody>
      </p:sp>
      <p:sp>
        <p:nvSpPr>
          <p:cNvPr id="6" name="text-41-158">
            <a:extLst xmlns:a="http://schemas.openxmlformats.org/drawingml/2006/main">
              <a:ext uri="{FF2B5EF4-FFF2-40B4-BE49-F238E27FC236}">
                <a16:creationId xmlns:a16="http://schemas.microsoft.com/office/drawing/2014/main" id="{963DEDA4-885D-47D4-8941-A21780F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3811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195">
            <a:extLst xmlns:a="http://schemas.openxmlformats.org/drawingml/2006/main">
              <a:ext uri="{FF2B5EF4-FFF2-40B4-BE49-F238E27FC236}">
                <a16:creationId xmlns:a16="http://schemas.microsoft.com/office/drawing/2014/main" id="{537896F7-05E6-4C11-A8DC-7EAEB486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57375"/>
            <a:ext cx="110490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04_delegacni_situace.csv · 04_promptova_dilna.txt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B64C47E1-58BF-42BE-8F78-A87A6EF5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2-296">
            <a:extLst xmlns:a="http://schemas.openxmlformats.org/drawingml/2006/main">
              <a:ext uri="{FF2B5EF4-FFF2-40B4-BE49-F238E27FC236}">
                <a16:creationId xmlns:a16="http://schemas.microsoft.com/office/drawing/2014/main" id="{3A6C6951-4295-4FE0-8260-0140BE43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130-297">
            <a:extLst xmlns:a="http://schemas.openxmlformats.org/drawingml/2006/main">
              <a:ext uri="{FF2B5EF4-FFF2-40B4-BE49-F238E27FC236}">
                <a16:creationId xmlns:a16="http://schemas.microsoft.com/office/drawing/2014/main" id="{07354E43-40B1-43C8-B844-D9CA6C5E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 souboru 04_delegacni_situace.csv vyber jednu nízkorizikovou úlohu a rozděl role člověka a AI.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7C528815-98D3-4631-B207-7C4BC3E7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78-296">
            <a:extLst xmlns:a="http://schemas.openxmlformats.org/drawingml/2006/main">
              <a:ext uri="{FF2B5EF4-FFF2-40B4-BE49-F238E27FC236}">
                <a16:creationId xmlns:a16="http://schemas.microsoft.com/office/drawing/2014/main" id="{0F6CD49D-C78E-4D12-9125-CFB5164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text-746-297">
            <a:extLst xmlns:a="http://schemas.openxmlformats.org/drawingml/2006/main">
              <a:ext uri="{FF2B5EF4-FFF2-40B4-BE49-F238E27FC236}">
                <a16:creationId xmlns:a16="http://schemas.microsoft.com/office/drawing/2014/main" id="{E7C950F2-1498-4A7B-9A5C-3EF6EC79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Otevři školní Copilot a spusť výchozí prompt ze souboru 04_promptova_dilna.txt.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FA64A298-7AE1-47D7-A406-13568CE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2-457">
            <a:extLst xmlns:a="http://schemas.openxmlformats.org/drawingml/2006/main">
              <a:ext uri="{FF2B5EF4-FFF2-40B4-BE49-F238E27FC236}">
                <a16:creationId xmlns:a16="http://schemas.microsoft.com/office/drawing/2014/main" id="{9A2828A0-9D79-4B25-8817-9668679B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text-130-458">
            <a:extLst xmlns:a="http://schemas.openxmlformats.org/drawingml/2006/main">
              <a:ext uri="{FF2B5EF4-FFF2-40B4-BE49-F238E27FC236}">
                <a16:creationId xmlns:a16="http://schemas.microsoft.com/office/drawing/2014/main" id="{B981F359-81A6-4A39-BEB0-D3025D65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Doplň cíl, kontext, zdroj a očekávání a spusť druhou verzi promptu.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D0DA4FFF-396B-4C31-8B4F-26EE8008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78-457">
            <a:extLst xmlns:a="http://schemas.openxmlformats.org/drawingml/2006/main">
              <a:ext uri="{FF2B5EF4-FFF2-40B4-BE49-F238E27FC236}">
                <a16:creationId xmlns:a16="http://schemas.microsoft.com/office/drawing/2014/main" id="{DE6099FC-D9B1-40B6-A330-45DA3B96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text-746-458">
            <a:extLst xmlns:a="http://schemas.openxmlformats.org/drawingml/2006/main">
              <a:ext uri="{FF2B5EF4-FFF2-40B4-BE49-F238E27FC236}">
                <a16:creationId xmlns:a16="http://schemas.microsoft.com/office/drawing/2014/main" id="{2EC60206-7EE1-433E-9F51-8A35EDD0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Třetí iterací oprav jednu konkrétní slabinu a vysvětli, která změna měla největší vliv.</a:t>
            </a:r>
          </a:p>
        </p:txBody>
      </p:sp>
    </p:spTree>
    <p:extLst>
      <p:ext uri="{BB962C8B-B14F-4D97-AF65-F5344CB8AC3E}">
        <p14:creationId xmlns:p14="http://schemas.microsoft.com/office/powerpoint/2010/main" val="1480293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062D794C-8D14-4FA8-8CBF-C9855AD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7C9957DD-5686-4AE6-B8D4-C07F34D1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4A94B113-0BE3-49F7-8310-8BC1A80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86264456-D8E6-4F1E-BFFD-83C7C72C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75DFFF72-7FBD-42FB-AB28-C2C902DE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4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D2BA7ECF-29C6-445D-BAFF-AB8F6B54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4-202">
            <a:extLst xmlns:a="http://schemas.openxmlformats.org/drawingml/2006/main">
              <a:ext uri="{FF2B5EF4-FFF2-40B4-BE49-F238E27FC236}">
                <a16:creationId xmlns:a16="http://schemas.microsoft.com/office/drawing/2014/main" id="{7F2FEB5E-6D19-4033-8207-8519EFC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3-203">
            <a:extLst xmlns:a="http://schemas.openxmlformats.org/drawingml/2006/main">
              <a:ext uri="{FF2B5EF4-FFF2-40B4-BE49-F238E27FC236}">
                <a16:creationId xmlns:a16="http://schemas.microsoft.com/office/drawing/2014/main" id="{C0F1E914-3D3E-4A70-84E3-8E8493E4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Cíl</a:t>
            </a:r>
          </a:p>
        </p:txBody>
      </p:sp>
      <p:sp>
        <p:nvSpPr>
          <p:cNvPr id="9" name="text-123-253">
            <a:extLst xmlns:a="http://schemas.openxmlformats.org/drawingml/2006/main">
              <a:ext uri="{FF2B5EF4-FFF2-40B4-BE49-F238E27FC236}">
                <a16:creationId xmlns:a16="http://schemas.microsoft.com/office/drawing/2014/main" id="{377F9781-1AA1-47AE-9A97-EB71D9F0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Student zohlední cíl učení, riziko a data; finální prompt jasně určí cíl, kontext, zdroj, formát a kritéria.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6D76C1E9-4CE7-43D2-8EA7-9AA4EEB6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0-202">
            <a:extLst xmlns:a="http://schemas.openxmlformats.org/drawingml/2006/main">
              <a:ext uri="{FF2B5EF4-FFF2-40B4-BE49-F238E27FC236}">
                <a16:creationId xmlns:a16="http://schemas.microsoft.com/office/drawing/2014/main" id="{A5499EBB-5A99-414F-A8F8-FE61D5F2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39-203">
            <a:extLst xmlns:a="http://schemas.openxmlformats.org/drawingml/2006/main">
              <a:ext uri="{FF2B5EF4-FFF2-40B4-BE49-F238E27FC236}">
                <a16:creationId xmlns:a16="http://schemas.microsoft.com/office/drawing/2014/main" id="{53A6B7EF-16D4-41E0-B2FB-3F10EEE1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39-253">
            <a:extLst xmlns:a="http://schemas.openxmlformats.org/drawingml/2006/main">
              <a:ext uri="{FF2B5EF4-FFF2-40B4-BE49-F238E27FC236}">
                <a16:creationId xmlns:a16="http://schemas.microsoft.com/office/drawing/2014/main" id="{36AEABFE-D7BC-4229-B91A-F7E4A38B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Kterou dovednost má v této úloze procvičit člověk?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62D34281-0E37-4CB5-9350-A3A8DBD3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-420">
            <a:extLst xmlns:a="http://schemas.openxmlformats.org/drawingml/2006/main">
              <a:ext uri="{FF2B5EF4-FFF2-40B4-BE49-F238E27FC236}">
                <a16:creationId xmlns:a16="http://schemas.microsoft.com/office/drawing/2014/main" id="{4DAF414D-ACC6-44F5-A0A5-C8A448C6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3-421">
            <a:extLst xmlns:a="http://schemas.openxmlformats.org/drawingml/2006/main">
              <a:ext uri="{FF2B5EF4-FFF2-40B4-BE49-F238E27FC236}">
                <a16:creationId xmlns:a16="http://schemas.microsoft.com/office/drawing/2014/main" id="{2567F270-12C7-4CC0-8097-6D47575D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3-471">
            <a:extLst xmlns:a="http://schemas.openxmlformats.org/drawingml/2006/main">
              <a:ext uri="{FF2B5EF4-FFF2-40B4-BE49-F238E27FC236}">
                <a16:creationId xmlns:a16="http://schemas.microsoft.com/office/drawing/2014/main" id="{0F1720ED-9230-4392-8F58-2780BAC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Má AI potřebné podklady, nebo ji nutíme mezery domýšlet?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9051DD97-E8C7-41CD-87B8-80EE117F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0-420">
            <a:extLst xmlns:a="http://schemas.openxmlformats.org/drawingml/2006/main">
              <a:ext uri="{FF2B5EF4-FFF2-40B4-BE49-F238E27FC236}">
                <a16:creationId xmlns:a16="http://schemas.microsoft.com/office/drawing/2014/main" id="{A048C918-3D59-4007-A50A-847F9FFA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39-421">
            <a:extLst xmlns:a="http://schemas.openxmlformats.org/drawingml/2006/main">
              <a:ext uri="{FF2B5EF4-FFF2-40B4-BE49-F238E27FC236}">
                <a16:creationId xmlns:a16="http://schemas.microsoft.com/office/drawing/2014/main" id="{F576516C-C077-4607-BC2F-59EF724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Odpovědnost</a:t>
            </a:r>
          </a:p>
        </p:txBody>
      </p:sp>
      <p:sp>
        <p:nvSpPr>
          <p:cNvPr id="21" name="text-739-471">
            <a:extLst xmlns:a="http://schemas.openxmlformats.org/drawingml/2006/main">
              <a:ext uri="{FF2B5EF4-FFF2-40B4-BE49-F238E27FC236}">
                <a16:creationId xmlns:a16="http://schemas.microsoft.com/office/drawing/2014/main" id="{CD7CD0A3-6E2D-4307-AFE6-14F5EDA2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Podle čeho poznáš, že úkol splnila?</a:t>
            </a:r>
          </a:p>
        </p:txBody>
      </p:sp>
    </p:spTree>
    <p:extLst>
      <p:ext uri="{BB962C8B-B14F-4D97-AF65-F5344CB8AC3E}">
        <p14:creationId xmlns:p14="http://schemas.microsoft.com/office/powerpoint/2010/main" val="1278799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E654EDD-07C6-4532-9ED3-3FBF6EB8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35–41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EA881D94-0AB8-42E7-BB62-7FD16DC0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má být ve výsledku vidět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1D572F6-6DA6-44D5-A2E1-68917C54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83301553-9695-47DA-A500-37CE5E07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9281B821-2EFE-4BD3-9E77-6C73874D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4  /  6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FC8BF90A-A2AE-49E4-BE8C-030B7452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Cíl učení</a:t>
            </a:r>
          </a:p>
        </p:txBody>
      </p:sp>
      <p:sp>
        <p:nvSpPr>
          <p:cNvPr id="7" name="text-260-188">
            <a:extLst xmlns:a="http://schemas.openxmlformats.org/drawingml/2006/main">
              <a:ext uri="{FF2B5EF4-FFF2-40B4-BE49-F238E27FC236}">
                <a16:creationId xmlns:a16="http://schemas.microsoft.com/office/drawing/2014/main" id="{CF15176C-35C0-4AF4-A13D-77AF5F0F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AI nemá odstranit dovednost, kterou se má student právě naučit.</a:t>
            </a:r>
          </a:p>
        </p:txBody>
      </p:sp>
      <p:sp>
        <p:nvSpPr>
          <p:cNvPr id="8" name="text-41-303">
            <a:extLst xmlns:a="http://schemas.openxmlformats.org/drawingml/2006/main">
              <a:ext uri="{FF2B5EF4-FFF2-40B4-BE49-F238E27FC236}">
                <a16:creationId xmlns:a16="http://schemas.microsoft.com/office/drawing/2014/main" id="{9D116DAC-6A51-4C0F-A4E4-52F9FD58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86075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Zdroj</a:t>
            </a:r>
          </a:p>
        </p:txBody>
      </p:sp>
      <p:sp>
        <p:nvSpPr>
          <p:cNvPr id="9" name="text-260-303">
            <a:extLst xmlns:a="http://schemas.openxmlformats.org/drawingml/2006/main">
              <a:ext uri="{FF2B5EF4-FFF2-40B4-BE49-F238E27FC236}">
                <a16:creationId xmlns:a16="http://schemas.microsoft.com/office/drawing/2014/main" id="{EC6DFAB5-3515-4616-B28D-F785BF8E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86075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Určuje podklady, z nichž má AI vycházet, a omezuje domýšlení chybějících faktů.</a:t>
            </a:r>
          </a:p>
        </p:txBody>
      </p:sp>
      <p:sp>
        <p:nvSpPr>
          <p:cNvPr id="10" name="text-41-418">
            <a:extLst xmlns:a="http://schemas.openxmlformats.org/drawingml/2006/main">
              <a:ext uri="{FF2B5EF4-FFF2-40B4-BE49-F238E27FC236}">
                <a16:creationId xmlns:a16="http://schemas.microsoft.com/office/drawing/2014/main" id="{6971C6D6-58DD-4DF3-832D-783980DE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Očekávání</a:t>
            </a:r>
          </a:p>
        </p:txBody>
      </p:sp>
      <p:sp>
        <p:nvSpPr>
          <p:cNvPr id="11" name="text-260-418">
            <a:extLst xmlns:a="http://schemas.openxmlformats.org/drawingml/2006/main">
              <a:ext uri="{FF2B5EF4-FFF2-40B4-BE49-F238E27FC236}">
                <a16:creationId xmlns:a16="http://schemas.microsoft.com/office/drawing/2014/main" id="{AFDE8CB7-5EC0-4402-9C0D-156ACBFE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Definují formát, rozsah, omezení a kritéria, podle nichž výstup posoudíme.</a:t>
            </a:r>
          </a:p>
        </p:txBody>
      </p:sp>
      <p:sp>
        <p:nvSpPr>
          <p:cNvPr id="12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006C023-1764-47D6-BDC5-631F2456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90-205">
            <a:extLst xmlns:a="http://schemas.openxmlformats.org/drawingml/2006/main">
              <a:ext uri="{FF2B5EF4-FFF2-40B4-BE49-F238E27FC236}">
                <a16:creationId xmlns:a16="http://schemas.microsoft.com/office/drawing/2014/main" id="{1E7051B4-1E80-4A98-A2F7-69B1345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4" name="text-690-265">
            <a:extLst xmlns:a="http://schemas.openxmlformats.org/drawingml/2006/main">
              <a:ext uri="{FF2B5EF4-FFF2-40B4-BE49-F238E27FC236}">
                <a16:creationId xmlns:a16="http://schemas.microsoft.com/office/drawing/2014/main" id="{7FC1CFA2-D924-4E56-BB16-46C90A33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„Nejrychlejší postup je vždy nejlepší.“</a:t>
            </a:r>
          </a:p>
        </p:txBody>
      </p:sp>
      <p:sp>
        <p:nvSpPr>
          <p:cNvPr id="15" name="text-690-389">
            <a:extLst xmlns:a="http://schemas.openxmlformats.org/drawingml/2006/main">
              <a:ext uri="{FF2B5EF4-FFF2-40B4-BE49-F238E27FC236}">
                <a16:creationId xmlns:a16="http://schemas.microsoft.com/office/drawing/2014/main" id="{D829A08A-A321-49C6-9081-173227EA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686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Vraťte volbu k cíli učení, ceně chyby a lidské odpovědnosti.</a:t>
            </a:r>
          </a:p>
        </p:txBody>
      </p:sp>
      <p:sp>
        <p:nvSpPr>
          <p:cNvPr id="16" name="text-41-575">
            <a:extLst xmlns:a="http://schemas.openxmlformats.org/drawingml/2006/main">
              <a:ext uri="{FF2B5EF4-FFF2-40B4-BE49-F238E27FC236}">
                <a16:creationId xmlns:a16="http://schemas.microsoft.com/office/drawing/2014/main" id="{A8C4B0C1-5053-4FC3-800F-39E48F6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 odpovědi. Co bys teď změnil/a — a proč?</a:t>
            </a:r>
          </a:p>
        </p:txBody>
      </p:sp>
    </p:spTree>
    <p:extLst>
      <p:ext uri="{BB962C8B-B14F-4D97-AF65-F5344CB8AC3E}">
        <p14:creationId xmlns:p14="http://schemas.microsoft.com/office/powerpoint/2010/main" val="1136407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F935C339-098E-4B1C-9901-3A757CC8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65E26CAD-EC71-49B4-9412-6F68E174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HODINA 4 · POSLEDNÍ 3 MINUTY</a:t>
            </a:r>
          </a:p>
        </p:txBody>
      </p:sp>
      <p:sp>
        <p:nvSpPr>
          <p:cNvPr id="3" name="text-54-151">
            <a:extLst xmlns:a="http://schemas.openxmlformats.org/drawingml/2006/main">
              <a:ext uri="{FF2B5EF4-FFF2-40B4-BE49-F238E27FC236}">
                <a16:creationId xmlns:a16="http://schemas.microsoft.com/office/drawing/2014/main" id="{B6531C0B-7219-4478-9F7A-573AD6FD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619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CD9C8893-6C42-4CEE-A0D1-94A77BA8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Kterou část školní práce bys AI záměrně nepředal/a, i kdyby ji zvládla rychleji?</a:t>
            </a:r>
          </a:p>
        </p:txBody>
      </p:sp>
      <p:sp>
        <p:nvSpPr>
          <p:cNvPr id="5" name="exit-rule">
            <a:extLst xmlns:a="http://schemas.openxmlformats.org/drawingml/2006/main">
              <a:ext uri="{FF2B5EF4-FFF2-40B4-BE49-F238E27FC236}">
                <a16:creationId xmlns:a16="http://schemas.microsoft.com/office/drawing/2014/main" id="{938A3127-91AD-43D7-9094-72888EAF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5">
            <a:extLst xmlns:a="http://schemas.openxmlformats.org/drawingml/2006/main">
              <a:ext uri="{FF2B5EF4-FFF2-40B4-BE49-F238E27FC236}">
                <a16:creationId xmlns:a16="http://schemas.microsoft.com/office/drawing/2014/main" id="{67602B44-A1F6-40AB-93F9-A86DAD3B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909637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důvod nebo krok.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7C980032-F901-4F2E-9439-79453424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C24D4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8412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2026-07-24T15:48:08.7560000Z</dcterms:created>
  <dcterms:modified xsi:type="dcterms:W3CDTF">2026-07-24T15:48:08.7560000Z</dcterms:modified>
</coreProperties>
</file>