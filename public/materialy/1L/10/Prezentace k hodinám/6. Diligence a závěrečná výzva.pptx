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</Types>
</file>

<file path=_rels/.rels><?xml version='1.0' encoding='UTF-8' standalone='yes'?>
<Relationships xmlns="http://schemas.openxmlformats.org/package/2006/relationships"><Relationship Id="R217bc7b573f54910" Type="http://schemas.openxmlformats.org/officeDocument/2006/relationships/officeDocument" Target="ppt/presentation.xml"/><Relationship Id="R767e576b463a4d1a" Type="http://schemas.openxmlformats.org/package/2006/relationships/metadata/core-properties" Target="docProps/core.xml"/><Relationship Id="Rbc4486553ea548cb" Type="http://schemas.openxmlformats.org/officeDocument/2006/relationships/extended-properties" Target="docProps/app.xml"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b2fc13e123d44a88"/>
  </p:sldMasterIdLst>
  <p:notesMasterIdLst>
    <p:notesMasterId xmlns:r="http://schemas.openxmlformats.org/officeDocument/2006/relationships" r:id="R650b21c5ce1d4882"/>
  </p:notesMasterIdLst>
  <p:sldIdLst>
    <p:sldId xmlns:r="http://schemas.openxmlformats.org/officeDocument/2006/relationships" id="256" r:id="Re83cc589345b4053"/>
    <p:sldId xmlns:r="http://schemas.openxmlformats.org/officeDocument/2006/relationships" id="257" r:id="R5eac0e20dd604ff2"/>
    <p:sldId xmlns:r="http://schemas.openxmlformats.org/officeDocument/2006/relationships" id="258" r:id="R55c373618d4c4e88"/>
    <p:sldId xmlns:r="http://schemas.openxmlformats.org/officeDocument/2006/relationships" id="259" r:id="Rc3c0fbf77ada4ffe"/>
    <p:sldId xmlns:r="http://schemas.openxmlformats.org/officeDocument/2006/relationships" id="260" r:id="R1c7d1a7414e54173"/>
    <p:sldId xmlns:r="http://schemas.openxmlformats.org/officeDocument/2006/relationships" id="261" r:id="Ra656e61f78154912"/>
    <p:sldId xmlns:r="http://schemas.openxmlformats.org/officeDocument/2006/relationships" id="262" r:id="R76ade6fd4e6442b7"/>
  </p:sldIdLst>
  <p:sldSz cx="12192000" cy="6858000"/>
  <p:notesSz cx="6858000" cy="9144000"/>
  <p:defaultTextStyle>
    <a:defPPr xmlns:a="http://schemas.openxmlformats.org/drawingml/2006/main">
      <a:defRPr lang="en-US"/>
    </a:defPPr>
    <a:lvl1pPr xmlns:a="http://schemas.openxmlformats.org/drawingml/2006/main" marL="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1pPr>
    <a:lvl2pPr xmlns:a="http://schemas.openxmlformats.org/drawingml/2006/main" marL="457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2pPr>
    <a:lvl3pPr xmlns:a="http://schemas.openxmlformats.org/drawingml/2006/main" marL="914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3pPr>
    <a:lvl4pPr xmlns:a="http://schemas.openxmlformats.org/drawingml/2006/main" marL="1371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4pPr>
    <a:lvl5pPr xmlns:a="http://schemas.openxmlformats.org/drawingml/2006/main" marL="18288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5pPr>
    <a:lvl6pPr xmlns:a="http://schemas.openxmlformats.org/drawingml/2006/main" marL="22860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6pPr>
    <a:lvl7pPr xmlns:a="http://schemas.openxmlformats.org/drawingml/2006/main" marL="2743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7pPr>
    <a:lvl8pPr xmlns:a="http://schemas.openxmlformats.org/drawingml/2006/main" marL="3200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8pPr>
    <a:lvl9pPr xmlns:a="http://schemas.openxmlformats.org/drawingml/2006/main" marL="3657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<?xml version='1.0' encoding='UTF-8' standalone='yes'?>
<Relationships xmlns="http://schemas.openxmlformats.org/package/2006/relationships"><Relationship Id="R1c7d1a7414e54173" Type="http://schemas.openxmlformats.org/officeDocument/2006/relationships/slide" Target="slides/slide5.xml"/><Relationship Id="R55c373618d4c4e88" Type="http://schemas.openxmlformats.org/officeDocument/2006/relationships/slide" Target="slides/slide3.xml"/><Relationship Id="R5eac0e20dd604ff2" Type="http://schemas.openxmlformats.org/officeDocument/2006/relationships/slide" Target="slides/slide2.xml"/><Relationship Id="R650b21c5ce1d4882" Type="http://schemas.openxmlformats.org/officeDocument/2006/relationships/notesMaster" Target="notesMasters/notesMaster1.xml"/><Relationship Id="R76ade6fd4e6442b7" Type="http://schemas.openxmlformats.org/officeDocument/2006/relationships/slide" Target="slides/slide7.xml"/><Relationship Id="Ra656e61f78154912" Type="http://schemas.openxmlformats.org/officeDocument/2006/relationships/slide" Target="slides/slide6.xml"/><Relationship Id="Rad16ef03ac4f476e" Type="http://schemas.openxmlformats.org/officeDocument/2006/relationships/presProps" Target="presProps.xml"/><Relationship Id="Rb2fc13e123d44a88" Type="http://schemas.openxmlformats.org/officeDocument/2006/relationships/slideMaster" Target="slideMasters/slideMaster1.xml"/><Relationship Id="Rbd2c1079208745a4" Type="http://schemas.openxmlformats.org/officeDocument/2006/relationships/tableStyles" Target="tableStyles.xml"/><Relationship Id="Rc3c0fbf77ada4ffe" Type="http://schemas.openxmlformats.org/officeDocument/2006/relationships/slide" Target="slides/slide4.xml"/><Relationship Id="Rdfdd1a709ce84214" Type="http://schemas.openxmlformats.org/officeDocument/2006/relationships/theme" Target="theme/theme1.xml"/><Relationship Id="Re83cc589345b4053" Type="http://schemas.openxmlformats.org/officeDocument/2006/relationships/slide" Target="slides/slide1.xml"/></Relationships>
</file>

<file path=ppt/notesMasters/_rels/notesMaster1.xml.rels><?xml version='1.0' encoding='UTF-8' standalone='yes'?>
<Relationships xmlns="http://schemas.openxmlformats.org/package/2006/relationships"><Relationship Id="R2b6d6c0a921a4234" Type="http://schemas.openxmlformats.org/officeDocument/2006/relationships/theme" Target="theme/theme3.xml"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<?xml version='1.0' encoding='UTF-8' standalone='yes'?>
<Relationships xmlns="http://schemas.openxmlformats.org/package/2006/relationships"><Relationship Id="R2f4c8991057440b1" Type="http://schemas.openxmlformats.org/officeDocument/2006/relationships/slide" Target="../slides/slide1.xml"/><Relationship Id="Rae0ce20c1c55478a" Type="http://schemas.openxmlformats.org/officeDocument/2006/relationships/notesMaster" Target="../notesMasters/notesMaster1.xml"/></Relationships>
</file>

<file path=ppt/notesSlides/_rels/notesSlide2.xml.rels><?xml version='1.0' encoding='UTF-8' standalone='yes'?>
<Relationships xmlns="http://schemas.openxmlformats.org/package/2006/relationships"><Relationship Id="R0fcf9f3b81c143a4" Type="http://schemas.openxmlformats.org/officeDocument/2006/relationships/notesMaster" Target="../notesMasters/notesMaster1.xml"/><Relationship Id="R444705f5a12c4601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09892e839ce6465e" Type="http://schemas.openxmlformats.org/officeDocument/2006/relationships/notesMaster" Target="../notesMasters/notesMaster1.xml"/><Relationship Id="R323503295ce0447c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600138644fbc4d00" Type="http://schemas.openxmlformats.org/officeDocument/2006/relationships/slide" Target="../slides/slide4.xml"/><Relationship Id="R6b472f5d346a432a" Type="http://schemas.openxmlformats.org/officeDocument/2006/relationships/notesMaster" Target="../notesMasters/notesMaster1.xml"/></Relationships>
</file>

<file path=ppt/notesSlides/_rels/notesSlide5.xml.rels><?xml version='1.0' encoding='UTF-8' standalone='yes'?>
<Relationships xmlns="http://schemas.openxmlformats.org/package/2006/relationships"><Relationship Id="R5bf5f6aaf806415a" Type="http://schemas.openxmlformats.org/officeDocument/2006/relationships/notesMaster" Target="../notesMasters/notesMaster1.xml"/><Relationship Id="Rb0e7387efb4246e1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39ebee53626642dd" Type="http://schemas.openxmlformats.org/officeDocument/2006/relationships/notesMaster" Target="../notesMasters/notesMaster1.xml"/><Relationship Id="Rec46df6444c64cf9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49f298be863747e1" Type="http://schemas.openxmlformats.org/officeDocument/2006/relationships/notesMaster" Target="../notesMasters/notesMaster1.xml"/><Relationship Id="R5cebd8ff537f461d" Type="http://schemas.openxmlformats.org/officeDocument/2006/relationships/slide" Target="../slides/slide7.xml"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Cíl: Propojím 4D v krátkém doloženém procesu, který chrání data, respektuje práva a přiznává roli AI.</a:t>
            </a:r>
          </a:p>
          <a:p xmlns:a="http://schemas.openxmlformats.org/drawingml/2006/main">
            <a:r>
              <a:t>Podklady: 6. Etické a právní situace.csv, 6. Závěrečná výzva.txt</a:t>
            </a:r>
          </a:p>
          <a:p xmlns:a="http://schemas.openxmlformats.org/drawingml/2006/main">
            <a:r>
              <a:t>Výstup: Miniportfolio: výsledek, delegační plán, tři prompty, ověření tvrzení, prohlášení o AI a osobní pravidla.</a:t>
            </a:r>
          </a:p>
          <a:p xmlns:a="http://schemas.openxmlformats.org/drawingml/2006/main">
            <a:r>
              <a:t>Před začátkem ověř, že studenti mají otevřený digitální pracovní sešit a potřebné soubory.</a:t>
            </a:r>
          </a:p>
          <a:p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1.2_AI_Fluency_Summary.pdf</a:t>
            </a:r>
          </a:p>
          <a:p xmlns:a="http://schemas.openxmlformats.org/drawingml/2006/main">
            <a:r>
              <a:t>AI_Fluency_Key_Terminology_Cheat_Sheet.pdf</a:t>
            </a:r>
          </a:p>
          <a:p xmlns:a="http://schemas.openxmlformats.org/drawingml/2006/main">
            <a:r>
              <a:t>Assignment_component_guide.pdf</a:t>
            </a:r>
          </a:p>
          <a:p xmlns:a="http://schemas.openxmlformats.org/drawingml/2006/main">
            <a:r>
              <a:t>Anthropic, AI Fluency: https://www.anthropic.com/ai-fluency</a:t>
            </a:r>
          </a:p>
          <a:p xmlns:a="http://schemas.openxmlformats.org/drawingml/2006/main">
            <a:r>
              <a:t>Microsoft Support, Get started with Microsoft 365 Copilot prompts: https://support.microsoft.com/en-us/microsoft-365-copilot/get-started-writing-prompts-in-microsoft-365-copilot</a:t>
            </a:r>
          </a:p>
          <a:p xmlns:a="http://schemas.openxmlformats.org/drawingml/2006/main">
            <a:r>
              <a:t>Microsoft Support, Data protection when using Microsoft 365 Copilot Chat for work or school: https://support.microsoft.com/en-us/privacy/data-protection-when-using-microsoft-365-copilot-chat-for-work-or-school</a:t>
            </a:r>
          </a:p>
          <a:p xmlns:a="http://schemas.openxmlformats.org/drawingml/2006/main">
            <a:r>
              <a:t>[/Sources]</a:t>
            </a:r>
          </a:p>
          <a:p xmlns:a="http://schemas.openxmlformats.org/drawingml/2006/main">
            <a:r>
              <a:t>Řekni nahlas (cca 20 s): Učíme se postup, ne jedno tlačítko. Copilot je ukázka, protože ho škola poskytuje; stejný postup funguje i v jiném AI asistentovi. Podrobnosti pro učitele: příloha Přenesení hodin 4–6 na jiný AI nástroj.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Čas: 0–7 minut.</a:t>
            </a:r>
          </a:p>
          <a:p xmlns:a="http://schemas.openxmlformats.org/drawingml/2006/main">
            <a:r>
              <a:t>Postup: Studenti posuzují soukromí, práva, dopad a odpovědnost na přidělených scénářích.</a:t>
            </a:r>
          </a:p>
          <a:p xmlns:a="http://schemas.openxmlformats.org/drawingml/2006/main">
            <a:r>
              <a:t>Úvodní otázka: Jak dokážeš, že jsi AI nepoužil/a jen rychle, ale také bezpečně a dobře?</a:t>
            </a:r>
          </a:p>
          <a:p xmlns:a="http://schemas.openxmlformats.org/drawingml/2006/main">
            <a:r>
              <a:t>Neprozrazuj odpověď. Cílem je zachytit počáteční model studenta, ke kterému se vrátí při reflexi.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1.2_AI_Fluency_Summary.pdf</a:t>
            </a:r>
          </a:p>
          <a:p xmlns:a="http://schemas.openxmlformats.org/drawingml/2006/main">
            <a:r>
              <a:t>AI_Fluency_Key_Terminology_Cheat_Sheet.pdf</a:t>
            </a:r>
          </a:p>
          <a:p xmlns:a="http://schemas.openxmlformats.org/drawingml/2006/main">
            <a:r>
              <a:t>Assignment_component_guide.pdf</a:t>
            </a:r>
          </a:p>
          <a:p xmlns:a="http://schemas.openxmlformats.org/drawingml/2006/main">
            <a:r>
              <a:t>Anthropic, AI Fluency: https://www.anthropic.com/ai-fluency</a:t>
            </a:r>
          </a:p>
          <a:p xmlns:a="http://schemas.openxmlformats.org/drawingml/2006/main">
            <a:r>
              <a:t>Microsoft Support, Get started with Microsoft 365 Copilot prompts: https://support.microsoft.com/en-us/microsoft-365-copilot/get-started-writing-prompts-in-microsoft-365-copilot</a:t>
            </a:r>
          </a:p>
          <a:p xmlns:a="http://schemas.openxmlformats.org/drawingml/2006/main">
            <a:r>
              <a:t>Microsoft Support, Data protection when using Microsoft 365 Copilot Chat for work or school: https://support.microsoft.com/en-us/privacy/data-protection-when-using-microsoft-365-copilot-chat-for-work-or-school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Čas: 7–12 minut.</a:t>
            </a:r>
          </a:p>
          <a:p xmlns:a="http://schemas.openxmlformats.org/drawingml/2006/main">
            <a:r>
              <a:t>Postup: Připomeň, že se hodnotí výsledek, proces i reflexe.</a:t>
            </a:r>
          </a:p>
          <a:p xmlns:a="http://schemas.openxmlformats.org/drawingml/2006/main">
            <a:r>
              <a:t>Klíčové body: Diligence: Používáme jen nezbytná data, respektujeme práva a zachováváme lidskou odpovědnost. | Transparentnost: Konkrétně uvedeme, k čemu AI pomohla, co změnil člověk a jak výsledek ověřil. | 4D: Kvalitní práce propojuje vědomé delegování, jasné zadání, kritické posouzení a odpovědnost.</a:t>
            </a:r>
          </a:p>
          <a:p xmlns:a="http://schemas.openxmlformats.org/drawingml/2006/main">
            <a:r>
              <a:t>Po každém pojmu vyžádej jeden příklad a jeden protipříklad. Vysvětlení má používat způsob fungování, ne značku nástroje.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1.2_AI_Fluency_Summary.pdf</a:t>
            </a:r>
          </a:p>
          <a:p xmlns:a="http://schemas.openxmlformats.org/drawingml/2006/main">
            <a:r>
              <a:t>AI_Fluency_Key_Terminology_Cheat_Sheet.pdf</a:t>
            </a:r>
          </a:p>
          <a:p xmlns:a="http://schemas.openxmlformats.org/drawingml/2006/main">
            <a:r>
              <a:t>Assignment_component_guide.pdf</a:t>
            </a:r>
          </a:p>
          <a:p xmlns:a="http://schemas.openxmlformats.org/drawingml/2006/main">
            <a:r>
              <a:t>Anthropic, AI Fluency: https://www.anthropic.com/ai-fluency</a:t>
            </a:r>
          </a:p>
          <a:p xmlns:a="http://schemas.openxmlformats.org/drawingml/2006/main">
            <a:r>
              <a:t>Microsoft Support, Get started with Microsoft 365 Copilot prompts: https://support.microsoft.com/en-us/microsoft-365-copilot/get-started-writing-prompts-in-microsoft-365-copilot</a:t>
            </a:r>
          </a:p>
          <a:p xmlns:a="http://schemas.openxmlformats.org/drawingml/2006/main">
            <a:r>
              <a:t>Microsoft Support, Data protection when using Microsoft 365 Copilot Chat for work or school: https://support.microsoft.com/en-us/privacy/data-protection-when-using-microsoft-365-copilot-chat-for-work-or-school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Podklady: 6. Etické a právní situace.csv, 6. Závěrečná výzva.txt</a:t>
            </a:r>
          </a:p>
          <a:p xmlns:a="http://schemas.openxmlformats.org/drawingml/2006/main">
            <a:r>
              <a:t>1. V souboru 6. Etické a právní situace.csv vyřeš čtyři přidělené situace a jeden rizikový prompt přeformuluj.</a:t>
            </a:r>
          </a:p>
          <a:p xmlns:a="http://schemas.openxmlformats.org/drawingml/2006/main">
            <a:r>
              <a:t>2. Ze souboru 6. Závěrečná výzva.txt vyber variantu a před otevřením Copilotu napiš delegační plán.</a:t>
            </a:r>
          </a:p>
          <a:p xmlns:a="http://schemas.openxmlformats.org/drawingml/2006/main">
            <a:r>
              <a:t>3. Vytvoř první prompt a dvě cílené iterace; ověř nejdůležitější tvrzení a proveď audit dat, práv a transparentnosti.</a:t>
            </a:r>
          </a:p>
          <a:p xmlns:a="http://schemas.openxmlformats.org/drawingml/2006/main">
            <a:r>
              <a:t>4. Odevzdej miniportfolio, stručné prohlášení o roli AI a tři osobní zásady pro další práci.</a:t>
            </a:r>
          </a:p>
          <a:p xmlns:a="http://schemas.openxmlformats.org/drawingml/2006/main">
            <a:r>
              <a:t>Požadovaný výstup: Miniportfolio: výsledek, delegační plán, tři prompty, ověření tvrzení, prohlášení o AI a osobní pravidla.</a:t>
            </a:r>
          </a:p>
          <a:p xmlns:a="http://schemas.openxmlformats.org/drawingml/2006/main">
            <a:r>
              <a:t>Během práce pomáhej otázkami, nepřebírej myš ani tvorbu promptu. Vyžaduj průběžné ukládání výstupů a lidských rozhodnutí.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1.2_AI_Fluency_Summary.pdf</a:t>
            </a:r>
          </a:p>
          <a:p xmlns:a="http://schemas.openxmlformats.org/drawingml/2006/main">
            <a:r>
              <a:t>AI_Fluency_Key_Terminology_Cheat_Sheet.pdf</a:t>
            </a:r>
          </a:p>
          <a:p xmlns:a="http://schemas.openxmlformats.org/drawingml/2006/main">
            <a:r>
              <a:t>Assignment_component_guide.pdf</a:t>
            </a:r>
          </a:p>
          <a:p xmlns:a="http://schemas.openxmlformats.org/drawingml/2006/main">
            <a:r>
              <a:t>Anthropic, AI Fluency: https://www.anthropic.com/ai-fluency</a:t>
            </a:r>
          </a:p>
          <a:p xmlns:a="http://schemas.openxmlformats.org/drawingml/2006/main">
            <a:r>
              <a:t>Microsoft Support, Get started with Microsoft 365 Copilot prompts: https://support.microsoft.com/en-us/microsoft-365-copilot/get-started-writing-prompts-in-microsoft-365-copilot</a:t>
            </a:r>
          </a:p>
          <a:p xmlns:a="http://schemas.openxmlformats.org/drawingml/2006/main">
            <a:r>
              <a:t>Microsoft Support, Data protection when using Microsoft 365 Copilot Chat for work or school: https://support.microsoft.com/en-us/privacy/data-protection-when-using-microsoft-365-copilot-chat-for-work-or-school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Kritérium: Portfolio obsahuje důkazy Delegation, Description, Discernment a Diligence a student obhájí dvě vlastní volby.</a:t>
            </a:r>
          </a:p>
          <a:p xmlns:a="http://schemas.openxmlformats.org/drawingml/2006/main">
            <a:r>
              <a:t>Vodicí otázky: Které rozhodnutí je v miniportfoliu prokazatelně tvoje? | Jaký důkaz nejvíce zvýšil důvěryhodnost výsledku? | Který údaj nebo obsah bylo nutné odstranit, nahradit nebo chránit?</a:t>
            </a:r>
          </a:p>
          <a:p xmlns:a="http://schemas.openxmlformats.org/drawingml/2006/main">
            <a:r>
              <a:t>Podpora: Zmenšená varianta obsahuje jeden výstup, dvě iterace, jedno ověřené tvrzení a jedno prohlášení.</a:t>
            </a:r>
          </a:p>
          <a:p xmlns:a="http://schemas.openxmlformats.org/drawingml/2006/main">
            <a:r>
              <a:t>Rozšíření: Vytvoř krátký návod pro spolužáka, jak použít 4D při dalším školním úkolu.</a:t>
            </a:r>
          </a:p>
          <a:p xmlns:a="http://schemas.openxmlformats.org/drawingml/2006/main">
            <a:r>
              <a:t>Proveď rychlou párovou kontrolu: jeden dobře doložený bod a jedna konkrétní otázka k dopracování.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1.2_AI_Fluency_Summary.pdf</a:t>
            </a:r>
          </a:p>
          <a:p xmlns:a="http://schemas.openxmlformats.org/drawingml/2006/main">
            <a:r>
              <a:t>AI_Fluency_Key_Terminology_Cheat_Sheet.pdf</a:t>
            </a:r>
          </a:p>
          <a:p xmlns:a="http://schemas.openxmlformats.org/drawingml/2006/main">
            <a:r>
              <a:t>Assignment_component_guide.pdf</a:t>
            </a:r>
          </a:p>
          <a:p xmlns:a="http://schemas.openxmlformats.org/drawingml/2006/main">
            <a:r>
              <a:t>Anthropic, AI Fluency: https://www.anthropic.com/ai-fluency</a:t>
            </a:r>
          </a:p>
          <a:p xmlns:a="http://schemas.openxmlformats.org/drawingml/2006/main">
            <a:r>
              <a:t>Microsoft Support, Get started with Microsoft 365 Copilot prompts: https://support.microsoft.com/en-us/microsoft-365-copilot/get-started-writing-prompts-in-microsoft-365-copilot</a:t>
            </a:r>
          </a:p>
          <a:p xmlns:a="http://schemas.openxmlformats.org/drawingml/2006/main">
            <a:r>
              <a:t>Microsoft Support, Data protection when using Microsoft 365 Copilot Chat for work or school: https://support.microsoft.com/en-us/privacy/data-protection-when-using-microsoft-365-copilot-chat-for-work-or-school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Očekávané závěry: Delegation a Description: Záznam dokládá vědomé rozdělení rolí a jasné zadání s kritérii. | Discernment: Klíčové tvrzení má věcnou oporu a revize reaguje na konkrétní problém. | Diligence: Data jsou minimalizována, práva zohledněna a role AI transparentně popsána.</a:t>
            </a:r>
          </a:p>
          <a:p xmlns:a="http://schemas.openxmlformats.org/drawingml/2006/main">
            <a:r>
              <a:t>Časté omyly: „Dobrý finální text stačí.“ → Hodnocení vyžaduje také doklad procesu, ověření a reflexi. | „Stačí napsat vytvořeno AI.“ → Požaduj konkrétní roli AI, lidské změny, způsob ověření a odpovědnost.</a:t>
            </a:r>
          </a:p>
          <a:p xmlns:a="http://schemas.openxmlformats.org/drawingml/2006/main">
            <a:r>
              <a:t>Nečti řešení slovo od slova. Porovnej dva studentské postupy a nech třídu určit, který má lepší důkazy nebo jasnější lidské rozhodnutí.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1.2_AI_Fluency_Summary.pdf</a:t>
            </a:r>
          </a:p>
          <a:p xmlns:a="http://schemas.openxmlformats.org/drawingml/2006/main">
            <a:r>
              <a:t>AI_Fluency_Key_Terminology_Cheat_Sheet.pdf</a:t>
            </a:r>
          </a:p>
          <a:p xmlns:a="http://schemas.openxmlformats.org/drawingml/2006/main">
            <a:r>
              <a:t>Assignment_component_guide.pdf</a:t>
            </a:r>
          </a:p>
          <a:p xmlns:a="http://schemas.openxmlformats.org/drawingml/2006/main">
            <a:r>
              <a:t>Anthropic, AI Fluency: https://www.anthropic.com/ai-fluency</a:t>
            </a:r>
          </a:p>
          <a:p xmlns:a="http://schemas.openxmlformats.org/drawingml/2006/main">
            <a:r>
              <a:t>Microsoft Support, Get started with Microsoft 365 Copilot prompts: https://support.microsoft.com/en-us/microsoft-365-copilot/get-started-writing-prompts-in-microsoft-365-copilot</a:t>
            </a:r>
          </a:p>
          <a:p xmlns:a="http://schemas.openxmlformats.org/drawingml/2006/main">
            <a:r>
              <a:t>Microsoft Support, Data protection when using Microsoft 365 Copilot Chat for work or school: https://support.microsoft.com/en-us/privacy/data-protection-when-using-microsoft-365-copilot-chat-for-work-or-school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Exit ticket: Napiš jedno osobní pravidlo, které ti pomůže zachovat vlastní úsudek při práci s AI.</a:t>
            </a:r>
          </a:p>
          <a:p xmlns:a="http://schemas.openxmlformats.org/drawingml/2006/main">
            <a:r>
              <a:t>Když technika selže: Použij připravené modelové výstupy a vytvoř kompletní proces revize bez živé AI.</a:t>
            </a:r>
          </a:p>
          <a:p xmlns:a="http://schemas.openxmlformats.org/drawingml/2006/main">
            <a:r>
              <a:t>Odpovědi použij jako diagnostiku pro začátek další hodiny. U hodiny 3 navazuje diagnostická brána; u hodiny 6 jde o součást závěrečné reflexe.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1.2_AI_Fluency_Summary.pdf</a:t>
            </a:r>
          </a:p>
          <a:p xmlns:a="http://schemas.openxmlformats.org/drawingml/2006/main">
            <a:r>
              <a:t>AI_Fluency_Key_Terminology_Cheat_Sheet.pdf</a:t>
            </a:r>
          </a:p>
          <a:p xmlns:a="http://schemas.openxmlformats.org/drawingml/2006/main">
            <a:r>
              <a:t>Assignment_component_guide.pdf</a:t>
            </a:r>
          </a:p>
          <a:p xmlns:a="http://schemas.openxmlformats.org/drawingml/2006/main">
            <a:r>
              <a:t>Anthropic, AI Fluency: https://www.anthropic.com/ai-fluency</a:t>
            </a:r>
          </a:p>
          <a:p xmlns:a="http://schemas.openxmlformats.org/drawingml/2006/main">
            <a:r>
              <a:t>Microsoft Support, Get started with Microsoft 365 Copilot prompts: https://support.microsoft.com/en-us/microsoft-365-copilot/get-started-writing-prompts-in-microsoft-365-copilot</a:t>
            </a:r>
          </a:p>
          <a:p xmlns:a="http://schemas.openxmlformats.org/drawingml/2006/main">
            <a:r>
              <a:t>Microsoft Support, Data protection when using Microsoft 365 Copilot Chat for work or school: https://support.microsoft.com/en-us/privacy/data-protection-when-using-microsoft-365-copilot-chat-for-work-or-school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<?xml version='1.0' encoding='UTF-8' standalone='yes'?>
<Relationships xmlns="http://schemas.openxmlformats.org/package/2006/relationships"><Relationship Id="R5101ad00901e452a" Type="http://schemas.openxmlformats.org/officeDocument/2006/relationships/slideMaster" Target="../slideMasters/slideMaster1.xml"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<?xml version='1.0' encoding='UTF-8' standalone='yes'?>
<Relationships xmlns="http://schemas.openxmlformats.org/package/2006/relationships"><Relationship Id="R3a23c4281d4b49df" Type="http://schemas.openxmlformats.org/officeDocument/2006/relationships/slideLayout" Target="../slideLayouts/slideLayout1.xml"/><Relationship Id="Rc715b27d5fbe4028" Type="http://schemas.openxmlformats.org/officeDocument/2006/relationships/theme" Target="theme/theme2.xml"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3a23c4281d4b49df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<?xml version='1.0' encoding='UTF-8' standalone='yes'?>
<Relationships xmlns="http://schemas.openxmlformats.org/package/2006/relationships"><Relationship Id="R0bbc6a9d9d344ae4" Type="http://schemas.openxmlformats.org/officeDocument/2006/relationships/notesSlide" Target="../notesSlides/notesSlide1.xml"/><Relationship Id="Rc1ebbf41845441bf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30418dfb7fc04690" Type="http://schemas.openxmlformats.org/officeDocument/2006/relationships/notesSlide" Target="../notesSlides/notesSlide2.xml"/><Relationship Id="Rc0ffb6c927dc46b3" Type="http://schemas.openxmlformats.org/officeDocument/2006/relationships/slideLayout" Target="../slideLayouts/slideLayout1.xml"/></Relationships>
</file>

<file path=ppt/slides/_rels/slide3.xml.rels><?xml version='1.0' encoding='UTF-8' standalone='yes'?>
<Relationships xmlns="http://schemas.openxmlformats.org/package/2006/relationships"><Relationship Id="R726e37e1f45a4826" Type="http://schemas.openxmlformats.org/officeDocument/2006/relationships/slideLayout" Target="../slideLayouts/slideLayout1.xml"/><Relationship Id="R77b66477d4e14abb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c1182af0180c424c" Type="http://schemas.openxmlformats.org/officeDocument/2006/relationships/slideLayout" Target="../slideLayouts/slideLayout1.xml"/><Relationship Id="Rfbced6694a5f4183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94be2afa9acd4455" Type="http://schemas.openxmlformats.org/officeDocument/2006/relationships/notesSlide" Target="../notesSlides/notesSlide5.xml"/><Relationship Id="Raa26a9181c7b4ae5" Type="http://schemas.openxmlformats.org/officeDocument/2006/relationships/slideLayout" Target="../slideLayouts/slideLayout1.xml"/></Relationships>
</file>

<file path=ppt/slides/_rels/slide6.xml.rels><?xml version='1.0' encoding='UTF-8' standalone='yes'?>
<Relationships xmlns="http://schemas.openxmlformats.org/package/2006/relationships"><Relationship Id="R08eda002a42e4e35" Type="http://schemas.openxmlformats.org/officeDocument/2006/relationships/slideLayout" Target="../slideLayouts/slideLayout1.xml"/><Relationship Id="Red635b4c48b948f1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105333722b914aff" Type="http://schemas.openxmlformats.org/officeDocument/2006/relationships/slideLayout" Target="../slideLayouts/slideLayout1.xml"/><Relationship Id="R8495fc8da2ad4bf9" Type="http://schemas.openxmlformats.org/officeDocument/2006/relationships/notesSlide" Target="../notesSlides/notesSlide7.xml"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FBFAF7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accent-rail">
            <a:extLst xmlns:a="http://schemas.openxmlformats.org/drawingml/2006/main">
              <a:ext uri="{FF2B5EF4-FFF2-40B4-BE49-F238E27FC236}">
                <a16:creationId xmlns:a16="http://schemas.microsoft.com/office/drawing/2014/main" id="{9FFBDA9D-F55A-4702-83FD-F39D69062C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20955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B7B91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text-54-48">
            <a:extLst xmlns:a="http://schemas.openxmlformats.org/drawingml/2006/main">
              <a:ext uri="{FF2B5EF4-FFF2-40B4-BE49-F238E27FC236}">
                <a16:creationId xmlns:a16="http://schemas.microsoft.com/office/drawing/2014/main" id="{4D8DF2CA-34A2-4D6C-A049-E06C5FD485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457200"/>
            <a:ext cx="3143250" cy="2857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0B7B91"/>
                </a:solidFill>
                <a:latin typeface="Arial"/>
                <a:ea typeface="Arial"/>
                <a:cs typeface="Arial"/>
              </a:defRPr>
            </a:pPr>
            <a:r>
              <a:t>HODINA 6 / 6</a:t>
            </a:r>
          </a:p>
        </p:txBody>
      </p:sp>
      <p:sp>
        <p:nvSpPr>
          <p:cNvPr id="3" name="text-842-48">
            <a:extLst xmlns:a="http://schemas.openxmlformats.org/drawingml/2006/main">
              <a:ext uri="{FF2B5EF4-FFF2-40B4-BE49-F238E27FC236}">
                <a16:creationId xmlns:a16="http://schemas.microsoft.com/office/drawing/2014/main" id="{2DD1B23B-8141-4C14-9095-41FBE99DB3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20050" y="457200"/>
            <a:ext cx="3305175" cy="2857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1200" b="1">
                <a:solidFill>
                  <a:srgbClr val="5C6965"/>
                </a:solidFill>
                <a:latin typeface="Arial"/>
                <a:ea typeface="Arial"/>
                <a:cs typeface="Arial"/>
              </a:defRPr>
            </a:pPr>
            <a:r>
              <a:t>AI FLUENCY</a:t>
            </a:r>
          </a:p>
        </p:txBody>
      </p:sp>
      <p:sp>
        <p:nvSpPr>
          <p:cNvPr id="4" name="text-54-245">
            <a:extLst xmlns:a="http://schemas.openxmlformats.org/drawingml/2006/main">
              <a:ext uri="{FF2B5EF4-FFF2-40B4-BE49-F238E27FC236}">
                <a16:creationId xmlns:a16="http://schemas.microsoft.com/office/drawing/2014/main" id="{DEF2D25C-A338-4EF8-B1F9-4783009C93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2333625"/>
            <a:ext cx="10572750" cy="204787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b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4500" b="1">
                <a:solidFill>
                  <a:srgbClr val="17211E"/>
                </a:solidFill>
                <a:latin typeface="Arial"/>
                <a:ea typeface="Arial"/>
                <a:cs typeface="Arial"/>
              </a:defRPr>
            </a:pPr>
            <a:r>
              <a:t>Diligence a závěrečná AI Fluency výzva</a:t>
            </a:r>
          </a:p>
        </p:txBody>
      </p:sp>
      <p:sp>
        <p:nvSpPr>
          <p:cNvPr id="5" name="text-56-505">
            <a:extLst xmlns:a="http://schemas.openxmlformats.org/drawingml/2006/main">
              <a:ext uri="{FF2B5EF4-FFF2-40B4-BE49-F238E27FC236}">
                <a16:creationId xmlns:a16="http://schemas.microsoft.com/office/drawing/2014/main" id="{4814A0B0-74A0-404E-B3EC-2939F23956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4810125"/>
            <a:ext cx="8096250" cy="7810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 b="0">
                <a:solidFill>
                  <a:srgbClr val="5C6965"/>
                </a:solidFill>
                <a:latin typeface="Arial"/>
                <a:ea typeface="Arial"/>
                <a:cs typeface="Arial"/>
              </a:defRPr>
            </a:pPr>
            <a:r>
              <a:t>Propojím 4D v krátkém doloženém procesu, který chrání data, respektuje práva a přiznává roli AI.</a:t>
            </a:r>
          </a:p>
        </p:txBody>
      </p:sp>
      <p:sp>
        <p:nvSpPr>
          <p:cNvPr id="6" name="lesson-number">
            <a:extLst xmlns:a="http://schemas.openxmlformats.org/drawingml/2006/main">
              <a:ext uri="{FF2B5EF4-FFF2-40B4-BE49-F238E27FC236}">
                <a16:creationId xmlns:a16="http://schemas.microsoft.com/office/drawing/2014/main" id="{5DED3E4A-0F0D-4C6E-A894-A7DCFA3C42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44125" y="4762500"/>
            <a:ext cx="1181100" cy="1181100"/>
          </a:xfrm>
          <a:prstGeom xmlns:a="http://schemas.openxmlformats.org/drawingml/2006/main" prst="roundRect">
            <a:avLst>
              <a:gd name="adj" fmla="val 6452"/>
            </a:avLst>
          </a:prstGeom>
          <a:solidFill xmlns:a="http://schemas.openxmlformats.org/drawingml/2006/main">
            <a:srgbClr val="0B7B91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" name="text-1065-519">
            <a:extLst xmlns:a="http://schemas.openxmlformats.org/drawingml/2006/main">
              <a:ext uri="{FF2B5EF4-FFF2-40B4-BE49-F238E27FC236}">
                <a16:creationId xmlns:a16="http://schemas.microsoft.com/office/drawing/2014/main" id="{5A94CE6E-146E-4743-81F9-5720200658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44125" y="4943475"/>
            <a:ext cx="1181100" cy="6477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36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t>06</a:t>
            </a:r>
          </a:p>
        </p:txBody>
      </p:sp>
      <p:sp>
        <p:nvSpPr>
          <p:cNvPr id="8" name="text-1065-596">
            <a:extLst xmlns:a="http://schemas.openxmlformats.org/drawingml/2006/main">
              <a:ext uri="{FF2B5EF4-FFF2-40B4-BE49-F238E27FC236}">
                <a16:creationId xmlns:a16="http://schemas.microsoft.com/office/drawing/2014/main" id="{3813D4A8-79A3-42F0-90F1-61E057FD34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44125" y="5676900"/>
            <a:ext cx="1181100" cy="1905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0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t>45 MIN</a:t>
            </a:r>
          </a:p>
        </p:txBody>
      </p:sp>
      <p:sp>
        <p:nvSpPr>
          <p:cNvPr id="16" name="text-41-595">
            <a:extLst xmlns:a="http://schemas.openxmlformats.org/drawingml/2006/main">
              <a:ext uri="{FF2B5EF4-FFF2-40B4-BE49-F238E27FC236}">
                <a16:creationId xmlns:a16="http://schemas.microsoft.com/office/drawing/2014/main" id="{0CD9926D-4A4D-4F87-9BBA-C8E697ECE4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0352" y="5806440"/>
            <a:ext cx="9418320" cy="4572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17211E"/>
                </a:solidFill>
                <a:latin typeface="Arial"/>
                <a:ea typeface="Arial"/>
                <a:cs typeface="Arial"/>
              </a:defRPr>
            </a:pPr>
            <a:r>
              <a:t>Učíme se postup, ne jedno tlačítko. Copilot je tady jako ukázka — stejný postup zvládneš i v jiném AI asistentovi.</a:t>
            </a:r>
          </a:p>
        </p:txBody>
      </p:sp>
    </p:spTree>
    <p:extLst>
      <p:ext uri="{BB962C8B-B14F-4D97-AF65-F5344CB8AC3E}">
        <p14:creationId xmlns:p14="http://schemas.microsoft.com/office/powerpoint/2010/main" val="1588789566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BFAF7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text-41-34">
            <a:extLst xmlns:a="http://schemas.openxmlformats.org/drawingml/2006/main">
              <a:ext uri="{FF2B5EF4-FFF2-40B4-BE49-F238E27FC236}">
                <a16:creationId xmlns:a16="http://schemas.microsoft.com/office/drawing/2014/main" id="{6B776900-93C7-4127-B43C-2905ADA281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323850"/>
            <a:ext cx="4953000" cy="2476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0B7B91"/>
                </a:solidFill>
                <a:latin typeface="Arial"/>
                <a:ea typeface="Arial"/>
                <a:cs typeface="Arial"/>
              </a:defRPr>
            </a:pPr>
            <a:r>
              <a:t>0–7 MIN · START</a:t>
            </a:r>
          </a:p>
        </p:txBody>
      </p:sp>
      <p:sp>
        <p:nvSpPr>
          <p:cNvPr id="2" name="text-41-73">
            <a:extLst xmlns:a="http://schemas.openxmlformats.org/drawingml/2006/main">
              <a:ext uri="{FF2B5EF4-FFF2-40B4-BE49-F238E27FC236}">
                <a16:creationId xmlns:a16="http://schemas.microsoft.com/office/drawing/2014/main" id="{72537E15-E201-49F0-8701-BAAEA75A69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695325"/>
            <a:ext cx="11410950" cy="609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925" b="1">
                <a:solidFill>
                  <a:srgbClr val="17211E"/>
                </a:solidFill>
                <a:latin typeface="Arial"/>
                <a:ea typeface="Arial"/>
                <a:cs typeface="Arial"/>
              </a:defRPr>
            </a:pPr>
            <a:r>
              <a:t>Začni vlastním úsudkem</a:t>
            </a:r>
          </a:p>
        </p:txBody>
      </p:sp>
      <p:sp>
        <p:nvSpPr>
          <p:cNvPr id="3" name="footer-rule-2">
            <a:extLst xmlns:a="http://schemas.openxmlformats.org/drawingml/2006/main">
              <a:ext uri="{FF2B5EF4-FFF2-40B4-BE49-F238E27FC236}">
                <a16:creationId xmlns:a16="http://schemas.microsoft.com/office/drawing/2014/main" id="{C56847A2-2080-4B59-B2D6-C9AE739736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6276975"/>
            <a:ext cx="114109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B7B91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text-41-672">
            <a:extLst xmlns:a="http://schemas.openxmlformats.org/drawingml/2006/main">
              <a:ext uri="{FF2B5EF4-FFF2-40B4-BE49-F238E27FC236}">
                <a16:creationId xmlns:a16="http://schemas.microsoft.com/office/drawing/2014/main" id="{26EBF3C8-C8B2-4A21-A065-9D14DEDD1D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6400800"/>
            <a:ext cx="5715000" cy="2095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5C6965"/>
                </a:solidFill>
                <a:latin typeface="Arial"/>
                <a:ea typeface="Arial"/>
                <a:cs typeface="Arial"/>
              </a:defRPr>
            </a:pPr>
            <a:r>
              <a:t>UMĚLÁ INTELIGENCE · OD PRINCIPŮ K POUŽITÍ</a:t>
            </a:r>
          </a:p>
        </p:txBody>
      </p:sp>
      <p:sp>
        <p:nvSpPr>
          <p:cNvPr id="5" name="text-1040-672">
            <a:extLst xmlns:a="http://schemas.openxmlformats.org/drawingml/2006/main">
              <a:ext uri="{FF2B5EF4-FFF2-40B4-BE49-F238E27FC236}">
                <a16:creationId xmlns:a16="http://schemas.microsoft.com/office/drawing/2014/main" id="{EBFAE2EB-6E5D-4773-BD17-9D6872843E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0" y="6400800"/>
            <a:ext cx="1895475" cy="2095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5C6965"/>
                </a:solidFill>
                <a:latin typeface="Arial"/>
                <a:ea typeface="Arial"/>
                <a:cs typeface="Arial"/>
              </a:defRPr>
            </a:pPr>
            <a:r>
              <a:t>HODINA 6  /  2</a:t>
            </a:r>
          </a:p>
        </p:txBody>
      </p:sp>
      <p:sp>
        <p:nvSpPr>
          <p:cNvPr id="6" name="text-41-183">
            <a:extLst xmlns:a="http://schemas.openxmlformats.org/drawingml/2006/main">
              <a:ext uri="{FF2B5EF4-FFF2-40B4-BE49-F238E27FC236}">
                <a16:creationId xmlns:a16="http://schemas.microsoft.com/office/drawing/2014/main" id="{2DADA9D4-4581-4941-95E9-5810528C53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1743075"/>
            <a:ext cx="10906125" cy="19526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b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3525" b="1">
                <a:solidFill>
                  <a:srgbClr val="17211E"/>
                </a:solidFill>
                <a:latin typeface="Arial"/>
                <a:ea typeface="Arial"/>
                <a:cs typeface="Arial"/>
              </a:defRPr>
            </a:pPr>
            <a:r>
              <a:t>Jak dokážeš, že jsi AI nepoužil/a jen rychle, ale také bezpečně a dobře?</a:t>
            </a:r>
          </a:p>
        </p:txBody>
      </p:sp>
      <p:sp>
        <p:nvSpPr>
          <p:cNvPr id="7" name="hook-panel">
            <a:extLst xmlns:a="http://schemas.openxmlformats.org/drawingml/2006/main">
              <a:ext uri="{FF2B5EF4-FFF2-40B4-BE49-F238E27FC236}">
                <a16:creationId xmlns:a16="http://schemas.microsoft.com/office/drawing/2014/main" id="{E81172ED-0F7F-4973-8AD1-96FD0991EA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4200525"/>
            <a:ext cx="11410950" cy="1390650"/>
          </a:xfrm>
          <a:prstGeom xmlns:a="http://schemas.openxmlformats.org/drawingml/2006/main" prst="roundRect">
            <a:avLst>
              <a:gd name="adj" fmla="val 5479"/>
            </a:avLst>
          </a:prstGeom>
          <a:solidFill xmlns:a="http://schemas.openxmlformats.org/drawingml/2006/main">
            <a:srgbClr val="E3F4F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" name="text-69-473">
            <a:extLst xmlns:a="http://schemas.openxmlformats.org/drawingml/2006/main">
              <a:ext uri="{FF2B5EF4-FFF2-40B4-BE49-F238E27FC236}">
                <a16:creationId xmlns:a16="http://schemas.microsoft.com/office/drawing/2014/main" id="{04169695-910F-4DA6-A435-F56B1E0B5A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" y="4505325"/>
            <a:ext cx="428625" cy="4286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250" b="1">
                <a:solidFill>
                  <a:srgbClr val="0B7B91"/>
                </a:solidFill>
                <a:latin typeface="Arial"/>
                <a:ea typeface="Arial"/>
                <a:cs typeface="Arial"/>
              </a:defRPr>
            </a:pPr>
            <a:r>
              <a:t>1</a:t>
            </a:r>
          </a:p>
        </p:txBody>
      </p:sp>
      <p:sp>
        <p:nvSpPr>
          <p:cNvPr id="9" name="text-121-472">
            <a:extLst xmlns:a="http://schemas.openxmlformats.org/drawingml/2006/main">
              <a:ext uri="{FF2B5EF4-FFF2-40B4-BE49-F238E27FC236}">
                <a16:creationId xmlns:a16="http://schemas.microsoft.com/office/drawing/2014/main" id="{547B32ED-7199-41A4-96AC-54F58FD2B9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52525" y="4495800"/>
            <a:ext cx="2476500" cy="3143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17211E"/>
                </a:solidFill>
                <a:latin typeface="Arial"/>
                <a:ea typeface="Arial"/>
                <a:cs typeface="Arial"/>
              </a:defRPr>
            </a:pPr>
            <a:r>
              <a:t>Rozhodni sám</a:t>
            </a:r>
          </a:p>
        </p:txBody>
      </p:sp>
      <p:sp>
        <p:nvSpPr>
          <p:cNvPr id="10" name="text-121-518">
            <a:extLst xmlns:a="http://schemas.openxmlformats.org/drawingml/2006/main">
              <a:ext uri="{FF2B5EF4-FFF2-40B4-BE49-F238E27FC236}">
                <a16:creationId xmlns:a16="http://schemas.microsoft.com/office/drawing/2014/main" id="{C667C91D-FEB2-4987-A88E-8157DA4CA4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52525" y="4933950"/>
            <a:ext cx="2476500" cy="37147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5C6965"/>
                </a:solidFill>
                <a:latin typeface="Arial"/>
                <a:ea typeface="Arial"/>
                <a:cs typeface="Arial"/>
              </a:defRPr>
            </a:pPr>
            <a:r>
              <a:t>Zapiš konkrétní důvod.</a:t>
            </a:r>
          </a:p>
        </p:txBody>
      </p:sp>
      <p:sp>
        <p:nvSpPr>
          <p:cNvPr id="11" name="text-459-473">
            <a:extLst xmlns:a="http://schemas.openxmlformats.org/drawingml/2006/main">
              <a:ext uri="{FF2B5EF4-FFF2-40B4-BE49-F238E27FC236}">
                <a16:creationId xmlns:a16="http://schemas.microsoft.com/office/drawing/2014/main" id="{DBE45BF0-EAA2-4C6A-B758-A42ECB8846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71975" y="4505325"/>
            <a:ext cx="428625" cy="4286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250" b="1">
                <a:solidFill>
                  <a:srgbClr val="0B7B91"/>
                </a:solidFill>
                <a:latin typeface="Arial"/>
                <a:ea typeface="Arial"/>
                <a:cs typeface="Arial"/>
              </a:defRPr>
            </a:pPr>
            <a:r>
              <a:t>2</a:t>
            </a:r>
          </a:p>
        </p:txBody>
      </p:sp>
      <p:sp>
        <p:nvSpPr>
          <p:cNvPr id="12" name="text-511-472">
            <a:extLst xmlns:a="http://schemas.openxmlformats.org/drawingml/2006/main">
              <a:ext uri="{FF2B5EF4-FFF2-40B4-BE49-F238E27FC236}">
                <a16:creationId xmlns:a16="http://schemas.microsoft.com/office/drawing/2014/main" id="{6A50D10F-157E-4F70-84BD-1023D44509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67275" y="4495800"/>
            <a:ext cx="2952750" cy="3143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17211E"/>
                </a:solidFill>
                <a:latin typeface="Arial"/>
                <a:ea typeface="Arial"/>
                <a:cs typeface="Arial"/>
              </a:defRPr>
            </a:pPr>
            <a:r>
              <a:t>Porovnej ve dvojici</a:t>
            </a:r>
          </a:p>
        </p:txBody>
      </p:sp>
      <p:sp>
        <p:nvSpPr>
          <p:cNvPr id="13" name="text-511-518">
            <a:extLst xmlns:a="http://schemas.openxmlformats.org/drawingml/2006/main">
              <a:ext uri="{FF2B5EF4-FFF2-40B4-BE49-F238E27FC236}">
                <a16:creationId xmlns:a16="http://schemas.microsoft.com/office/drawing/2014/main" id="{7207831C-60B8-4DBB-BF0F-5332259854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67275" y="4933950"/>
            <a:ext cx="2952750" cy="37147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5C6965"/>
                </a:solidFill>
                <a:latin typeface="Arial"/>
                <a:ea typeface="Arial"/>
                <a:cs typeface="Arial"/>
              </a:defRPr>
            </a:pPr>
            <a:r>
              <a:t>Najděte bod neshody.</a:t>
            </a:r>
          </a:p>
        </p:txBody>
      </p:sp>
      <p:sp>
        <p:nvSpPr>
          <p:cNvPr id="14" name="text-900-473">
            <a:extLst xmlns:a="http://schemas.openxmlformats.org/drawingml/2006/main">
              <a:ext uri="{FF2B5EF4-FFF2-40B4-BE49-F238E27FC236}">
                <a16:creationId xmlns:a16="http://schemas.microsoft.com/office/drawing/2014/main" id="{718D9B9C-8582-4716-8B43-66111D11B6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0" y="4505325"/>
            <a:ext cx="428625" cy="4286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250" b="1">
                <a:solidFill>
                  <a:srgbClr val="0B7B91"/>
                </a:solidFill>
                <a:latin typeface="Arial"/>
                <a:ea typeface="Arial"/>
                <a:cs typeface="Arial"/>
              </a:defRPr>
            </a:pPr>
            <a:r>
              <a:t>3</a:t>
            </a:r>
          </a:p>
        </p:txBody>
      </p:sp>
      <p:sp>
        <p:nvSpPr>
          <p:cNvPr id="15" name="text-952-472">
            <a:extLst xmlns:a="http://schemas.openxmlformats.org/drawingml/2006/main">
              <a:ext uri="{FF2B5EF4-FFF2-40B4-BE49-F238E27FC236}">
                <a16:creationId xmlns:a16="http://schemas.microsoft.com/office/drawing/2014/main" id="{62FF586F-2BEF-4C42-94B8-115B074BE1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67800" y="4495800"/>
            <a:ext cx="2381250" cy="3143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17211E"/>
                </a:solidFill>
                <a:latin typeface="Arial"/>
                <a:ea typeface="Arial"/>
                <a:cs typeface="Arial"/>
              </a:defRPr>
            </a:pPr>
            <a:r>
              <a:t>Připrav obhajobu</a:t>
            </a:r>
          </a:p>
        </p:txBody>
      </p:sp>
      <p:sp>
        <p:nvSpPr>
          <p:cNvPr id="16" name="text-952-518">
            <a:extLst xmlns:a="http://schemas.openxmlformats.org/drawingml/2006/main">
              <a:ext uri="{FF2B5EF4-FFF2-40B4-BE49-F238E27FC236}">
                <a16:creationId xmlns:a16="http://schemas.microsoft.com/office/drawing/2014/main" id="{815432F5-3648-4353-BA40-3311779E40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67800" y="4933950"/>
            <a:ext cx="2381250" cy="37147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5C6965"/>
                </a:solidFill>
                <a:latin typeface="Arial"/>
                <a:ea typeface="Arial"/>
                <a:cs typeface="Arial"/>
              </a:defRPr>
            </a:pPr>
            <a:r>
              <a:t>Co by změnilo volbu?</a:t>
            </a:r>
          </a:p>
        </p:txBody>
      </p:sp>
    </p:spTree>
    <p:extLst>
      <p:ext uri="{BB962C8B-B14F-4D97-AF65-F5344CB8AC3E}">
        <p14:creationId xmlns:p14="http://schemas.microsoft.com/office/powerpoint/2010/main" val="1199314245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BFAF7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text-41-34">
            <a:extLst xmlns:a="http://schemas.openxmlformats.org/drawingml/2006/main">
              <a:ext uri="{FF2B5EF4-FFF2-40B4-BE49-F238E27FC236}">
                <a16:creationId xmlns:a16="http://schemas.microsoft.com/office/drawing/2014/main" id="{AA5AAC5B-86AF-4749-A634-1141381401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323850"/>
            <a:ext cx="4953000" cy="2476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0B7B91"/>
                </a:solidFill>
                <a:latin typeface="Arial"/>
                <a:ea typeface="Arial"/>
                <a:cs typeface="Arial"/>
              </a:defRPr>
            </a:pPr>
            <a:r>
              <a:t>7–12 MIN · MINIMUM</a:t>
            </a:r>
          </a:p>
        </p:txBody>
      </p:sp>
      <p:sp>
        <p:nvSpPr>
          <p:cNvPr id="2" name="text-41-73">
            <a:extLst xmlns:a="http://schemas.openxmlformats.org/drawingml/2006/main">
              <a:ext uri="{FF2B5EF4-FFF2-40B4-BE49-F238E27FC236}">
                <a16:creationId xmlns:a16="http://schemas.microsoft.com/office/drawing/2014/main" id="{0F2BEF9B-5DD3-403C-8373-AB74FE62CC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695325"/>
            <a:ext cx="11410950" cy="609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925" b="1">
                <a:solidFill>
                  <a:srgbClr val="17211E"/>
                </a:solidFill>
                <a:latin typeface="Arial"/>
                <a:ea typeface="Arial"/>
                <a:cs typeface="Arial"/>
              </a:defRPr>
            </a:pPr>
            <a:r>
              <a:t>Tři opěrné body</a:t>
            </a:r>
          </a:p>
        </p:txBody>
      </p:sp>
      <p:sp>
        <p:nvSpPr>
          <p:cNvPr id="3" name="footer-rule-3">
            <a:extLst xmlns:a="http://schemas.openxmlformats.org/drawingml/2006/main">
              <a:ext uri="{FF2B5EF4-FFF2-40B4-BE49-F238E27FC236}">
                <a16:creationId xmlns:a16="http://schemas.microsoft.com/office/drawing/2014/main" id="{51C84A24-6D3E-4D84-84A5-B0482CE9A7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6276975"/>
            <a:ext cx="114109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B7B91"/>
          </a:solidFill>
          <a:ln xmlns:a="http://schemas.openxmlformats.org/drawingml/2006/main" w="0">
            <a:noFill/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4" name="text-41-672">
            <a:extLst xmlns:a="http://schemas.openxmlformats.org/drawingml/2006/main">
              <a:ext uri="{FF2B5EF4-FFF2-40B4-BE49-F238E27FC236}">
                <a16:creationId xmlns:a16="http://schemas.microsoft.com/office/drawing/2014/main" id="{0E5D6863-5B5D-4B31-A753-F256A0742B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6400800"/>
            <a:ext cx="5715000" cy="2095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5C6965"/>
                </a:solidFill>
                <a:latin typeface="Arial"/>
                <a:ea typeface="Arial"/>
                <a:cs typeface="Arial"/>
              </a:defRPr>
            </a:pPr>
            <a:r>
              <a:t>UMĚLÁ INTELIGENCE · OD PRINCIPŮ K POUŽITÍ</a:t>
            </a:r>
          </a:p>
        </p:txBody>
      </p:sp>
      <p:sp>
        <p:nvSpPr>
          <p:cNvPr id="5" name="text-1040-672">
            <a:extLst xmlns:a="http://schemas.openxmlformats.org/drawingml/2006/main">
              <a:ext uri="{FF2B5EF4-FFF2-40B4-BE49-F238E27FC236}">
                <a16:creationId xmlns:a16="http://schemas.microsoft.com/office/drawing/2014/main" id="{D49BEB86-3C74-47C2-949B-730BBBF475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0" y="6400800"/>
            <a:ext cx="1895475" cy="2095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5C6965"/>
                </a:solidFill>
                <a:latin typeface="Arial"/>
                <a:ea typeface="Arial"/>
                <a:cs typeface="Arial"/>
              </a:defRPr>
            </a:pPr>
            <a:r>
              <a:t>HODINA 6  /  3</a:t>
            </a:r>
          </a:p>
        </p:txBody>
      </p:sp>
      <p:sp>
        <p:nvSpPr>
          <p:cNvPr id="6" name="text-41-175">
            <a:extLst xmlns:a="http://schemas.openxmlformats.org/drawingml/2006/main">
              <a:ext uri="{FF2B5EF4-FFF2-40B4-BE49-F238E27FC236}">
                <a16:creationId xmlns:a16="http://schemas.microsoft.com/office/drawing/2014/main" id="{8F011140-95D4-4D1D-ADAA-DABD04805E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1666875"/>
            <a:ext cx="666750" cy="5905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3300" b="1">
                <a:solidFill>
                  <a:srgbClr val="0B7B91"/>
                </a:solidFill>
                <a:latin typeface="Arial"/>
                <a:ea typeface="Arial"/>
                <a:cs typeface="Arial"/>
              </a:defRPr>
            </a:pPr>
            <a:r>
              <a:t>01</a:t>
            </a:r>
          </a:p>
        </p:txBody>
      </p:sp>
      <p:sp>
        <p:nvSpPr>
          <p:cNvPr id="7" name="text-41-265">
            <a:extLst xmlns:a="http://schemas.openxmlformats.org/drawingml/2006/main">
              <a:ext uri="{FF2B5EF4-FFF2-40B4-BE49-F238E27FC236}">
                <a16:creationId xmlns:a16="http://schemas.microsoft.com/office/drawing/2014/main" id="{510C4C1D-16BC-4C55-B234-F4C06CC2CB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2524125"/>
            <a:ext cx="3286125" cy="6286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17211E"/>
                </a:solidFill>
                <a:latin typeface="Arial"/>
                <a:ea typeface="Arial"/>
                <a:cs typeface="Arial"/>
              </a:defRPr>
            </a:pPr>
            <a:r>
              <a:t>Diligence</a:t>
            </a:r>
          </a:p>
        </p:txBody>
      </p:sp>
      <p:sp>
        <p:nvSpPr>
          <p:cNvPr id="8" name="text-41-356">
            <a:extLst xmlns:a="http://schemas.openxmlformats.org/drawingml/2006/main">
              <a:ext uri="{FF2B5EF4-FFF2-40B4-BE49-F238E27FC236}">
                <a16:creationId xmlns:a16="http://schemas.microsoft.com/office/drawing/2014/main" id="{4DA6A485-43CF-46E9-A53F-FFEF9FEF15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3390900"/>
            <a:ext cx="3286125" cy="16954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5C6965"/>
                </a:solidFill>
                <a:latin typeface="Arial"/>
                <a:ea typeface="Arial"/>
                <a:cs typeface="Arial"/>
              </a:defRPr>
            </a:pPr>
            <a:r>
              <a:t>Používáme jen nezbytná data, respektujeme práva a zachováváme lidskou odpovědnost.</a:t>
            </a:r>
          </a:p>
        </p:txBody>
      </p:sp>
      <p:sp>
        <p:nvSpPr>
          <p:cNvPr id="9" name="text-453-175">
            <a:extLst xmlns:a="http://schemas.openxmlformats.org/drawingml/2006/main">
              <a:ext uri="{FF2B5EF4-FFF2-40B4-BE49-F238E27FC236}">
                <a16:creationId xmlns:a16="http://schemas.microsoft.com/office/drawing/2014/main" id="{B117FC75-46BE-4254-B936-521479F8A1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14825" y="1666875"/>
            <a:ext cx="666750" cy="5905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3300" b="1">
                <a:solidFill>
                  <a:srgbClr val="0B7B91"/>
                </a:solidFill>
                <a:latin typeface="Arial"/>
                <a:ea typeface="Arial"/>
                <a:cs typeface="Arial"/>
              </a:defRPr>
            </a:pPr>
            <a:r>
              <a:t>02</a:t>
            </a:r>
          </a:p>
        </p:txBody>
      </p:sp>
      <p:sp>
        <p:nvSpPr>
          <p:cNvPr id="10" name="text-453-265">
            <a:extLst xmlns:a="http://schemas.openxmlformats.org/drawingml/2006/main">
              <a:ext uri="{FF2B5EF4-FFF2-40B4-BE49-F238E27FC236}">
                <a16:creationId xmlns:a16="http://schemas.microsoft.com/office/drawing/2014/main" id="{B960FEC4-FD1C-4D04-82D5-68DFAEBE6C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14825" y="2524125"/>
            <a:ext cx="3286125" cy="6286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17211E"/>
                </a:solidFill>
                <a:latin typeface="Arial"/>
                <a:ea typeface="Arial"/>
                <a:cs typeface="Arial"/>
              </a:defRPr>
            </a:pPr>
            <a:r>
              <a:t>Transparentnost</a:t>
            </a:r>
          </a:p>
        </p:txBody>
      </p:sp>
      <p:sp>
        <p:nvSpPr>
          <p:cNvPr id="11" name="text-453-356">
            <a:extLst xmlns:a="http://schemas.openxmlformats.org/drawingml/2006/main">
              <a:ext uri="{FF2B5EF4-FFF2-40B4-BE49-F238E27FC236}">
                <a16:creationId xmlns:a16="http://schemas.microsoft.com/office/drawing/2014/main" id="{1B55C4F1-C8E5-4E38-991C-FA1768075C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14825" y="3390900"/>
            <a:ext cx="3286125" cy="16954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5C6965"/>
                </a:solidFill>
                <a:latin typeface="Arial"/>
                <a:ea typeface="Arial"/>
                <a:cs typeface="Arial"/>
              </a:defRPr>
            </a:pPr>
            <a:r>
              <a:t>Konkrétně uvedeme, k čemu AI pomohla, co změnil člověk a jak výsledek ověřil.</a:t>
            </a:r>
          </a:p>
        </p:txBody>
      </p:sp>
      <p:sp>
        <p:nvSpPr>
          <p:cNvPr id="12" name="text-865-175">
            <a:extLst xmlns:a="http://schemas.openxmlformats.org/drawingml/2006/main">
              <a:ext uri="{FF2B5EF4-FFF2-40B4-BE49-F238E27FC236}">
                <a16:creationId xmlns:a16="http://schemas.microsoft.com/office/drawing/2014/main" id="{79A87A28-A593-4233-8D38-10E2C43949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39125" y="1666875"/>
            <a:ext cx="666750" cy="5905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3300" b="1">
                <a:solidFill>
                  <a:srgbClr val="0B7B91"/>
                </a:solidFill>
                <a:latin typeface="Arial"/>
                <a:ea typeface="Arial"/>
                <a:cs typeface="Arial"/>
              </a:defRPr>
            </a:pPr>
            <a:r>
              <a:t>03</a:t>
            </a:r>
          </a:p>
        </p:txBody>
      </p:sp>
      <p:sp>
        <p:nvSpPr>
          <p:cNvPr id="13" name="text-865-265">
            <a:extLst xmlns:a="http://schemas.openxmlformats.org/drawingml/2006/main">
              <a:ext uri="{FF2B5EF4-FFF2-40B4-BE49-F238E27FC236}">
                <a16:creationId xmlns:a16="http://schemas.microsoft.com/office/drawing/2014/main" id="{0C050337-1E5E-4D5E-983A-B78BC15A83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39125" y="2524125"/>
            <a:ext cx="3286125" cy="6286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17211E"/>
                </a:solidFill>
                <a:latin typeface="Arial"/>
                <a:ea typeface="Arial"/>
                <a:cs typeface="Arial"/>
              </a:defRPr>
            </a:pPr>
            <a:r>
              <a:t>4D</a:t>
            </a:r>
          </a:p>
        </p:txBody>
      </p:sp>
      <p:sp>
        <p:nvSpPr>
          <p:cNvPr id="14" name="text-865-356">
            <a:extLst xmlns:a="http://schemas.openxmlformats.org/drawingml/2006/main">
              <a:ext uri="{FF2B5EF4-FFF2-40B4-BE49-F238E27FC236}">
                <a16:creationId xmlns:a16="http://schemas.microsoft.com/office/drawing/2014/main" id="{BCCB2D7B-F0E5-47BA-A9EA-2BD8B4D320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39125" y="3390900"/>
            <a:ext cx="3286125" cy="16954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5C6965"/>
                </a:solidFill>
                <a:latin typeface="Arial"/>
                <a:ea typeface="Arial"/>
                <a:cs typeface="Arial"/>
              </a:defRPr>
            </a:pPr>
            <a:r>
              <a:t>Kvalitní práce propojuje vědomé delegování, jasné zadání, kritické posouzení a odpovědnost.</a:t>
            </a:r>
          </a:p>
        </p:txBody>
      </p:sp>
      <p:sp>
        <p:nvSpPr>
          <p:cNvPr id="15" name="key-rule">
            <a:extLst xmlns:a="http://schemas.openxmlformats.org/drawingml/2006/main">
              <a:ext uri="{FF2B5EF4-FFF2-40B4-BE49-F238E27FC236}">
                <a16:creationId xmlns:a16="http://schemas.microsoft.com/office/drawing/2014/main" id="{D1F0BFD5-3EAB-41DF-A0D9-B9453AE41E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5467350"/>
            <a:ext cx="1141095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B7B91"/>
          </a:solidFill>
          <a:ln xmlns:a="http://schemas.openxmlformats.org/drawingml/2006/main" w="0">
            <a:noFill/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16" name="text-41-595">
            <a:extLst xmlns:a="http://schemas.openxmlformats.org/drawingml/2006/main">
              <a:ext uri="{FF2B5EF4-FFF2-40B4-BE49-F238E27FC236}">
                <a16:creationId xmlns:a16="http://schemas.microsoft.com/office/drawing/2014/main" id="{0CD9926D-4A4D-4F87-9BBA-C8E697ECE4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5667375"/>
            <a:ext cx="11410950" cy="4286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17211E"/>
                </a:solidFill>
                <a:latin typeface="Arial"/>
                <a:ea typeface="Arial"/>
                <a:cs typeface="Arial"/>
              </a:defRPr>
            </a:pPr>
            <a:r>
              <a:t>AI rozšiřuje možnosti; lidský úsudek určuje cíl, kontrolu a použití.</a:t>
            </a:r>
          </a:p>
        </p:txBody>
      </p:sp>
    </p:spTree>
    <p:extLst>
      <p:ext uri="{BB962C8B-B14F-4D97-AF65-F5344CB8AC3E}">
        <p14:creationId xmlns:p14="http://schemas.microsoft.com/office/powerpoint/2010/main" val="1318116270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BFAF7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text-41-34">
            <a:extLst xmlns:a="http://schemas.openxmlformats.org/drawingml/2006/main">
              <a:ext uri="{FF2B5EF4-FFF2-40B4-BE49-F238E27FC236}">
                <a16:creationId xmlns:a16="http://schemas.microsoft.com/office/drawing/2014/main" id="{1212EC8D-B37F-4540-8D89-A5DE6D39B0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323850"/>
            <a:ext cx="4953000" cy="2476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0B7B91"/>
                </a:solidFill>
                <a:latin typeface="Arial"/>
                <a:ea typeface="Arial"/>
                <a:cs typeface="Arial"/>
              </a:defRPr>
            </a:pPr>
            <a:r>
              <a:t>PRÁCE · PODLE METODIKY</a:t>
            </a:r>
          </a:p>
        </p:txBody>
      </p:sp>
      <p:sp>
        <p:nvSpPr>
          <p:cNvPr id="2" name="text-41-73">
            <a:extLst xmlns:a="http://schemas.openxmlformats.org/drawingml/2006/main">
              <a:ext uri="{FF2B5EF4-FFF2-40B4-BE49-F238E27FC236}">
                <a16:creationId xmlns:a16="http://schemas.microsoft.com/office/drawing/2014/main" id="{F62F406C-E072-49AD-8FDC-79D4CAA23D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695325"/>
            <a:ext cx="11410950" cy="609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925" b="1">
                <a:solidFill>
                  <a:srgbClr val="17211E"/>
                </a:solidFill>
                <a:latin typeface="Arial"/>
                <a:ea typeface="Arial"/>
                <a:cs typeface="Arial"/>
              </a:defRPr>
            </a:pPr>
            <a:r>
              <a:t>Hlavní počítačová aktivita</a:t>
            </a:r>
          </a:p>
        </p:txBody>
      </p:sp>
      <p:sp>
        <p:nvSpPr>
          <p:cNvPr id="3" name="footer-rule-4">
            <a:extLst xmlns:a="http://schemas.openxmlformats.org/drawingml/2006/main">
              <a:ext uri="{FF2B5EF4-FFF2-40B4-BE49-F238E27FC236}">
                <a16:creationId xmlns:a16="http://schemas.microsoft.com/office/drawing/2014/main" id="{9BD0C27F-6D9C-4BC2-BDE8-AD04EC8558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6276975"/>
            <a:ext cx="114109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B7B91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text-41-672">
            <a:extLst xmlns:a="http://schemas.openxmlformats.org/drawingml/2006/main">
              <a:ext uri="{FF2B5EF4-FFF2-40B4-BE49-F238E27FC236}">
                <a16:creationId xmlns:a16="http://schemas.microsoft.com/office/drawing/2014/main" id="{52DE5207-3981-4E0A-921A-FB44C5CA5B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6400800"/>
            <a:ext cx="5715000" cy="2095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5C6965"/>
                </a:solidFill>
                <a:latin typeface="Arial"/>
                <a:ea typeface="Arial"/>
                <a:cs typeface="Arial"/>
              </a:defRPr>
            </a:pPr>
            <a:r>
              <a:t>UMĚLÁ INTELIGENCE · OD PRINCIPŮ K POUŽITÍ</a:t>
            </a:r>
          </a:p>
        </p:txBody>
      </p:sp>
      <p:sp>
        <p:nvSpPr>
          <p:cNvPr id="5" name="text-1040-672">
            <a:extLst xmlns:a="http://schemas.openxmlformats.org/drawingml/2006/main">
              <a:ext uri="{FF2B5EF4-FFF2-40B4-BE49-F238E27FC236}">
                <a16:creationId xmlns:a16="http://schemas.microsoft.com/office/drawing/2014/main" id="{F9600DA9-4383-49DE-9A79-99FE22C2FA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0" y="6400800"/>
            <a:ext cx="1895475" cy="2095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5C6965"/>
                </a:solidFill>
                <a:latin typeface="Arial"/>
                <a:ea typeface="Arial"/>
                <a:cs typeface="Arial"/>
              </a:defRPr>
            </a:pPr>
            <a:r>
              <a:t>HODINA 6  /  4</a:t>
            </a:r>
          </a:p>
        </p:txBody>
      </p:sp>
      <p:sp>
        <p:nvSpPr>
          <p:cNvPr id="6" name="text-41-158">
            <a:extLst xmlns:a="http://schemas.openxmlformats.org/drawingml/2006/main">
              <a:ext uri="{FF2B5EF4-FFF2-40B4-BE49-F238E27FC236}">
                <a16:creationId xmlns:a16="http://schemas.microsoft.com/office/drawing/2014/main" id="{BF080493-DEAB-462C-987E-CB3A35513B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1504950"/>
            <a:ext cx="1381125" cy="238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0B7B91"/>
                </a:solidFill>
                <a:latin typeface="Arial"/>
                <a:ea typeface="Arial"/>
                <a:cs typeface="Arial"/>
              </a:defRPr>
            </a:pPr>
            <a:r>
              <a:t>OTEVŘI</a:t>
            </a:r>
          </a:p>
        </p:txBody>
      </p:sp>
      <p:sp>
        <p:nvSpPr>
          <p:cNvPr id="7" name="text-41-195">
            <a:extLst xmlns:a="http://schemas.openxmlformats.org/drawingml/2006/main">
              <a:ext uri="{FF2B5EF4-FFF2-40B4-BE49-F238E27FC236}">
                <a16:creationId xmlns:a16="http://schemas.microsoft.com/office/drawing/2014/main" id="{F809D559-AED3-4006-B76B-4969D958B6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1857375"/>
            <a:ext cx="11049000" cy="44767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17211E"/>
                </a:solidFill>
                <a:latin typeface="Arial"/>
                <a:ea typeface="Arial"/>
                <a:cs typeface="Arial"/>
              </a:defRPr>
            </a:pPr>
            <a:r>
              <a:t>6. Etické a právní situace.csv · 6. Závěrečná výzva.txt</a:t>
            </a:r>
          </a:p>
        </p:txBody>
      </p:sp>
      <p:sp>
        <p:nvSpPr>
          <p:cNvPr id="8" name="step-1">
            <a:extLst xmlns:a="http://schemas.openxmlformats.org/drawingml/2006/main">
              <a:ext uri="{FF2B5EF4-FFF2-40B4-BE49-F238E27FC236}">
                <a16:creationId xmlns:a16="http://schemas.microsoft.com/office/drawing/2014/main" id="{62502AAC-776B-45AC-8729-ABFF9F55CD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2628900"/>
            <a:ext cx="5543550" cy="1247775"/>
          </a:xfrm>
          <a:prstGeom xmlns:a="http://schemas.openxmlformats.org/drawingml/2006/main" prst="roundRect">
            <a:avLst>
              <a:gd name="adj" fmla="val 6107"/>
            </a:avLst>
          </a:prstGeom>
          <a:solidFill xmlns:a="http://schemas.openxmlformats.org/drawingml/2006/main">
            <a:srgbClr val="F0F3F1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" name="text-62-296">
            <a:extLst xmlns:a="http://schemas.openxmlformats.org/drawingml/2006/main">
              <a:ext uri="{FF2B5EF4-FFF2-40B4-BE49-F238E27FC236}">
                <a16:creationId xmlns:a16="http://schemas.microsoft.com/office/drawing/2014/main" id="{36498703-0E15-4AD0-921E-567F569429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2819400"/>
            <a:ext cx="523875" cy="33337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0B7B91"/>
                </a:solidFill>
                <a:latin typeface="Arial"/>
                <a:ea typeface="Arial"/>
                <a:cs typeface="Arial"/>
              </a:defRPr>
            </a:pPr>
            <a:r>
              <a:t>01</a:t>
            </a:r>
          </a:p>
        </p:txBody>
      </p:sp>
      <p:sp>
        <p:nvSpPr>
          <p:cNvPr id="10" name="text-130-297">
            <a:extLst xmlns:a="http://schemas.openxmlformats.org/drawingml/2006/main">
              <a:ext uri="{FF2B5EF4-FFF2-40B4-BE49-F238E27FC236}">
                <a16:creationId xmlns:a16="http://schemas.microsoft.com/office/drawing/2014/main" id="{FFD9D41C-7EEA-430E-8EE5-E4F4BAC8F3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38250" y="2828925"/>
            <a:ext cx="4438650" cy="8191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17211E"/>
                </a:solidFill>
                <a:latin typeface="Arial"/>
                <a:ea typeface="Arial"/>
                <a:cs typeface="Arial"/>
              </a:defRPr>
            </a:pPr>
            <a:r>
              <a:t>V souboru 6. Etické a právní situace.csv vyřeš čtyři přidělené situace a jeden rizikový prompt přeformuluj.</a:t>
            </a:r>
          </a:p>
        </p:txBody>
      </p:sp>
      <p:sp>
        <p:nvSpPr>
          <p:cNvPr id="11" name="step-2">
            <a:extLst xmlns:a="http://schemas.openxmlformats.org/drawingml/2006/main">
              <a:ext uri="{FF2B5EF4-FFF2-40B4-BE49-F238E27FC236}">
                <a16:creationId xmlns:a16="http://schemas.microsoft.com/office/drawing/2014/main" id="{A2DA751D-7D54-4672-AD52-F83BF05D0F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57925" y="2628900"/>
            <a:ext cx="5543550" cy="1247775"/>
          </a:xfrm>
          <a:prstGeom xmlns:a="http://schemas.openxmlformats.org/drawingml/2006/main" prst="roundRect">
            <a:avLst>
              <a:gd name="adj" fmla="val 6107"/>
            </a:avLst>
          </a:prstGeom>
          <a:solidFill xmlns:a="http://schemas.openxmlformats.org/drawingml/2006/main">
            <a:srgbClr val="E3F4F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" name="text-678-296">
            <a:extLst xmlns:a="http://schemas.openxmlformats.org/drawingml/2006/main">
              <a:ext uri="{FF2B5EF4-FFF2-40B4-BE49-F238E27FC236}">
                <a16:creationId xmlns:a16="http://schemas.microsoft.com/office/drawing/2014/main" id="{805FFC38-F191-4B1A-8DEE-360759C153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57950" y="2819400"/>
            <a:ext cx="523875" cy="33337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0B7B91"/>
                </a:solidFill>
                <a:latin typeface="Arial"/>
                <a:ea typeface="Arial"/>
                <a:cs typeface="Arial"/>
              </a:defRPr>
            </a:pPr>
            <a:r>
              <a:t>02</a:t>
            </a:r>
          </a:p>
        </p:txBody>
      </p:sp>
      <p:sp>
        <p:nvSpPr>
          <p:cNvPr id="13" name="text-746-297">
            <a:extLst xmlns:a="http://schemas.openxmlformats.org/drawingml/2006/main">
              <a:ext uri="{FF2B5EF4-FFF2-40B4-BE49-F238E27FC236}">
                <a16:creationId xmlns:a16="http://schemas.microsoft.com/office/drawing/2014/main" id="{7E48B7DF-BF92-4846-8039-3FB94A73FB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05650" y="2828925"/>
            <a:ext cx="4438650" cy="8191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17211E"/>
                </a:solidFill>
                <a:latin typeface="Arial"/>
                <a:ea typeface="Arial"/>
                <a:cs typeface="Arial"/>
              </a:defRPr>
            </a:pPr>
            <a:r>
              <a:t>Ze souboru 6. Závěrečná výzva.txt vyber variantu a před otevřením Copilotu napiš delegační plán.</a:t>
            </a:r>
          </a:p>
        </p:txBody>
      </p:sp>
      <p:sp>
        <p:nvSpPr>
          <p:cNvPr id="14" name="step-3">
            <a:extLst xmlns:a="http://schemas.openxmlformats.org/drawingml/2006/main">
              <a:ext uri="{FF2B5EF4-FFF2-40B4-BE49-F238E27FC236}">
                <a16:creationId xmlns:a16="http://schemas.microsoft.com/office/drawing/2014/main" id="{0223999E-1680-41B0-806A-E6753EC046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4162425"/>
            <a:ext cx="5543550" cy="1247775"/>
          </a:xfrm>
          <a:prstGeom xmlns:a="http://schemas.openxmlformats.org/drawingml/2006/main" prst="roundRect">
            <a:avLst>
              <a:gd name="adj" fmla="val 6107"/>
            </a:avLst>
          </a:prstGeom>
          <a:solidFill xmlns:a="http://schemas.openxmlformats.org/drawingml/2006/main">
            <a:srgbClr val="F0F3F1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" name="text-62-457">
            <a:extLst xmlns:a="http://schemas.openxmlformats.org/drawingml/2006/main">
              <a:ext uri="{FF2B5EF4-FFF2-40B4-BE49-F238E27FC236}">
                <a16:creationId xmlns:a16="http://schemas.microsoft.com/office/drawing/2014/main" id="{73BD5ACA-07F3-4B21-A262-12788B5BF9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4352925"/>
            <a:ext cx="523875" cy="33337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0B7B91"/>
                </a:solidFill>
                <a:latin typeface="Arial"/>
                <a:ea typeface="Arial"/>
                <a:cs typeface="Arial"/>
              </a:defRPr>
            </a:pPr>
            <a:r>
              <a:t>03</a:t>
            </a:r>
          </a:p>
        </p:txBody>
      </p:sp>
      <p:sp>
        <p:nvSpPr>
          <p:cNvPr id="16" name="text-130-458">
            <a:extLst xmlns:a="http://schemas.openxmlformats.org/drawingml/2006/main">
              <a:ext uri="{FF2B5EF4-FFF2-40B4-BE49-F238E27FC236}">
                <a16:creationId xmlns:a16="http://schemas.microsoft.com/office/drawing/2014/main" id="{0A09742E-997D-4046-BE5F-6C4E7A60BB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38250" y="4362450"/>
            <a:ext cx="4438650" cy="8191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17211E"/>
                </a:solidFill>
                <a:latin typeface="Arial"/>
                <a:ea typeface="Arial"/>
                <a:cs typeface="Arial"/>
              </a:defRPr>
            </a:pPr>
            <a:r>
              <a:t>Vytvoř první prompt a dvě cílené iterace; ověř nejdůležitější tvrzení a proveď audit dat, práv a transparentnosti.</a:t>
            </a:r>
          </a:p>
        </p:txBody>
      </p:sp>
      <p:sp>
        <p:nvSpPr>
          <p:cNvPr id="17" name="step-4">
            <a:extLst xmlns:a="http://schemas.openxmlformats.org/drawingml/2006/main">
              <a:ext uri="{FF2B5EF4-FFF2-40B4-BE49-F238E27FC236}">
                <a16:creationId xmlns:a16="http://schemas.microsoft.com/office/drawing/2014/main" id="{05C2599B-6E2E-4B0F-98FB-D7AEBB9888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57925" y="4162425"/>
            <a:ext cx="5543550" cy="1247775"/>
          </a:xfrm>
          <a:prstGeom xmlns:a="http://schemas.openxmlformats.org/drawingml/2006/main" prst="roundRect">
            <a:avLst>
              <a:gd name="adj" fmla="val 6107"/>
            </a:avLst>
          </a:prstGeom>
          <a:solidFill xmlns:a="http://schemas.openxmlformats.org/drawingml/2006/main">
            <a:srgbClr val="F0F3F1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8" name="text-678-457">
            <a:extLst xmlns:a="http://schemas.openxmlformats.org/drawingml/2006/main">
              <a:ext uri="{FF2B5EF4-FFF2-40B4-BE49-F238E27FC236}">
                <a16:creationId xmlns:a16="http://schemas.microsoft.com/office/drawing/2014/main" id="{4F60B195-3052-46A3-8A50-61E934D50D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57950" y="4352925"/>
            <a:ext cx="523875" cy="33337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0B7B91"/>
                </a:solidFill>
                <a:latin typeface="Arial"/>
                <a:ea typeface="Arial"/>
                <a:cs typeface="Arial"/>
              </a:defRPr>
            </a:pPr>
            <a:r>
              <a:t>04</a:t>
            </a:r>
          </a:p>
        </p:txBody>
      </p:sp>
      <p:sp>
        <p:nvSpPr>
          <p:cNvPr id="19" name="text-746-458">
            <a:extLst xmlns:a="http://schemas.openxmlformats.org/drawingml/2006/main">
              <a:ext uri="{FF2B5EF4-FFF2-40B4-BE49-F238E27FC236}">
                <a16:creationId xmlns:a16="http://schemas.microsoft.com/office/drawing/2014/main" id="{71CB84A0-062C-4B8B-BB9D-419405C464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05650" y="4362450"/>
            <a:ext cx="4438650" cy="8191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17211E"/>
                </a:solidFill>
                <a:latin typeface="Arial"/>
                <a:ea typeface="Arial"/>
                <a:cs typeface="Arial"/>
              </a:defRPr>
            </a:pPr>
            <a:r>
              <a:t>Odevzdej miniportfolio, stručné prohlášení o roli AI a tři osobní zásady pro další práci.</a:t>
            </a:r>
          </a:p>
        </p:txBody>
      </p:sp>
    </p:spTree>
    <p:extLst>
      <p:ext uri="{BB962C8B-B14F-4D97-AF65-F5344CB8AC3E}">
        <p14:creationId xmlns:p14="http://schemas.microsoft.com/office/powerpoint/2010/main" val="961792097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FBFAF7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text-41-34">
            <a:extLst xmlns:a="http://schemas.openxmlformats.org/drawingml/2006/main">
              <a:ext uri="{FF2B5EF4-FFF2-40B4-BE49-F238E27FC236}">
                <a16:creationId xmlns:a16="http://schemas.microsoft.com/office/drawing/2014/main" id="{902308E8-0860-4D96-914E-43E8E35043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323850"/>
            <a:ext cx="4953000" cy="2476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0B7B91"/>
                </a:solidFill>
                <a:latin typeface="Arial"/>
                <a:ea typeface="Arial"/>
                <a:cs typeface="Arial"/>
              </a:defRPr>
            </a:pPr>
            <a:r>
              <a:t>PRŮBĚŽNÁ KONTROLA</a:t>
            </a:r>
          </a:p>
        </p:txBody>
      </p:sp>
      <p:sp>
        <p:nvSpPr>
          <p:cNvPr id="2" name="text-41-73">
            <a:extLst xmlns:a="http://schemas.openxmlformats.org/drawingml/2006/main">
              <a:ext uri="{FF2B5EF4-FFF2-40B4-BE49-F238E27FC236}">
                <a16:creationId xmlns:a16="http://schemas.microsoft.com/office/drawing/2014/main" id="{C26D52A3-4B32-4EA0-B76E-0CF5E419CC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695325"/>
            <a:ext cx="11410950" cy="609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925" b="1">
                <a:solidFill>
                  <a:srgbClr val="17211E"/>
                </a:solidFill>
                <a:latin typeface="Arial"/>
                <a:ea typeface="Arial"/>
                <a:cs typeface="Arial"/>
              </a:defRPr>
            </a:pPr>
            <a:r>
              <a:t>Než odevzdáš, ověř čtyři věci</a:t>
            </a:r>
          </a:p>
        </p:txBody>
      </p:sp>
      <p:sp>
        <p:nvSpPr>
          <p:cNvPr id="3" name="footer-rule-5">
            <a:extLst xmlns:a="http://schemas.openxmlformats.org/drawingml/2006/main">
              <a:ext uri="{FF2B5EF4-FFF2-40B4-BE49-F238E27FC236}">
                <a16:creationId xmlns:a16="http://schemas.microsoft.com/office/drawing/2014/main" id="{1D74F36B-E434-4D18-930A-1947165C9E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6276975"/>
            <a:ext cx="114109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B7B91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text-41-672">
            <a:extLst xmlns:a="http://schemas.openxmlformats.org/drawingml/2006/main">
              <a:ext uri="{FF2B5EF4-FFF2-40B4-BE49-F238E27FC236}">
                <a16:creationId xmlns:a16="http://schemas.microsoft.com/office/drawing/2014/main" id="{B7B18F13-E5F9-4F4E-90A6-A5FE24D490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6400800"/>
            <a:ext cx="5715000" cy="2095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5C6965"/>
                </a:solidFill>
                <a:latin typeface="Arial"/>
                <a:ea typeface="Arial"/>
                <a:cs typeface="Arial"/>
              </a:defRPr>
            </a:pPr>
            <a:r>
              <a:t>UMĚLÁ INTELIGENCE · OD PRINCIPŮ K POUŽITÍ</a:t>
            </a:r>
          </a:p>
        </p:txBody>
      </p:sp>
      <p:sp>
        <p:nvSpPr>
          <p:cNvPr id="5" name="text-1040-672">
            <a:extLst xmlns:a="http://schemas.openxmlformats.org/drawingml/2006/main">
              <a:ext uri="{FF2B5EF4-FFF2-40B4-BE49-F238E27FC236}">
                <a16:creationId xmlns:a16="http://schemas.microsoft.com/office/drawing/2014/main" id="{D638A0DB-1DF7-4825-B845-4BAC36B2D6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0" y="6400800"/>
            <a:ext cx="1895475" cy="2095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5C6965"/>
                </a:solidFill>
                <a:latin typeface="Arial"/>
                <a:ea typeface="Arial"/>
                <a:cs typeface="Arial"/>
              </a:defRPr>
            </a:pPr>
            <a:r>
              <a:t>HODINA 6  /  5</a:t>
            </a:r>
          </a:p>
        </p:txBody>
      </p:sp>
      <p:sp>
        <p:nvSpPr>
          <p:cNvPr id="6" name="check-1">
            <a:extLst xmlns:a="http://schemas.openxmlformats.org/drawingml/2006/main">
              <a:ext uri="{FF2B5EF4-FFF2-40B4-BE49-F238E27FC236}">
                <a16:creationId xmlns:a16="http://schemas.microsoft.com/office/drawing/2014/main" id="{22F2A5B1-6A49-4CAD-A495-929AE7774A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1685925"/>
            <a:ext cx="5543550" cy="1657350"/>
          </a:xfrm>
          <a:prstGeom xmlns:a="http://schemas.openxmlformats.org/drawingml/2006/main" prst="roundRect">
            <a:avLst>
              <a:gd name="adj" fmla="val 4598"/>
            </a:avLst>
          </a:prstGeom>
          <a:solidFill xmlns:a="http://schemas.openxmlformats.org/drawingml/2006/main">
            <a:srgbClr val="E3F4F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" name="text-64-202">
            <a:extLst xmlns:a="http://schemas.openxmlformats.org/drawingml/2006/main">
              <a:ext uri="{FF2B5EF4-FFF2-40B4-BE49-F238E27FC236}">
                <a16:creationId xmlns:a16="http://schemas.microsoft.com/office/drawing/2014/main" id="{5B20A98E-C95D-4410-AA96-3262CB3157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924050"/>
            <a:ext cx="428625" cy="4191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325" b="1">
                <a:solidFill>
                  <a:srgbClr val="0B7B91"/>
                </a:solidFill>
                <a:latin typeface="Arial"/>
                <a:ea typeface="Arial"/>
                <a:cs typeface="Arial"/>
              </a:defRPr>
            </a:pPr>
            <a:r>
              <a:t>✓</a:t>
            </a:r>
          </a:p>
        </p:txBody>
      </p:sp>
      <p:sp>
        <p:nvSpPr>
          <p:cNvPr id="8" name="text-123-203">
            <a:extLst xmlns:a="http://schemas.openxmlformats.org/drawingml/2006/main">
              <a:ext uri="{FF2B5EF4-FFF2-40B4-BE49-F238E27FC236}">
                <a16:creationId xmlns:a16="http://schemas.microsoft.com/office/drawing/2014/main" id="{58C0A2C0-91A5-4DE2-A9B7-D8AE421196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71575" y="1933575"/>
            <a:ext cx="4438650" cy="3238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211E"/>
                </a:solidFill>
                <a:latin typeface="Arial"/>
                <a:ea typeface="Arial"/>
                <a:cs typeface="Arial"/>
              </a:defRPr>
            </a:pPr>
            <a:r>
              <a:t>Cíl</a:t>
            </a:r>
          </a:p>
        </p:txBody>
      </p:sp>
      <p:sp>
        <p:nvSpPr>
          <p:cNvPr id="9" name="text-123-253">
            <a:extLst xmlns:a="http://schemas.openxmlformats.org/drawingml/2006/main">
              <a:ext uri="{FF2B5EF4-FFF2-40B4-BE49-F238E27FC236}">
                <a16:creationId xmlns:a16="http://schemas.microsoft.com/office/drawing/2014/main" id="{0B074F9C-39BA-4840-8177-609B0BB3AA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71575" y="2409825"/>
            <a:ext cx="4438650" cy="7048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5C6965"/>
                </a:solidFill>
                <a:latin typeface="Arial"/>
                <a:ea typeface="Arial"/>
                <a:cs typeface="Arial"/>
              </a:defRPr>
            </a:pPr>
            <a:r>
              <a:t>Portfolio obsahuje důkazy Delegation, Description, Discernment a Diligence a student obhájí dvě vlastní volby.</a:t>
            </a:r>
          </a:p>
        </p:txBody>
      </p:sp>
      <p:sp>
        <p:nvSpPr>
          <p:cNvPr id="10" name="check-2">
            <a:extLst xmlns:a="http://schemas.openxmlformats.org/drawingml/2006/main">
              <a:ext uri="{FF2B5EF4-FFF2-40B4-BE49-F238E27FC236}">
                <a16:creationId xmlns:a16="http://schemas.microsoft.com/office/drawing/2014/main" id="{40BB0754-67F1-435E-A07C-768F290EA1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57925" y="1685925"/>
            <a:ext cx="5543550" cy="1657350"/>
          </a:xfrm>
          <a:prstGeom xmlns:a="http://schemas.openxmlformats.org/drawingml/2006/main" prst="roundRect">
            <a:avLst>
              <a:gd name="adj" fmla="val 4598"/>
            </a:avLst>
          </a:prstGeom>
          <a:solidFill xmlns:a="http://schemas.openxmlformats.org/drawingml/2006/main">
            <a:srgbClr val="F0F3F1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" name="text-680-202">
            <a:extLst xmlns:a="http://schemas.openxmlformats.org/drawingml/2006/main">
              <a:ext uri="{FF2B5EF4-FFF2-40B4-BE49-F238E27FC236}">
                <a16:creationId xmlns:a16="http://schemas.microsoft.com/office/drawing/2014/main" id="{368FF484-22C8-4CBE-AFD8-060794414D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0" y="1924050"/>
            <a:ext cx="428625" cy="4191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325" b="1">
                <a:solidFill>
                  <a:srgbClr val="0B7B91"/>
                </a:solidFill>
                <a:latin typeface="Arial"/>
                <a:ea typeface="Arial"/>
                <a:cs typeface="Arial"/>
              </a:defRPr>
            </a:pPr>
            <a:r>
              <a:t>✓</a:t>
            </a:r>
          </a:p>
        </p:txBody>
      </p:sp>
      <p:sp>
        <p:nvSpPr>
          <p:cNvPr id="12" name="text-739-203">
            <a:extLst xmlns:a="http://schemas.openxmlformats.org/drawingml/2006/main">
              <a:ext uri="{FF2B5EF4-FFF2-40B4-BE49-F238E27FC236}">
                <a16:creationId xmlns:a16="http://schemas.microsoft.com/office/drawing/2014/main" id="{15E4EEB4-A63E-47E5-9A60-EB8A1D2A57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38975" y="1933575"/>
            <a:ext cx="4438650" cy="3238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211E"/>
                </a:solidFill>
                <a:latin typeface="Arial"/>
                <a:ea typeface="Arial"/>
                <a:cs typeface="Arial"/>
              </a:defRPr>
            </a:pPr>
            <a:r>
              <a:t>Důvod</a:t>
            </a:r>
          </a:p>
        </p:txBody>
      </p:sp>
      <p:sp>
        <p:nvSpPr>
          <p:cNvPr id="13" name="text-739-253">
            <a:extLst xmlns:a="http://schemas.openxmlformats.org/drawingml/2006/main">
              <a:ext uri="{FF2B5EF4-FFF2-40B4-BE49-F238E27FC236}">
                <a16:creationId xmlns:a16="http://schemas.microsoft.com/office/drawing/2014/main" id="{E267BFF2-1553-4A7C-8289-610C5C4436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38975" y="2409825"/>
            <a:ext cx="4438650" cy="7048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5C6965"/>
                </a:solidFill>
                <a:latin typeface="Arial"/>
                <a:ea typeface="Arial"/>
                <a:cs typeface="Arial"/>
              </a:defRPr>
            </a:pPr>
            <a:r>
              <a:t>Které rozhodnutí je v miniportfoliu prokazatelně tvoje?</a:t>
            </a:r>
          </a:p>
        </p:txBody>
      </p:sp>
      <p:sp>
        <p:nvSpPr>
          <p:cNvPr id="14" name="check-3">
            <a:extLst xmlns:a="http://schemas.openxmlformats.org/drawingml/2006/main">
              <a:ext uri="{FF2B5EF4-FFF2-40B4-BE49-F238E27FC236}">
                <a16:creationId xmlns:a16="http://schemas.microsoft.com/office/drawing/2014/main" id="{7F1CB325-E42F-45B9-AF06-6B55FF9B8F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3762375"/>
            <a:ext cx="5543550" cy="1657350"/>
          </a:xfrm>
          <a:prstGeom xmlns:a="http://schemas.openxmlformats.org/drawingml/2006/main" prst="roundRect">
            <a:avLst>
              <a:gd name="adj" fmla="val 4598"/>
            </a:avLst>
          </a:prstGeom>
          <a:solidFill xmlns:a="http://schemas.openxmlformats.org/drawingml/2006/main">
            <a:srgbClr val="F0F3F1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" name="text-64-420">
            <a:extLst xmlns:a="http://schemas.openxmlformats.org/drawingml/2006/main">
              <a:ext uri="{FF2B5EF4-FFF2-40B4-BE49-F238E27FC236}">
                <a16:creationId xmlns:a16="http://schemas.microsoft.com/office/drawing/2014/main" id="{FEA3B513-1FDD-4540-A22D-6D071054CE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000500"/>
            <a:ext cx="428625" cy="4191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325" b="1">
                <a:solidFill>
                  <a:srgbClr val="0B7B91"/>
                </a:solidFill>
                <a:latin typeface="Arial"/>
                <a:ea typeface="Arial"/>
                <a:cs typeface="Arial"/>
              </a:defRPr>
            </a:pPr>
            <a:r>
              <a:t>✓</a:t>
            </a:r>
          </a:p>
        </p:txBody>
      </p:sp>
      <p:sp>
        <p:nvSpPr>
          <p:cNvPr id="16" name="text-123-421">
            <a:extLst xmlns:a="http://schemas.openxmlformats.org/drawingml/2006/main">
              <a:ext uri="{FF2B5EF4-FFF2-40B4-BE49-F238E27FC236}">
                <a16:creationId xmlns:a16="http://schemas.microsoft.com/office/drawing/2014/main" id="{50685887-8B8E-42EE-9D6E-DE2C6E789D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71575" y="4010025"/>
            <a:ext cx="4438650" cy="3238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211E"/>
                </a:solidFill>
                <a:latin typeface="Arial"/>
                <a:ea typeface="Arial"/>
                <a:cs typeface="Arial"/>
              </a:defRPr>
            </a:pPr>
            <a:r>
              <a:t>Ověření</a:t>
            </a:r>
          </a:p>
        </p:txBody>
      </p:sp>
      <p:sp>
        <p:nvSpPr>
          <p:cNvPr id="17" name="text-123-471">
            <a:extLst xmlns:a="http://schemas.openxmlformats.org/drawingml/2006/main">
              <a:ext uri="{FF2B5EF4-FFF2-40B4-BE49-F238E27FC236}">
                <a16:creationId xmlns:a16="http://schemas.microsoft.com/office/drawing/2014/main" id="{C163B75A-4C72-4142-9B72-6B82D68FFE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71575" y="4486275"/>
            <a:ext cx="4438650" cy="7048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5C6965"/>
                </a:solidFill>
                <a:latin typeface="Arial"/>
                <a:ea typeface="Arial"/>
                <a:cs typeface="Arial"/>
              </a:defRPr>
            </a:pPr>
            <a:r>
              <a:t>Jaký důkaz nejvíce zvýšil důvěryhodnost výsledku?</a:t>
            </a:r>
          </a:p>
        </p:txBody>
      </p:sp>
      <p:sp>
        <p:nvSpPr>
          <p:cNvPr id="18" name="check-4">
            <a:extLst xmlns:a="http://schemas.openxmlformats.org/drawingml/2006/main">
              <a:ext uri="{FF2B5EF4-FFF2-40B4-BE49-F238E27FC236}">
                <a16:creationId xmlns:a16="http://schemas.microsoft.com/office/drawing/2014/main" id="{141A7AED-C2C9-4F53-A2B7-1F8BF34F69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57925" y="3762375"/>
            <a:ext cx="5543550" cy="1657350"/>
          </a:xfrm>
          <a:prstGeom xmlns:a="http://schemas.openxmlformats.org/drawingml/2006/main" prst="roundRect">
            <a:avLst>
              <a:gd name="adj" fmla="val 4598"/>
            </a:avLst>
          </a:prstGeom>
          <a:solidFill xmlns:a="http://schemas.openxmlformats.org/drawingml/2006/main">
            <a:srgbClr val="F0F3F1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9" name="text-680-420">
            <a:extLst xmlns:a="http://schemas.openxmlformats.org/drawingml/2006/main">
              <a:ext uri="{FF2B5EF4-FFF2-40B4-BE49-F238E27FC236}">
                <a16:creationId xmlns:a16="http://schemas.microsoft.com/office/drawing/2014/main" id="{2C74D4D7-CA69-4962-BC6E-C721BA6829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0" y="4000500"/>
            <a:ext cx="428625" cy="4191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325" b="1">
                <a:solidFill>
                  <a:srgbClr val="0B7B91"/>
                </a:solidFill>
                <a:latin typeface="Arial"/>
                <a:ea typeface="Arial"/>
                <a:cs typeface="Arial"/>
              </a:defRPr>
            </a:pPr>
            <a:r>
              <a:t>✓</a:t>
            </a:r>
          </a:p>
        </p:txBody>
      </p:sp>
      <p:sp>
        <p:nvSpPr>
          <p:cNvPr id="20" name="text-739-421">
            <a:extLst xmlns:a="http://schemas.openxmlformats.org/drawingml/2006/main">
              <a:ext uri="{FF2B5EF4-FFF2-40B4-BE49-F238E27FC236}">
                <a16:creationId xmlns:a16="http://schemas.microsoft.com/office/drawing/2014/main" id="{C64CFF31-2856-4E0F-88F7-62CA3D010C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38975" y="4010025"/>
            <a:ext cx="4438650" cy="3238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211E"/>
                </a:solidFill>
                <a:latin typeface="Arial"/>
                <a:ea typeface="Arial"/>
                <a:cs typeface="Arial"/>
              </a:defRPr>
            </a:pPr>
            <a:r>
              <a:t>Odpovědnost</a:t>
            </a:r>
          </a:p>
        </p:txBody>
      </p:sp>
      <p:sp>
        <p:nvSpPr>
          <p:cNvPr id="21" name="text-739-471">
            <a:extLst xmlns:a="http://schemas.openxmlformats.org/drawingml/2006/main">
              <a:ext uri="{FF2B5EF4-FFF2-40B4-BE49-F238E27FC236}">
                <a16:creationId xmlns:a16="http://schemas.microsoft.com/office/drawing/2014/main" id="{7A879609-68DB-4619-881C-49A6F3AA21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38975" y="4486275"/>
            <a:ext cx="4438650" cy="7048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5C6965"/>
                </a:solidFill>
                <a:latin typeface="Arial"/>
                <a:ea typeface="Arial"/>
                <a:cs typeface="Arial"/>
              </a:defRPr>
            </a:pPr>
            <a:r>
              <a:t>Který údaj nebo obsah bylo nutné odstranit, nahradit nebo chránit?</a:t>
            </a:r>
          </a:p>
        </p:txBody>
      </p:sp>
    </p:spTree>
    <p:extLst>
      <p:ext uri="{BB962C8B-B14F-4D97-AF65-F5344CB8AC3E}">
        <p14:creationId xmlns:p14="http://schemas.microsoft.com/office/powerpoint/2010/main" val="1193113697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FBFAF7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text-41-34">
            <a:extLst xmlns:a="http://schemas.openxmlformats.org/drawingml/2006/main">
              <a:ext uri="{FF2B5EF4-FFF2-40B4-BE49-F238E27FC236}">
                <a16:creationId xmlns:a16="http://schemas.microsoft.com/office/drawing/2014/main" id="{15BC1522-EF17-4EA6-8C13-5FE076D70C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323850"/>
            <a:ext cx="4953000" cy="2476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0B7B91"/>
                </a:solidFill>
                <a:latin typeface="Arial"/>
                <a:ea typeface="Arial"/>
                <a:cs typeface="Arial"/>
              </a:defRPr>
            </a:pPr>
            <a:r>
              <a:t>36–41 MIN · SPOLEČNĚ</a:t>
            </a:r>
          </a:p>
        </p:txBody>
      </p:sp>
      <p:sp>
        <p:nvSpPr>
          <p:cNvPr id="2" name="text-41-73">
            <a:extLst xmlns:a="http://schemas.openxmlformats.org/drawingml/2006/main">
              <a:ext uri="{FF2B5EF4-FFF2-40B4-BE49-F238E27FC236}">
                <a16:creationId xmlns:a16="http://schemas.microsoft.com/office/drawing/2014/main" id="{6363DA62-499B-4F19-800C-92C450E747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695325"/>
            <a:ext cx="11410950" cy="609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925" b="1">
                <a:solidFill>
                  <a:srgbClr val="17211E"/>
                </a:solidFill>
                <a:latin typeface="Arial"/>
                <a:ea typeface="Arial"/>
                <a:cs typeface="Arial"/>
              </a:defRPr>
            </a:pPr>
            <a:r>
              <a:t>Co má být ve výsledku vidět</a:t>
            </a:r>
          </a:p>
        </p:txBody>
      </p:sp>
      <p:sp>
        <p:nvSpPr>
          <p:cNvPr id="3" name="footer-rule-6">
            <a:extLst xmlns:a="http://schemas.openxmlformats.org/drawingml/2006/main">
              <a:ext uri="{FF2B5EF4-FFF2-40B4-BE49-F238E27FC236}">
                <a16:creationId xmlns:a16="http://schemas.microsoft.com/office/drawing/2014/main" id="{4B33E667-2AEA-42FC-8A9B-327E98ADB2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6276975"/>
            <a:ext cx="114109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B7B91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text-41-672">
            <a:extLst xmlns:a="http://schemas.openxmlformats.org/drawingml/2006/main">
              <a:ext uri="{FF2B5EF4-FFF2-40B4-BE49-F238E27FC236}">
                <a16:creationId xmlns:a16="http://schemas.microsoft.com/office/drawing/2014/main" id="{DF062A65-3245-4262-AE1E-E3B2B8D4DE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6400800"/>
            <a:ext cx="5715000" cy="2095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5C6965"/>
                </a:solidFill>
                <a:latin typeface="Arial"/>
                <a:ea typeface="Arial"/>
                <a:cs typeface="Arial"/>
              </a:defRPr>
            </a:pPr>
            <a:r>
              <a:t>UMĚLÁ INTELIGENCE · OD PRINCIPŮ K POUŽITÍ</a:t>
            </a:r>
          </a:p>
        </p:txBody>
      </p:sp>
      <p:sp>
        <p:nvSpPr>
          <p:cNvPr id="5" name="text-1040-672">
            <a:extLst xmlns:a="http://schemas.openxmlformats.org/drawingml/2006/main">
              <a:ext uri="{FF2B5EF4-FFF2-40B4-BE49-F238E27FC236}">
                <a16:creationId xmlns:a16="http://schemas.microsoft.com/office/drawing/2014/main" id="{0071CEA7-141C-405E-949A-B117D90317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0" y="6400800"/>
            <a:ext cx="1895475" cy="2095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5C6965"/>
                </a:solidFill>
                <a:latin typeface="Arial"/>
                <a:ea typeface="Arial"/>
                <a:cs typeface="Arial"/>
              </a:defRPr>
            </a:pPr>
            <a:r>
              <a:t>HODINA 6  /  6</a:t>
            </a:r>
          </a:p>
        </p:txBody>
      </p:sp>
      <p:sp>
        <p:nvSpPr>
          <p:cNvPr id="6" name="text-41-188">
            <a:extLst xmlns:a="http://schemas.openxmlformats.org/drawingml/2006/main">
              <a:ext uri="{FF2B5EF4-FFF2-40B4-BE49-F238E27FC236}">
                <a16:creationId xmlns:a16="http://schemas.microsoft.com/office/drawing/2014/main" id="{7D92DA86-CE2F-4AD3-B379-B8F53A390C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1790700"/>
            <a:ext cx="1952625" cy="3619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83259"/>
          </a:bodyPr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17211E"/>
                </a:solidFill>
                <a:latin typeface="Arial"/>
                <a:ea typeface="Arial"/>
                <a:cs typeface="Arial"/>
              </a:defRPr>
            </a:pPr>
            <a:r>
              <a:t>Delegation a Description</a:t>
            </a:r>
          </a:p>
        </p:txBody>
      </p:sp>
      <p:sp>
        <p:nvSpPr>
          <p:cNvPr id="7" name="text-260-188">
            <a:extLst xmlns:a="http://schemas.openxmlformats.org/drawingml/2006/main">
              <a:ext uri="{FF2B5EF4-FFF2-40B4-BE49-F238E27FC236}">
                <a16:creationId xmlns:a16="http://schemas.microsoft.com/office/drawing/2014/main" id="{E062314E-70DB-48B3-B2E6-8BA51B4E85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76500" y="1790700"/>
            <a:ext cx="3333750" cy="7715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5C6965"/>
                </a:solidFill>
                <a:latin typeface="Arial"/>
                <a:ea typeface="Arial"/>
                <a:cs typeface="Arial"/>
              </a:defRPr>
            </a:pPr>
            <a:r>
              <a:t>Záznam dokládá vědomé rozdělení rolí a jasné zadání s kritérii.</a:t>
            </a:r>
          </a:p>
        </p:txBody>
      </p:sp>
      <p:sp>
        <p:nvSpPr>
          <p:cNvPr id="8" name="text-41-303">
            <a:extLst xmlns:a="http://schemas.openxmlformats.org/drawingml/2006/main">
              <a:ext uri="{FF2B5EF4-FFF2-40B4-BE49-F238E27FC236}">
                <a16:creationId xmlns:a16="http://schemas.microsoft.com/office/drawing/2014/main" id="{A62A401F-FFAD-494C-88A0-2008674486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2886075"/>
            <a:ext cx="1952625" cy="3619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17211E"/>
                </a:solidFill>
                <a:latin typeface="Arial"/>
                <a:ea typeface="Arial"/>
                <a:cs typeface="Arial"/>
              </a:defRPr>
            </a:pPr>
            <a:r>
              <a:t>Discernment</a:t>
            </a:r>
          </a:p>
        </p:txBody>
      </p:sp>
      <p:sp>
        <p:nvSpPr>
          <p:cNvPr id="9" name="text-260-303">
            <a:extLst xmlns:a="http://schemas.openxmlformats.org/drawingml/2006/main">
              <a:ext uri="{FF2B5EF4-FFF2-40B4-BE49-F238E27FC236}">
                <a16:creationId xmlns:a16="http://schemas.microsoft.com/office/drawing/2014/main" id="{C8A423D0-D63B-4327-BC0C-E3D2E6D9B4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76500" y="2886075"/>
            <a:ext cx="3333750" cy="7715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5C6965"/>
                </a:solidFill>
                <a:latin typeface="Arial"/>
                <a:ea typeface="Arial"/>
                <a:cs typeface="Arial"/>
              </a:defRPr>
            </a:pPr>
            <a:r>
              <a:t>Klíčové tvrzení má věcnou oporu a revize reaguje na konkrétní problém.</a:t>
            </a:r>
          </a:p>
        </p:txBody>
      </p:sp>
      <p:sp>
        <p:nvSpPr>
          <p:cNvPr id="10" name="text-41-418">
            <a:extLst xmlns:a="http://schemas.openxmlformats.org/drawingml/2006/main">
              <a:ext uri="{FF2B5EF4-FFF2-40B4-BE49-F238E27FC236}">
                <a16:creationId xmlns:a16="http://schemas.microsoft.com/office/drawing/2014/main" id="{9804BEFA-8080-4F33-90DD-6A6C8FDEAB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3981450"/>
            <a:ext cx="1952625" cy="3619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17211E"/>
                </a:solidFill>
                <a:latin typeface="Arial"/>
                <a:ea typeface="Arial"/>
                <a:cs typeface="Arial"/>
              </a:defRPr>
            </a:pPr>
            <a:r>
              <a:t>Diligence</a:t>
            </a:r>
          </a:p>
        </p:txBody>
      </p:sp>
      <p:sp>
        <p:nvSpPr>
          <p:cNvPr id="11" name="text-260-418">
            <a:extLst xmlns:a="http://schemas.openxmlformats.org/drawingml/2006/main">
              <a:ext uri="{FF2B5EF4-FFF2-40B4-BE49-F238E27FC236}">
                <a16:creationId xmlns:a16="http://schemas.microsoft.com/office/drawing/2014/main" id="{FDF9246D-EF7A-499B-B06C-8E1FAFCAAA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76500" y="3981450"/>
            <a:ext cx="3333750" cy="7715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5C6965"/>
                </a:solidFill>
                <a:latin typeface="Arial"/>
                <a:ea typeface="Arial"/>
                <a:cs typeface="Arial"/>
              </a:defRPr>
            </a:pPr>
            <a:r>
              <a:t>Data jsou minimalizována, práva zohledněna a role AI transparentně popsána.</a:t>
            </a:r>
          </a:p>
        </p:txBody>
      </p:sp>
      <p:sp>
        <p:nvSpPr>
          <p:cNvPr id="12" name="misconception">
            <a:extLst xmlns:a="http://schemas.openxmlformats.org/drawingml/2006/main">
              <a:ext uri="{FF2B5EF4-FFF2-40B4-BE49-F238E27FC236}">
                <a16:creationId xmlns:a16="http://schemas.microsoft.com/office/drawing/2014/main" id="{2F8019E6-5F8A-43C9-89CD-0887A91B41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57925" y="1628775"/>
            <a:ext cx="5543550" cy="3524250"/>
          </a:xfrm>
          <a:prstGeom xmlns:a="http://schemas.openxmlformats.org/drawingml/2006/main" prst="roundRect">
            <a:avLst>
              <a:gd name="adj" fmla="val 2162"/>
            </a:avLst>
          </a:prstGeom>
          <a:solidFill xmlns:a="http://schemas.openxmlformats.org/drawingml/2006/main">
            <a:srgbClr val="E3F4F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" name="text-690-205">
            <a:extLst xmlns:a="http://schemas.openxmlformats.org/drawingml/2006/main">
              <a:ext uri="{FF2B5EF4-FFF2-40B4-BE49-F238E27FC236}">
                <a16:creationId xmlns:a16="http://schemas.microsoft.com/office/drawing/2014/main" id="{D87A112A-C349-434C-A9BC-9F53B3AC86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0" y="1952625"/>
            <a:ext cx="4762500" cy="2762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0B7B91"/>
                </a:solidFill>
                <a:latin typeface="Arial"/>
                <a:ea typeface="Arial"/>
                <a:cs typeface="Arial"/>
              </a:defRPr>
            </a:pPr>
            <a:r>
              <a:t>POZOR NA ZKRATKU</a:t>
            </a:r>
          </a:p>
        </p:txBody>
      </p:sp>
      <p:sp>
        <p:nvSpPr>
          <p:cNvPr id="14" name="text-690-265">
            <a:extLst xmlns:a="http://schemas.openxmlformats.org/drawingml/2006/main">
              <a:ext uri="{FF2B5EF4-FFF2-40B4-BE49-F238E27FC236}">
                <a16:creationId xmlns:a16="http://schemas.microsoft.com/office/drawing/2014/main" id="{CF3E7A70-49B0-4388-99A1-C397E536B1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0" y="2524125"/>
            <a:ext cx="4686300" cy="8382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175" b="1">
                <a:solidFill>
                  <a:srgbClr val="17211E"/>
                </a:solidFill>
                <a:latin typeface="Arial"/>
                <a:ea typeface="Arial"/>
                <a:cs typeface="Arial"/>
              </a:defRPr>
            </a:pPr>
            <a:r>
              <a:t>„Dobrý finální text stačí.“</a:t>
            </a:r>
          </a:p>
        </p:txBody>
      </p:sp>
      <p:sp>
        <p:nvSpPr>
          <p:cNvPr id="15" name="text-690-389">
            <a:extLst xmlns:a="http://schemas.openxmlformats.org/drawingml/2006/main">
              <a:ext uri="{FF2B5EF4-FFF2-40B4-BE49-F238E27FC236}">
                <a16:creationId xmlns:a16="http://schemas.microsoft.com/office/drawing/2014/main" id="{8C92165E-9B7D-44C1-AEB1-70D67CCA9B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0" y="3705225"/>
            <a:ext cx="4686300" cy="990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5C6965"/>
                </a:solidFill>
                <a:latin typeface="Arial"/>
                <a:ea typeface="Arial"/>
                <a:cs typeface="Arial"/>
              </a:defRPr>
            </a:pPr>
            <a:r>
              <a:t>Hodnocení vyžaduje také doklad procesu, ověření a reflexi.</a:t>
            </a:r>
          </a:p>
        </p:txBody>
      </p:sp>
      <p:sp>
        <p:nvSpPr>
          <p:cNvPr id="16" name="text-41-575">
            <a:extLst xmlns:a="http://schemas.openxmlformats.org/drawingml/2006/main">
              <a:ext uri="{FF2B5EF4-FFF2-40B4-BE49-F238E27FC236}">
                <a16:creationId xmlns:a16="http://schemas.microsoft.com/office/drawing/2014/main" id="{96A625CD-FB95-4BCE-A5AB-93312A1413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5476875"/>
            <a:ext cx="11410950" cy="4381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17211E"/>
                </a:solidFill>
                <a:latin typeface="Arial"/>
                <a:ea typeface="Arial"/>
                <a:cs typeface="Arial"/>
              </a:defRPr>
            </a:pPr>
            <a:r>
              <a:t>Vrať se k úvodní odpovědi. Co bys teď změnil/a — a proč?</a:t>
            </a:r>
          </a:p>
        </p:txBody>
      </p:sp>
    </p:spTree>
    <p:extLst>
      <p:ext uri="{BB962C8B-B14F-4D97-AF65-F5344CB8AC3E}">
        <p14:creationId xmlns:p14="http://schemas.microsoft.com/office/powerpoint/2010/main" val="1008705412"/>
      </p:ext>
    </p:extLst>
  </p:cSld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FBFAF7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accent-rail">
            <a:extLst xmlns:a="http://schemas.openxmlformats.org/drawingml/2006/main">
              <a:ext uri="{FF2B5EF4-FFF2-40B4-BE49-F238E27FC236}">
                <a16:creationId xmlns:a16="http://schemas.microsoft.com/office/drawing/2014/main" id="{C2A07793-73DC-4FEC-803C-FACD8E4CE4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20955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B7B91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text-54-48">
            <a:extLst xmlns:a="http://schemas.openxmlformats.org/drawingml/2006/main">
              <a:ext uri="{FF2B5EF4-FFF2-40B4-BE49-F238E27FC236}">
                <a16:creationId xmlns:a16="http://schemas.microsoft.com/office/drawing/2014/main" id="{ED4A1F01-5434-4E14-92EC-30D8DCFB84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457200"/>
            <a:ext cx="4953000" cy="2857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0B7B91"/>
                </a:solidFill>
                <a:latin typeface="Arial"/>
                <a:ea typeface="Arial"/>
                <a:cs typeface="Arial"/>
              </a:defRPr>
            </a:pPr>
            <a:r>
              <a:t>HODINA 6 · POSLEDNÍ 3 MINUTY</a:t>
            </a:r>
          </a:p>
        </p:txBody>
      </p:sp>
      <p:sp>
        <p:nvSpPr>
          <p:cNvPr id="3" name="text-54-151">
            <a:extLst xmlns:a="http://schemas.openxmlformats.org/drawingml/2006/main">
              <a:ext uri="{FF2B5EF4-FFF2-40B4-BE49-F238E27FC236}">
                <a16:creationId xmlns:a16="http://schemas.microsoft.com/office/drawing/2014/main" id="{29912421-2DD2-457B-B807-A6C2622D90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438275"/>
            <a:ext cx="6191250" cy="71437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3750" b="1">
                <a:solidFill>
                  <a:srgbClr val="17211E"/>
                </a:solidFill>
                <a:latin typeface="Arial"/>
                <a:ea typeface="Arial"/>
                <a:cs typeface="Arial"/>
              </a:defRPr>
            </a:pPr>
            <a:r>
              <a:t>Exit ticket</a:t>
            </a:r>
          </a:p>
        </p:txBody>
      </p:sp>
      <p:sp>
        <p:nvSpPr>
          <p:cNvPr id="4" name="text-54-278">
            <a:extLst xmlns:a="http://schemas.openxmlformats.org/drawingml/2006/main">
              <a:ext uri="{FF2B5EF4-FFF2-40B4-BE49-F238E27FC236}">
                <a16:creationId xmlns:a16="http://schemas.microsoft.com/office/drawing/2014/main" id="{3513EFED-8B5C-43B1-9FC2-0805791EED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2647950"/>
            <a:ext cx="10477500" cy="17716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850" b="1">
                <a:solidFill>
                  <a:srgbClr val="17211E"/>
                </a:solidFill>
                <a:latin typeface="Arial"/>
                <a:ea typeface="Arial"/>
                <a:cs typeface="Arial"/>
              </a:defRPr>
            </a:pPr>
            <a:r>
              <a:t>Napiš jedno osobní pravidlo, které ti pomůže zachovat vlastní úsudek při práci s AI.</a:t>
            </a:r>
          </a:p>
        </p:txBody>
      </p:sp>
      <p:sp>
        <p:nvSpPr>
          <p:cNvPr id="5" name="exit-rule">
            <a:extLst xmlns:a="http://schemas.openxmlformats.org/drawingml/2006/main">
              <a:ext uri="{FF2B5EF4-FFF2-40B4-BE49-F238E27FC236}">
                <a16:creationId xmlns:a16="http://schemas.microsoft.com/office/drawing/2014/main" id="{33FD6BB5-EE91-4B87-9633-66789166FE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4857750"/>
            <a:ext cx="1057275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B7B91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text-54-545">
            <a:extLst xmlns:a="http://schemas.openxmlformats.org/drawingml/2006/main">
              <a:ext uri="{FF2B5EF4-FFF2-40B4-BE49-F238E27FC236}">
                <a16:creationId xmlns:a16="http://schemas.microsoft.com/office/drawing/2014/main" id="{6D48767A-037A-47C8-BDA6-4550252AC0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5191125"/>
            <a:ext cx="9096375" cy="5810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0">
                <a:solidFill>
                  <a:srgbClr val="5C6965"/>
                </a:solidFill>
                <a:latin typeface="Arial"/>
                <a:ea typeface="Arial"/>
                <a:cs typeface="Arial"/>
              </a:defRPr>
            </a:pPr>
            <a:r>
              <a:t>Odpověz samostatně jednou až třemi větami. Uveď konkrétní důvod nebo krok.</a:t>
            </a:r>
          </a:p>
        </p:txBody>
      </p:sp>
      <p:sp>
        <p:nvSpPr>
          <p:cNvPr id="7" name="text-1070-548">
            <a:extLst xmlns:a="http://schemas.openxmlformats.org/drawingml/2006/main">
              <a:ext uri="{FF2B5EF4-FFF2-40B4-BE49-F238E27FC236}">
                <a16:creationId xmlns:a16="http://schemas.microsoft.com/office/drawing/2014/main" id="{3AC99355-58AF-4663-82CA-46D5487733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91750" y="5219700"/>
            <a:ext cx="895350" cy="6286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3300" b="1">
                <a:solidFill>
                  <a:srgbClr val="0B7B91"/>
                </a:solidFill>
                <a:latin typeface="Arial"/>
                <a:ea typeface="Arial"/>
                <a:cs typeface="Arial"/>
              </a:defRPr>
            </a:pPr>
            <a:r>
              <a:t>06</a:t>
            </a:r>
          </a:p>
        </p:txBody>
      </p:sp>
    </p:spTree>
    <p:extLst>
      <p:ext uri="{BB962C8B-B14F-4D97-AF65-F5344CB8AC3E}">
        <p14:creationId xmlns:p14="http://schemas.microsoft.com/office/powerpoint/2010/main" val="567702453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xsi="http://www.w3.org/2001/XMLSchema-instance">
  <dc:creator>Karel Hlas</dc:creator>
  <cp:lastModifiedBy>Karel Hlas</cp:lastModifiedBy>
  <dc:title>Presentation</dc:title>
  <dcterms:created xsi:type="dcterms:W3CDTF">2026-07-24T00:00:00Z</dcterms:created>
  <dcterms:modified xsi:type="dcterms:W3CDTF">2026-07-24T00:00:00Z</dcterms:modified>
  <dc:description/>
</cp:coreProperties>
</file>