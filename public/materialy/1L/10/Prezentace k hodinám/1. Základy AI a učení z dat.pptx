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fe6ab5cfdf42fb" /><Relationship Type="http://schemas.openxmlformats.org/officeDocument/2006/relationships/extended-properties" Target="/docProps/app.xml" Id="R86e18a30e6d54726" /><Relationship Type="http://schemas.openxmlformats.org/officeDocument/2006/relationships/officeDocument" Target="/ppt/presentation.xml" Id="R32141bc02cb541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6a102f87b3417e"/>
  </p:sldMasterIdLst>
  <p:notesMasterIdLst>
    <p:notesMasterId xmlns:r="http://schemas.openxmlformats.org/officeDocument/2006/relationships" r:id="Rb5066f1982684d14"/>
  </p:notesMasterIdLst>
  <p:sldIdLst>
    <p:sldId xmlns:r="http://schemas.openxmlformats.org/officeDocument/2006/relationships" id="256" r:id="R53754d910b6943fe"/>
    <p:sldId xmlns:r="http://schemas.openxmlformats.org/officeDocument/2006/relationships" id="257" r:id="R0cc0aea978e748c9"/>
    <p:sldId xmlns:r="http://schemas.openxmlformats.org/officeDocument/2006/relationships" id="258" r:id="R4f19fe0cab88407d"/>
    <p:sldId xmlns:r="http://schemas.openxmlformats.org/officeDocument/2006/relationships" id="259" r:id="R4452391186bd4339"/>
    <p:sldId xmlns:r="http://schemas.openxmlformats.org/officeDocument/2006/relationships" id="260" r:id="R5122366705f44128"/>
    <p:sldId xmlns:r="http://schemas.openxmlformats.org/officeDocument/2006/relationships" id="261" r:id="R7a66f71a441a4137"/>
    <p:sldId xmlns:r="http://schemas.openxmlformats.org/officeDocument/2006/relationships" id="262" r:id="R8f61e109359c4db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c07bf64ed24292" /><Relationship Type="http://schemas.openxmlformats.org/officeDocument/2006/relationships/slideMaster" Target="/ppt/slideMasters/slideMaster1.xml" Id="Ra46a102f87b3417e" /><Relationship Type="http://schemas.openxmlformats.org/officeDocument/2006/relationships/notesMaster" Target="/ppt/notesMasters/notesMaster1.xml" Id="Rb5066f1982684d14" /><Relationship Type="http://schemas.openxmlformats.org/officeDocument/2006/relationships/presProps" Target="/ppt/presProps.xml" Id="R43e483196bcc4bb4" /><Relationship Type="http://schemas.openxmlformats.org/officeDocument/2006/relationships/tableStyles" Target="/ppt/tableStyles.xml" Id="R00ad293b70564a62" /><Relationship Type="http://schemas.openxmlformats.org/officeDocument/2006/relationships/slide" Target="/ppt/slides/slide1.xml" Id="R53754d910b6943fe" /><Relationship Type="http://schemas.openxmlformats.org/officeDocument/2006/relationships/slide" Target="/ppt/slides/slide2.xml" Id="R0cc0aea978e748c9" /><Relationship Type="http://schemas.openxmlformats.org/officeDocument/2006/relationships/slide" Target="/ppt/slides/slide3.xml" Id="R4f19fe0cab88407d" /><Relationship Type="http://schemas.openxmlformats.org/officeDocument/2006/relationships/slide" Target="/ppt/slides/slide4.xml" Id="R4452391186bd4339" /><Relationship Type="http://schemas.openxmlformats.org/officeDocument/2006/relationships/slide" Target="/ppt/slides/slide5.xml" Id="R5122366705f44128" /><Relationship Type="http://schemas.openxmlformats.org/officeDocument/2006/relationships/slide" Target="/ppt/slides/slide6.xml" Id="R7a66f71a441a4137" /><Relationship Type="http://schemas.openxmlformats.org/officeDocument/2006/relationships/slide" Target="/ppt/slides/slide7.xml" Id="R8f61e109359c4d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832096d9c34e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5755aeb3ff41dd" /><Relationship Type="http://schemas.openxmlformats.org/officeDocument/2006/relationships/notesMaster" Target="/ppt/notesMasters/notesMaster1.xml" Id="R88bde770f5a84b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a0aeb00e124a7e" /><Relationship Type="http://schemas.openxmlformats.org/officeDocument/2006/relationships/notesMaster" Target="/ppt/notesMasters/notesMaster1.xml" Id="R9271d945614f48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92f15f908e4e62" /><Relationship Type="http://schemas.openxmlformats.org/officeDocument/2006/relationships/notesMaster" Target="/ppt/notesMasters/notesMaster1.xml" Id="R527a6f88842540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201c3c8a1c48ab" /><Relationship Type="http://schemas.openxmlformats.org/officeDocument/2006/relationships/notesMaster" Target="/ppt/notesMasters/notesMaster1.xml" Id="R0defd80bbddf4f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a1577e15714f6f" /><Relationship Type="http://schemas.openxmlformats.org/officeDocument/2006/relationships/notesMaster" Target="/ppt/notesMasters/notesMaster1.xml" Id="R0547f19442114f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1492be612e4d63" /><Relationship Type="http://schemas.openxmlformats.org/officeDocument/2006/relationships/notesMaster" Target="/ppt/notesMasters/notesMaster1.xml" Id="R3cabe923d6df42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b1d6f8ce2f43f5" /><Relationship Type="http://schemas.openxmlformats.org/officeDocument/2006/relationships/notesMaster" Target="/ppt/notesMasters/notesMaster1.xml" Id="R217f17ccae6442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Cíl: Rozliším algoritmus, klasickou a generativní AI a vysvětlím, jak se model učí ze vzorů v datech.</a:t>
            </a:r>
          </a:p>
          <a:p xmlns:a="http://schemas.openxmlformats.org/drawingml/2006/main">
            <a:r>
              <a:t>Podklady: 1. Laboratoř fungování AI.html, 1. Trénovací data.csv</a:t>
            </a:r>
          </a:p>
          <a:p xmlns:a="http://schemas.openxmlformats.org/drawingml/2006/main">
            <a:r>
              <a:t>Výstup: Klasifikace šesti systémů a záznam dvou běhů se změněnou trénovací sadou.</a:t>
            </a:r>
          </a:p>
          <a:p xmlns:a="http://schemas.openxmlformats.org/drawingml/2006/main">
            <a:r>
              <a:t>Před začátkem ověř, že studenti mají otevřený digitální pracovní sešit a potřebné soubory.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UNESCO, AI competency framework for students: https://www.unesco.org/en/articles/ai-competency-framework-students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0–5 minut.</a:t>
            </a:r>
          </a:p>
          <a:p xmlns:a="http://schemas.openxmlformats.org/drawingml/2006/main">
            <a:r>
              <a:t>Postup: Zobraz tři běžné funkce a nech studenty hlasovat bez okamžité opravy.</a:t>
            </a:r>
          </a:p>
          <a:p xmlns:a="http://schemas.openxmlformats.org/drawingml/2006/main">
            <a:r>
              <a:t>Úvodní otázka: Je každá automatická nebo chytrá funkce umělá inteligence?</a:t>
            </a:r>
          </a:p>
          <a:p xmlns:a="http://schemas.openxmlformats.org/drawingml/2006/main">
            <a:r>
              <a:t>Neprozrazuj odpověď. Cílem je zachytit počáteční model studenta, ke kterému se vrátí při reflexi.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UNESCO, AI competency framework for students: https://www.unesco.org/en/articles/ai-competency-framework-students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5–12 minut.</a:t>
            </a:r>
          </a:p>
          <a:p xmlns:a="http://schemas.openxmlformats.org/drawingml/2006/main">
            <a:r>
              <a:t>Postup: Vymez algoritmus, klasickou AI a generativní AI pomocí kontrastních příkladů.</a:t>
            </a:r>
          </a:p>
          <a:p xmlns:a="http://schemas.openxmlformats.org/drawingml/2006/main">
            <a:r>
              <a:t>Klíčové body: Pravidla × model: Algoritmus provádí předem napsaný postup; model používá vztahy naučené z příkladů. | Trénování: Model hledá vzory v datech a upravuje své parametry tak, aby lépe předpovídal. | Inference: Hotový model zpracuje nový vstup; při běžné odpovědi se znovu celý netrénuje.</a:t>
            </a:r>
          </a:p>
          <a:p xmlns:a="http://schemas.openxmlformats.org/drawingml/2006/main">
            <a:r>
              <a:t>Po každém pojmu vyžádej jeden příklad a jeden protipříklad. Vysvětlení má používat způsob fungování, ne značku nástroje.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UNESCO, AI competency framework for students: https://www.unesco.org/en/articles/ai-competency-framework-students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Podklady: 1. Laboratoř fungování AI.html, 1. Trénovací data.csv</a:t>
            </a:r>
          </a:p>
          <a:p xmlns:a="http://schemas.openxmlformats.org/drawingml/2006/main">
            <a:r>
              <a:t>1. V laboratoři dokonči modul „Co je AI“ a zdůvodni dvě nejtěžší volby.</a:t>
            </a:r>
          </a:p>
          <a:p xmlns:a="http://schemas.openxmlformats.org/drawingml/2006/main">
            <a:r>
              <a:t>2. Otevři 1. Trénovací data.csv a označ příklady, které model při trénování viděl.</a:t>
            </a:r>
          </a:p>
          <a:p xmlns:a="http://schemas.openxmlformats.org/drawingml/2006/main">
            <a:r>
              <a:t>3. V modulu „Učení z dat“ porovnej vyváženou a zkreslenou trénovací sadu.</a:t>
            </a:r>
          </a:p>
          <a:p xmlns:a="http://schemas.openxmlformats.org/drawingml/2006/main">
            <a:r>
              <a:t>4. Zapiš, co se změnilo v pravidle modelu, které nové případy selhaly a proč.</a:t>
            </a:r>
          </a:p>
          <a:p xmlns:a="http://schemas.openxmlformats.org/drawingml/2006/main">
            <a:r>
              <a:t>Požadovaný výstup: Klasifikace šesti systémů a záznam dvou běhů se změněnou trénovací sadou.</a:t>
            </a:r>
          </a:p>
          <a:p xmlns:a="http://schemas.openxmlformats.org/drawingml/2006/main">
            <a:r>
              <a:t>Během práce pomáhej otázkami, nepřebírej myš ani tvorbu promptu. Vyžaduj průběžné ukládání výstupů a lidských rozhodnutí.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UNESCO, AI competency framework for students: https://www.unesco.org/en/articles/ai-competency-framework-students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Kritérium: Student správně zařadí nejméně 5 ze 6 systémů, oddělí trénování od inference a spojí chybu modelu s vlastností dat.</a:t>
            </a:r>
          </a:p>
          <a:p xmlns:a="http://schemas.openxmlformats.org/drawingml/2006/main">
            <a:r>
              <a:t>Vodicí otázky: Podle jakého znaku jsi systém zařadil/a? | Je tento děj součást trénování, nebo inference? | Která skupina příkladů v datech chybí nebo převažuje?</a:t>
            </a:r>
          </a:p>
          <a:p xmlns:a="http://schemas.openxmlformats.org/drawingml/2006/main">
            <a:r>
              <a:t>Podpora: Nabídni barevný tok data → trénování → model → inference a jeden vyřešený příklad.</a:t>
            </a:r>
          </a:p>
          <a:p xmlns:a="http://schemas.openxmlformats.org/drawingml/2006/main">
            <a:r>
              <a:t>Rozšíření: Navrhni testovací sadu, která odhalí, zda se model naučil špatné pravidlo.</a:t>
            </a:r>
          </a:p>
          <a:p xmlns:a="http://schemas.openxmlformats.org/drawingml/2006/main">
            <a:r>
              <a:t>Proveď rychlou párovou kontrolu: jeden dobře doložený bod a jedna konkrétní otázka k dopracování.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UNESCO, AI competency framework for students: https://www.unesco.org/en/articles/ai-competency-framework-students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Očekávané závěry: Algoritmus: Pevně stanovený postup se neučí z příkladů. | Trénování: Model upravuje parametry podle vzorů v trénovacích datech. | Inference: Hotový model použije naučené parametry na nový vstup.</a:t>
            </a:r>
          </a:p>
          <a:p xmlns:a="http://schemas.openxmlformats.org/drawingml/2006/main">
            <a:r>
              <a:t>Časté omyly: „Když je něco automatické, je to AI.“ → Ptej se, zda systém používá naučený model, nebo pouze explicitní pravidla. | „Model si uloží tabulku všech správných odpovědí.“ → Ukaž nový případ a nech studenta popsat zobecněný vzor.</a:t>
            </a:r>
          </a:p>
          <a:p xmlns:a="http://schemas.openxmlformats.org/drawingml/2006/main">
            <a:r>
              <a:t>Nečti řešení slovo od slova. Porovnej dva studentské postupy a nech třídu určit, který má lepší důkazy nebo jasnější lidské rozhodnutí.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UNESCO, AI competency framework for students: https://www.unesco.org/en/articles/ai-competency-framework-students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 ticket: Jednou větou odliš trénování od inference a uveď příklad každé fáze.</a:t>
            </a:r>
          </a:p>
          <a:p xmlns:a="http://schemas.openxmlformats.org/drawingml/2006/main">
            <a:r>
              <a:t>Když technika selže: Použij tabulky v pracovním sešitu a průběh simulace promítni z prezentace.</a:t>
            </a:r>
          </a:p>
          <a:p xmlns:a="http://schemas.openxmlformats.org/drawingml/2006/main">
            <a:r>
              <a:t>Odpovědi použij jako diagnostiku pro začátek další hodiny. U hodiny 3 navazuje diagnostická brána; u hodiny 6 jde o součást závěrečné reflexe.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UNESCO, AI competency framework for students: https://www.unesco.org/en/articles/ai-competency-framework-students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5c0c7f957249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9615804c654437" /><Relationship Type="http://schemas.openxmlformats.org/officeDocument/2006/relationships/slideLayout" Target="/ppt/slideLayouts/slideLayout1.xml" Id="R8bc4247ba3d948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c4247ba3d948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b9f5578dc4145" /><Relationship Type="http://schemas.openxmlformats.org/officeDocument/2006/relationships/notesSlide" Target="/ppt/notesSlides/notesSlide1.xml" Id="R6099b28d835047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1d714ba224d40" /><Relationship Type="http://schemas.openxmlformats.org/officeDocument/2006/relationships/notesSlide" Target="/ppt/notesSlides/notesSlide2.xml" Id="R746b9ee1f56941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f38b702fd47eb" /><Relationship Type="http://schemas.openxmlformats.org/officeDocument/2006/relationships/notesSlide" Target="/ppt/notesSlides/notesSlide3.xml" Id="R3355da69dbd84b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bfa2aa30c4d31" /><Relationship Type="http://schemas.openxmlformats.org/officeDocument/2006/relationships/notesSlide" Target="/ppt/notesSlides/notesSlide4.xml" Id="Rceb07b4d413a4f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b289583174d8e" /><Relationship Type="http://schemas.openxmlformats.org/officeDocument/2006/relationships/notesSlide" Target="/ppt/notesSlides/notesSlide5.xml" Id="R41025d5a2d4842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38263ea9c4c2e" /><Relationship Type="http://schemas.openxmlformats.org/officeDocument/2006/relationships/notesSlide" Target="/ppt/notesSlides/notesSlide6.xml" Id="R51bff4f11fa44a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366ff989547f2" /><Relationship Type="http://schemas.openxmlformats.org/officeDocument/2006/relationships/notesSlide" Target="/ppt/notesSlides/notesSlide7.xml" Id="R75d660ae10ba4c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F6696670-C1E7-4335-A3A3-3E0E93B6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AC01E9DC-3D70-4020-83E2-FA2CB564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8A83"/>
                </a:solidFill>
                <a:latin typeface="Arial"/>
                <a:ea typeface="Arial"/>
                <a:cs typeface="Arial"/>
              </a:defRPr>
            </a:pPr>
            <a:r>
              <a:t>HODINA 1 / 6</a:t>
            </a:r>
          </a:p>
        </p:txBody>
      </p:sp>
      <p:sp>
        <p:nvSpPr>
          <p:cNvPr id="3" name="text-842-48">
            <a:extLst xmlns:a="http://schemas.openxmlformats.org/drawingml/2006/main">
              <a:ext uri="{FF2B5EF4-FFF2-40B4-BE49-F238E27FC236}">
                <a16:creationId xmlns:a16="http://schemas.microsoft.com/office/drawing/2014/main" id="{7FE72DD4-4466-4ACB-B816-431545BC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7200"/>
            <a:ext cx="33051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JAK AI FUNGUJE</a:t>
            </a:r>
          </a:p>
        </p:txBody>
      </p:sp>
      <p:sp>
        <p:nvSpPr>
          <p:cNvPr id="4" name="text-54-245">
            <a:extLst xmlns:a="http://schemas.openxmlformats.org/drawingml/2006/main">
              <a:ext uri="{FF2B5EF4-FFF2-40B4-BE49-F238E27FC236}">
                <a16:creationId xmlns:a16="http://schemas.microsoft.com/office/drawing/2014/main" id="{7CF55969-B24E-4816-A84D-40744769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1057275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Základy AI a učení z dat</a:t>
            </a:r>
          </a:p>
        </p:txBody>
      </p:sp>
      <p:sp>
        <p:nvSpPr>
          <p:cNvPr id="5" name="text-56-505">
            <a:extLst xmlns:a="http://schemas.openxmlformats.org/drawingml/2006/main">
              <a:ext uri="{FF2B5EF4-FFF2-40B4-BE49-F238E27FC236}">
                <a16:creationId xmlns:a16="http://schemas.microsoft.com/office/drawing/2014/main" id="{BC2FB16E-D6FC-4CA4-AC63-544DDE1A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8096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Rozliším algoritmus, klasickou a generativní AI a vysvětlím, jak se model učí ze vzorů v datech.</a:t>
            </a:r>
          </a:p>
        </p:txBody>
      </p:sp>
      <p:sp>
        <p:nvSpPr>
          <p:cNvPr id="6" name="lesson-number">
            <a:extLst xmlns:a="http://schemas.openxmlformats.org/drawingml/2006/main">
              <a:ext uri="{FF2B5EF4-FFF2-40B4-BE49-F238E27FC236}">
                <a16:creationId xmlns:a16="http://schemas.microsoft.com/office/drawing/2014/main" id="{E67DC574-86FD-46EB-87E6-EB80B7A5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762500"/>
            <a:ext cx="1181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0C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065-519">
            <a:extLst xmlns:a="http://schemas.openxmlformats.org/drawingml/2006/main">
              <a:ext uri="{FF2B5EF4-FFF2-40B4-BE49-F238E27FC236}">
                <a16:creationId xmlns:a16="http://schemas.microsoft.com/office/drawing/2014/main" id="{89416A59-AAD6-4B02-A27B-0610F757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943475"/>
            <a:ext cx="1181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8" name="text-1065-596">
            <a:extLst xmlns:a="http://schemas.openxmlformats.org/drawingml/2006/main">
              <a:ext uri="{FF2B5EF4-FFF2-40B4-BE49-F238E27FC236}">
                <a16:creationId xmlns:a16="http://schemas.microsoft.com/office/drawing/2014/main" id="{6A852C53-9982-4020-885B-22631BD8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676900"/>
            <a:ext cx="1181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45 MIN</a:t>
            </a:r>
          </a:p>
        </p:txBody>
      </p:sp>
    </p:spTree>
    <p:extLst>
      <p:ext uri="{BB962C8B-B14F-4D97-AF65-F5344CB8AC3E}">
        <p14:creationId xmlns:p14="http://schemas.microsoft.com/office/powerpoint/2010/main" val="19530973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BD6AC33D-5271-4638-91B7-E1C9736B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8A83"/>
                </a:solidFill>
                <a:latin typeface="Arial"/>
                <a:ea typeface="Arial"/>
                <a:cs typeface="Arial"/>
              </a:defRPr>
            </a:pPr>
            <a:r>
              <a:t>0–5 MIN · START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4783E980-B5DE-4AF9-BB8D-DED378F5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Začni vlastním úsudkem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97E90C64-E1EE-4838-87EF-C2C5A62B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DF452205-6A08-40AD-9F96-CD9853C8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47EE53D2-5AB4-4BE6-B946-C4B27947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1  /  2</a:t>
            </a:r>
          </a:p>
        </p:txBody>
      </p:sp>
      <p:sp>
        <p:nvSpPr>
          <p:cNvPr id="6" name="text-41-183">
            <a:extLst xmlns:a="http://schemas.openxmlformats.org/drawingml/2006/main">
              <a:ext uri="{FF2B5EF4-FFF2-40B4-BE49-F238E27FC236}">
                <a16:creationId xmlns:a16="http://schemas.microsoft.com/office/drawing/2014/main" id="{8467D724-CD88-4478-BC8E-9794EE97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906125" cy="1952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Je každá automatická nebo chytrá funkce umělá inteligence?</a:t>
            </a:r>
          </a:p>
        </p:txBody>
      </p:sp>
      <p:sp>
        <p:nvSpPr>
          <p:cNvPr id="7" name="hook-panel">
            <a:extLst xmlns:a="http://schemas.openxmlformats.org/drawingml/2006/main">
              <a:ext uri="{FF2B5EF4-FFF2-40B4-BE49-F238E27FC236}">
                <a16:creationId xmlns:a16="http://schemas.microsoft.com/office/drawing/2014/main" id="{C34DB76D-BCBB-4A10-B519-560C9408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00525"/>
            <a:ext cx="114109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69-473">
            <a:extLst xmlns:a="http://schemas.openxmlformats.org/drawingml/2006/main">
              <a:ext uri="{FF2B5EF4-FFF2-40B4-BE49-F238E27FC236}">
                <a16:creationId xmlns:a16="http://schemas.microsoft.com/office/drawing/2014/main" id="{08E31527-8B69-4286-9C26-D64B6826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05325"/>
            <a:ext cx="4286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C8A83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9" name="text-121-472">
            <a:extLst xmlns:a="http://schemas.openxmlformats.org/drawingml/2006/main">
              <a:ext uri="{FF2B5EF4-FFF2-40B4-BE49-F238E27FC236}">
                <a16:creationId xmlns:a16="http://schemas.microsoft.com/office/drawing/2014/main" id="{07D4B73A-9D87-4954-BE98-035A0920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495800"/>
            <a:ext cx="247650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Rozhodni sám</a:t>
            </a:r>
          </a:p>
        </p:txBody>
      </p:sp>
      <p:sp>
        <p:nvSpPr>
          <p:cNvPr id="10" name="text-121-518">
            <a:extLst xmlns:a="http://schemas.openxmlformats.org/drawingml/2006/main">
              <a:ext uri="{FF2B5EF4-FFF2-40B4-BE49-F238E27FC236}">
                <a16:creationId xmlns:a16="http://schemas.microsoft.com/office/drawing/2014/main" id="{A9B2DA81-7EAF-4692-BE35-D75F0415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933950"/>
            <a:ext cx="24765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Zapiš konkrétní důvod.</a:t>
            </a:r>
          </a:p>
        </p:txBody>
      </p:sp>
      <p:sp>
        <p:nvSpPr>
          <p:cNvPr id="11" name="text-459-473">
            <a:extLst xmlns:a="http://schemas.openxmlformats.org/drawingml/2006/main">
              <a:ext uri="{FF2B5EF4-FFF2-40B4-BE49-F238E27FC236}">
                <a16:creationId xmlns:a16="http://schemas.microsoft.com/office/drawing/2014/main" id="{5EBE93A8-FDB8-4DD7-8E14-E37EED2B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505325"/>
            <a:ext cx="4286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C8A83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2" name="text-511-472">
            <a:extLst xmlns:a="http://schemas.openxmlformats.org/drawingml/2006/main">
              <a:ext uri="{FF2B5EF4-FFF2-40B4-BE49-F238E27FC236}">
                <a16:creationId xmlns:a16="http://schemas.microsoft.com/office/drawing/2014/main" id="{C5A195D3-6ACB-4582-A24D-ACACA6EB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495800"/>
            <a:ext cx="295275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Porovnej ve dvojici</a:t>
            </a:r>
          </a:p>
        </p:txBody>
      </p:sp>
      <p:sp>
        <p:nvSpPr>
          <p:cNvPr id="13" name="text-511-518">
            <a:extLst xmlns:a="http://schemas.openxmlformats.org/drawingml/2006/main">
              <a:ext uri="{FF2B5EF4-FFF2-40B4-BE49-F238E27FC236}">
                <a16:creationId xmlns:a16="http://schemas.microsoft.com/office/drawing/2014/main" id="{B41B6CB6-E588-46FC-9CAB-8DB47C67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933950"/>
            <a:ext cx="2952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Najděte bod neshody.</a:t>
            </a:r>
          </a:p>
        </p:txBody>
      </p:sp>
      <p:sp>
        <p:nvSpPr>
          <p:cNvPr id="14" name="text-900-473">
            <a:extLst xmlns:a="http://schemas.openxmlformats.org/drawingml/2006/main">
              <a:ext uri="{FF2B5EF4-FFF2-40B4-BE49-F238E27FC236}">
                <a16:creationId xmlns:a16="http://schemas.microsoft.com/office/drawing/2014/main" id="{CC5BB7FB-0201-442A-B0C5-47A3AFD9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05325"/>
            <a:ext cx="4286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C8A83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5" name="text-952-472">
            <a:extLst xmlns:a="http://schemas.openxmlformats.org/drawingml/2006/main">
              <a:ext uri="{FF2B5EF4-FFF2-40B4-BE49-F238E27FC236}">
                <a16:creationId xmlns:a16="http://schemas.microsoft.com/office/drawing/2014/main" id="{D06FDC1E-2D82-4B96-B9D9-DFA7CCC9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95800"/>
            <a:ext cx="238125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Připrav obhajobu</a:t>
            </a:r>
          </a:p>
        </p:txBody>
      </p:sp>
      <p:sp>
        <p:nvSpPr>
          <p:cNvPr id="16" name="text-952-518">
            <a:extLst xmlns:a="http://schemas.openxmlformats.org/drawingml/2006/main">
              <a:ext uri="{FF2B5EF4-FFF2-40B4-BE49-F238E27FC236}">
                <a16:creationId xmlns:a16="http://schemas.microsoft.com/office/drawing/2014/main" id="{C4072A32-7F76-4F65-8472-F78B36EF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33950"/>
            <a:ext cx="23812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Co by změnilo volbu?</a:t>
            </a:r>
          </a:p>
        </p:txBody>
      </p:sp>
    </p:spTree>
    <p:extLst>
      <p:ext uri="{BB962C8B-B14F-4D97-AF65-F5344CB8AC3E}">
        <p14:creationId xmlns:p14="http://schemas.microsoft.com/office/powerpoint/2010/main" val="3111069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4EEE0207-9DEF-4496-ABEC-12A62B4A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8A83"/>
                </a:solidFill>
                <a:latin typeface="Arial"/>
                <a:ea typeface="Arial"/>
                <a:cs typeface="Arial"/>
              </a:defRPr>
            </a:pPr>
            <a:r>
              <a:t>5–12 MIN · MINIMUM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B7DF4E65-1361-4E10-953D-5BCBF836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Tři opěrné body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B762C10C-B972-48DC-8934-2A0E7ECC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72499DAD-9957-448F-B0DB-626930E9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78BF27B9-4284-43B4-856C-1395565A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1  /  3</a:t>
            </a:r>
          </a:p>
        </p:txBody>
      </p:sp>
      <p:sp>
        <p:nvSpPr>
          <p:cNvPr id="6" name="text-41-175">
            <a:extLst xmlns:a="http://schemas.openxmlformats.org/drawingml/2006/main">
              <a:ext uri="{FF2B5EF4-FFF2-40B4-BE49-F238E27FC236}">
                <a16:creationId xmlns:a16="http://schemas.microsoft.com/office/drawing/2014/main" id="{B7090914-6FC6-4F4F-A227-3891D050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66875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C8A83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7" name="text-41-265">
            <a:extLst xmlns:a="http://schemas.openxmlformats.org/drawingml/2006/main">
              <a:ext uri="{FF2B5EF4-FFF2-40B4-BE49-F238E27FC236}">
                <a16:creationId xmlns:a16="http://schemas.microsoft.com/office/drawing/2014/main" id="{071DFC71-D145-48C7-9FBB-1CEF7FC5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24125"/>
            <a:ext cx="328612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Pravidla × model</a:t>
            </a:r>
          </a:p>
        </p:txBody>
      </p:sp>
      <p:sp>
        <p:nvSpPr>
          <p:cNvPr id="8" name="text-41-356">
            <a:extLst xmlns:a="http://schemas.openxmlformats.org/drawingml/2006/main">
              <a:ext uri="{FF2B5EF4-FFF2-40B4-BE49-F238E27FC236}">
                <a16:creationId xmlns:a16="http://schemas.microsoft.com/office/drawing/2014/main" id="{F5620F0A-828B-44E4-8646-2F88FF27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90900"/>
            <a:ext cx="3286125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Algoritmus provádí předem napsaný postup; model používá vztahy naučené z příkladů.</a:t>
            </a:r>
          </a:p>
        </p:txBody>
      </p:sp>
      <p:sp>
        <p:nvSpPr>
          <p:cNvPr id="9" name="text-453-175">
            <a:extLst xmlns:a="http://schemas.openxmlformats.org/drawingml/2006/main">
              <a:ext uri="{FF2B5EF4-FFF2-40B4-BE49-F238E27FC236}">
                <a16:creationId xmlns:a16="http://schemas.microsoft.com/office/drawing/2014/main" id="{93271876-F051-46D9-9E22-7351AB0F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66875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C8A83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text-453-265">
            <a:extLst xmlns:a="http://schemas.openxmlformats.org/drawingml/2006/main">
              <a:ext uri="{FF2B5EF4-FFF2-40B4-BE49-F238E27FC236}">
                <a16:creationId xmlns:a16="http://schemas.microsoft.com/office/drawing/2014/main" id="{757828AB-60BC-4067-8DF8-19873457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24125"/>
            <a:ext cx="328612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Trénování</a:t>
            </a:r>
          </a:p>
        </p:txBody>
      </p:sp>
      <p:sp>
        <p:nvSpPr>
          <p:cNvPr id="11" name="text-453-356">
            <a:extLst xmlns:a="http://schemas.openxmlformats.org/drawingml/2006/main">
              <a:ext uri="{FF2B5EF4-FFF2-40B4-BE49-F238E27FC236}">
                <a16:creationId xmlns:a16="http://schemas.microsoft.com/office/drawing/2014/main" id="{CE30CAD3-C6B1-421F-834A-F1611906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390900"/>
            <a:ext cx="3286125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Model hledá vzory v datech a upravuje své parametry tak, aby lépe předpovídal.</a:t>
            </a:r>
          </a:p>
        </p:txBody>
      </p:sp>
      <p:sp>
        <p:nvSpPr>
          <p:cNvPr id="12" name="text-865-175">
            <a:extLst xmlns:a="http://schemas.openxmlformats.org/drawingml/2006/main">
              <a:ext uri="{FF2B5EF4-FFF2-40B4-BE49-F238E27FC236}">
                <a16:creationId xmlns:a16="http://schemas.microsoft.com/office/drawing/2014/main" id="{E2EB488C-7B07-4134-B0A7-BCF1FD15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66875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C8A83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3" name="text-865-265">
            <a:extLst xmlns:a="http://schemas.openxmlformats.org/drawingml/2006/main">
              <a:ext uri="{FF2B5EF4-FFF2-40B4-BE49-F238E27FC236}">
                <a16:creationId xmlns:a16="http://schemas.microsoft.com/office/drawing/2014/main" id="{EA0D95F1-F339-4F61-935E-3958491C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24125"/>
            <a:ext cx="328612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Inference</a:t>
            </a:r>
          </a:p>
        </p:txBody>
      </p:sp>
      <p:sp>
        <p:nvSpPr>
          <p:cNvPr id="14" name="text-865-356">
            <a:extLst xmlns:a="http://schemas.openxmlformats.org/drawingml/2006/main">
              <a:ext uri="{FF2B5EF4-FFF2-40B4-BE49-F238E27FC236}">
                <a16:creationId xmlns:a16="http://schemas.microsoft.com/office/drawing/2014/main" id="{02AB237C-D846-45E2-93F7-99A0BC8C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90900"/>
            <a:ext cx="3286125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Hotový model zpracuje nový vstup; při běžné odpovědi se znovu celý netrénuje.</a:t>
            </a:r>
          </a:p>
        </p:txBody>
      </p:sp>
      <p:sp>
        <p:nvSpPr>
          <p:cNvPr id="15" name="key-rule">
            <a:extLst xmlns:a="http://schemas.openxmlformats.org/drawingml/2006/main">
              <a:ext uri="{FF2B5EF4-FFF2-40B4-BE49-F238E27FC236}">
                <a16:creationId xmlns:a16="http://schemas.microsoft.com/office/drawing/2014/main" id="{A4C02527-A8F8-4157-B838-46963A81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67350"/>
            <a:ext cx="1141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1-595">
            <a:extLst xmlns:a="http://schemas.openxmlformats.org/drawingml/2006/main">
              <a:ext uri="{FF2B5EF4-FFF2-40B4-BE49-F238E27FC236}">
                <a16:creationId xmlns:a16="http://schemas.microsoft.com/office/drawing/2014/main" id="{C805DFA5-F444-4EAE-9356-DA641E7D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67375"/>
            <a:ext cx="114109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Model může být užitečný a zároveň omylný. Výstup není důkaz.</a:t>
            </a:r>
          </a:p>
        </p:txBody>
      </p:sp>
    </p:spTree>
    <p:extLst>
      <p:ext uri="{BB962C8B-B14F-4D97-AF65-F5344CB8AC3E}">
        <p14:creationId xmlns:p14="http://schemas.microsoft.com/office/powerpoint/2010/main" val="13081111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BEA8DC2E-C8CB-40AF-BE5A-588F8FA5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8A83"/>
                </a:solidFill>
                <a:latin typeface="Arial"/>
                <a:ea typeface="Arial"/>
                <a:cs typeface="Arial"/>
              </a:defRPr>
            </a:pPr>
            <a:r>
              <a:t>PRÁCE · PODLE METODIKY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B01B215E-5C63-4FFC-885C-29694D33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Hlavní počítačová aktivita</a:t>
            </a:r>
          </a:p>
        </p:txBody>
      </p:sp>
      <p:sp>
        <p:nvSpPr>
          <p:cNvPr id="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DD02FC6C-27C3-4DBC-AFE9-7ED98DEE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117EFABA-BAB7-4AE5-9A74-80C0365D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63420C71-BAA7-45FB-8FA6-DDBE769B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1  /  4</a:t>
            </a:r>
          </a:p>
        </p:txBody>
      </p:sp>
      <p:sp>
        <p:nvSpPr>
          <p:cNvPr id="6" name="text-41-158">
            <a:extLst xmlns:a="http://schemas.openxmlformats.org/drawingml/2006/main">
              <a:ext uri="{FF2B5EF4-FFF2-40B4-BE49-F238E27FC236}">
                <a16:creationId xmlns:a16="http://schemas.microsoft.com/office/drawing/2014/main" id="{528F89FF-E532-4DC7-A346-97532798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38112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8A83"/>
                </a:solidFill>
                <a:latin typeface="Arial"/>
                <a:ea typeface="Arial"/>
                <a:cs typeface="Arial"/>
              </a:defRPr>
            </a:pPr>
            <a:r>
              <a:t>OTEVŘI</a:t>
            </a:r>
          </a:p>
        </p:txBody>
      </p:sp>
      <p:sp>
        <p:nvSpPr>
          <p:cNvPr id="7" name="text-41-195">
            <a:extLst xmlns:a="http://schemas.openxmlformats.org/drawingml/2006/main">
              <a:ext uri="{FF2B5EF4-FFF2-40B4-BE49-F238E27FC236}">
                <a16:creationId xmlns:a16="http://schemas.microsoft.com/office/drawing/2014/main" id="{59F89F8D-FF7B-4449-8F06-BBAA9DE7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57375"/>
            <a:ext cx="1104900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1. Laboratoř fungování AI.html · 1. Trénovací data.csv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2503AA27-CBA2-46BF-B629-5ED97C63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28900"/>
            <a:ext cx="554355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2-296">
            <a:extLst xmlns:a="http://schemas.openxmlformats.org/drawingml/2006/main">
              <a:ext uri="{FF2B5EF4-FFF2-40B4-BE49-F238E27FC236}">
                <a16:creationId xmlns:a16="http://schemas.microsoft.com/office/drawing/2014/main" id="{3C09A72B-BC65-4AC5-B277-16B1A944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9400"/>
            <a:ext cx="523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8A83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text-130-297">
            <a:extLst xmlns:a="http://schemas.openxmlformats.org/drawingml/2006/main">
              <a:ext uri="{FF2B5EF4-FFF2-40B4-BE49-F238E27FC236}">
                <a16:creationId xmlns:a16="http://schemas.microsoft.com/office/drawing/2014/main" id="{3233E6B2-73AA-41B1-B5FD-F2149E72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28925"/>
            <a:ext cx="44386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 laboratoři dokonči modul „Co je AI“ a zdůvodni dvě nejtěžší volby.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D8C4C584-4326-415F-B576-BF16411E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28900"/>
            <a:ext cx="554355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678-296">
            <a:extLst xmlns:a="http://schemas.openxmlformats.org/drawingml/2006/main">
              <a:ext uri="{FF2B5EF4-FFF2-40B4-BE49-F238E27FC236}">
                <a16:creationId xmlns:a16="http://schemas.microsoft.com/office/drawing/2014/main" id="{9D44068B-9E5F-43A8-85BB-F4F5646E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19400"/>
            <a:ext cx="523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8A83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text-746-297">
            <a:extLst xmlns:a="http://schemas.openxmlformats.org/drawingml/2006/main">
              <a:ext uri="{FF2B5EF4-FFF2-40B4-BE49-F238E27FC236}">
                <a16:creationId xmlns:a16="http://schemas.microsoft.com/office/drawing/2014/main" id="{7DDEF32A-F698-4170-9920-CCF813FE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28925"/>
            <a:ext cx="44386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Otevři 1. Trénovací data.csv a označ příklady, které model při trénování viděl.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8801459D-6FC4-4CEA-8BBE-486AA5FA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62425"/>
            <a:ext cx="554355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2-457">
            <a:extLst xmlns:a="http://schemas.openxmlformats.org/drawingml/2006/main">
              <a:ext uri="{FF2B5EF4-FFF2-40B4-BE49-F238E27FC236}">
                <a16:creationId xmlns:a16="http://schemas.microsoft.com/office/drawing/2014/main" id="{E1434132-E3A1-46A8-9D22-9D40C305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523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8A83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text-130-458">
            <a:extLst xmlns:a="http://schemas.openxmlformats.org/drawingml/2006/main">
              <a:ext uri="{FF2B5EF4-FFF2-40B4-BE49-F238E27FC236}">
                <a16:creationId xmlns:a16="http://schemas.microsoft.com/office/drawing/2014/main" id="{D09ADC29-F325-45F9-BCA1-86DA988F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62450"/>
            <a:ext cx="44386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 modulu „Učení z dat“ porovnej vyváženou a zkreslenou trénovací sadu.</a:t>
            </a:r>
          </a:p>
        </p:txBody>
      </p:sp>
      <p:sp>
        <p:nvSpPr>
          <p:cNvPr id="17" name="step-4">
            <a:extLst xmlns:a="http://schemas.openxmlformats.org/drawingml/2006/main">
              <a:ext uri="{FF2B5EF4-FFF2-40B4-BE49-F238E27FC236}">
                <a16:creationId xmlns:a16="http://schemas.microsoft.com/office/drawing/2014/main" id="{5E79AA6F-5982-4732-842B-27D8D480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62425"/>
            <a:ext cx="554355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678-457">
            <a:extLst xmlns:a="http://schemas.openxmlformats.org/drawingml/2006/main">
              <a:ext uri="{FF2B5EF4-FFF2-40B4-BE49-F238E27FC236}">
                <a16:creationId xmlns:a16="http://schemas.microsoft.com/office/drawing/2014/main" id="{02B78CA9-2AC2-4459-BF62-8EC504CA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52925"/>
            <a:ext cx="523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8A83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9" name="text-746-458">
            <a:extLst xmlns:a="http://schemas.openxmlformats.org/drawingml/2006/main">
              <a:ext uri="{FF2B5EF4-FFF2-40B4-BE49-F238E27FC236}">
                <a16:creationId xmlns:a16="http://schemas.microsoft.com/office/drawing/2014/main" id="{5796AD4A-91D2-4071-86FD-1B5FAD31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62450"/>
            <a:ext cx="44386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Zapiš, co se změnilo v pravidle modelu, které nové případy selhaly a proč.</a:t>
            </a:r>
          </a:p>
        </p:txBody>
      </p:sp>
    </p:spTree>
    <p:extLst>
      <p:ext uri="{BB962C8B-B14F-4D97-AF65-F5344CB8AC3E}">
        <p14:creationId xmlns:p14="http://schemas.microsoft.com/office/powerpoint/2010/main" val="11861274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80F24BDD-79F1-411F-B806-88864701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8A83"/>
                </a:solidFill>
                <a:latin typeface="Arial"/>
                <a:ea typeface="Arial"/>
                <a:cs typeface="Arial"/>
              </a:defRPr>
            </a:pPr>
            <a:r>
              <a:t>PRŮBĚŽNÁ KONTROLA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374806C7-656B-44F7-9F7C-BA2F6FA2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Než odevzdáš, ověř čtyři věci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2900AD9F-3DD1-4A65-A8FC-139E6FAC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B1C54D09-FFBF-47F3-85B2-DE5A3AF9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DA6DED2C-B0D5-4CF2-8773-24FDEC2F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1  /  5</a:t>
            </a:r>
          </a:p>
        </p:txBody>
      </p:sp>
      <p:sp>
        <p:nvSpPr>
          <p:cNvPr id="6" name="check-1">
            <a:extLst xmlns:a="http://schemas.openxmlformats.org/drawingml/2006/main">
              <a:ext uri="{FF2B5EF4-FFF2-40B4-BE49-F238E27FC236}">
                <a16:creationId xmlns:a16="http://schemas.microsoft.com/office/drawing/2014/main" id="{DA13AD0E-D896-4E09-84F2-14212B45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85925"/>
            <a:ext cx="55435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64-202">
            <a:extLst xmlns:a="http://schemas.openxmlformats.org/drawingml/2006/main">
              <a:ext uri="{FF2B5EF4-FFF2-40B4-BE49-F238E27FC236}">
                <a16:creationId xmlns:a16="http://schemas.microsoft.com/office/drawing/2014/main" id="{27F98BA5-1B58-4098-9BEC-053F0276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28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8A83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8" name="text-123-203">
            <a:extLst xmlns:a="http://schemas.openxmlformats.org/drawingml/2006/main">
              <a:ext uri="{FF2B5EF4-FFF2-40B4-BE49-F238E27FC236}">
                <a16:creationId xmlns:a16="http://schemas.microsoft.com/office/drawing/2014/main" id="{0A1BE8DD-02BC-4900-A2E6-E4D98D82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933575"/>
            <a:ext cx="4438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Cíl</a:t>
            </a:r>
          </a:p>
        </p:txBody>
      </p:sp>
      <p:sp>
        <p:nvSpPr>
          <p:cNvPr id="9" name="text-123-253">
            <a:extLst xmlns:a="http://schemas.openxmlformats.org/drawingml/2006/main">
              <a:ext uri="{FF2B5EF4-FFF2-40B4-BE49-F238E27FC236}">
                <a16:creationId xmlns:a16="http://schemas.microsoft.com/office/drawing/2014/main" id="{80916A31-BDED-435F-B30B-C19DA50B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409825"/>
            <a:ext cx="44386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Student správně zařadí nejméně 5 ze 6 systémů, oddělí trénování od inference a spojí chybu modelu s vlastností dat.</a:t>
            </a:r>
          </a:p>
        </p:txBody>
      </p:sp>
      <p:sp>
        <p:nvSpPr>
          <p:cNvPr id="10" name="check-2">
            <a:extLst xmlns:a="http://schemas.openxmlformats.org/drawingml/2006/main">
              <a:ext uri="{FF2B5EF4-FFF2-40B4-BE49-F238E27FC236}">
                <a16:creationId xmlns:a16="http://schemas.microsoft.com/office/drawing/2014/main" id="{78789A00-135C-47E7-9812-6996F43E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85925"/>
            <a:ext cx="55435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680-202">
            <a:extLst xmlns:a="http://schemas.openxmlformats.org/drawingml/2006/main">
              <a:ext uri="{FF2B5EF4-FFF2-40B4-BE49-F238E27FC236}">
                <a16:creationId xmlns:a16="http://schemas.microsoft.com/office/drawing/2014/main" id="{9A4A388B-A439-4833-903B-ADCF770C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428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8A83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2" name="text-739-203">
            <a:extLst xmlns:a="http://schemas.openxmlformats.org/drawingml/2006/main">
              <a:ext uri="{FF2B5EF4-FFF2-40B4-BE49-F238E27FC236}">
                <a16:creationId xmlns:a16="http://schemas.microsoft.com/office/drawing/2014/main" id="{E6BA532C-B31B-4741-B7F7-3FD8FAA6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33575"/>
            <a:ext cx="4438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Důvod</a:t>
            </a:r>
          </a:p>
        </p:txBody>
      </p:sp>
      <p:sp>
        <p:nvSpPr>
          <p:cNvPr id="13" name="text-739-253">
            <a:extLst xmlns:a="http://schemas.openxmlformats.org/drawingml/2006/main">
              <a:ext uri="{FF2B5EF4-FFF2-40B4-BE49-F238E27FC236}">
                <a16:creationId xmlns:a16="http://schemas.microsoft.com/office/drawing/2014/main" id="{9CA12B85-749A-4F14-87F3-66801994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409825"/>
            <a:ext cx="44386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Podle jakého znaku jsi systém zařadil/a?</a:t>
            </a:r>
          </a:p>
        </p:txBody>
      </p:sp>
      <p:sp>
        <p:nvSpPr>
          <p:cNvPr id="14" name="check-3">
            <a:extLst xmlns:a="http://schemas.openxmlformats.org/drawingml/2006/main">
              <a:ext uri="{FF2B5EF4-FFF2-40B4-BE49-F238E27FC236}">
                <a16:creationId xmlns:a16="http://schemas.microsoft.com/office/drawing/2014/main" id="{2C1BC9BE-B0C2-4C4D-9D68-72DC4297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62375"/>
            <a:ext cx="55435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4-420">
            <a:extLst xmlns:a="http://schemas.openxmlformats.org/drawingml/2006/main">
              <a:ext uri="{FF2B5EF4-FFF2-40B4-BE49-F238E27FC236}">
                <a16:creationId xmlns:a16="http://schemas.microsoft.com/office/drawing/2014/main" id="{2A112D5F-6DE5-4185-8A69-CC12490D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28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8A83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6" name="text-123-421">
            <a:extLst xmlns:a="http://schemas.openxmlformats.org/drawingml/2006/main">
              <a:ext uri="{FF2B5EF4-FFF2-40B4-BE49-F238E27FC236}">
                <a16:creationId xmlns:a16="http://schemas.microsoft.com/office/drawing/2014/main" id="{39EA7D46-EA78-4491-8647-7106D11B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10025"/>
            <a:ext cx="4438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Ověření</a:t>
            </a:r>
          </a:p>
        </p:txBody>
      </p:sp>
      <p:sp>
        <p:nvSpPr>
          <p:cNvPr id="17" name="text-123-471">
            <a:extLst xmlns:a="http://schemas.openxmlformats.org/drawingml/2006/main">
              <a:ext uri="{FF2B5EF4-FFF2-40B4-BE49-F238E27FC236}">
                <a16:creationId xmlns:a16="http://schemas.microsoft.com/office/drawing/2014/main" id="{19BED555-34AD-492B-93B2-C2BE8620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86275"/>
            <a:ext cx="44386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Je tento děj součást trénování, nebo inference?</a:t>
            </a:r>
          </a:p>
        </p:txBody>
      </p:sp>
      <p:sp>
        <p:nvSpPr>
          <p:cNvPr id="18" name="check-4">
            <a:extLst xmlns:a="http://schemas.openxmlformats.org/drawingml/2006/main">
              <a:ext uri="{FF2B5EF4-FFF2-40B4-BE49-F238E27FC236}">
                <a16:creationId xmlns:a16="http://schemas.microsoft.com/office/drawing/2014/main" id="{E0FE2B2D-24BB-4800-8714-7E5A9863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62375"/>
            <a:ext cx="55435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680-420">
            <a:extLst xmlns:a="http://schemas.openxmlformats.org/drawingml/2006/main">
              <a:ext uri="{FF2B5EF4-FFF2-40B4-BE49-F238E27FC236}">
                <a16:creationId xmlns:a16="http://schemas.microsoft.com/office/drawing/2014/main" id="{F6E260EB-680A-4059-B4B0-8F5EBB92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28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8A83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0" name="text-739-421">
            <a:extLst xmlns:a="http://schemas.openxmlformats.org/drawingml/2006/main">
              <a:ext uri="{FF2B5EF4-FFF2-40B4-BE49-F238E27FC236}">
                <a16:creationId xmlns:a16="http://schemas.microsoft.com/office/drawing/2014/main" id="{1DFC4455-1BF7-4D50-9788-0041021C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010025"/>
            <a:ext cx="4438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Odpovědnost</a:t>
            </a:r>
          </a:p>
        </p:txBody>
      </p:sp>
      <p:sp>
        <p:nvSpPr>
          <p:cNvPr id="21" name="text-739-471">
            <a:extLst xmlns:a="http://schemas.openxmlformats.org/drawingml/2006/main">
              <a:ext uri="{FF2B5EF4-FFF2-40B4-BE49-F238E27FC236}">
                <a16:creationId xmlns:a16="http://schemas.microsoft.com/office/drawing/2014/main" id="{A3ACC084-22F2-477A-8C8F-81B71D94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486275"/>
            <a:ext cx="44386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Která skupina příkladů v datech chybí nebo převažuje?</a:t>
            </a:r>
          </a:p>
        </p:txBody>
      </p:sp>
    </p:spTree>
    <p:extLst>
      <p:ext uri="{BB962C8B-B14F-4D97-AF65-F5344CB8AC3E}">
        <p14:creationId xmlns:p14="http://schemas.microsoft.com/office/powerpoint/2010/main" val="5246978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EED2E7A4-F541-4065-BDC6-DD76D77E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8A83"/>
                </a:solidFill>
                <a:latin typeface="Arial"/>
                <a:ea typeface="Arial"/>
                <a:cs typeface="Arial"/>
              </a:defRPr>
            </a:pPr>
            <a:r>
              <a:t>34–41 MIN · SPOLEČNĚ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79B629D8-942E-4B6A-A048-A6BC8844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Co má být ve výsledku vidět</a:t>
            </a:r>
          </a:p>
        </p:txBody>
      </p:sp>
      <p:sp>
        <p:nvSpPr>
          <p:cNvPr id="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AF3B6235-4B89-4D01-839B-A7AAA600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C1E193E4-5D8D-4509-BED5-3096A0CD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9F8F64A7-4203-4FBF-9512-6016048B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1  /  6</a:t>
            </a:r>
          </a:p>
        </p:txBody>
      </p:sp>
      <p:sp>
        <p:nvSpPr>
          <p:cNvPr id="6" name="text-41-188">
            <a:extLst xmlns:a="http://schemas.openxmlformats.org/drawingml/2006/main">
              <a:ext uri="{FF2B5EF4-FFF2-40B4-BE49-F238E27FC236}">
                <a16:creationId xmlns:a16="http://schemas.microsoft.com/office/drawing/2014/main" id="{C27027C5-FBC0-4B5A-BC84-76FA81C4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9526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Algoritmus</a:t>
            </a:r>
          </a:p>
        </p:txBody>
      </p:sp>
      <p:sp>
        <p:nvSpPr>
          <p:cNvPr id="7" name="text-260-188">
            <a:extLst xmlns:a="http://schemas.openxmlformats.org/drawingml/2006/main">
              <a:ext uri="{FF2B5EF4-FFF2-40B4-BE49-F238E27FC236}">
                <a16:creationId xmlns:a16="http://schemas.microsoft.com/office/drawing/2014/main" id="{59F56355-BBCD-4057-B249-7DD820A6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90700"/>
            <a:ext cx="3333750" cy="771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Pevně stanovený postup se neučí z příkladů.</a:t>
            </a:r>
          </a:p>
        </p:txBody>
      </p:sp>
      <p:sp>
        <p:nvSpPr>
          <p:cNvPr id="8" name="text-41-303">
            <a:extLst xmlns:a="http://schemas.openxmlformats.org/drawingml/2006/main">
              <a:ext uri="{FF2B5EF4-FFF2-40B4-BE49-F238E27FC236}">
                <a16:creationId xmlns:a16="http://schemas.microsoft.com/office/drawing/2014/main" id="{BD1C5A04-8400-4F73-AA3B-577FCF60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86075"/>
            <a:ext cx="19526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Trénování</a:t>
            </a:r>
          </a:p>
        </p:txBody>
      </p:sp>
      <p:sp>
        <p:nvSpPr>
          <p:cNvPr id="9" name="text-260-303">
            <a:extLst xmlns:a="http://schemas.openxmlformats.org/drawingml/2006/main">
              <a:ext uri="{FF2B5EF4-FFF2-40B4-BE49-F238E27FC236}">
                <a16:creationId xmlns:a16="http://schemas.microsoft.com/office/drawing/2014/main" id="{19C0E655-18D2-4E95-976A-83BAB7D0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86075"/>
            <a:ext cx="3333750" cy="771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Model upravuje parametry podle vzorů v trénovacích datech.</a:t>
            </a:r>
          </a:p>
        </p:txBody>
      </p:sp>
      <p:sp>
        <p:nvSpPr>
          <p:cNvPr id="10" name="text-41-418">
            <a:extLst xmlns:a="http://schemas.openxmlformats.org/drawingml/2006/main">
              <a:ext uri="{FF2B5EF4-FFF2-40B4-BE49-F238E27FC236}">
                <a16:creationId xmlns:a16="http://schemas.microsoft.com/office/drawing/2014/main" id="{3504266F-F58E-4378-B9D4-BE035AE6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81450"/>
            <a:ext cx="19526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Inference</a:t>
            </a:r>
          </a:p>
        </p:txBody>
      </p:sp>
      <p:sp>
        <p:nvSpPr>
          <p:cNvPr id="11" name="text-260-418">
            <a:extLst xmlns:a="http://schemas.openxmlformats.org/drawingml/2006/main">
              <a:ext uri="{FF2B5EF4-FFF2-40B4-BE49-F238E27FC236}">
                <a16:creationId xmlns:a16="http://schemas.microsoft.com/office/drawing/2014/main" id="{C73C898A-2F61-4464-98EF-F25E409E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81450"/>
            <a:ext cx="3333750" cy="771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Hotový model použije naučené parametry na nový vstup.</a:t>
            </a:r>
          </a:p>
        </p:txBody>
      </p:sp>
      <p:sp>
        <p:nvSpPr>
          <p:cNvPr id="12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AFBBAD5C-2CD2-4AA1-9989-F7E5F287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28775"/>
            <a:ext cx="55435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690-205">
            <a:extLst xmlns:a="http://schemas.openxmlformats.org/drawingml/2006/main">
              <a:ext uri="{FF2B5EF4-FFF2-40B4-BE49-F238E27FC236}">
                <a16:creationId xmlns:a16="http://schemas.microsoft.com/office/drawing/2014/main" id="{11075A2A-E953-4303-BEED-BB927227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762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C8A83"/>
                </a:solidFill>
                <a:latin typeface="Arial"/>
                <a:ea typeface="Arial"/>
                <a:cs typeface="Arial"/>
              </a:defRPr>
            </a:pPr>
            <a:r>
              <a:t>POZOR NA ZKRATKU</a:t>
            </a:r>
          </a:p>
        </p:txBody>
      </p:sp>
      <p:sp>
        <p:nvSpPr>
          <p:cNvPr id="14" name="text-690-265">
            <a:extLst xmlns:a="http://schemas.openxmlformats.org/drawingml/2006/main">
              <a:ext uri="{FF2B5EF4-FFF2-40B4-BE49-F238E27FC236}">
                <a16:creationId xmlns:a16="http://schemas.microsoft.com/office/drawing/2014/main" id="{0ED03248-7F0C-4650-801F-CDFC38ED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686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„Když je něco automatické, je to AI.“</a:t>
            </a:r>
          </a:p>
        </p:txBody>
      </p:sp>
      <p:sp>
        <p:nvSpPr>
          <p:cNvPr id="15" name="text-690-389">
            <a:extLst xmlns:a="http://schemas.openxmlformats.org/drawingml/2006/main">
              <a:ext uri="{FF2B5EF4-FFF2-40B4-BE49-F238E27FC236}">
                <a16:creationId xmlns:a16="http://schemas.microsoft.com/office/drawing/2014/main" id="{B7F2EF4C-4ECE-48CF-B2B2-22043311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05225"/>
            <a:ext cx="46863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Ptejte se, zda systém používá naučený model, nebo pouze explicitní pravidla.</a:t>
            </a:r>
          </a:p>
        </p:txBody>
      </p:sp>
      <p:sp>
        <p:nvSpPr>
          <p:cNvPr id="16" name="text-41-575">
            <a:extLst xmlns:a="http://schemas.openxmlformats.org/drawingml/2006/main">
              <a:ext uri="{FF2B5EF4-FFF2-40B4-BE49-F238E27FC236}">
                <a16:creationId xmlns:a16="http://schemas.microsoft.com/office/drawing/2014/main" id="{FD7AEE6A-98E2-440A-8E90-15A0D789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11410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Vrať se k úvodní odpovědi. Co bys teď změnil/a — a proč?</a:t>
            </a:r>
          </a:p>
        </p:txBody>
      </p:sp>
    </p:spTree>
    <p:extLst>
      <p:ext uri="{BB962C8B-B14F-4D97-AF65-F5344CB8AC3E}">
        <p14:creationId xmlns:p14="http://schemas.microsoft.com/office/powerpoint/2010/main" val="14243072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B7ECC5A3-1364-4F32-B50E-F89BE666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BFAE65FC-90EE-4EFD-AFC7-63D587E9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8A83"/>
                </a:solidFill>
                <a:latin typeface="Arial"/>
                <a:ea typeface="Arial"/>
                <a:cs typeface="Arial"/>
              </a:defRPr>
            </a:pPr>
            <a:r>
              <a:t>HODINA 1 · POSLEDNÍ 3 MINUTY</a:t>
            </a:r>
          </a:p>
        </p:txBody>
      </p:sp>
      <p:sp>
        <p:nvSpPr>
          <p:cNvPr id="3" name="text-54-151">
            <a:extLst xmlns:a="http://schemas.openxmlformats.org/drawingml/2006/main">
              <a:ext uri="{FF2B5EF4-FFF2-40B4-BE49-F238E27FC236}">
                <a16:creationId xmlns:a16="http://schemas.microsoft.com/office/drawing/2014/main" id="{9F1EA6A7-D1CF-4CD1-8E03-4136119D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38275"/>
            <a:ext cx="61912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Exit ticket</a:t>
            </a:r>
          </a:p>
        </p:txBody>
      </p:sp>
      <p:sp>
        <p:nvSpPr>
          <p:cNvPr id="4" name="text-54-278">
            <a:extLst xmlns:a="http://schemas.openxmlformats.org/drawingml/2006/main">
              <a:ext uri="{FF2B5EF4-FFF2-40B4-BE49-F238E27FC236}">
                <a16:creationId xmlns:a16="http://schemas.microsoft.com/office/drawing/2014/main" id="{D98862A0-1013-42FA-B569-3DA98279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047750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Jednou větou odliš trénování od inference a uveď příklad každé fáze.</a:t>
            </a:r>
          </a:p>
        </p:txBody>
      </p:sp>
      <p:sp>
        <p:nvSpPr>
          <p:cNvPr id="5" name="exit-rule">
            <a:extLst xmlns:a="http://schemas.openxmlformats.org/drawingml/2006/main">
              <a:ext uri="{FF2B5EF4-FFF2-40B4-BE49-F238E27FC236}">
                <a16:creationId xmlns:a16="http://schemas.microsoft.com/office/drawing/2014/main" id="{F9727479-067B-486E-89C1-1C810D66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4-545">
            <a:extLst xmlns:a="http://schemas.openxmlformats.org/drawingml/2006/main">
              <a:ext uri="{FF2B5EF4-FFF2-40B4-BE49-F238E27FC236}">
                <a16:creationId xmlns:a16="http://schemas.microsoft.com/office/drawing/2014/main" id="{496ABA82-8674-4E5C-A8D9-7039D4D5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91125"/>
            <a:ext cx="9096375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Odpověz samostatně jednou až třemi větami. Uveď konkrétní důvod nebo krok.</a:t>
            </a:r>
          </a:p>
        </p:txBody>
      </p:sp>
      <p:sp>
        <p:nvSpPr>
          <p:cNvPr id="7" name="text-1070-548">
            <a:extLst xmlns:a="http://schemas.openxmlformats.org/drawingml/2006/main">
              <a:ext uri="{FF2B5EF4-FFF2-40B4-BE49-F238E27FC236}">
                <a16:creationId xmlns:a16="http://schemas.microsoft.com/office/drawing/2014/main" id="{4770A956-535F-40C6-8A81-64A80921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19700"/>
            <a:ext cx="8953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0C8A83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476697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Karel Hlas</dc:creator>
  <lastModifiedBy>Walnut Exporter</lastModifiedBy>
  <dc:title>Presentation</dc:title>
  <dcterms:created xsi:type="dcterms:W3CDTF">2026-07-24T15:48:04.9050000Z</dcterms:created>
  <dcterms:modified xsi:type="dcterms:W3CDTF">2026-07-24T15:48:04.9050000Z</dcterms:modified>
</coreProperties>
</file>