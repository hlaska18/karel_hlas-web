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fe6ab5cfdf42fb" /><Relationship Type="http://schemas.openxmlformats.org/officeDocument/2006/relationships/extended-properties" Target="/docProps/app.xml" Id="R86e18a30e6d54726" /><Relationship Type="http://schemas.openxmlformats.org/officeDocument/2006/relationships/officeDocument" Target="/ppt/presentation.xml" Id="R32141bc02cb541e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46a102f87b3417e"/>
  </p:sldMasterIdLst>
  <p:notesMasterIdLst>
    <p:notesMasterId xmlns:r="http://schemas.openxmlformats.org/officeDocument/2006/relationships" r:id="Rb5066f1982684d14"/>
  </p:notesMasterIdLst>
  <p:sldIdLst>
    <p:sldId xmlns:r="http://schemas.openxmlformats.org/officeDocument/2006/relationships" id="256" r:id="R53754d910b6943fe"/>
    <p:sldId xmlns:r="http://schemas.openxmlformats.org/officeDocument/2006/relationships" id="257" r:id="R0cc0aea978e748c9"/>
    <p:sldId xmlns:r="http://schemas.openxmlformats.org/officeDocument/2006/relationships" id="258" r:id="R4f19fe0cab88407d"/>
    <p:sldId xmlns:r="http://schemas.openxmlformats.org/officeDocument/2006/relationships" id="259" r:id="R4452391186bd4339"/>
    <p:sldId xmlns:r="http://schemas.openxmlformats.org/officeDocument/2006/relationships" id="260" r:id="R5122366705f44128"/>
    <p:sldId xmlns:r="http://schemas.openxmlformats.org/officeDocument/2006/relationships" id="261" r:id="R7a66f71a441a4137"/>
    <p:sldId xmlns:r="http://schemas.openxmlformats.org/officeDocument/2006/relationships" id="262" r:id="R8f61e109359c4db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0c07bf64ed24292" /><Relationship Type="http://schemas.openxmlformats.org/officeDocument/2006/relationships/slideMaster" Target="/ppt/slideMasters/slideMaster1.xml" Id="Ra46a102f87b3417e" /><Relationship Type="http://schemas.openxmlformats.org/officeDocument/2006/relationships/notesMaster" Target="/ppt/notesMasters/notesMaster1.xml" Id="Rb5066f1982684d14" /><Relationship Type="http://schemas.openxmlformats.org/officeDocument/2006/relationships/presProps" Target="/ppt/presProps.xml" Id="R43e483196bcc4bb4" /><Relationship Type="http://schemas.openxmlformats.org/officeDocument/2006/relationships/tableStyles" Target="/ppt/tableStyles.xml" Id="R00ad293b70564a62" /><Relationship Type="http://schemas.openxmlformats.org/officeDocument/2006/relationships/slide" Target="/ppt/slides/slide1.xml" Id="R53754d910b6943fe" /><Relationship Type="http://schemas.openxmlformats.org/officeDocument/2006/relationships/slide" Target="/ppt/slides/slide2.xml" Id="R0cc0aea978e748c9" /><Relationship Type="http://schemas.openxmlformats.org/officeDocument/2006/relationships/slide" Target="/ppt/slides/slide3.xml" Id="R4f19fe0cab88407d" /><Relationship Type="http://schemas.openxmlformats.org/officeDocument/2006/relationships/slide" Target="/ppt/slides/slide4.xml" Id="R4452391186bd4339" /><Relationship Type="http://schemas.openxmlformats.org/officeDocument/2006/relationships/slide" Target="/ppt/slides/slide5.xml" Id="R5122366705f44128" /><Relationship Type="http://schemas.openxmlformats.org/officeDocument/2006/relationships/slide" Target="/ppt/slides/slide6.xml" Id="R7a66f71a441a4137" /><Relationship Type="http://schemas.openxmlformats.org/officeDocument/2006/relationships/slide" Target="/ppt/slides/slide7.xml" Id="R8f61e109359c4db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f832096d9c34e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35755aeb3ff41dd" /><Relationship Type="http://schemas.openxmlformats.org/officeDocument/2006/relationships/notesMaster" Target="/ppt/notesMasters/notesMaster1.xml" Id="R88bde770f5a84b0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fa0aeb00e124a7e" /><Relationship Type="http://schemas.openxmlformats.org/officeDocument/2006/relationships/notesMaster" Target="/ppt/notesMasters/notesMaster1.xml" Id="R9271d945614f48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892f15f908e4e62" /><Relationship Type="http://schemas.openxmlformats.org/officeDocument/2006/relationships/notesMaster" Target="/ppt/notesMasters/notesMaster1.xml" Id="R527a6f888425409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a201c3c8a1c48ab" /><Relationship Type="http://schemas.openxmlformats.org/officeDocument/2006/relationships/notesMaster" Target="/ppt/notesMasters/notesMaster1.xml" Id="R0defd80bbddf4f3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3a1577e15714f6f" /><Relationship Type="http://schemas.openxmlformats.org/officeDocument/2006/relationships/notesMaster" Target="/ppt/notesMasters/notesMaster1.xml" Id="R0547f19442114f5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11492be612e4d63" /><Relationship Type="http://schemas.openxmlformats.org/officeDocument/2006/relationships/notesMaster" Target="/ppt/notesMasters/notesMaster1.xml" Id="R3cabe923d6df428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ab1d6f8ce2f43f5" /><Relationship Type="http://schemas.openxmlformats.org/officeDocument/2006/relationships/notesMaster" Target="/ppt/notesMasters/notesMaster1.xml" Id="R217f17ccae6442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Cíl: Rozliším algoritmus, klasickou a generativní AI a vysvětlím, jak se model učí ze vzorů v datech.</a:t>
            </a:r>
          </a:p>
          <a:p xmlns:a="http://schemas.openxmlformats.org/drawingml/2006/main">
            <a:r>
              <a:t>Podklady: 1. Laboratoř fungování AI.html, 1. Trénovací data.csv</a:t>
            </a:r>
          </a:p>
          <a:p xmlns:a="http://schemas.openxmlformats.org/drawingml/2006/main">
            <a:r>
              <a:t>Výstup: Klasifikace šesti systémů a záznam dvou běhů se změněnou trénovací sadou.</a:t>
            </a:r>
          </a:p>
          <a:p xmlns:a="http://schemas.openxmlformats.org/drawingml/2006/main">
            <a:r>
              <a:t>Před začátkem ověřte, že studenti mají otevřený digitální pracovní sešit a potřebné soubory.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Postup: Zobrazte tři běžné funkce a nechte studenty hlasovat bez okamžité opravy.</a:t>
            </a:r>
          </a:p>
          <a:p xmlns:a="http://schemas.openxmlformats.org/drawingml/2006/main">
            <a:r>
              <a:t>Úvodní otázka: Je každá automatická nebo chytrá funkce umělá inteligence?</a:t>
            </a:r>
          </a:p>
          <a:p xmlns:a="http://schemas.openxmlformats.org/drawingml/2006/main">
            <a:r>
              <a:t>Neprozrazujte odpověď. Cílem je zachytit počáteční model studenta, ke kterému se vrátí při reflexi.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5–12 minut.</a:t>
            </a:r>
          </a:p>
          <a:p xmlns:a="http://schemas.openxmlformats.org/drawingml/2006/main">
            <a:r>
              <a:t>Postup: Vymezte algoritmus, klasickou AI a generativní AI pomocí kontrastních příkladů.</a:t>
            </a:r>
          </a:p>
          <a:p xmlns:a="http://schemas.openxmlformats.org/drawingml/2006/main">
            <a:r>
              <a:t>Klíčové body: Pravidla × model: Algoritmus provádí předem napsaný postup; model používá vztahy naučené z příkladů. | Trénování: Model hledá vzory v datech a upravuje své parametry tak, aby lépe předpovídal. | Inference: Hotový model zpracuje nový vstup; při běžné odpovědi se znovu celý netrénuje.</a:t>
            </a:r>
          </a:p>
          <a:p xmlns:a="http://schemas.openxmlformats.org/drawingml/2006/main">
            <a:r>
              <a:t>Po každém pojmu vyžádejte jeden příklad a jeden protipříklad. Vysvětlení má používat způsob fungování, ne značku nástroje.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Podklady: 1. Laboratoř fungování AI.html, 1. Trénovací data.csv</a:t>
            </a:r>
          </a:p>
          <a:p xmlns:a="http://schemas.openxmlformats.org/drawingml/2006/main">
            <a:r>
              <a:t>1. V laboratoři dokonči modul „Co je AI“ a zdůvodni dvě nejtěžší volby.</a:t>
            </a:r>
          </a:p>
          <a:p xmlns:a="http://schemas.openxmlformats.org/drawingml/2006/main">
            <a:r>
              <a:t>2. Otevři 1. Trénovací data.csv a označ příklady, které model při trénování viděl.</a:t>
            </a:r>
          </a:p>
          <a:p xmlns:a="http://schemas.openxmlformats.org/drawingml/2006/main">
            <a:r>
              <a:t>3. V modulu „Učení z dat“ porovnej vyváženou a zkreslenou trénovací sadu.</a:t>
            </a:r>
          </a:p>
          <a:p xmlns:a="http://schemas.openxmlformats.org/drawingml/2006/main">
            <a:r>
              <a:t>4. Zapiš, co se změnilo v pravidle modelu, které nové případy selhaly a proč.</a:t>
            </a:r>
          </a:p>
          <a:p xmlns:a="http://schemas.openxmlformats.org/drawingml/2006/main">
            <a:r>
              <a:t>Požadovaný výstup: Klasifikace šesti systémů a záznam dvou běhů se změněnou trénovací sadou.</a:t>
            </a:r>
          </a:p>
          <a:p xmlns:a="http://schemas.openxmlformats.org/drawingml/2006/main">
            <a:r>
              <a:t>Během práce pomáhejte otázkami, nepřebírejte myš ani tvorbu promptu. Vyžadujte průběžné ukládání výstupů a lidských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Kritérium: Student správně zařadí nejméně 5 ze 6 systémů, oddělí trénování od inference a spojí chybu modelu s vlastností dat.</a:t>
            </a:r>
          </a:p>
          <a:p xmlns:a="http://schemas.openxmlformats.org/drawingml/2006/main">
            <a:r>
              <a:t>Vodicí otázky: Podle jakého znaku jsi systém zařadil/a? | Je tento děj součást trénování, nebo inference? | Která skupina příkladů v datech chybí nebo převažuje?</a:t>
            </a:r>
          </a:p>
          <a:p xmlns:a="http://schemas.openxmlformats.org/drawingml/2006/main">
            <a:r>
              <a:t>Podpora: Nabídněte barevný tok data → trénování → model → inference a jeden vyřešený příklad.</a:t>
            </a:r>
          </a:p>
          <a:p xmlns:a="http://schemas.openxmlformats.org/drawingml/2006/main">
            <a:r>
              <a:t>Rozšíření: Navrhni testovací sadu, která odhalí, zda se model naučil špatné pravidlo.</a:t>
            </a:r>
          </a:p>
          <a:p xmlns:a="http://schemas.openxmlformats.org/drawingml/2006/main">
            <a:r>
              <a:t>Proveďte rychlou párovou kontrolu: jeden dobře doložený bod a jedna konkrétní otázka k dopracování.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Algoritmus: Pevně stanovený postup se neučí z příkladů. | Trénování: Model upravuje parametry podle vzorů v trénovacích datech. | Inference: Hotový model použije naučené parametry na nový vstup.</a:t>
            </a:r>
          </a:p>
          <a:p xmlns:a="http://schemas.openxmlformats.org/drawingml/2006/main">
            <a:r>
              <a:t>Časté omyly: „Když je něco automatické, je to AI.“ → Ptejte se, zda systém používá naučený model, nebo pouze explicitní pravidla. | „Model si uloží tabulku všech správných odpovědí.“ → Ukažte nový případ a nechte studenta popsat zobecněný vzor.</a:t>
            </a:r>
          </a:p>
          <a:p xmlns:a="http://schemas.openxmlformats.org/drawingml/2006/main">
            <a:r>
              <a:t>Nečtěte řešení slovo od slova. Porovnejte dva studentské postupy a nechte třídu určit, který má lepší důkazy nebo jasnější lidské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Jednou větou odliš trénování od inference a uveď příklad každé fáze.</a:t>
            </a:r>
          </a:p>
          <a:p xmlns:a="http://schemas.openxmlformats.org/drawingml/2006/main">
            <a:r>
              <a:t>Když technika selže: Použijte tabulky v pracovním sešitu a průběh simulace promítněte z prezentace.</a:t>
            </a:r>
          </a:p>
          <a:p xmlns:a="http://schemas.openxmlformats.org/drawingml/2006/main">
            <a:r>
              <a:t>Odpovědi použijte jako diagnostiku pro začátek další hodiny. U hodiny 3 navazuje diagnostická brána; u hodiny 6 jde o součást závěrečné reflexe.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5c0c7f9572491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c9615804c654437" /><Relationship Type="http://schemas.openxmlformats.org/officeDocument/2006/relationships/slideLayout" Target="/ppt/slideLayouts/slideLayout1.xml" Id="R8bc4247ba3d948b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bc4247ba3d948b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bb9f5578dc4145" /><Relationship Type="http://schemas.openxmlformats.org/officeDocument/2006/relationships/notesSlide" Target="/ppt/notesSlides/notesSlide1.xml" Id="R6099b28d835047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91d714ba224d40" /><Relationship Type="http://schemas.openxmlformats.org/officeDocument/2006/relationships/notesSlide" Target="/ppt/notesSlides/notesSlide2.xml" Id="R746b9ee1f569415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af38b702fd47eb" /><Relationship Type="http://schemas.openxmlformats.org/officeDocument/2006/relationships/notesSlide" Target="/ppt/notesSlides/notesSlide3.xml" Id="R3355da69dbd84b6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9bfa2aa30c4d31" /><Relationship Type="http://schemas.openxmlformats.org/officeDocument/2006/relationships/notesSlide" Target="/ppt/notesSlides/notesSlide4.xml" Id="Rceb07b4d413a4fc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ab289583174d8e" /><Relationship Type="http://schemas.openxmlformats.org/officeDocument/2006/relationships/notesSlide" Target="/ppt/notesSlides/notesSlide5.xml" Id="R41025d5a2d48426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c38263ea9c4c2e" /><Relationship Type="http://schemas.openxmlformats.org/officeDocument/2006/relationships/notesSlide" Target="/ppt/notesSlides/notesSlide6.xml" Id="R51bff4f11fa44aa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7366ff989547f2" /><Relationship Type="http://schemas.openxmlformats.org/officeDocument/2006/relationships/notesSlide" Target="/ppt/notesSlides/notesSlide7.xml" Id="R75d660ae10ba4c3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F6696670-C1E7-4335-A3A3-3E0E93B6D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AC01E9DC-3D70-4020-83E2-FA2CB564D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HODINA 1 / 6</a:t>
            </a:r>
          </a:p>
        </p:txBody>
      </p:sp>
      <p:sp>
        <p:nvSpPr>
          <p:cNvPr id="3" name="text-842-48">
            <a:extLst xmlns:a="http://schemas.openxmlformats.org/drawingml/2006/main">
              <a:ext uri="{FF2B5EF4-FFF2-40B4-BE49-F238E27FC236}">
                <a16:creationId xmlns:a16="http://schemas.microsoft.com/office/drawing/2014/main" id="{7FE72DD4-4466-4ACB-B816-431545BC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7200"/>
            <a:ext cx="33051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JAK AI FUNGUJE</a:t>
            </a:r>
          </a:p>
        </p:txBody>
      </p:sp>
      <p:sp>
        <p:nvSpPr>
          <p:cNvPr id="4" name="text-54-245">
            <a:extLst xmlns:a="http://schemas.openxmlformats.org/drawingml/2006/main">
              <a:ext uri="{FF2B5EF4-FFF2-40B4-BE49-F238E27FC236}">
                <a16:creationId xmlns:a16="http://schemas.microsoft.com/office/drawing/2014/main" id="{7CF55969-B24E-4816-A84D-407447690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33625"/>
            <a:ext cx="10572750" cy="2047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Základy AI a učení z dat</a:t>
            </a:r>
          </a:p>
        </p:txBody>
      </p:sp>
      <p:sp>
        <p:nvSpPr>
          <p:cNvPr id="5" name="text-56-505">
            <a:extLst xmlns:a="http://schemas.openxmlformats.org/drawingml/2006/main">
              <a:ext uri="{FF2B5EF4-FFF2-40B4-BE49-F238E27FC236}">
                <a16:creationId xmlns:a16="http://schemas.microsoft.com/office/drawing/2014/main" id="{BC2FB16E-D6FC-4CA4-AC63-544DDE1A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0125"/>
            <a:ext cx="8096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Rozliším algoritmus, klasickou a generativní AI a vysvětlím, jak se model učí ze vzorů v datech.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E67DC574-86FD-46EB-87E6-EB80B7A5F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76250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19">
            <a:extLst xmlns:a="http://schemas.openxmlformats.org/drawingml/2006/main">
              <a:ext uri="{FF2B5EF4-FFF2-40B4-BE49-F238E27FC236}">
                <a16:creationId xmlns:a16="http://schemas.microsoft.com/office/drawing/2014/main" id="{89416A59-AAD6-4B02-A27B-0610F757C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43475"/>
            <a:ext cx="1181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8" name="text-1065-596">
            <a:extLst xmlns:a="http://schemas.openxmlformats.org/drawingml/2006/main">
              <a:ext uri="{FF2B5EF4-FFF2-40B4-BE49-F238E27FC236}">
                <a16:creationId xmlns:a16="http://schemas.microsoft.com/office/drawing/2014/main" id="{6A852C53-9982-4020-885B-22631BD86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676900"/>
            <a:ext cx="1181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9530973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D6AC33D-5271-4638-91B7-E1C9736BA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0–5 MIN · START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4783E980-B5DE-4AF9-BB8D-DED378F56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úsudkem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97E90C64-E1EE-4838-87EF-C2C5A62B9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DF452205-6A08-40AD-9F96-CD9853C8F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47EE53D2-5AB4-4BE6-B946-C4B27947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1  /  2</a:t>
            </a:r>
          </a:p>
        </p:txBody>
      </p:sp>
      <p:sp>
        <p:nvSpPr>
          <p:cNvPr id="6" name="text-41-183">
            <a:extLst xmlns:a="http://schemas.openxmlformats.org/drawingml/2006/main">
              <a:ext uri="{FF2B5EF4-FFF2-40B4-BE49-F238E27FC236}">
                <a16:creationId xmlns:a16="http://schemas.microsoft.com/office/drawing/2014/main" id="{8467D724-CD88-4478-BC8E-9794EE974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43075"/>
            <a:ext cx="10906125" cy="1952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Je každá automatická nebo chytrá funkce umělá inteligence?</a:t>
            </a:r>
          </a:p>
        </p:txBody>
      </p:sp>
      <p:sp>
        <p:nvSpPr>
          <p:cNvPr id="7" name="hook-panel">
            <a:extLst xmlns:a="http://schemas.openxmlformats.org/drawingml/2006/main">
              <a:ext uri="{FF2B5EF4-FFF2-40B4-BE49-F238E27FC236}">
                <a16:creationId xmlns:a16="http://schemas.microsoft.com/office/drawing/2014/main" id="{C34DB76D-BCBB-4A10-B519-560C9408A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00525"/>
            <a:ext cx="114109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9-473">
            <a:extLst xmlns:a="http://schemas.openxmlformats.org/drawingml/2006/main">
              <a:ext uri="{FF2B5EF4-FFF2-40B4-BE49-F238E27FC236}">
                <a16:creationId xmlns:a16="http://schemas.microsoft.com/office/drawing/2014/main" id="{08E31527-8B69-4286-9C26-D64B68265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" name="text-121-472">
            <a:extLst xmlns:a="http://schemas.openxmlformats.org/drawingml/2006/main">
              <a:ext uri="{FF2B5EF4-FFF2-40B4-BE49-F238E27FC236}">
                <a16:creationId xmlns:a16="http://schemas.microsoft.com/office/drawing/2014/main" id="{07D4B73A-9D87-4954-BE98-035A0920F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495800"/>
            <a:ext cx="2476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10" name="text-121-518">
            <a:extLst xmlns:a="http://schemas.openxmlformats.org/drawingml/2006/main">
              <a:ext uri="{FF2B5EF4-FFF2-40B4-BE49-F238E27FC236}">
                <a16:creationId xmlns:a16="http://schemas.microsoft.com/office/drawing/2014/main" id="{A9B2DA81-7EAF-4692-BE35-D75F0415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933950"/>
            <a:ext cx="2476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Zapiš konkrétní důvod.</a:t>
            </a:r>
          </a:p>
        </p:txBody>
      </p:sp>
      <p:sp>
        <p:nvSpPr>
          <p:cNvPr id="11" name="text-459-473">
            <a:extLst xmlns:a="http://schemas.openxmlformats.org/drawingml/2006/main">
              <a:ext uri="{FF2B5EF4-FFF2-40B4-BE49-F238E27FC236}">
                <a16:creationId xmlns:a16="http://schemas.microsoft.com/office/drawing/2014/main" id="{5EBE93A8-FDB8-4DD7-8E14-E37EED2BF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12" name="text-511-472">
            <a:extLst xmlns:a="http://schemas.openxmlformats.org/drawingml/2006/main">
              <a:ext uri="{FF2B5EF4-FFF2-40B4-BE49-F238E27FC236}">
                <a16:creationId xmlns:a16="http://schemas.microsoft.com/office/drawing/2014/main" id="{C5A195D3-6ACB-4582-A24D-ACACA6EB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495800"/>
            <a:ext cx="29527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3" name="text-511-518">
            <a:extLst xmlns:a="http://schemas.openxmlformats.org/drawingml/2006/main">
              <a:ext uri="{FF2B5EF4-FFF2-40B4-BE49-F238E27FC236}">
                <a16:creationId xmlns:a16="http://schemas.microsoft.com/office/drawing/2014/main" id="{B41B6CB6-E588-46FC-9CAB-8DB47C675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933950"/>
            <a:ext cx="2952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Najděte bod neshody.</a:t>
            </a:r>
          </a:p>
        </p:txBody>
      </p:sp>
      <p:sp>
        <p:nvSpPr>
          <p:cNvPr id="14" name="text-900-473">
            <a:extLst xmlns:a="http://schemas.openxmlformats.org/drawingml/2006/main">
              <a:ext uri="{FF2B5EF4-FFF2-40B4-BE49-F238E27FC236}">
                <a16:creationId xmlns:a16="http://schemas.microsoft.com/office/drawing/2014/main" id="{CC5BB7FB-0201-442A-B0C5-47A3AFD9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15" name="text-952-472">
            <a:extLst xmlns:a="http://schemas.openxmlformats.org/drawingml/2006/main">
              <a:ext uri="{FF2B5EF4-FFF2-40B4-BE49-F238E27FC236}">
                <a16:creationId xmlns:a16="http://schemas.microsoft.com/office/drawing/2014/main" id="{D06FDC1E-2D82-4B96-B9D9-DFA7CCC9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495800"/>
            <a:ext cx="23812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6" name="text-952-518">
            <a:extLst xmlns:a="http://schemas.openxmlformats.org/drawingml/2006/main">
              <a:ext uri="{FF2B5EF4-FFF2-40B4-BE49-F238E27FC236}">
                <a16:creationId xmlns:a16="http://schemas.microsoft.com/office/drawing/2014/main" id="{C4072A32-7F76-4F65-8472-F78B36EF5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933950"/>
            <a:ext cx="2381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by změnilo volbu?</a:t>
            </a:r>
          </a:p>
        </p:txBody>
      </p:sp>
    </p:spTree>
    <p:extLst>
      <p:ext uri="{BB962C8B-B14F-4D97-AF65-F5344CB8AC3E}">
        <p14:creationId xmlns:p14="http://schemas.microsoft.com/office/powerpoint/2010/main" val="3111069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EEE0207-9DEF-4496-ABEC-12A62B4A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5–12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7DF4E65-1361-4E10-953D-5BCBF8364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B762C10C-B972-48DC-8934-2A0E7ECC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72499DAD-9957-448F-B0DB-626930E9A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78BF27B9-4284-43B4-856C-1395565A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1  /  3</a:t>
            </a:r>
          </a:p>
        </p:txBody>
      </p:sp>
      <p:sp>
        <p:nvSpPr>
          <p:cNvPr id="6" name="text-41-175">
            <a:extLst xmlns:a="http://schemas.openxmlformats.org/drawingml/2006/main">
              <a:ext uri="{FF2B5EF4-FFF2-40B4-BE49-F238E27FC236}">
                <a16:creationId xmlns:a16="http://schemas.microsoft.com/office/drawing/2014/main" id="{B7090914-6FC6-4F4F-A227-3891D050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65">
            <a:extLst xmlns:a="http://schemas.openxmlformats.org/drawingml/2006/main">
              <a:ext uri="{FF2B5EF4-FFF2-40B4-BE49-F238E27FC236}">
                <a16:creationId xmlns:a16="http://schemas.microsoft.com/office/drawing/2014/main" id="{071DFC71-D145-48C7-9FBB-1CEF7FC50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Pravidla × model</a:t>
            </a:r>
          </a:p>
        </p:txBody>
      </p:sp>
      <p:sp>
        <p:nvSpPr>
          <p:cNvPr id="8" name="text-41-356">
            <a:extLst xmlns:a="http://schemas.openxmlformats.org/drawingml/2006/main">
              <a:ext uri="{FF2B5EF4-FFF2-40B4-BE49-F238E27FC236}">
                <a16:creationId xmlns:a16="http://schemas.microsoft.com/office/drawing/2014/main" id="{F5620F0A-828B-44E4-8646-2F88FF270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Algoritmus provádí předem napsaný postup; model používá vztahy naučené z příkladů.</a:t>
            </a:r>
          </a:p>
        </p:txBody>
      </p:sp>
      <p:sp>
        <p:nvSpPr>
          <p:cNvPr id="9" name="text-453-175">
            <a:extLst xmlns:a="http://schemas.openxmlformats.org/drawingml/2006/main">
              <a:ext uri="{FF2B5EF4-FFF2-40B4-BE49-F238E27FC236}">
                <a16:creationId xmlns:a16="http://schemas.microsoft.com/office/drawing/2014/main" id="{93271876-F051-46D9-9E22-7351AB0F1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65">
            <a:extLst xmlns:a="http://schemas.openxmlformats.org/drawingml/2006/main">
              <a:ext uri="{FF2B5EF4-FFF2-40B4-BE49-F238E27FC236}">
                <a16:creationId xmlns:a16="http://schemas.microsoft.com/office/drawing/2014/main" id="{757828AB-60BC-4067-8DF8-19873457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Trénování</a:t>
            </a:r>
          </a:p>
        </p:txBody>
      </p:sp>
      <p:sp>
        <p:nvSpPr>
          <p:cNvPr id="11" name="text-453-356">
            <a:extLst xmlns:a="http://schemas.openxmlformats.org/drawingml/2006/main">
              <a:ext uri="{FF2B5EF4-FFF2-40B4-BE49-F238E27FC236}">
                <a16:creationId xmlns:a16="http://schemas.microsoft.com/office/drawing/2014/main" id="{CE30CAD3-C6B1-421F-834A-F16119065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Model hledá vzory v datech a upravuje své parametry tak, aby lépe předpovídal.</a:t>
            </a:r>
          </a:p>
        </p:txBody>
      </p:sp>
      <p:sp>
        <p:nvSpPr>
          <p:cNvPr id="12" name="text-865-175">
            <a:extLst xmlns:a="http://schemas.openxmlformats.org/drawingml/2006/main">
              <a:ext uri="{FF2B5EF4-FFF2-40B4-BE49-F238E27FC236}">
                <a16:creationId xmlns:a16="http://schemas.microsoft.com/office/drawing/2014/main" id="{E2EB488C-7B07-4134-B0A7-BCF1FD153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65">
            <a:extLst xmlns:a="http://schemas.openxmlformats.org/drawingml/2006/main">
              <a:ext uri="{FF2B5EF4-FFF2-40B4-BE49-F238E27FC236}">
                <a16:creationId xmlns:a16="http://schemas.microsoft.com/office/drawing/2014/main" id="{EA0D95F1-F339-4F61-935E-3958491CF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Inference</a:t>
            </a:r>
          </a:p>
        </p:txBody>
      </p:sp>
      <p:sp>
        <p:nvSpPr>
          <p:cNvPr id="14" name="text-865-356">
            <a:extLst xmlns:a="http://schemas.openxmlformats.org/drawingml/2006/main">
              <a:ext uri="{FF2B5EF4-FFF2-40B4-BE49-F238E27FC236}">
                <a16:creationId xmlns:a16="http://schemas.microsoft.com/office/drawing/2014/main" id="{02AB237C-D846-45E2-93F7-99A0BC8C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Hotový model zpracuje nový vstup; při běžné odpovědi se znovu celý netrénuje.</a:t>
            </a:r>
          </a:p>
        </p:txBody>
      </p:sp>
      <p:sp>
        <p:nvSpPr>
          <p:cNvPr id="15" name="key-rule">
            <a:extLst xmlns:a="http://schemas.openxmlformats.org/drawingml/2006/main">
              <a:ext uri="{FF2B5EF4-FFF2-40B4-BE49-F238E27FC236}">
                <a16:creationId xmlns:a16="http://schemas.microsoft.com/office/drawing/2014/main" id="{A4C02527-A8F8-4157-B838-46963A816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67350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C805DFA5-F444-4EAE-9356-DA641E7D7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667375"/>
            <a:ext cx="114109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Model může být užitečný a zároveň omylný. Výstup není důkaz.</a:t>
            </a:r>
          </a:p>
        </p:txBody>
      </p:sp>
    </p:spTree>
    <p:extLst>
      <p:ext uri="{BB962C8B-B14F-4D97-AF65-F5344CB8AC3E}">
        <p14:creationId xmlns:p14="http://schemas.microsoft.com/office/powerpoint/2010/main" val="13081111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EA8DC2E-C8CB-40AF-BE5A-588F8FA5A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PRÁCE · PODLE METODIKY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01B215E-5C63-4FFC-885C-29694D336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DD02FC6C-27C3-4DBC-AFE9-7ED98DEE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17EFABA-BAB7-4AE5-9A74-80C0365D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63420C71-BAA7-45FB-8FA6-DDBE769B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1  /  4</a:t>
            </a:r>
          </a:p>
        </p:txBody>
      </p:sp>
      <p:sp>
        <p:nvSpPr>
          <p:cNvPr id="6" name="text-41-158">
            <a:extLst xmlns:a="http://schemas.openxmlformats.org/drawingml/2006/main">
              <a:ext uri="{FF2B5EF4-FFF2-40B4-BE49-F238E27FC236}">
                <a16:creationId xmlns:a16="http://schemas.microsoft.com/office/drawing/2014/main" id="{528F89FF-E532-4DC7-A346-975327982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381125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195">
            <a:extLst xmlns:a="http://schemas.openxmlformats.org/drawingml/2006/main">
              <a:ext uri="{FF2B5EF4-FFF2-40B4-BE49-F238E27FC236}">
                <a16:creationId xmlns:a16="http://schemas.microsoft.com/office/drawing/2014/main" id="{59F89F8D-FF7B-4449-8F06-BBAA9DE7D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57375"/>
            <a:ext cx="11049000" cy="447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1. Laboratoř fungování AI.html · 1. Trénovací data.csv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2503AA27-CBA2-46BF-B629-5ED97C63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2-296">
            <a:extLst xmlns:a="http://schemas.openxmlformats.org/drawingml/2006/main">
              <a:ext uri="{FF2B5EF4-FFF2-40B4-BE49-F238E27FC236}">
                <a16:creationId xmlns:a16="http://schemas.microsoft.com/office/drawing/2014/main" id="{3C09A72B-BC65-4AC5-B277-16B1A9447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130-297">
            <a:extLst xmlns:a="http://schemas.openxmlformats.org/drawingml/2006/main">
              <a:ext uri="{FF2B5EF4-FFF2-40B4-BE49-F238E27FC236}">
                <a16:creationId xmlns:a16="http://schemas.microsoft.com/office/drawing/2014/main" id="{3233E6B2-73AA-41B1-B5FD-F2149E72C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laboratoři dokonči modul „Co je AI“ a zdůvodni dvě nejtěžší volby.</a:t>
            </a:r>
          </a:p>
        </p:txBody>
      </p:sp>
      <p:sp>
        <p:nvSpPr>
          <p:cNvPr id="11" name="step-2">
            <a:extLst xmlns:a="http://schemas.openxmlformats.org/drawingml/2006/main">
              <a:ext uri="{FF2B5EF4-FFF2-40B4-BE49-F238E27FC236}">
                <a16:creationId xmlns:a16="http://schemas.microsoft.com/office/drawing/2014/main" id="{D8C4C584-4326-415F-B576-BF16411E3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678-296">
            <a:extLst xmlns:a="http://schemas.openxmlformats.org/drawingml/2006/main">
              <a:ext uri="{FF2B5EF4-FFF2-40B4-BE49-F238E27FC236}">
                <a16:creationId xmlns:a16="http://schemas.microsoft.com/office/drawing/2014/main" id="{9D44068B-9E5F-43A8-85BB-F4F5646EF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text-746-297">
            <a:extLst xmlns:a="http://schemas.openxmlformats.org/drawingml/2006/main">
              <a:ext uri="{FF2B5EF4-FFF2-40B4-BE49-F238E27FC236}">
                <a16:creationId xmlns:a16="http://schemas.microsoft.com/office/drawing/2014/main" id="{7DDEF32A-F698-4170-9920-CCF813FE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Otevři 1. Trénovací data.csv a označ příklady, které model při trénování viděl.</a:t>
            </a:r>
          </a:p>
        </p:txBody>
      </p:sp>
      <p:sp>
        <p:nvSpPr>
          <p:cNvPr id="14" name="step-3">
            <a:extLst xmlns:a="http://schemas.openxmlformats.org/drawingml/2006/main">
              <a:ext uri="{FF2B5EF4-FFF2-40B4-BE49-F238E27FC236}">
                <a16:creationId xmlns:a16="http://schemas.microsoft.com/office/drawing/2014/main" id="{8801459D-6FC4-4CEA-8BBE-486AA5FAF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2-457">
            <a:extLst xmlns:a="http://schemas.openxmlformats.org/drawingml/2006/main">
              <a:ext uri="{FF2B5EF4-FFF2-40B4-BE49-F238E27FC236}">
                <a16:creationId xmlns:a16="http://schemas.microsoft.com/office/drawing/2014/main" id="{E1434132-E3A1-46A8-9D22-9D40C3053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text-130-458">
            <a:extLst xmlns:a="http://schemas.openxmlformats.org/drawingml/2006/main">
              <a:ext uri="{FF2B5EF4-FFF2-40B4-BE49-F238E27FC236}">
                <a16:creationId xmlns:a16="http://schemas.microsoft.com/office/drawing/2014/main" id="{D09ADC29-F325-45F9-BCA1-86DA988F5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modulu „Učení z dat“ porovnej vyváženou a zkreslenou trénovací sadu.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5E79AA6F-5982-4732-842B-27D8D480A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678-457">
            <a:extLst xmlns:a="http://schemas.openxmlformats.org/drawingml/2006/main">
              <a:ext uri="{FF2B5EF4-FFF2-40B4-BE49-F238E27FC236}">
                <a16:creationId xmlns:a16="http://schemas.microsoft.com/office/drawing/2014/main" id="{02B78CA9-2AC2-4459-BF62-8EC504CA9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9" name="text-746-458">
            <a:extLst xmlns:a="http://schemas.openxmlformats.org/drawingml/2006/main">
              <a:ext uri="{FF2B5EF4-FFF2-40B4-BE49-F238E27FC236}">
                <a16:creationId xmlns:a16="http://schemas.microsoft.com/office/drawing/2014/main" id="{5796AD4A-91D2-4071-86FD-1B5FAD31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Zapiš, co se změnilo v pravidle modelu, které nové případy selhaly a proč.</a:t>
            </a:r>
          </a:p>
        </p:txBody>
      </p:sp>
    </p:spTree>
    <p:extLst>
      <p:ext uri="{BB962C8B-B14F-4D97-AF65-F5344CB8AC3E}">
        <p14:creationId xmlns:p14="http://schemas.microsoft.com/office/powerpoint/2010/main" val="11861274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80F24BDD-79F1-411F-B806-888647016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374806C7-656B-44F7-9F7C-BA2F6FA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2900AD9F-3DD1-4A65-A8FC-139E6FAC1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1C54D09-FFBF-47F3-85B2-DE5A3AF9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DA6DED2C-B0D5-4CF2-8773-24FDEC2FA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1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DA13AD0E-D896-4E09-84F2-14212B458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4-202">
            <a:extLst xmlns:a="http://schemas.openxmlformats.org/drawingml/2006/main">
              <a:ext uri="{FF2B5EF4-FFF2-40B4-BE49-F238E27FC236}">
                <a16:creationId xmlns:a16="http://schemas.microsoft.com/office/drawing/2014/main" id="{27F98BA5-1B58-4098-9BEC-053F0276E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3-203">
            <a:extLst xmlns:a="http://schemas.openxmlformats.org/drawingml/2006/main">
              <a:ext uri="{FF2B5EF4-FFF2-40B4-BE49-F238E27FC236}">
                <a16:creationId xmlns:a16="http://schemas.microsoft.com/office/drawing/2014/main" id="{0A1BE8DD-02BC-4900-A2E6-E4D98D822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Cíl</a:t>
            </a:r>
          </a:p>
        </p:txBody>
      </p:sp>
      <p:sp>
        <p:nvSpPr>
          <p:cNvPr id="9" name="text-123-253">
            <a:extLst xmlns:a="http://schemas.openxmlformats.org/drawingml/2006/main">
              <a:ext uri="{FF2B5EF4-FFF2-40B4-BE49-F238E27FC236}">
                <a16:creationId xmlns:a16="http://schemas.microsoft.com/office/drawing/2014/main" id="{80916A31-BDED-435F-B30B-C19DA50B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Student správně zařadí nejméně 5 ze 6 systémů, oddělí trénování od inference a spojí chybu modelu s vlastností dat.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78789A00-135C-47E7-9812-6996F43EF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0-202">
            <a:extLst xmlns:a="http://schemas.openxmlformats.org/drawingml/2006/main">
              <a:ext uri="{FF2B5EF4-FFF2-40B4-BE49-F238E27FC236}">
                <a16:creationId xmlns:a16="http://schemas.microsoft.com/office/drawing/2014/main" id="{9A4A388B-A439-4833-903B-ADCF770C9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39-203">
            <a:extLst xmlns:a="http://schemas.openxmlformats.org/drawingml/2006/main">
              <a:ext uri="{FF2B5EF4-FFF2-40B4-BE49-F238E27FC236}">
                <a16:creationId xmlns:a16="http://schemas.microsoft.com/office/drawing/2014/main" id="{E6BA532C-B31B-4741-B7F7-3FD8FAA65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39-253">
            <a:extLst xmlns:a="http://schemas.openxmlformats.org/drawingml/2006/main">
              <a:ext uri="{FF2B5EF4-FFF2-40B4-BE49-F238E27FC236}">
                <a16:creationId xmlns:a16="http://schemas.microsoft.com/office/drawing/2014/main" id="{9CA12B85-749A-4F14-87F3-66801994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Podle jakého znaku jsi systém zařadil/a?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2C1BC9BE-B0C2-4C4D-9D68-72DC42979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4-420">
            <a:extLst xmlns:a="http://schemas.openxmlformats.org/drawingml/2006/main">
              <a:ext uri="{FF2B5EF4-FFF2-40B4-BE49-F238E27FC236}">
                <a16:creationId xmlns:a16="http://schemas.microsoft.com/office/drawing/2014/main" id="{2A112D5F-6DE5-4185-8A69-CC12490D2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3-421">
            <a:extLst xmlns:a="http://schemas.openxmlformats.org/drawingml/2006/main">
              <a:ext uri="{FF2B5EF4-FFF2-40B4-BE49-F238E27FC236}">
                <a16:creationId xmlns:a16="http://schemas.microsoft.com/office/drawing/2014/main" id="{39EA7D46-EA78-4491-8647-7106D11B9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3-471">
            <a:extLst xmlns:a="http://schemas.openxmlformats.org/drawingml/2006/main">
              <a:ext uri="{FF2B5EF4-FFF2-40B4-BE49-F238E27FC236}">
                <a16:creationId xmlns:a16="http://schemas.microsoft.com/office/drawing/2014/main" id="{19BED555-34AD-492B-93B2-C2BE8620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Je tento děj součást trénování, nebo inference?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E0FE2B2D-24BB-4800-8714-7E5A98638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0-420">
            <a:extLst xmlns:a="http://schemas.openxmlformats.org/drawingml/2006/main">
              <a:ext uri="{FF2B5EF4-FFF2-40B4-BE49-F238E27FC236}">
                <a16:creationId xmlns:a16="http://schemas.microsoft.com/office/drawing/2014/main" id="{F6E260EB-680A-4059-B4B0-8F5EBB92A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39-421">
            <a:extLst xmlns:a="http://schemas.openxmlformats.org/drawingml/2006/main">
              <a:ext uri="{FF2B5EF4-FFF2-40B4-BE49-F238E27FC236}">
                <a16:creationId xmlns:a16="http://schemas.microsoft.com/office/drawing/2014/main" id="{1DFC4455-1BF7-4D50-9788-0041021C9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Odpovědnost</a:t>
            </a:r>
          </a:p>
        </p:txBody>
      </p:sp>
      <p:sp>
        <p:nvSpPr>
          <p:cNvPr id="21" name="text-739-471">
            <a:extLst xmlns:a="http://schemas.openxmlformats.org/drawingml/2006/main">
              <a:ext uri="{FF2B5EF4-FFF2-40B4-BE49-F238E27FC236}">
                <a16:creationId xmlns:a16="http://schemas.microsoft.com/office/drawing/2014/main" id="{A3ACC084-22F2-477A-8C8F-81B71D94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Která skupina příkladů v datech chybí nebo převažuje?</a:t>
            </a:r>
          </a:p>
        </p:txBody>
      </p:sp>
    </p:spTree>
    <p:extLst>
      <p:ext uri="{BB962C8B-B14F-4D97-AF65-F5344CB8AC3E}">
        <p14:creationId xmlns:p14="http://schemas.microsoft.com/office/powerpoint/2010/main" val="5246978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EED2E7A4-F541-4065-BDC6-DD76D77E3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34–41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9B629D8-942E-4B6A-A048-A6BC8844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má být ve výsledku vidět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AF3B6235-4B89-4D01-839B-A7AAA600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1E193E4-5D8D-4509-BED5-3096A0CD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9F8F64A7-4203-4FBF-9512-6016048B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1  /  6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C27027C5-FBC0-4B5A-BC84-76FA81C4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Algoritmus</a:t>
            </a:r>
          </a:p>
        </p:txBody>
      </p:sp>
      <p:sp>
        <p:nvSpPr>
          <p:cNvPr id="7" name="text-260-188">
            <a:extLst xmlns:a="http://schemas.openxmlformats.org/drawingml/2006/main">
              <a:ext uri="{FF2B5EF4-FFF2-40B4-BE49-F238E27FC236}">
                <a16:creationId xmlns:a16="http://schemas.microsoft.com/office/drawing/2014/main" id="{59F56355-BBCD-4057-B249-7DD820A6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9070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Pevně stanovený postup se neučí z příkladů.</a:t>
            </a:r>
          </a:p>
        </p:txBody>
      </p:sp>
      <p:sp>
        <p:nvSpPr>
          <p:cNvPr id="8" name="text-41-303">
            <a:extLst xmlns:a="http://schemas.openxmlformats.org/drawingml/2006/main">
              <a:ext uri="{FF2B5EF4-FFF2-40B4-BE49-F238E27FC236}">
                <a16:creationId xmlns:a16="http://schemas.microsoft.com/office/drawing/2014/main" id="{BD1C5A04-8400-4F73-AA3B-577FCF607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86075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Trénování</a:t>
            </a:r>
          </a:p>
        </p:txBody>
      </p:sp>
      <p:sp>
        <p:nvSpPr>
          <p:cNvPr id="9" name="text-260-303">
            <a:extLst xmlns:a="http://schemas.openxmlformats.org/drawingml/2006/main">
              <a:ext uri="{FF2B5EF4-FFF2-40B4-BE49-F238E27FC236}">
                <a16:creationId xmlns:a16="http://schemas.microsoft.com/office/drawing/2014/main" id="{19C0E655-18D2-4E95-976A-83BAB7D00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86075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Model upravuje parametry podle vzorů v trénovacích datech.</a:t>
            </a:r>
          </a:p>
        </p:txBody>
      </p:sp>
      <p:sp>
        <p:nvSpPr>
          <p:cNvPr id="10" name="text-41-418">
            <a:extLst xmlns:a="http://schemas.openxmlformats.org/drawingml/2006/main">
              <a:ext uri="{FF2B5EF4-FFF2-40B4-BE49-F238E27FC236}">
                <a16:creationId xmlns:a16="http://schemas.microsoft.com/office/drawing/2014/main" id="{3504266F-F58E-4378-B9D4-BE035AE6A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814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Inference</a:t>
            </a:r>
          </a:p>
        </p:txBody>
      </p:sp>
      <p:sp>
        <p:nvSpPr>
          <p:cNvPr id="11" name="text-260-418">
            <a:extLst xmlns:a="http://schemas.openxmlformats.org/drawingml/2006/main">
              <a:ext uri="{FF2B5EF4-FFF2-40B4-BE49-F238E27FC236}">
                <a16:creationId xmlns:a16="http://schemas.microsoft.com/office/drawing/2014/main" id="{C73C898A-2F61-4464-98EF-F25E409E3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Hotový model použije naučené parametry na nový vstup.</a:t>
            </a:r>
          </a:p>
        </p:txBody>
      </p:sp>
      <p:sp>
        <p:nvSpPr>
          <p:cNvPr id="12" name="misconception">
            <a:extLst xmlns:a="http://schemas.openxmlformats.org/drawingml/2006/main">
              <a:ext uri="{FF2B5EF4-FFF2-40B4-BE49-F238E27FC236}">
                <a16:creationId xmlns:a16="http://schemas.microsoft.com/office/drawing/2014/main" id="{AFBBAD5C-2CD2-4AA1-9989-F7E5F287A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690-205">
            <a:extLst xmlns:a="http://schemas.openxmlformats.org/drawingml/2006/main">
              <a:ext uri="{FF2B5EF4-FFF2-40B4-BE49-F238E27FC236}">
                <a16:creationId xmlns:a16="http://schemas.microsoft.com/office/drawing/2014/main" id="{11075A2A-E953-4303-BEED-BB927227C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762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4" name="text-690-265">
            <a:extLst xmlns:a="http://schemas.openxmlformats.org/drawingml/2006/main">
              <a:ext uri="{FF2B5EF4-FFF2-40B4-BE49-F238E27FC236}">
                <a16:creationId xmlns:a16="http://schemas.microsoft.com/office/drawing/2014/main" id="{0ED03248-7F0C-4650-801F-CDFC38ED0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24125"/>
            <a:ext cx="46863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„Když je něco automatické, je to AI.“</a:t>
            </a:r>
          </a:p>
        </p:txBody>
      </p:sp>
      <p:sp>
        <p:nvSpPr>
          <p:cNvPr id="15" name="text-690-389">
            <a:extLst xmlns:a="http://schemas.openxmlformats.org/drawingml/2006/main">
              <a:ext uri="{FF2B5EF4-FFF2-40B4-BE49-F238E27FC236}">
                <a16:creationId xmlns:a16="http://schemas.microsoft.com/office/drawing/2014/main" id="{B7F2EF4C-4ECE-48CF-B2B2-220433111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05225"/>
            <a:ext cx="46863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Ptejte se, zda systém používá naučený model, nebo pouze explicitní pravidla.</a:t>
            </a:r>
          </a:p>
        </p:txBody>
      </p:sp>
      <p:sp>
        <p:nvSpPr>
          <p:cNvPr id="16" name="text-41-575">
            <a:extLst xmlns:a="http://schemas.openxmlformats.org/drawingml/2006/main">
              <a:ext uri="{FF2B5EF4-FFF2-40B4-BE49-F238E27FC236}">
                <a16:creationId xmlns:a16="http://schemas.microsoft.com/office/drawing/2014/main" id="{FD7AEE6A-98E2-440A-8E90-15A0D789C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76875"/>
            <a:ext cx="11410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 odpovědi. Co bys teď změnil/a — a proč?</a:t>
            </a:r>
          </a:p>
        </p:txBody>
      </p:sp>
    </p:spTree>
    <p:extLst>
      <p:ext uri="{BB962C8B-B14F-4D97-AF65-F5344CB8AC3E}">
        <p14:creationId xmlns:p14="http://schemas.microsoft.com/office/powerpoint/2010/main" val="142430722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B7ECC5A3-1364-4F32-B50E-F89BE6660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BFAE65FC-90EE-4EFD-AFC7-63D587E9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95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HODINA 1 · POSLEDNÍ 3 MINUTY</a:t>
            </a:r>
          </a:p>
        </p:txBody>
      </p:sp>
      <p:sp>
        <p:nvSpPr>
          <p:cNvPr id="3" name="text-54-151">
            <a:extLst xmlns:a="http://schemas.openxmlformats.org/drawingml/2006/main">
              <a:ext uri="{FF2B5EF4-FFF2-40B4-BE49-F238E27FC236}">
                <a16:creationId xmlns:a16="http://schemas.microsoft.com/office/drawing/2014/main" id="{9F1EA6A7-D1CF-4CD1-8E03-4136119D6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38275"/>
            <a:ext cx="61912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D98862A0-1013-42FA-B569-3DA98279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Jednou větou odliš trénování od inference a uveď příklad každé fáze.</a:t>
            </a:r>
          </a:p>
        </p:txBody>
      </p:sp>
      <p:sp>
        <p:nvSpPr>
          <p:cNvPr id="5" name="exit-rule">
            <a:extLst xmlns:a="http://schemas.openxmlformats.org/drawingml/2006/main">
              <a:ext uri="{FF2B5EF4-FFF2-40B4-BE49-F238E27FC236}">
                <a16:creationId xmlns:a16="http://schemas.microsoft.com/office/drawing/2014/main" id="{F9727479-067B-486E-89C1-1C810D66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8A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5">
            <a:extLst xmlns:a="http://schemas.openxmlformats.org/drawingml/2006/main">
              <a:ext uri="{FF2B5EF4-FFF2-40B4-BE49-F238E27FC236}">
                <a16:creationId xmlns:a16="http://schemas.microsoft.com/office/drawing/2014/main" id="{496ABA82-8674-4E5C-A8D9-7039D4D5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9096375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důvod nebo krok.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4770A956-535F-40C6-8A81-64A80921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0C8A83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476697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Karel Hlas</dc:creator>
  <lastModifiedBy>Walnut Exporter</lastModifiedBy>
  <dc:title>Presentation</dc:title>
  <dcterms:created xsi:type="dcterms:W3CDTF">2026-07-24T15:48:04.9050000Z</dcterms:created>
  <dcterms:modified xsi:type="dcterms:W3CDTF">2026-07-24T15:48:04.9050000Z</dcterms:modified>
</coreProperties>
</file>